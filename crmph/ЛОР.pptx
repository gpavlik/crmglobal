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15"/>
  </p:notesMasterIdLst>
  <p:sldIdLst>
    <p:sldId id="272" r:id="rId3"/>
    <p:sldId id="1563" r:id="rId4"/>
    <p:sldId id="275" r:id="rId5"/>
    <p:sldId id="280" r:id="rId6"/>
    <p:sldId id="1502" r:id="rId7"/>
    <p:sldId id="1505" r:id="rId8"/>
    <p:sldId id="1557" r:id="rId9"/>
    <p:sldId id="1559" r:id="rId10"/>
    <p:sldId id="1592" r:id="rId11"/>
    <p:sldId id="283" r:id="rId12"/>
    <p:sldId id="1588" r:id="rId13"/>
    <p:sldId id="1482" r:id="rId14"/>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31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21FDEB-93C2-4C04-9D2B-6471D440837C}" type="doc">
      <dgm:prSet loTypeId="urn:microsoft.com/office/officeart/2005/8/layout/default" loCatId="list" qsTypeId="urn:microsoft.com/office/officeart/2005/8/quickstyle/simple1" qsCatId="simple" csTypeId="urn:microsoft.com/office/officeart/2005/8/colors/accent1_2" csCatId="accent1" phldr="0"/>
      <dgm:spPr/>
      <dgm:t>
        <a:bodyPr/>
        <a:lstStyle/>
        <a:p>
          <a:endParaRPr lang="uk-UA"/>
        </a:p>
      </dgm:t>
    </dgm:pt>
    <dgm:pt modelId="{7CFA3163-45DA-48B3-9427-82A1D4BC1348}" type="pres">
      <dgm:prSet presAssocID="{FC21FDEB-93C2-4C04-9D2B-6471D440837C}" presName="diagram" presStyleCnt="0">
        <dgm:presLayoutVars>
          <dgm:dir/>
          <dgm:resizeHandles val="exact"/>
        </dgm:presLayoutVars>
      </dgm:prSet>
      <dgm:spPr/>
    </dgm:pt>
  </dgm:ptLst>
  <dgm:cxnLst>
    <dgm:cxn modelId="{4AB059EC-1B61-4788-BFE4-C3CD9A80B11D}" type="presOf" srcId="{FC21FDEB-93C2-4C04-9D2B-6471D440837C}" destId="{7CFA3163-45DA-48B3-9427-82A1D4BC1348}"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B920DC-D6A1-42DB-898E-6F441ADB2F07}" type="datetimeFigureOut">
              <a:rPr lang="uk-UA" smtClean="0"/>
              <a:t>07.04.2026</a:t>
            </a:fld>
            <a:endParaRPr lang="uk-UA"/>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BB6FF9-0A7B-4F34-94F2-9F793342C0A1}" type="slidenum">
              <a:rPr lang="uk-UA" smtClean="0"/>
              <a:t>‹№›</a:t>
            </a:fld>
            <a:endParaRPr lang="uk-UA"/>
          </a:p>
        </p:txBody>
      </p:sp>
    </p:spTree>
    <p:extLst>
      <p:ext uri="{BB962C8B-B14F-4D97-AF65-F5344CB8AC3E}">
        <p14:creationId xmlns:p14="http://schemas.microsoft.com/office/powerpoint/2010/main" val="3244023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9B57D3-78E7-4F95-94DC-6BA760D6CAEB}"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4945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endParaRPr lang="uk-UA" dirty="0"/>
          </a:p>
        </p:txBody>
      </p:sp>
      <p:sp>
        <p:nvSpPr>
          <p:cNvPr id="4" name="Місце для номера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CB3F17-BECD-4223-8362-593BAFFE3699}" type="slidenum">
              <a:rPr kumimoji="0" lang="uk-U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uk-U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8482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endParaRPr lang="uk-UA" dirty="0"/>
          </a:p>
        </p:txBody>
      </p:sp>
      <p:sp>
        <p:nvSpPr>
          <p:cNvPr id="4" name="Місце для номера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CB3F17-BECD-4223-8362-593BAFFE3699}" type="slidenum">
              <a:rPr kumimoji="0" lang="uk-U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uk-U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8141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23F78A07-93B4-4D57-AECF-D075DB7EE7A1}"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656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D8550828-AA08-4ED0-B80A-F69DAA2350BB}"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1008906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E596A41A-1403-4043-A2BE-C23956BD363A}"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322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7" name="Slide Number Placeholder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D5EC6C1F-E58F-4535-BB9B-704B92533FB2}"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120040377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9" name="Slide Number Placeholder 8"/>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B37A670E-04A2-44CA-B454-347B0CBECE10}"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208911391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5" name="Slide Number Placeholder 4"/>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AA85A81F-A588-4807-9F8A-352B4AB57C95}"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176934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8" name="Footer Placeholder 7"/>
          <p:cNvSpPr>
            <a:spLocks noGrp="1"/>
          </p:cNvSpPr>
          <p:nvPr>
            <p:ph type="ftr" sz="quarter" idx="11"/>
          </p:nvPr>
        </p:nvSpPr>
        <p:spPr/>
        <p:txBody>
          <a:bodyPr/>
          <a:lstStyle>
            <a:lvl1pPr>
              <a:defRPr>
                <a:solidFill>
                  <a:srgbClr val="FFFFF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9" name="Slide Number Placeholder 8"/>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C288B206-F00E-40BA-B3C5-F98FE57D9FEB}"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2083925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smtClean="0"/>
              <a:t>4/1/2026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86551" y="5598646"/>
            <a:ext cx="1325880" cy="781347"/>
          </a:xfrm>
          <a:prstGeom prst="rect">
            <a:avLst/>
          </a:prstGeom>
        </p:spPr>
      </p:pic>
    </p:spTree>
    <p:extLst>
      <p:ext uri="{BB962C8B-B14F-4D97-AF65-F5344CB8AC3E}">
        <p14:creationId xmlns:p14="http://schemas.microsoft.com/office/powerpoint/2010/main" val="14106855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dirty="0"/>
              <a:t>Вставка рисунка</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65B747F8-9654-4282-85D2-65F41AAE7A75}"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52090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F9787B6A-7698-462E-98DE-E6C0E6295CA0}"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3412917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57187E00-3202-4D81-8B8E-AC73D5B79289}"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5022161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1097280" y="6459785"/>
            <a:ext cx="2472271"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6" name="Footer Placeholder 5"/>
          <p:cNvSpPr>
            <a:spLocks noGrp="1"/>
          </p:cNvSpPr>
          <p:nvPr>
            <p:ph type="ftr" sz="quarter" idx="11"/>
          </p:nvPr>
        </p:nvSpPr>
        <p:spPr>
          <a:xfrm>
            <a:off x="3686185" y="6459785"/>
            <a:ext cx="4822804"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7" name="Slide Number Placeholder 6"/>
          <p:cNvSpPr>
            <a:spLocks noGrp="1"/>
          </p:cNvSpPr>
          <p:nvPr>
            <p:ph type="sldNum" sz="quarter" idx="12"/>
          </p:nvPr>
        </p:nvSpPr>
        <p:spPr>
          <a:xfrm>
            <a:off x="9900458" y="6459785"/>
            <a:ext cx="1312025"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F9AC5522-E3DA-4BF8-B8A5-3CA2EC049AA5}" type="slidenum">
              <a:rPr kumimoji="0" lang="ru-RU" altLang="ru-RU" sz="1800" b="0" i="0" u="none" strike="noStrike" kern="1200" cap="none" spc="0" normalizeH="0" baseline="0" noProof="0" smtClean="0">
                <a:ln>
                  <a:noFill/>
                </a:ln>
                <a:solidFill>
                  <a:srgbClr val="000000"/>
                </a:solidFill>
                <a:effectLst/>
                <a:uLnTx/>
                <a:uFillTx/>
                <a:latin typeface="Verdana" panose="020B060403050404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ru-RU" altLang="ru-RU"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pic>
        <p:nvPicPr>
          <p:cNvPr id="11" name="Рисунок 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301241" y="-381000"/>
            <a:ext cx="7736378" cy="526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Рисунок 2"/>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94150" y="1339644"/>
            <a:ext cx="3803700" cy="224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46079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35360" y="0"/>
            <a:ext cx="11521280" cy="1143000"/>
          </a:xfrm>
        </p:spPr>
        <p:txBody>
          <a:bodyPr/>
          <a:lstStyle/>
          <a:p>
            <a:r>
              <a:rPr lang="ru-RU" dirty="0"/>
              <a:t>Образец заголовка</a:t>
            </a:r>
            <a:endParaRPr lang="uk-UA" dirty="0"/>
          </a:p>
        </p:txBody>
      </p:sp>
      <p:sp>
        <p:nvSpPr>
          <p:cNvPr id="3" name="Объект 2"/>
          <p:cNvSpPr>
            <a:spLocks noGrp="1"/>
          </p:cNvSpPr>
          <p:nvPr>
            <p:ph idx="1"/>
          </p:nvPr>
        </p:nvSpPr>
        <p:spPr>
          <a:xfrm>
            <a:off x="8244000" y="1388773"/>
            <a:ext cx="3600000" cy="4525963"/>
          </a:xfrm>
        </p:spPr>
        <p:txBody>
          <a:bodyPr>
            <a:normAutofit/>
          </a:bodyPr>
          <a:lstStyle>
            <a:lvl1pPr marL="0" indent="0">
              <a:buNone/>
              <a:defRPr sz="1867"/>
            </a:lvl1pPr>
            <a:lvl2pPr marL="609585" indent="0">
              <a:buNone/>
              <a:defRPr sz="1867"/>
            </a:lvl2pPr>
            <a:lvl3pPr marL="1219170" indent="0">
              <a:buNone/>
              <a:defRPr sz="1867"/>
            </a:lvl3pPr>
            <a:lvl4pPr marL="1828754" indent="0">
              <a:buNone/>
              <a:defRPr sz="1867"/>
            </a:lvl4pPr>
            <a:lvl5pPr marL="2438339" indent="0">
              <a:buNone/>
              <a:defRPr sz="1867"/>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uk-UA" dirty="0"/>
          </a:p>
        </p:txBody>
      </p:sp>
      <p:cxnSp>
        <p:nvCxnSpPr>
          <p:cNvPr id="12" name="Прямая соединительная линия 11"/>
          <p:cNvCxnSpPr/>
          <p:nvPr userDrawn="1"/>
        </p:nvCxnSpPr>
        <p:spPr>
          <a:xfrm>
            <a:off x="3696000" y="1208753"/>
            <a:ext cx="480000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Номер слайда 5"/>
          <p:cNvSpPr>
            <a:spLocks noGrp="1"/>
          </p:cNvSpPr>
          <p:nvPr>
            <p:ph type="sldNum" sz="quarter" idx="4"/>
          </p:nvPr>
        </p:nvSpPr>
        <p:spPr>
          <a:xfrm>
            <a:off x="4673600" y="6356351"/>
            <a:ext cx="2844800" cy="365125"/>
          </a:xfrm>
          <a:prstGeom prst="rect">
            <a:avLst/>
          </a:prstGeom>
        </p:spPr>
        <p:txBody>
          <a:bodyPr vert="horz" lIns="91440" tIns="45720" rIns="91440" bIns="45720" rtlCol="0" anchor="ctr"/>
          <a:lstStyle>
            <a:lvl1pPr algn="ctr">
              <a:defRPr sz="1333">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980D4EC-26C6-4DC5-AFC8-78A57A136537}" type="slidenum">
              <a:rPr kumimoji="0" lang="uk-UA" sz="1333"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uk-UA" sz="1333"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16" name="Рисунок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70021" y="6356676"/>
            <a:ext cx="986620" cy="364800"/>
          </a:xfrm>
          <a:prstGeom prst="rect">
            <a:avLst/>
          </a:prstGeom>
          <a:noFill/>
          <a:ln>
            <a:noFill/>
          </a:ln>
        </p:spPr>
      </p:pic>
      <p:sp>
        <p:nvSpPr>
          <p:cNvPr id="17" name="Объект 2"/>
          <p:cNvSpPr>
            <a:spLocks noGrp="1"/>
          </p:cNvSpPr>
          <p:nvPr>
            <p:ph idx="10"/>
          </p:nvPr>
        </p:nvSpPr>
        <p:spPr>
          <a:xfrm>
            <a:off x="348000" y="1388773"/>
            <a:ext cx="3600000" cy="4525963"/>
          </a:xfrm>
        </p:spPr>
        <p:txBody>
          <a:bodyPr>
            <a:normAutofit/>
          </a:bodyPr>
          <a:lstStyle>
            <a:lvl1pPr marL="0" indent="0">
              <a:buNone/>
              <a:defRPr sz="1867"/>
            </a:lvl1pPr>
            <a:lvl2pPr marL="609585" indent="0">
              <a:buNone/>
              <a:defRPr sz="1867"/>
            </a:lvl2pPr>
            <a:lvl3pPr marL="1219170" indent="0">
              <a:buNone/>
              <a:defRPr sz="1867"/>
            </a:lvl3pPr>
            <a:lvl4pPr marL="1828754" indent="0">
              <a:buNone/>
              <a:defRPr sz="1867"/>
            </a:lvl4pPr>
            <a:lvl5pPr marL="2438339" indent="0">
              <a:buNone/>
              <a:defRPr sz="1867"/>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uk-UA" dirty="0"/>
          </a:p>
        </p:txBody>
      </p:sp>
      <p:sp>
        <p:nvSpPr>
          <p:cNvPr id="18" name="Объект 2"/>
          <p:cNvSpPr>
            <a:spLocks noGrp="1"/>
          </p:cNvSpPr>
          <p:nvPr>
            <p:ph idx="11"/>
          </p:nvPr>
        </p:nvSpPr>
        <p:spPr>
          <a:xfrm>
            <a:off x="4296000" y="1388773"/>
            <a:ext cx="3600000" cy="4525963"/>
          </a:xfrm>
        </p:spPr>
        <p:txBody>
          <a:bodyPr>
            <a:normAutofit/>
          </a:bodyPr>
          <a:lstStyle>
            <a:lvl1pPr marL="0" indent="0">
              <a:buNone/>
              <a:defRPr sz="1867"/>
            </a:lvl1pPr>
            <a:lvl2pPr marL="609585" indent="0">
              <a:buNone/>
              <a:defRPr sz="1867"/>
            </a:lvl2pPr>
            <a:lvl3pPr marL="1219170" indent="0">
              <a:buNone/>
              <a:defRPr sz="1867"/>
            </a:lvl3pPr>
            <a:lvl4pPr marL="1828754" indent="0">
              <a:buNone/>
              <a:defRPr sz="1867"/>
            </a:lvl4pPr>
            <a:lvl5pPr marL="2438339" indent="0">
              <a:buNone/>
              <a:defRPr sz="1867"/>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uk-UA" dirty="0"/>
          </a:p>
        </p:txBody>
      </p:sp>
    </p:spTree>
    <p:extLst>
      <p:ext uri="{BB962C8B-B14F-4D97-AF65-F5344CB8AC3E}">
        <p14:creationId xmlns:p14="http://schemas.microsoft.com/office/powerpoint/2010/main" val="93990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Титульний слайд">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uk-UA"/>
              <a:t>Зразок заголовка</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uk-UA"/>
              <a:t>Клацніть, щоб редагувати стиль зразка підзаголовка</a:t>
            </a:r>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 name="Рисунок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13794" y="5554264"/>
            <a:ext cx="1930161" cy="978499"/>
          </a:xfrm>
          <a:prstGeom prst="rect">
            <a:avLst/>
          </a:prstGeom>
        </p:spPr>
      </p:pic>
      <p:pic>
        <p:nvPicPr>
          <p:cNvPr id="6" name="Рисунок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38820" y="6528787"/>
            <a:ext cx="4377307" cy="329213"/>
          </a:xfrm>
          <a:prstGeom prst="rect">
            <a:avLst/>
          </a:prstGeom>
        </p:spPr>
      </p:pic>
    </p:spTree>
    <p:extLst>
      <p:ext uri="{BB962C8B-B14F-4D97-AF65-F5344CB8AC3E}">
        <p14:creationId xmlns:p14="http://schemas.microsoft.com/office/powerpoint/2010/main" val="32278432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Користувацький маке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a:t>Зразок заголовка</a:t>
            </a:r>
            <a:endParaRPr lang="ru-RU"/>
          </a:p>
        </p:txBody>
      </p:sp>
    </p:spTree>
    <p:extLst>
      <p:ext uri="{BB962C8B-B14F-4D97-AF65-F5344CB8AC3E}">
        <p14:creationId xmlns:p14="http://schemas.microsoft.com/office/powerpoint/2010/main" val="4240557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Заголовок і об’є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Зразок заголовка</a:t>
            </a:r>
            <a:endParaRPr lang="en-US" dirty="0"/>
          </a:p>
        </p:txBody>
      </p:sp>
      <p:sp>
        <p:nvSpPr>
          <p:cNvPr id="3" name="Content Placeholder 2"/>
          <p:cNvSpPr>
            <a:spLocks noGrp="1"/>
          </p:cNvSpPr>
          <p:nvPr>
            <p:ph idx="1"/>
          </p:nvPr>
        </p:nvSpPr>
        <p:spPr/>
        <p:txBody>
          <a:bodyPr/>
          <a:lstStyle/>
          <a:p>
            <a:pPr lvl="0"/>
            <a:r>
              <a:rPr lang="uk-UA"/>
              <a:t>Редагувати стиль зразка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Tree>
    <p:extLst>
      <p:ext uri="{BB962C8B-B14F-4D97-AF65-F5344CB8AC3E}">
        <p14:creationId xmlns:p14="http://schemas.microsoft.com/office/powerpoint/2010/main" val="3670738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Користувацький маке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a:t>Зразок заголовка</a:t>
            </a:r>
            <a:endParaRPr lang="ru-RU" dirty="0"/>
          </a:p>
        </p:txBody>
      </p:sp>
    </p:spTree>
    <p:extLst>
      <p:ext uri="{BB962C8B-B14F-4D97-AF65-F5344CB8AC3E}">
        <p14:creationId xmlns:p14="http://schemas.microsoft.com/office/powerpoint/2010/main" val="1481324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uk-UA"/>
              <a:t>Зразок заголовка</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uk-UA"/>
              <a:t>Редагувати стиль зразка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uk-UA"/>
              <a:t>Редагувати стиль зразка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Tree>
    <p:extLst>
      <p:ext uri="{BB962C8B-B14F-4D97-AF65-F5344CB8AC3E}">
        <p14:creationId xmlns:p14="http://schemas.microsoft.com/office/powerpoint/2010/main" val="2851552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uk-UA"/>
              <a:t>Зразок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Редагувати стиль зразка тексту</a:t>
            </a:r>
          </a:p>
        </p:txBody>
      </p:sp>
      <p:sp>
        <p:nvSpPr>
          <p:cNvPr id="4" name="Content Placeholder 3"/>
          <p:cNvSpPr>
            <a:spLocks noGrp="1"/>
          </p:cNvSpPr>
          <p:nvPr>
            <p:ph sz="half" idx="2"/>
          </p:nvPr>
        </p:nvSpPr>
        <p:spPr>
          <a:xfrm>
            <a:off x="1097280" y="2582335"/>
            <a:ext cx="4937760" cy="3286760"/>
          </a:xfrm>
        </p:spPr>
        <p:txBody>
          <a:bodyPr/>
          <a:lstStyle/>
          <a:p>
            <a:pPr lvl="0"/>
            <a:r>
              <a:rPr lang="uk-UA"/>
              <a:t>Редагувати стиль зразка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Редагувати стиль зразка тексту</a:t>
            </a:r>
          </a:p>
        </p:txBody>
      </p:sp>
      <p:sp>
        <p:nvSpPr>
          <p:cNvPr id="6" name="Content Placeholder 5"/>
          <p:cNvSpPr>
            <a:spLocks noGrp="1"/>
          </p:cNvSpPr>
          <p:nvPr>
            <p:ph sz="quarter" idx="4"/>
          </p:nvPr>
        </p:nvSpPr>
        <p:spPr>
          <a:xfrm>
            <a:off x="6217920" y="2582334"/>
            <a:ext cx="4937760" cy="3286760"/>
          </a:xfrm>
        </p:spPr>
        <p:txBody>
          <a:bodyPr/>
          <a:lstStyle/>
          <a:p>
            <a:pPr lvl="0"/>
            <a:r>
              <a:rPr lang="uk-UA"/>
              <a:t>Редагувати стиль зразка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Tree>
    <p:extLst>
      <p:ext uri="{BB962C8B-B14F-4D97-AF65-F5344CB8AC3E}">
        <p14:creationId xmlns:p14="http://schemas.microsoft.com/office/powerpoint/2010/main" val="1292417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Вміст із підписом">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1695995"/>
          </a:xfrm>
        </p:spPr>
        <p:txBody>
          <a:bodyPr anchor="b">
            <a:normAutofit/>
          </a:bodyPr>
          <a:lstStyle>
            <a:lvl1pPr>
              <a:defRPr sz="3600" b="0">
                <a:solidFill>
                  <a:srgbClr val="FFFFFF"/>
                </a:solidFill>
              </a:defRPr>
            </a:lvl1pPr>
          </a:lstStyle>
          <a:p>
            <a:r>
              <a:rPr lang="uk-UA" dirty="0"/>
              <a:t>Зразок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uk-UA"/>
              <a:t>Редагувати стиль зразка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457200" y="2342606"/>
            <a:ext cx="3200400" cy="3178628"/>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dirty="0"/>
              <a:t>Редагувати стиль зразка тексту</a:t>
            </a:r>
          </a:p>
        </p:txBody>
      </p:sp>
      <p:pic>
        <p:nvPicPr>
          <p:cNvPr id="5" name="Рисунок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44857" y="5554264"/>
            <a:ext cx="2013422" cy="1020708"/>
          </a:xfrm>
          <a:prstGeom prst="rect">
            <a:avLst/>
          </a:prstGeom>
        </p:spPr>
      </p:pic>
      <p:pic>
        <p:nvPicPr>
          <p:cNvPr id="6" name="Рисунок 5"/>
          <p:cNvPicPr>
            <a:picLocks noChangeAspect="1"/>
          </p:cNvPicPr>
          <p:nvPr userDrawn="1"/>
        </p:nvPicPr>
        <p:blipFill rotWithShape="1">
          <a:blip r:embed="rId3">
            <a:extLst>
              <a:ext uri="{28A0092B-C50C-407E-A947-70E740481C1C}">
                <a14:useLocalDpi xmlns:a14="http://schemas.microsoft.com/office/drawing/2010/main" val="0"/>
              </a:ext>
            </a:extLst>
          </a:blip>
          <a:srcRect l="60146" t="3047" b="1"/>
          <a:stretch/>
        </p:blipFill>
        <p:spPr>
          <a:xfrm>
            <a:off x="1854925" y="6538816"/>
            <a:ext cx="1744517" cy="319184"/>
          </a:xfrm>
          <a:prstGeom prst="rect">
            <a:avLst/>
          </a:prstGeom>
        </p:spPr>
      </p:pic>
      <p:pic>
        <p:nvPicPr>
          <p:cNvPr id="7" name="Рисунок 6"/>
          <p:cNvPicPr>
            <a:picLocks noChangeAspect="1"/>
          </p:cNvPicPr>
          <p:nvPr userDrawn="1"/>
        </p:nvPicPr>
        <p:blipFill rotWithShape="1">
          <a:blip r:embed="rId3">
            <a:extLst>
              <a:ext uri="{28A0092B-C50C-407E-A947-70E740481C1C}">
                <a14:useLocalDpi xmlns:a14="http://schemas.microsoft.com/office/drawing/2010/main" val="0"/>
              </a:ext>
            </a:extLst>
          </a:blip>
          <a:srcRect l="6033" t="16273" r="64523" b="9660"/>
          <a:stretch/>
        </p:blipFill>
        <p:spPr>
          <a:xfrm>
            <a:off x="330925" y="6614159"/>
            <a:ext cx="1288869" cy="243841"/>
          </a:xfrm>
          <a:prstGeom prst="rect">
            <a:avLst/>
          </a:prstGeom>
        </p:spPr>
      </p:pic>
    </p:spTree>
    <p:extLst>
      <p:ext uri="{BB962C8B-B14F-4D97-AF65-F5344CB8AC3E}">
        <p14:creationId xmlns:p14="http://schemas.microsoft.com/office/powerpoint/2010/main" val="1265283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image" Target="../media/image6.png"/><Relationship Id="rId4" Type="http://schemas.openxmlformats.org/officeDocument/2006/relationships/slideLayout" Target="../slideLayouts/slideLayout17.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smtClean="0"/>
              <a:t>4/1/2026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Rectangle 6"/>
          <p:cNvSpPr/>
          <p:nvPr userDrawn="1"/>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Рисунок 11"/>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492740" y="5435846"/>
            <a:ext cx="1325880" cy="781347"/>
          </a:xfrm>
          <a:prstGeom prst="rect">
            <a:avLst/>
          </a:prstGeom>
        </p:spPr>
      </p:pic>
    </p:spTree>
    <p:extLst>
      <p:ext uri="{BB962C8B-B14F-4D97-AF65-F5344CB8AC3E}">
        <p14:creationId xmlns:p14="http://schemas.microsoft.com/office/powerpoint/2010/main" val="2905286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uk-UA" dirty="0"/>
              <a:t>Зразок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uk-UA" dirty="0"/>
              <a:t>Редагувати стиль зразка тексту</a:t>
            </a:r>
          </a:p>
          <a:p>
            <a:pPr lvl="1"/>
            <a:r>
              <a:rPr lang="uk-UA" dirty="0"/>
              <a:t>Другий рівень</a:t>
            </a:r>
          </a:p>
          <a:p>
            <a:pPr lvl="2"/>
            <a:r>
              <a:rPr lang="uk-UA" dirty="0"/>
              <a:t>Третій рівень</a:t>
            </a:r>
          </a:p>
          <a:p>
            <a:pPr lvl="3"/>
            <a:r>
              <a:rPr lang="uk-UA" dirty="0"/>
              <a:t>Четвертий рівень</a:t>
            </a:r>
          </a:p>
          <a:p>
            <a:pPr lvl="4"/>
            <a:r>
              <a:rPr lang="uk-UA" dirty="0"/>
              <a:t>П’ятий рівень</a:t>
            </a:r>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4" name="Рисунок 3"/>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113795" y="5562972"/>
            <a:ext cx="1886618" cy="956424"/>
          </a:xfrm>
          <a:prstGeom prst="rect">
            <a:avLst/>
          </a:prstGeom>
        </p:spPr>
      </p:pic>
      <p:pic>
        <p:nvPicPr>
          <p:cNvPr id="5" name="Рисунок 4"/>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538820" y="6528787"/>
            <a:ext cx="4377307" cy="329213"/>
          </a:xfrm>
          <a:prstGeom prst="rect">
            <a:avLst/>
          </a:prstGeom>
        </p:spPr>
      </p:pic>
    </p:spTree>
    <p:extLst>
      <p:ext uri="{BB962C8B-B14F-4D97-AF65-F5344CB8AC3E}">
        <p14:creationId xmlns:p14="http://schemas.microsoft.com/office/powerpoint/2010/main" val="58393085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Lst>
  <p:txStyles>
    <p:titleStyle>
      <a:lvl1pPr algn="l" defTabSz="914400" rtl="0" eaLnBrk="1" latinLnBrk="0" hangingPunct="1">
        <a:lnSpc>
          <a:spcPct val="85000"/>
        </a:lnSpc>
        <a:spcBef>
          <a:spcPct val="0"/>
        </a:spcBef>
        <a:buNone/>
        <a:defRPr sz="44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pubmed.ncbi.nlm.nih.gov/38631479/" TargetMode="Externa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34.png"/><Relationship Id="rId4" Type="http://schemas.openxmlformats.org/officeDocument/2006/relationships/diagramLayout" Target="../diagrams/layout1.xml"/><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E5F8E8-F045-42D7-AF81-B8BCA5BAE643}"/>
              </a:ext>
            </a:extLst>
          </p:cNvPr>
          <p:cNvSpPr>
            <a:spLocks noGrp="1"/>
          </p:cNvSpPr>
          <p:nvPr>
            <p:ph type="title" idx="4294967295"/>
          </p:nvPr>
        </p:nvSpPr>
        <p:spPr>
          <a:xfrm>
            <a:off x="717664" y="233994"/>
            <a:ext cx="11061470" cy="645916"/>
          </a:xfrm>
        </p:spPr>
        <p:txBody>
          <a:bodyPr>
            <a:normAutofit/>
          </a:bodyPr>
          <a:lstStyle/>
          <a:p>
            <a:pPr algn="ctr"/>
            <a:r>
              <a:rPr lang="uk-UA" sz="2000" b="1" dirty="0">
                <a:solidFill>
                  <a:srgbClr val="496B21"/>
                </a:solidFill>
                <a:latin typeface="Open Sans Bold" pitchFamily="34" charset="0"/>
                <a:ea typeface="Open Sans Bold" pitchFamily="34" charset="-122"/>
                <a:cs typeface="Open Sans Bold" pitchFamily="34" charset="-120"/>
              </a:rPr>
              <a:t>ДОЛЯ ПАЦІЄНТА ЗАЛЕЖИТЬ ВІД ШВИДКОСТІ ТА ОБГРУНТОВАНОСТІ РІШЕННЯ ЛІКАРЯ</a:t>
            </a:r>
            <a:endParaRPr lang="ru-RU" sz="2000" b="1" dirty="0">
              <a:solidFill>
                <a:srgbClr val="496B21"/>
              </a:solidFill>
              <a:latin typeface="Open Sans Bold" pitchFamily="34" charset="0"/>
              <a:ea typeface="Open Sans Bold" pitchFamily="34" charset="-122"/>
              <a:cs typeface="Open Sans Bold" pitchFamily="34" charset="-120"/>
            </a:endParaRPr>
          </a:p>
        </p:txBody>
      </p:sp>
      <p:sp>
        <p:nvSpPr>
          <p:cNvPr id="12" name="TextBox 11">
            <a:extLst>
              <a:ext uri="{FF2B5EF4-FFF2-40B4-BE49-F238E27FC236}">
                <a16:creationId xmlns:a16="http://schemas.microsoft.com/office/drawing/2014/main" id="{1C1A8D5F-A495-436C-99F1-AF424BF1E5BF}"/>
              </a:ext>
            </a:extLst>
          </p:cNvPr>
          <p:cNvSpPr txBox="1"/>
          <p:nvPr/>
        </p:nvSpPr>
        <p:spPr>
          <a:xfrm>
            <a:off x="752661" y="1625984"/>
            <a:ext cx="3770489"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70%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пацієнтів</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 АБ-</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терапія</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20-30% -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стрептококовий</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фарінгіт</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NB! </a:t>
            </a:r>
            <a:r>
              <a:rPr kumimoji="0" lang="ru-RU" sz="1800" b="0" i="0" u="none" strike="noStrike" kern="1200" cap="none" spc="0" normalizeH="0" baseline="0" noProof="0" dirty="0">
                <a:ln>
                  <a:noFill/>
                </a:ln>
                <a:solidFill>
                  <a:srgbClr val="FF0000"/>
                </a:solidFill>
                <a:effectLst/>
                <a:uLnTx/>
                <a:uFillTx/>
                <a:latin typeface="Calibri" panose="020F0502020204030204"/>
                <a:ea typeface="+mn-ea"/>
                <a:cs typeface="+mn-cs"/>
              </a:rPr>
              <a:t>АНТИБІОТИКОРЕЗИСТЕНТНІСТЬ!</a:t>
            </a:r>
          </a:p>
        </p:txBody>
      </p:sp>
      <p:sp>
        <p:nvSpPr>
          <p:cNvPr id="14" name="TextBox 13">
            <a:extLst>
              <a:ext uri="{FF2B5EF4-FFF2-40B4-BE49-F238E27FC236}">
                <a16:creationId xmlns:a16="http://schemas.microsoft.com/office/drawing/2014/main" id="{F24682E9-5435-49B4-8A4C-D921E61280F3}"/>
              </a:ext>
            </a:extLst>
          </p:cNvPr>
          <p:cNvSpPr txBox="1"/>
          <p:nvPr/>
        </p:nvSpPr>
        <p:spPr>
          <a:xfrm>
            <a:off x="7551446" y="1625984"/>
            <a:ext cx="4227688"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Несвоєчасне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призначення</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антибіотика</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при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стрептококовій</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ангіні</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a:ln>
                  <a:noFill/>
                </a:ln>
                <a:solidFill>
                  <a:srgbClr val="FF0000"/>
                </a:solidFill>
                <a:effectLst/>
                <a:uLnTx/>
                <a:uFillTx/>
                <a:latin typeface="Calibri" panose="020F0502020204030204"/>
                <a:ea typeface="+mn-ea"/>
                <a:cs typeface="+mn-cs"/>
              </a:rPr>
              <a:t>доведено </a:t>
            </a:r>
            <a:r>
              <a:rPr kumimoji="0" lang="ru-RU" sz="1800" b="0" i="0" u="none" strike="noStrike" kern="1200" cap="none" spc="0" normalizeH="0" baseline="0" noProof="0" dirty="0" err="1">
                <a:ln>
                  <a:noFill/>
                </a:ln>
                <a:solidFill>
                  <a:srgbClr val="FF0000"/>
                </a:solidFill>
                <a:effectLst/>
                <a:uLnTx/>
                <a:uFillTx/>
                <a:latin typeface="Calibri" panose="020F0502020204030204"/>
                <a:ea typeface="+mn-ea"/>
                <a:cs typeface="+mn-cs"/>
              </a:rPr>
              <a:t>призводить</a:t>
            </a:r>
            <a:r>
              <a:rPr kumimoji="0" lang="ru-RU" sz="1800" b="0" i="0" u="none" strike="noStrike" kern="1200" cap="none" spc="0" normalizeH="0" baseline="0" noProof="0" dirty="0">
                <a:ln>
                  <a:noFill/>
                </a:ln>
                <a:solidFill>
                  <a:srgbClr val="FF0000"/>
                </a:solidFill>
                <a:effectLst/>
                <a:uLnTx/>
                <a:uFillTx/>
                <a:latin typeface="Calibri" panose="020F0502020204030204"/>
                <a:ea typeface="+mn-ea"/>
                <a:cs typeface="+mn-cs"/>
              </a:rPr>
              <a:t> до тяжких </a:t>
            </a:r>
            <a:r>
              <a:rPr kumimoji="0" lang="ru-RU" sz="1800" b="0" i="0" u="none" strike="noStrike" kern="1200" cap="none" spc="0" normalizeH="0" baseline="0" noProof="0" dirty="0" err="1">
                <a:ln>
                  <a:noFill/>
                </a:ln>
                <a:solidFill>
                  <a:srgbClr val="FF0000"/>
                </a:solidFill>
                <a:effectLst/>
                <a:uLnTx/>
                <a:uFillTx/>
                <a:latin typeface="Calibri" panose="020F0502020204030204"/>
                <a:ea typeface="+mn-ea"/>
                <a:cs typeface="+mn-cs"/>
              </a:rPr>
              <a:t>ранніх</a:t>
            </a:r>
            <a:r>
              <a:rPr kumimoji="0" lang="ru-RU" sz="1800" b="0" i="0" u="none" strike="noStrike" kern="1200" cap="none" spc="0" normalizeH="0" baseline="0" noProof="0" dirty="0">
                <a:ln>
                  <a:noFill/>
                </a:ln>
                <a:solidFill>
                  <a:srgbClr val="FF0000"/>
                </a:solidFill>
                <a:effectLst/>
                <a:uLnTx/>
                <a:uFillTx/>
                <a:latin typeface="Calibri" panose="020F0502020204030204"/>
                <a:ea typeface="+mn-ea"/>
                <a:cs typeface="+mn-cs"/>
              </a:rPr>
              <a:t> та </a:t>
            </a:r>
            <a:r>
              <a:rPr kumimoji="0" lang="ru-RU" sz="1800" b="0" i="0" u="none" strike="noStrike" kern="1200" cap="none" spc="0" normalizeH="0" baseline="0" noProof="0" dirty="0" err="1">
                <a:ln>
                  <a:noFill/>
                </a:ln>
                <a:solidFill>
                  <a:srgbClr val="FF0000"/>
                </a:solidFill>
                <a:effectLst/>
                <a:uLnTx/>
                <a:uFillTx/>
                <a:latin typeface="Calibri" panose="020F0502020204030204"/>
                <a:ea typeface="+mn-ea"/>
                <a:cs typeface="+mn-cs"/>
              </a:rPr>
              <a:t>пізніх</a:t>
            </a:r>
            <a:r>
              <a:rPr kumimoji="0" lang="ru-RU" sz="18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srgbClr val="FF0000"/>
                </a:solidFill>
                <a:effectLst/>
                <a:uLnTx/>
                <a:uFillTx/>
                <a:latin typeface="Calibri" panose="020F0502020204030204"/>
                <a:ea typeface="+mn-ea"/>
                <a:cs typeface="+mn-cs"/>
              </a:rPr>
              <a:t>ускладнень</a:t>
            </a:r>
            <a:r>
              <a:rPr kumimoji="0" lang="ru-RU" sz="1800" b="0" i="0" u="none" strike="noStrike" kern="1200" cap="none" spc="0" normalizeH="0" baseline="0" noProof="0" dirty="0">
                <a:ln>
                  <a:noFill/>
                </a:ln>
                <a:solidFill>
                  <a:srgbClr val="FF0000"/>
                </a:solidFill>
                <a:effectLst/>
                <a:uLnTx/>
                <a:uFillTx/>
                <a:latin typeface="Calibri" panose="020F0502020204030204"/>
                <a:ea typeface="+mn-ea"/>
                <a:cs typeface="+mn-cs"/>
              </a:rPr>
              <a:t>!</a:t>
            </a:r>
          </a:p>
        </p:txBody>
      </p:sp>
      <p:pic>
        <p:nvPicPr>
          <p:cNvPr id="3" name="Рисунок 2">
            <a:extLst>
              <a:ext uri="{FF2B5EF4-FFF2-40B4-BE49-F238E27FC236}">
                <a16:creationId xmlns:a16="http://schemas.microsoft.com/office/drawing/2014/main" id="{1C218E26-0F0E-3144-D5C9-5D8EAC2780B1}"/>
              </a:ext>
            </a:extLst>
          </p:cNvPr>
          <p:cNvPicPr>
            <a:picLocks noChangeAspect="1"/>
          </p:cNvPicPr>
          <p:nvPr/>
        </p:nvPicPr>
        <p:blipFill>
          <a:blip r:embed="rId3"/>
          <a:stretch>
            <a:fillRect/>
          </a:stretch>
        </p:blipFill>
        <p:spPr>
          <a:xfrm>
            <a:off x="2695067" y="3332565"/>
            <a:ext cx="6115397" cy="2988426"/>
          </a:xfrm>
          <a:prstGeom prst="rect">
            <a:avLst/>
          </a:prstGeom>
        </p:spPr>
      </p:pic>
      <p:sp>
        <p:nvSpPr>
          <p:cNvPr id="5" name="Бульбашка прямої мови: прямокутна з округленими кутами 4">
            <a:extLst>
              <a:ext uri="{FF2B5EF4-FFF2-40B4-BE49-F238E27FC236}">
                <a16:creationId xmlns:a16="http://schemas.microsoft.com/office/drawing/2014/main" id="{6D5425D3-0C07-DE5E-6273-E7122486841D}"/>
              </a:ext>
            </a:extLst>
          </p:cNvPr>
          <p:cNvSpPr/>
          <p:nvPr/>
        </p:nvSpPr>
        <p:spPr>
          <a:xfrm flipH="1">
            <a:off x="224443" y="1312333"/>
            <a:ext cx="5203767" cy="1791393"/>
          </a:xfrm>
          <a:prstGeom prst="wedgeRoundRectCallou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6" name="Бульбашка прямої мови: прямокутна з округленими кутами 5">
            <a:extLst>
              <a:ext uri="{FF2B5EF4-FFF2-40B4-BE49-F238E27FC236}">
                <a16:creationId xmlns:a16="http://schemas.microsoft.com/office/drawing/2014/main" id="{141A67C3-AD44-53FE-676B-F397441AB4B5}"/>
              </a:ext>
            </a:extLst>
          </p:cNvPr>
          <p:cNvSpPr/>
          <p:nvPr/>
        </p:nvSpPr>
        <p:spPr>
          <a:xfrm>
            <a:off x="6597535" y="1278074"/>
            <a:ext cx="5688676" cy="1791393"/>
          </a:xfrm>
          <a:prstGeom prst="wedgeRoundRectCallou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7" name="Прямокутник 6">
            <a:extLst>
              <a:ext uri="{FF2B5EF4-FFF2-40B4-BE49-F238E27FC236}">
                <a16:creationId xmlns:a16="http://schemas.microsoft.com/office/drawing/2014/main" id="{C8511111-51A5-6E4C-1D08-54FDAC27C626}"/>
              </a:ext>
            </a:extLst>
          </p:cNvPr>
          <p:cNvSpPr/>
          <p:nvPr/>
        </p:nvSpPr>
        <p:spPr>
          <a:xfrm>
            <a:off x="487167" y="108679"/>
            <a:ext cx="11217666" cy="771232"/>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9" name="Стрілка: вліво-вправо 8">
            <a:extLst>
              <a:ext uri="{FF2B5EF4-FFF2-40B4-BE49-F238E27FC236}">
                <a16:creationId xmlns:a16="http://schemas.microsoft.com/office/drawing/2014/main" id="{25E28CAE-D535-360A-90BB-01EE688C4B49}"/>
              </a:ext>
            </a:extLst>
          </p:cNvPr>
          <p:cNvSpPr/>
          <p:nvPr/>
        </p:nvSpPr>
        <p:spPr>
          <a:xfrm>
            <a:off x="5477061" y="1682089"/>
            <a:ext cx="1048430" cy="34913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0" name="Стрілка: униз 9">
            <a:extLst>
              <a:ext uri="{FF2B5EF4-FFF2-40B4-BE49-F238E27FC236}">
                <a16:creationId xmlns:a16="http://schemas.microsoft.com/office/drawing/2014/main" id="{2BEC95CC-07AD-A695-7630-81E81B70A486}"/>
              </a:ext>
            </a:extLst>
          </p:cNvPr>
          <p:cNvSpPr/>
          <p:nvPr/>
        </p:nvSpPr>
        <p:spPr>
          <a:xfrm>
            <a:off x="5752766" y="966470"/>
            <a:ext cx="407323" cy="62075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pic>
        <p:nvPicPr>
          <p:cNvPr id="11" name="Рисунок 10">
            <a:extLst>
              <a:ext uri="{FF2B5EF4-FFF2-40B4-BE49-F238E27FC236}">
                <a16:creationId xmlns:a16="http://schemas.microsoft.com/office/drawing/2014/main" id="{6C080207-289D-8382-BFE5-6ED2F05EC2D3}"/>
              </a:ext>
            </a:extLst>
          </p:cNvPr>
          <p:cNvPicPr>
            <a:picLocks noChangeAspect="1"/>
          </p:cNvPicPr>
          <p:nvPr/>
        </p:nvPicPr>
        <p:blipFill>
          <a:blip r:embed="rId4"/>
          <a:stretch>
            <a:fillRect/>
          </a:stretch>
        </p:blipFill>
        <p:spPr>
          <a:xfrm>
            <a:off x="9099010" y="5232016"/>
            <a:ext cx="2522696" cy="1047849"/>
          </a:xfrm>
          <a:prstGeom prst="rect">
            <a:avLst/>
          </a:prstGeom>
        </p:spPr>
      </p:pic>
      <p:pic>
        <p:nvPicPr>
          <p:cNvPr id="13" name="Рисунок 12">
            <a:extLst>
              <a:ext uri="{FF2B5EF4-FFF2-40B4-BE49-F238E27FC236}">
                <a16:creationId xmlns:a16="http://schemas.microsoft.com/office/drawing/2014/main" id="{9DA6AC10-E4EF-8358-9677-B44610022277}"/>
              </a:ext>
            </a:extLst>
          </p:cNvPr>
          <p:cNvPicPr>
            <a:picLocks noChangeAspect="1"/>
          </p:cNvPicPr>
          <p:nvPr/>
        </p:nvPicPr>
        <p:blipFill>
          <a:blip r:embed="rId4"/>
          <a:stretch>
            <a:fillRect/>
          </a:stretch>
        </p:blipFill>
        <p:spPr>
          <a:xfrm>
            <a:off x="151313" y="5232016"/>
            <a:ext cx="2350818" cy="976456"/>
          </a:xfrm>
          <a:prstGeom prst="rect">
            <a:avLst/>
          </a:prstGeom>
        </p:spPr>
      </p:pic>
    </p:spTree>
    <p:extLst>
      <p:ext uri="{BB962C8B-B14F-4D97-AF65-F5344CB8AC3E}">
        <p14:creationId xmlns:p14="http://schemas.microsoft.com/office/powerpoint/2010/main" val="2192548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FFF4D94F-122F-7C8E-A60D-89ED0684BCA7}"/>
              </a:ext>
            </a:extLst>
          </p:cNvPr>
          <p:cNvPicPr>
            <a:picLocks noChangeAspect="1"/>
          </p:cNvPicPr>
          <p:nvPr/>
        </p:nvPicPr>
        <p:blipFill>
          <a:blip r:embed="rId3"/>
          <a:srcRect l="332" t="31404" r="-1" b="28598"/>
          <a:stretch>
            <a:fillRect/>
          </a:stretch>
        </p:blipFill>
        <p:spPr>
          <a:xfrm>
            <a:off x="9268787" y="1098374"/>
            <a:ext cx="2572445" cy="1032344"/>
          </a:xfrm>
          <a:prstGeom prst="rect">
            <a:avLst/>
          </a:prstGeom>
        </p:spPr>
      </p:pic>
      <p:sp>
        <p:nvSpPr>
          <p:cNvPr id="13" name="Прямокутник: округлені кути 12">
            <a:extLst>
              <a:ext uri="{FF2B5EF4-FFF2-40B4-BE49-F238E27FC236}">
                <a16:creationId xmlns:a16="http://schemas.microsoft.com/office/drawing/2014/main" id="{562D91D0-915D-B5DF-54D7-340ADFB05515}"/>
              </a:ext>
            </a:extLst>
          </p:cNvPr>
          <p:cNvSpPr/>
          <p:nvPr/>
        </p:nvSpPr>
        <p:spPr>
          <a:xfrm>
            <a:off x="2315201" y="3420839"/>
            <a:ext cx="1140823" cy="517377"/>
          </a:xfrm>
          <a:prstGeom prst="roundRect">
            <a:avLst/>
          </a:prstGeom>
          <a:solidFill>
            <a:srgbClr val="00B050">
              <a:alpha val="48000"/>
            </a:srgb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Прямокутник: округлені кути 3">
            <a:extLst>
              <a:ext uri="{FF2B5EF4-FFF2-40B4-BE49-F238E27FC236}">
                <a16:creationId xmlns:a16="http://schemas.microsoft.com/office/drawing/2014/main" id="{F292C736-15F5-C285-CD91-CE4EB564967D}"/>
              </a:ext>
            </a:extLst>
          </p:cNvPr>
          <p:cNvSpPr/>
          <p:nvPr/>
        </p:nvSpPr>
        <p:spPr>
          <a:xfrm>
            <a:off x="2279944" y="755852"/>
            <a:ext cx="6789488" cy="2351315"/>
          </a:xfrm>
          <a:prstGeom prst="roundRect">
            <a:avLst/>
          </a:prstGeom>
          <a:solidFill>
            <a:srgbClr val="1EAE0A">
              <a:alpha val="4078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Заголовок 1">
            <a:extLst>
              <a:ext uri="{FF2B5EF4-FFF2-40B4-BE49-F238E27FC236}">
                <a16:creationId xmlns:a16="http://schemas.microsoft.com/office/drawing/2014/main" id="{D4E71CDE-26AE-FF3B-38C2-5745AA4EBBB2}"/>
              </a:ext>
            </a:extLst>
          </p:cNvPr>
          <p:cNvSpPr>
            <a:spLocks noGrp="1"/>
          </p:cNvSpPr>
          <p:nvPr>
            <p:ph type="title" idx="4294967295"/>
          </p:nvPr>
        </p:nvSpPr>
        <p:spPr>
          <a:xfrm>
            <a:off x="357051" y="119063"/>
            <a:ext cx="11834949" cy="466725"/>
          </a:xfrm>
        </p:spPr>
        <p:txBody>
          <a:bodyPr>
            <a:normAutofit/>
          </a:bodyPr>
          <a:lstStyle/>
          <a:p>
            <a:r>
              <a:rPr lang="ru-RU" sz="2400" b="1" dirty="0"/>
              <a:t>Шкала </a:t>
            </a:r>
            <a:r>
              <a:rPr lang="ru-RU" sz="2400" b="1" dirty="0" err="1"/>
              <a:t>Центора</a:t>
            </a:r>
            <a:r>
              <a:rPr lang="ru-RU" sz="2400" b="1" dirty="0"/>
              <a:t> (</a:t>
            </a:r>
            <a:r>
              <a:rPr lang="ru-RU" sz="2400" b="1" dirty="0" err="1"/>
              <a:t>модифікована</a:t>
            </a:r>
            <a:r>
              <a:rPr lang="ru-RU" sz="2400" b="1" dirty="0"/>
              <a:t>/</a:t>
            </a:r>
            <a:r>
              <a:rPr lang="ru-RU" sz="2400" b="1" dirty="0" err="1"/>
              <a:t>McIsaac</a:t>
            </a:r>
            <a:r>
              <a:rPr lang="ru-RU" sz="2400" b="1" dirty="0"/>
              <a:t>) для </a:t>
            </a:r>
            <a:r>
              <a:rPr lang="ru-RU" sz="2400" b="1" dirty="0" err="1"/>
              <a:t>стрептококового</a:t>
            </a:r>
            <a:r>
              <a:rPr lang="ru-RU" sz="2400" b="1" dirty="0"/>
              <a:t> </a:t>
            </a:r>
            <a:r>
              <a:rPr lang="ru-RU" sz="2400" b="1" dirty="0" err="1"/>
              <a:t>фарингіту</a:t>
            </a:r>
            <a:r>
              <a:rPr lang="uk-UA" sz="2400" dirty="0"/>
              <a:t>)</a:t>
            </a:r>
          </a:p>
        </p:txBody>
      </p:sp>
      <p:sp>
        <p:nvSpPr>
          <p:cNvPr id="3" name="Заголовок 1">
            <a:extLst>
              <a:ext uri="{FF2B5EF4-FFF2-40B4-BE49-F238E27FC236}">
                <a16:creationId xmlns:a16="http://schemas.microsoft.com/office/drawing/2014/main" id="{3E2C6DE4-6644-267D-45DF-E3AE078AC560}"/>
              </a:ext>
            </a:extLst>
          </p:cNvPr>
          <p:cNvSpPr txBox="1">
            <a:spLocks/>
          </p:cNvSpPr>
          <p:nvPr/>
        </p:nvSpPr>
        <p:spPr>
          <a:xfrm>
            <a:off x="2664845" y="1273285"/>
            <a:ext cx="6510814" cy="13062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Критерії                                                                                                                 Бал</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Відсутність кашлю                                                                                                   1</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Збільшення та болючість </a:t>
            </a:r>
            <a:r>
              <a:rPr kumimoji="0" lang="uk-UA" sz="1600" b="1" i="0" u="none" strike="noStrike" kern="1200" cap="none" spc="0" normalizeH="0" baseline="0" noProof="0" dirty="0" err="1">
                <a:ln>
                  <a:noFill/>
                </a:ln>
                <a:solidFill>
                  <a:prstClr val="black"/>
                </a:solidFill>
                <a:effectLst/>
                <a:uLnTx/>
                <a:uFillTx/>
                <a:latin typeface="Calibri Light" panose="020F0302020204030204"/>
                <a:ea typeface="+mj-ea"/>
                <a:cs typeface="+mj-cs"/>
              </a:rPr>
              <a:t>передньошийних</a:t>
            </a: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kumimoji="0" lang="uk-UA" sz="1600" b="1" i="0" u="none" strike="noStrike" kern="1200" cap="none" spc="0" normalizeH="0" baseline="0" noProof="0" dirty="0" err="1">
                <a:ln>
                  <a:noFill/>
                </a:ln>
                <a:solidFill>
                  <a:prstClr val="black"/>
                </a:solidFill>
                <a:effectLst/>
                <a:uLnTx/>
                <a:uFillTx/>
                <a:latin typeface="Calibri Light" panose="020F0302020204030204"/>
                <a:ea typeface="+mj-ea"/>
                <a:cs typeface="+mj-cs"/>
              </a:rPr>
              <a:t>лімфоузлів</a:t>
            </a: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                               1</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Температура тіла </a:t>
            </a:r>
            <a:r>
              <a:rPr kumimoji="0" lang="en-US" sz="1600" b="1" i="0" u="none" strike="noStrike" kern="1200" cap="none" spc="0" normalizeH="0" baseline="0" noProof="0" dirty="0">
                <a:ln>
                  <a:noFill/>
                </a:ln>
                <a:solidFill>
                  <a:prstClr val="black"/>
                </a:solidFill>
                <a:effectLst/>
                <a:uLnTx/>
                <a:uFillTx/>
                <a:latin typeface="Calibri Light" panose="020F0302020204030204"/>
                <a:ea typeface="+mj-ea"/>
                <a:cs typeface="+mj-cs"/>
              </a:rPr>
              <a:t>&gt; 38C</a:t>
            </a: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                                                                                         1</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Ексудат на піднебінних мигдаликах та їхній набряк                                      1</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Вік</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                     3-14 років                                                                                              1</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                     15-44  роки                                                                                           0</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kumimoji="0" lang="en-US" sz="1600" b="1" i="0" u="none" strike="noStrike" kern="1200" cap="none" spc="0" normalizeH="0" baseline="0" noProof="0" dirty="0">
                <a:ln>
                  <a:noFill/>
                </a:ln>
                <a:solidFill>
                  <a:prstClr val="black"/>
                </a:solidFill>
                <a:effectLst/>
                <a:uLnTx/>
                <a:uFillTx/>
                <a:latin typeface="Calibri Light" panose="020F0302020204030204"/>
                <a:ea typeface="+mj-ea"/>
                <a:cs typeface="+mj-cs"/>
              </a:rPr>
              <a:t>&gt;45 </a:t>
            </a: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 років                                                                                           -1</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Light" panose="020F0302020204030204"/>
                <a:ea typeface="+mj-ea"/>
                <a:cs typeface="+mj-cs"/>
              </a:rPr>
              <a:t>                                                                                                Сума балів _______            </a:t>
            </a:r>
          </a:p>
        </p:txBody>
      </p:sp>
      <p:sp>
        <p:nvSpPr>
          <p:cNvPr id="6" name="TextBox 5">
            <a:extLst>
              <a:ext uri="{FF2B5EF4-FFF2-40B4-BE49-F238E27FC236}">
                <a16:creationId xmlns:a16="http://schemas.microsoft.com/office/drawing/2014/main" id="{27BB3E63-F957-3059-631F-5A2C4753E59F}"/>
              </a:ext>
            </a:extLst>
          </p:cNvPr>
          <p:cNvSpPr txBox="1"/>
          <p:nvPr/>
        </p:nvSpPr>
        <p:spPr>
          <a:xfrm>
            <a:off x="2381068" y="3481077"/>
            <a:ext cx="11408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0 балів</a:t>
            </a:r>
          </a:p>
        </p:txBody>
      </p:sp>
      <p:sp>
        <p:nvSpPr>
          <p:cNvPr id="8" name="TextBox 7">
            <a:extLst>
              <a:ext uri="{FF2B5EF4-FFF2-40B4-BE49-F238E27FC236}">
                <a16:creationId xmlns:a16="http://schemas.microsoft.com/office/drawing/2014/main" id="{A474F3C5-2598-B487-02D9-F847B366A78A}"/>
              </a:ext>
            </a:extLst>
          </p:cNvPr>
          <p:cNvSpPr txBox="1"/>
          <p:nvPr/>
        </p:nvSpPr>
        <p:spPr>
          <a:xfrm>
            <a:off x="3790451" y="3437544"/>
            <a:ext cx="9405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1 балів</a:t>
            </a:r>
          </a:p>
        </p:txBody>
      </p:sp>
      <p:sp>
        <p:nvSpPr>
          <p:cNvPr id="10" name="TextBox 9">
            <a:extLst>
              <a:ext uri="{FF2B5EF4-FFF2-40B4-BE49-F238E27FC236}">
                <a16:creationId xmlns:a16="http://schemas.microsoft.com/office/drawing/2014/main" id="{5E10DAAD-B041-1AF7-11B1-C0081E69E2D2}"/>
              </a:ext>
            </a:extLst>
          </p:cNvPr>
          <p:cNvSpPr txBox="1"/>
          <p:nvPr/>
        </p:nvSpPr>
        <p:spPr>
          <a:xfrm>
            <a:off x="6629352" y="3429564"/>
            <a:ext cx="11408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 3 балів</a:t>
            </a:r>
          </a:p>
        </p:txBody>
      </p:sp>
      <p:sp>
        <p:nvSpPr>
          <p:cNvPr id="12" name="TextBox 11">
            <a:extLst>
              <a:ext uri="{FF2B5EF4-FFF2-40B4-BE49-F238E27FC236}">
                <a16:creationId xmlns:a16="http://schemas.microsoft.com/office/drawing/2014/main" id="{8160C724-565F-D66D-82A7-75D0E4DB0FE6}"/>
              </a:ext>
            </a:extLst>
          </p:cNvPr>
          <p:cNvSpPr txBox="1"/>
          <p:nvPr/>
        </p:nvSpPr>
        <p:spPr>
          <a:xfrm>
            <a:off x="5228543" y="3481077"/>
            <a:ext cx="9520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2 балів</a:t>
            </a:r>
          </a:p>
        </p:txBody>
      </p:sp>
      <p:sp>
        <p:nvSpPr>
          <p:cNvPr id="19" name="TextBox 18">
            <a:extLst>
              <a:ext uri="{FF2B5EF4-FFF2-40B4-BE49-F238E27FC236}">
                <a16:creationId xmlns:a16="http://schemas.microsoft.com/office/drawing/2014/main" id="{916BD046-37AC-E9BD-FA6A-B0BACD62A2D3}"/>
              </a:ext>
            </a:extLst>
          </p:cNvPr>
          <p:cNvSpPr txBox="1"/>
          <p:nvPr/>
        </p:nvSpPr>
        <p:spPr>
          <a:xfrm>
            <a:off x="8049993" y="3443845"/>
            <a:ext cx="146764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 ≥4 балів</a:t>
            </a:r>
          </a:p>
        </p:txBody>
      </p:sp>
      <p:sp>
        <p:nvSpPr>
          <p:cNvPr id="20" name="Прямокутник: округлені кути 19">
            <a:extLst>
              <a:ext uri="{FF2B5EF4-FFF2-40B4-BE49-F238E27FC236}">
                <a16:creationId xmlns:a16="http://schemas.microsoft.com/office/drawing/2014/main" id="{79095E39-F589-0FDB-5D46-1771E0B18F0D}"/>
              </a:ext>
            </a:extLst>
          </p:cNvPr>
          <p:cNvSpPr/>
          <p:nvPr/>
        </p:nvSpPr>
        <p:spPr>
          <a:xfrm>
            <a:off x="3661800" y="3397866"/>
            <a:ext cx="1140823" cy="517377"/>
          </a:xfrm>
          <a:prstGeom prst="roundRect">
            <a:avLst/>
          </a:prstGeom>
          <a:solidFill>
            <a:srgbClr val="92D050">
              <a:alpha val="48000"/>
            </a:srgb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Прямокутник: округлені кути 20">
            <a:extLst>
              <a:ext uri="{FF2B5EF4-FFF2-40B4-BE49-F238E27FC236}">
                <a16:creationId xmlns:a16="http://schemas.microsoft.com/office/drawing/2014/main" id="{486030E6-6B71-2D39-EE8B-E4976D3107C5}"/>
              </a:ext>
            </a:extLst>
          </p:cNvPr>
          <p:cNvSpPr/>
          <p:nvPr/>
        </p:nvSpPr>
        <p:spPr>
          <a:xfrm>
            <a:off x="5069679" y="3424770"/>
            <a:ext cx="1140823" cy="517377"/>
          </a:xfrm>
          <a:prstGeom prst="roundRect">
            <a:avLst/>
          </a:prstGeom>
          <a:solidFill>
            <a:srgbClr val="FFFF00">
              <a:alpha val="48000"/>
            </a:srgb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Прямокутник: округлені кути 21">
            <a:extLst>
              <a:ext uri="{FF2B5EF4-FFF2-40B4-BE49-F238E27FC236}">
                <a16:creationId xmlns:a16="http://schemas.microsoft.com/office/drawing/2014/main" id="{B803881D-C06E-C99A-64FD-31546EEF5DAE}"/>
              </a:ext>
            </a:extLst>
          </p:cNvPr>
          <p:cNvSpPr/>
          <p:nvPr/>
        </p:nvSpPr>
        <p:spPr>
          <a:xfrm>
            <a:off x="6574743" y="3391536"/>
            <a:ext cx="1140823" cy="517377"/>
          </a:xfrm>
          <a:prstGeom prst="roundRect">
            <a:avLst/>
          </a:prstGeom>
          <a:solidFill>
            <a:schemeClr val="accent4">
              <a:lumMod val="60000"/>
              <a:lumOff val="40000"/>
              <a:alpha val="48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Прямокутник: округлені кути 22">
            <a:extLst>
              <a:ext uri="{FF2B5EF4-FFF2-40B4-BE49-F238E27FC236}">
                <a16:creationId xmlns:a16="http://schemas.microsoft.com/office/drawing/2014/main" id="{771F764C-9A71-0786-32EB-799595C554BC}"/>
              </a:ext>
            </a:extLst>
          </p:cNvPr>
          <p:cNvSpPr/>
          <p:nvPr/>
        </p:nvSpPr>
        <p:spPr>
          <a:xfrm>
            <a:off x="8034836" y="3374193"/>
            <a:ext cx="1140823" cy="517377"/>
          </a:xfrm>
          <a:prstGeom prst="roundRect">
            <a:avLst/>
          </a:prstGeom>
          <a:solidFill>
            <a:schemeClr val="accent2">
              <a:lumMod val="60000"/>
              <a:lumOff val="40000"/>
              <a:alpha val="48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Прямокутник: округлені кути 23">
            <a:extLst>
              <a:ext uri="{FF2B5EF4-FFF2-40B4-BE49-F238E27FC236}">
                <a16:creationId xmlns:a16="http://schemas.microsoft.com/office/drawing/2014/main" id="{0F816EBB-5462-E0D0-7FC5-A6C3307C8CD9}"/>
              </a:ext>
            </a:extLst>
          </p:cNvPr>
          <p:cNvSpPr/>
          <p:nvPr/>
        </p:nvSpPr>
        <p:spPr>
          <a:xfrm>
            <a:off x="2416558" y="4161314"/>
            <a:ext cx="958392" cy="1354709"/>
          </a:xfrm>
          <a:prstGeom prst="roundRect">
            <a:avLst/>
          </a:prstGeom>
          <a:solidFill>
            <a:srgbClr val="00B050">
              <a:alpha val="48000"/>
            </a:srgb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Прямокутник: округлені кути 24">
            <a:extLst>
              <a:ext uri="{FF2B5EF4-FFF2-40B4-BE49-F238E27FC236}">
                <a16:creationId xmlns:a16="http://schemas.microsoft.com/office/drawing/2014/main" id="{A089AE26-72C0-E7B5-B9E0-3F7F08728110}"/>
              </a:ext>
            </a:extLst>
          </p:cNvPr>
          <p:cNvSpPr/>
          <p:nvPr/>
        </p:nvSpPr>
        <p:spPr>
          <a:xfrm>
            <a:off x="3690301" y="4098707"/>
            <a:ext cx="1140823" cy="1354709"/>
          </a:xfrm>
          <a:prstGeom prst="roundRect">
            <a:avLst/>
          </a:prstGeom>
          <a:solidFill>
            <a:srgbClr val="92D050">
              <a:alpha val="48000"/>
            </a:srgb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Прямокутник: округлені кути 25">
            <a:extLst>
              <a:ext uri="{FF2B5EF4-FFF2-40B4-BE49-F238E27FC236}">
                <a16:creationId xmlns:a16="http://schemas.microsoft.com/office/drawing/2014/main" id="{646ACD63-7C7E-1D5F-8270-19FFCBED1E3B}"/>
              </a:ext>
            </a:extLst>
          </p:cNvPr>
          <p:cNvSpPr/>
          <p:nvPr/>
        </p:nvSpPr>
        <p:spPr>
          <a:xfrm>
            <a:off x="5102954" y="4091007"/>
            <a:ext cx="1140823" cy="1267099"/>
          </a:xfrm>
          <a:prstGeom prst="roundRect">
            <a:avLst/>
          </a:prstGeom>
          <a:solidFill>
            <a:srgbClr val="FFFF00">
              <a:alpha val="48000"/>
            </a:srgb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Прямокутник: округлені кути 26">
            <a:extLst>
              <a:ext uri="{FF2B5EF4-FFF2-40B4-BE49-F238E27FC236}">
                <a16:creationId xmlns:a16="http://schemas.microsoft.com/office/drawing/2014/main" id="{84C3862B-20CD-BA9B-8D43-A2FC51D66BB1}"/>
              </a:ext>
            </a:extLst>
          </p:cNvPr>
          <p:cNvSpPr/>
          <p:nvPr/>
        </p:nvSpPr>
        <p:spPr>
          <a:xfrm>
            <a:off x="6574743" y="4100631"/>
            <a:ext cx="1140823" cy="1267099"/>
          </a:xfrm>
          <a:prstGeom prst="roundRect">
            <a:avLst/>
          </a:prstGeom>
          <a:solidFill>
            <a:schemeClr val="accent4">
              <a:lumMod val="60000"/>
              <a:lumOff val="40000"/>
              <a:alpha val="48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Прямокутник: округлені кути 27">
            <a:extLst>
              <a:ext uri="{FF2B5EF4-FFF2-40B4-BE49-F238E27FC236}">
                <a16:creationId xmlns:a16="http://schemas.microsoft.com/office/drawing/2014/main" id="{2FAF584A-1EFA-0399-0AB8-BE6AC4522B58}"/>
              </a:ext>
            </a:extLst>
          </p:cNvPr>
          <p:cNvSpPr/>
          <p:nvPr/>
        </p:nvSpPr>
        <p:spPr>
          <a:xfrm>
            <a:off x="8076347" y="4066754"/>
            <a:ext cx="1140823" cy="1245217"/>
          </a:xfrm>
          <a:prstGeom prst="roundRect">
            <a:avLst/>
          </a:prstGeom>
          <a:solidFill>
            <a:schemeClr val="accent2">
              <a:lumMod val="60000"/>
              <a:lumOff val="40000"/>
              <a:alpha val="48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6DE8B434-C91C-2B55-3E70-AA5CB6A63DB2}"/>
              </a:ext>
            </a:extLst>
          </p:cNvPr>
          <p:cNvSpPr txBox="1"/>
          <p:nvPr/>
        </p:nvSpPr>
        <p:spPr>
          <a:xfrm>
            <a:off x="2446338" y="4280888"/>
            <a:ext cx="1056983"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err="1">
                <a:ln>
                  <a:noFill/>
                </a:ln>
                <a:solidFill>
                  <a:prstClr val="black"/>
                </a:solidFill>
                <a:effectLst/>
                <a:uLnTx/>
                <a:uFillTx/>
                <a:latin typeface="Calibri" panose="020F0502020204030204"/>
                <a:ea typeface="+mn-ea"/>
                <a:cs typeface="+mn-cs"/>
              </a:rPr>
              <a:t>Ризик</a:t>
            </a:r>
            <a:r>
              <a:rPr kumimoji="0" lang="ru-RU" sz="1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prstClr val="black"/>
                </a:solidFill>
                <a:effectLst/>
                <a:uLnTx/>
                <a:uFillTx/>
                <a:latin typeface="Calibri" panose="020F0502020204030204"/>
                <a:ea typeface="+mn-ea"/>
                <a:cs typeface="+mn-cs"/>
              </a:rPr>
              <a:t>БГСА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err="1">
                <a:ln>
                  <a:noFill/>
                </a:ln>
                <a:solidFill>
                  <a:prstClr val="black"/>
                </a:solidFill>
                <a:effectLst/>
                <a:uLnTx/>
                <a:uFillTx/>
                <a:latin typeface="Calibri" panose="020F0502020204030204"/>
                <a:ea typeface="+mn-ea"/>
                <a:cs typeface="+mn-cs"/>
              </a:rPr>
              <a:t>Фарингіту</a:t>
            </a:r>
            <a:r>
              <a:rPr kumimoji="0" lang="ru-RU" sz="1600" b="0" i="0" u="none" strike="noStrike" kern="1200" cap="none" spc="0" normalizeH="0" baseline="0" noProof="0" dirty="0">
                <a:ln>
                  <a:noFill/>
                </a:ln>
                <a:solidFill>
                  <a:prstClr val="black"/>
                </a:solidFill>
                <a:effectLst/>
                <a:uLnTx/>
                <a:uFillTx/>
                <a:latin typeface="Calibri" panose="020F0502020204030204"/>
                <a:ea typeface="+mn-ea"/>
                <a:cs typeface="+mn-cs"/>
              </a:rPr>
              <a:t> 1-2,5%</a:t>
            </a:r>
          </a:p>
        </p:txBody>
      </p:sp>
      <p:sp>
        <p:nvSpPr>
          <p:cNvPr id="32" name="TextBox 31">
            <a:extLst>
              <a:ext uri="{FF2B5EF4-FFF2-40B4-BE49-F238E27FC236}">
                <a16:creationId xmlns:a16="http://schemas.microsoft.com/office/drawing/2014/main" id="{A23857B1-9231-EA1B-1569-DDC2681194C1}"/>
              </a:ext>
            </a:extLst>
          </p:cNvPr>
          <p:cNvSpPr txBox="1"/>
          <p:nvPr/>
        </p:nvSpPr>
        <p:spPr>
          <a:xfrm>
            <a:off x="3811469" y="4154011"/>
            <a:ext cx="1069776"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600" b="0" i="0" u="none" strike="noStrike" kern="1200" cap="none" spc="0" normalizeH="0" baseline="0" noProof="0" dirty="0">
                <a:ln>
                  <a:noFill/>
                </a:ln>
                <a:solidFill>
                  <a:prstClr val="black"/>
                </a:solidFill>
                <a:effectLst/>
                <a:uLnTx/>
                <a:uFillTx/>
                <a:latin typeface="Calibri" panose="020F0502020204030204"/>
                <a:ea typeface="+mn-ea"/>
                <a:cs typeface="+mn-cs"/>
              </a:rPr>
              <a:t>Ризик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600" b="0" i="0" u="none" strike="noStrike" kern="1200" cap="none" spc="0" normalizeH="0" baseline="0" noProof="0" dirty="0">
                <a:ln>
                  <a:noFill/>
                </a:ln>
                <a:solidFill>
                  <a:prstClr val="black"/>
                </a:solidFill>
                <a:effectLst/>
                <a:uLnTx/>
                <a:uFillTx/>
                <a:latin typeface="Calibri" panose="020F0502020204030204"/>
                <a:ea typeface="+mn-ea"/>
                <a:cs typeface="+mn-cs"/>
              </a:rPr>
              <a:t>БГСА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600" b="0" i="0" u="none" strike="noStrike" kern="1200" cap="none" spc="0" normalizeH="0" baseline="0" noProof="0" dirty="0">
                <a:ln>
                  <a:noFill/>
                </a:ln>
                <a:solidFill>
                  <a:prstClr val="black"/>
                </a:solidFill>
                <a:effectLst/>
                <a:uLnTx/>
                <a:uFillTx/>
                <a:latin typeface="Calibri" panose="020F0502020204030204"/>
                <a:ea typeface="+mn-ea"/>
                <a:cs typeface="+mn-cs"/>
              </a:rPr>
              <a:t>Фарингіту</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600" b="0" i="0" u="none" strike="noStrike" kern="1200" cap="none" spc="0" normalizeH="0" baseline="0" noProof="0" dirty="0">
                <a:ln>
                  <a:noFill/>
                </a:ln>
                <a:solidFill>
                  <a:prstClr val="black"/>
                </a:solidFill>
                <a:effectLst/>
                <a:uLnTx/>
                <a:uFillTx/>
                <a:latin typeface="Calibri" panose="020F0502020204030204"/>
                <a:ea typeface="+mn-ea"/>
                <a:cs typeface="+mn-cs"/>
              </a:rPr>
              <a:t> 5-10%</a:t>
            </a:r>
          </a:p>
        </p:txBody>
      </p:sp>
      <p:sp>
        <p:nvSpPr>
          <p:cNvPr id="34" name="TextBox 33">
            <a:extLst>
              <a:ext uri="{FF2B5EF4-FFF2-40B4-BE49-F238E27FC236}">
                <a16:creationId xmlns:a16="http://schemas.microsoft.com/office/drawing/2014/main" id="{DC1C1F7A-CF63-C2BF-9C8D-2652D93B3C31}"/>
              </a:ext>
            </a:extLst>
          </p:cNvPr>
          <p:cNvSpPr txBox="1"/>
          <p:nvPr/>
        </p:nvSpPr>
        <p:spPr>
          <a:xfrm>
            <a:off x="5182143" y="4108349"/>
            <a:ext cx="121001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Ризик</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БГСА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Фарингіту</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11-17%</a:t>
            </a:r>
          </a:p>
        </p:txBody>
      </p:sp>
      <p:sp>
        <p:nvSpPr>
          <p:cNvPr id="36" name="TextBox 35">
            <a:extLst>
              <a:ext uri="{FF2B5EF4-FFF2-40B4-BE49-F238E27FC236}">
                <a16:creationId xmlns:a16="http://schemas.microsoft.com/office/drawing/2014/main" id="{08F7C374-F529-B757-21BC-F886612EF61A}"/>
              </a:ext>
            </a:extLst>
          </p:cNvPr>
          <p:cNvSpPr txBox="1"/>
          <p:nvPr/>
        </p:nvSpPr>
        <p:spPr>
          <a:xfrm>
            <a:off x="6608942" y="4081445"/>
            <a:ext cx="1467641"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Ризик</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БГСА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Фарингіту</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28-35%</a:t>
            </a:r>
          </a:p>
        </p:txBody>
      </p:sp>
      <p:sp>
        <p:nvSpPr>
          <p:cNvPr id="38" name="TextBox 37">
            <a:extLst>
              <a:ext uri="{FF2B5EF4-FFF2-40B4-BE49-F238E27FC236}">
                <a16:creationId xmlns:a16="http://schemas.microsoft.com/office/drawing/2014/main" id="{8CC986C0-CF80-2B1B-1B35-7FB6E9CC871C}"/>
              </a:ext>
            </a:extLst>
          </p:cNvPr>
          <p:cNvSpPr txBox="1"/>
          <p:nvPr/>
        </p:nvSpPr>
        <p:spPr>
          <a:xfrm>
            <a:off x="8110546" y="4098707"/>
            <a:ext cx="1158241"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Ризик</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БГСА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Фарингіту</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51-53%</a:t>
            </a:r>
          </a:p>
        </p:txBody>
      </p:sp>
      <p:pic>
        <p:nvPicPr>
          <p:cNvPr id="39" name="Рисунок 38">
            <a:extLst>
              <a:ext uri="{FF2B5EF4-FFF2-40B4-BE49-F238E27FC236}">
                <a16:creationId xmlns:a16="http://schemas.microsoft.com/office/drawing/2014/main" id="{FD09A8EB-6F48-CE07-52E6-96AC554280A2}"/>
              </a:ext>
            </a:extLst>
          </p:cNvPr>
          <p:cNvPicPr>
            <a:picLocks noChangeAspect="1"/>
          </p:cNvPicPr>
          <p:nvPr/>
        </p:nvPicPr>
        <p:blipFill>
          <a:blip r:embed="rId4"/>
          <a:stretch>
            <a:fillRect/>
          </a:stretch>
        </p:blipFill>
        <p:spPr>
          <a:xfrm>
            <a:off x="357051" y="5508720"/>
            <a:ext cx="4288903" cy="750128"/>
          </a:xfrm>
          <a:prstGeom prst="rect">
            <a:avLst/>
          </a:prstGeom>
        </p:spPr>
      </p:pic>
      <p:sp>
        <p:nvSpPr>
          <p:cNvPr id="42" name="Прямокутник: округлені кути 41">
            <a:extLst>
              <a:ext uri="{FF2B5EF4-FFF2-40B4-BE49-F238E27FC236}">
                <a16:creationId xmlns:a16="http://schemas.microsoft.com/office/drawing/2014/main" id="{4F4AF47F-91D1-5B53-D56B-F3EAAFC6DF40}"/>
              </a:ext>
            </a:extLst>
          </p:cNvPr>
          <p:cNvSpPr/>
          <p:nvPr/>
        </p:nvSpPr>
        <p:spPr>
          <a:xfrm>
            <a:off x="4855715" y="5385073"/>
            <a:ext cx="3001505" cy="873776"/>
          </a:xfrm>
          <a:prstGeom prst="roundRect">
            <a:avLst/>
          </a:prstGeom>
          <a:solidFill>
            <a:schemeClr val="accent4">
              <a:lumMod val="60000"/>
              <a:lumOff val="40000"/>
              <a:alpha val="48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Прямокутник: округлені кути 44">
            <a:extLst>
              <a:ext uri="{FF2B5EF4-FFF2-40B4-BE49-F238E27FC236}">
                <a16:creationId xmlns:a16="http://schemas.microsoft.com/office/drawing/2014/main" id="{D1B5A028-0979-0C4D-8D8C-75DD95EC90C7}"/>
              </a:ext>
            </a:extLst>
          </p:cNvPr>
          <p:cNvSpPr/>
          <p:nvPr/>
        </p:nvSpPr>
        <p:spPr>
          <a:xfrm>
            <a:off x="7987396" y="5358107"/>
            <a:ext cx="3489780" cy="900742"/>
          </a:xfrm>
          <a:prstGeom prst="roundRect">
            <a:avLst/>
          </a:prstGeom>
          <a:solidFill>
            <a:schemeClr val="accent2">
              <a:lumMod val="60000"/>
              <a:lumOff val="40000"/>
              <a:alpha val="48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75143EEC-AEC6-1CD5-1EC6-927CE4009EBE}"/>
              </a:ext>
            </a:extLst>
          </p:cNvPr>
          <p:cNvSpPr txBox="1"/>
          <p:nvPr/>
        </p:nvSpPr>
        <p:spPr>
          <a:xfrm>
            <a:off x="531222" y="5550017"/>
            <a:ext cx="405076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Без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подальших</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аналізів</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та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антибіотиків</a:t>
            </a:r>
            <a:endPar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Box 48">
            <a:extLst>
              <a:ext uri="{FF2B5EF4-FFF2-40B4-BE49-F238E27FC236}">
                <a16:creationId xmlns:a16="http://schemas.microsoft.com/office/drawing/2014/main" id="{B38AAC56-3D16-9F8C-522F-95F5F7C16C37}"/>
              </a:ext>
            </a:extLst>
          </p:cNvPr>
          <p:cNvSpPr txBox="1"/>
          <p:nvPr/>
        </p:nvSpPr>
        <p:spPr>
          <a:xfrm>
            <a:off x="5100451" y="5612517"/>
            <a:ext cx="268564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Проведіть</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посів</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або</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швидкий</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тест на БГСА</a:t>
            </a:r>
            <a:endPar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Box 50">
            <a:extLst>
              <a:ext uri="{FF2B5EF4-FFF2-40B4-BE49-F238E27FC236}">
                <a16:creationId xmlns:a16="http://schemas.microsoft.com/office/drawing/2014/main" id="{7D9A78F2-82C6-6D8A-4D5D-B50CCCEACC76}"/>
              </a:ext>
            </a:extLst>
          </p:cNvPr>
          <p:cNvSpPr txBox="1"/>
          <p:nvPr/>
        </p:nvSpPr>
        <p:spPr>
          <a:xfrm>
            <a:off x="8241814" y="5508720"/>
            <a:ext cx="270055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Розгляньте</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емперічне</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лікування</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атибіотиком</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55" name="Пряма зі стрілкою 54">
            <a:extLst>
              <a:ext uri="{FF2B5EF4-FFF2-40B4-BE49-F238E27FC236}">
                <a16:creationId xmlns:a16="http://schemas.microsoft.com/office/drawing/2014/main" id="{97CC85EE-185F-1529-0F49-9EAE729C26F7}"/>
              </a:ext>
            </a:extLst>
          </p:cNvPr>
          <p:cNvCxnSpPr>
            <a:cxnSpLocks/>
          </p:cNvCxnSpPr>
          <p:nvPr/>
        </p:nvCxnSpPr>
        <p:spPr>
          <a:xfrm flipH="1">
            <a:off x="2567525" y="3110874"/>
            <a:ext cx="2498559" cy="314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Пряма зі стрілкою 56">
            <a:extLst>
              <a:ext uri="{FF2B5EF4-FFF2-40B4-BE49-F238E27FC236}">
                <a16:creationId xmlns:a16="http://schemas.microsoft.com/office/drawing/2014/main" id="{D3BB5401-10F3-BB0D-C853-B4F64AA6668F}"/>
              </a:ext>
            </a:extLst>
          </p:cNvPr>
          <p:cNvCxnSpPr>
            <a:cxnSpLocks/>
          </p:cNvCxnSpPr>
          <p:nvPr/>
        </p:nvCxnSpPr>
        <p:spPr>
          <a:xfrm flipH="1">
            <a:off x="4440943" y="3107167"/>
            <a:ext cx="628736" cy="272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Пряма зі стрілкою 60">
            <a:extLst>
              <a:ext uri="{FF2B5EF4-FFF2-40B4-BE49-F238E27FC236}">
                <a16:creationId xmlns:a16="http://schemas.microsoft.com/office/drawing/2014/main" id="{A7EBB46D-AB5D-0B45-E6BA-5A6EE751F0EF}"/>
              </a:ext>
            </a:extLst>
          </p:cNvPr>
          <p:cNvCxnSpPr>
            <a:endCxn id="21" idx="0"/>
          </p:cNvCxnSpPr>
          <p:nvPr/>
        </p:nvCxnSpPr>
        <p:spPr>
          <a:xfrm>
            <a:off x="5069679" y="3107167"/>
            <a:ext cx="570412" cy="317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Пряма зі стрілкою 62">
            <a:extLst>
              <a:ext uri="{FF2B5EF4-FFF2-40B4-BE49-F238E27FC236}">
                <a16:creationId xmlns:a16="http://schemas.microsoft.com/office/drawing/2014/main" id="{62ECB931-3468-1D00-CA82-0878833AE96E}"/>
              </a:ext>
            </a:extLst>
          </p:cNvPr>
          <p:cNvCxnSpPr>
            <a:endCxn id="22" idx="0"/>
          </p:cNvCxnSpPr>
          <p:nvPr/>
        </p:nvCxnSpPr>
        <p:spPr>
          <a:xfrm>
            <a:off x="5066084" y="3107167"/>
            <a:ext cx="2079071" cy="284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Пряма зі стрілкою 64">
            <a:extLst>
              <a:ext uri="{FF2B5EF4-FFF2-40B4-BE49-F238E27FC236}">
                <a16:creationId xmlns:a16="http://schemas.microsoft.com/office/drawing/2014/main" id="{4D94570A-638C-F99A-186B-109DE4E2BC86}"/>
              </a:ext>
            </a:extLst>
          </p:cNvPr>
          <p:cNvCxnSpPr>
            <a:endCxn id="23" idx="0"/>
          </p:cNvCxnSpPr>
          <p:nvPr/>
        </p:nvCxnSpPr>
        <p:spPr>
          <a:xfrm>
            <a:off x="5024573" y="3089824"/>
            <a:ext cx="3580675" cy="284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80C1945-49BE-0C25-3286-437B5C11BFB7}"/>
              </a:ext>
            </a:extLst>
          </p:cNvPr>
          <p:cNvSpPr txBox="1"/>
          <p:nvPr/>
        </p:nvSpPr>
        <p:spPr>
          <a:xfrm>
            <a:off x="35092" y="6308796"/>
            <a:ext cx="10711621"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chrome-extension://</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efaidnbmnnnibpcajpcglclefindmkaj</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/https://www.dec.gov.ua/wp-content/uploads/2021/04/2021_639_kn_tonzylit.pdf</a:t>
            </a:r>
            <a:endParaRPr kumimoji="0" lang="uk-UA"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5466DDFC-E09D-5B81-B2CA-BD7BBEFF0451}"/>
              </a:ext>
            </a:extLst>
          </p:cNvPr>
          <p:cNvSpPr txBox="1"/>
          <p:nvPr/>
        </p:nvSpPr>
        <p:spPr>
          <a:xfrm>
            <a:off x="2053348" y="6415506"/>
            <a:ext cx="609420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https://www.dec.gov.ua/mtd/tonzylit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66F27CB5-8F9B-CFD6-8941-456869EAA439}"/>
              </a:ext>
            </a:extLst>
          </p:cNvPr>
          <p:cNvSpPr txBox="1"/>
          <p:nvPr/>
        </p:nvSpPr>
        <p:spPr>
          <a:xfrm>
            <a:off x="35092" y="6659807"/>
            <a:ext cx="12866145"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https://emedicine.medscape.com/article/225243-workup?fbclid=IwY2xjawQ8T1NleHRuA2FlbQIxMABicmlkETF6SHVQUnFvZzAxcUZYZlgwc3J0YwZhcHBfaWQQMjIyMDM5MTc4ODIwMDg5MgABHsj_4i_ms8KQBvMbUKgu4G-EfeVuDKig46UmbwmnIxxlJq9JpzBqyq7UciRy_aem_gmrJ98LKd82GgTvmVoUL4Q#c1</a:t>
            </a:r>
            <a:endParaRPr kumimoji="0" lang="uk-UA"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9033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941587-A83D-4BC6-889C-1A4715DF0CB5}"/>
              </a:ext>
            </a:extLst>
          </p:cNvPr>
          <p:cNvSpPr>
            <a:spLocks noGrp="1"/>
          </p:cNvSpPr>
          <p:nvPr>
            <p:ph type="title" idx="4294967295"/>
          </p:nvPr>
        </p:nvSpPr>
        <p:spPr>
          <a:xfrm>
            <a:off x="2632383" y="267548"/>
            <a:ext cx="10271125" cy="876444"/>
          </a:xfrm>
        </p:spPr>
        <p:txBody>
          <a:bodyPr anchor="t">
            <a:normAutofit/>
          </a:bodyPr>
          <a:lstStyle/>
          <a:p>
            <a:r>
              <a:rPr lang="uk-UA" sz="2000" b="1" dirty="0">
                <a:solidFill>
                  <a:srgbClr val="496B21"/>
                </a:solidFill>
                <a:latin typeface="Open Sans Bold" pitchFamily="34" charset="0"/>
                <a:ea typeface="Open Sans Bold" pitchFamily="34" charset="-122"/>
                <a:cs typeface="Open Sans Bold" pitchFamily="34" charset="-120"/>
              </a:rPr>
              <a:t>РАННІ УСКЛАДНЕННЯ СТРЕПТОКОКОВОЇ АНГІНИ</a:t>
            </a:r>
            <a:endParaRPr lang="ru-RU" sz="2000" b="1" dirty="0">
              <a:solidFill>
                <a:srgbClr val="496B21"/>
              </a:solidFill>
              <a:latin typeface="Open Sans Bold" pitchFamily="34" charset="0"/>
              <a:ea typeface="Open Sans Bold" pitchFamily="34" charset="-122"/>
              <a:cs typeface="Open Sans Bold" pitchFamily="34" charset="-120"/>
            </a:endParaRPr>
          </a:p>
        </p:txBody>
      </p:sp>
      <p:pic>
        <p:nvPicPr>
          <p:cNvPr id="5" name="Рисунок 4">
            <a:extLst>
              <a:ext uri="{FF2B5EF4-FFF2-40B4-BE49-F238E27FC236}">
                <a16:creationId xmlns:a16="http://schemas.microsoft.com/office/drawing/2014/main" id="{71F5AEA4-8214-4AF4-A367-55F267EA7C03}"/>
              </a:ext>
            </a:extLst>
          </p:cNvPr>
          <p:cNvPicPr>
            <a:picLocks noChangeAspect="1"/>
          </p:cNvPicPr>
          <p:nvPr/>
        </p:nvPicPr>
        <p:blipFill rotWithShape="1">
          <a:blip r:embed="rId2"/>
          <a:srcRect l="3098" r="4289"/>
          <a:stretch/>
        </p:blipFill>
        <p:spPr>
          <a:xfrm>
            <a:off x="1097279" y="1143992"/>
            <a:ext cx="8994988" cy="5179615"/>
          </a:xfrm>
          <a:prstGeom prst="rect">
            <a:avLst/>
          </a:prstGeom>
        </p:spPr>
      </p:pic>
    </p:spTree>
    <p:extLst>
      <p:ext uri="{BB962C8B-B14F-4D97-AF65-F5344CB8AC3E}">
        <p14:creationId xmlns:p14="http://schemas.microsoft.com/office/powerpoint/2010/main" val="3493032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074330" y="224328"/>
            <a:ext cx="10869018" cy="775295"/>
          </a:xfrm>
          <a:prstGeom prst="rect">
            <a:avLst/>
          </a:prstGeom>
          <a:noFill/>
          <a:ln/>
        </p:spPr>
        <p:txBody>
          <a:bodyPr wrap="square" lIns="0" tIns="0" rIns="0" bIns="0" rtlCol="0" anchor="t"/>
          <a:lstStyle/>
          <a:p>
            <a:pPr defTabSz="761970">
              <a:lnSpc>
                <a:spcPts val="3042"/>
              </a:lnSpc>
            </a:pPr>
            <a:r>
              <a:rPr lang="en-US" sz="2000" b="1" spc="-50" dirty="0">
                <a:solidFill>
                  <a:srgbClr val="496B21"/>
                </a:solidFill>
                <a:latin typeface="Open Sans Bold" pitchFamily="34" charset="0"/>
                <a:ea typeface="Open Sans Bold" pitchFamily="34" charset="-122"/>
                <a:cs typeface="Open Sans Bold" pitchFamily="34" charset="-120"/>
              </a:rPr>
              <a:t>Гостра ревматична лихоманка та хронічна ревматична </a:t>
            </a:r>
            <a:r>
              <a:rPr lang="en-US" sz="2000" b="1" spc="-50" dirty="0" err="1">
                <a:solidFill>
                  <a:srgbClr val="496B21"/>
                </a:solidFill>
                <a:latin typeface="Open Sans Bold" pitchFamily="34" charset="0"/>
                <a:ea typeface="Open Sans Bold" pitchFamily="34" charset="-122"/>
                <a:cs typeface="Open Sans Bold" pitchFamily="34" charset="-120"/>
              </a:rPr>
              <a:t>хвороба</a:t>
            </a:r>
            <a:r>
              <a:rPr lang="en-US" sz="2000" b="1" spc="-50" dirty="0">
                <a:solidFill>
                  <a:srgbClr val="496B21"/>
                </a:solidFill>
                <a:latin typeface="Open Sans Bold" pitchFamily="34" charset="0"/>
                <a:ea typeface="Open Sans Bold" pitchFamily="34" charset="-122"/>
                <a:cs typeface="Open Sans Bold" pitchFamily="34" charset="-120"/>
              </a:rPr>
              <a:t> </a:t>
            </a:r>
            <a:r>
              <a:rPr lang="en-US" sz="2000" b="1" spc="-50" dirty="0" err="1">
                <a:solidFill>
                  <a:srgbClr val="496B21"/>
                </a:solidFill>
                <a:latin typeface="Open Sans Bold" pitchFamily="34" charset="0"/>
                <a:ea typeface="Open Sans Bold" pitchFamily="34" charset="-122"/>
                <a:cs typeface="Open Sans Bold" pitchFamily="34" charset="-120"/>
              </a:rPr>
              <a:t>серця</a:t>
            </a:r>
            <a:endParaRPr lang="en-US" sz="2000" b="1" spc="-50" dirty="0">
              <a:solidFill>
                <a:srgbClr val="496B21"/>
              </a:solidFill>
              <a:latin typeface="Open Sans Bold" pitchFamily="34" charset="0"/>
              <a:ea typeface="Open Sans Bold" pitchFamily="34" charset="-122"/>
              <a:cs typeface="Open Sans Bold" pitchFamily="34" charset="-120"/>
            </a:endParaRPr>
          </a:p>
        </p:txBody>
      </p:sp>
      <p:sp>
        <p:nvSpPr>
          <p:cNvPr id="3" name="Text 1"/>
          <p:cNvSpPr/>
          <p:nvPr/>
        </p:nvSpPr>
        <p:spPr>
          <a:xfrm>
            <a:off x="661492" y="1545233"/>
            <a:ext cx="10869018" cy="396875"/>
          </a:xfrm>
          <a:prstGeom prst="rect">
            <a:avLst/>
          </a:prstGeom>
          <a:noFill/>
          <a:ln/>
        </p:spPr>
        <p:txBody>
          <a:bodyPr wrap="square" lIns="0" tIns="0" rIns="0" bIns="0" rtlCol="0" anchor="t"/>
          <a:lstStyle/>
          <a:p>
            <a:pPr defTabSz="761970">
              <a:spcBef>
                <a:spcPts val="600"/>
              </a:spcBef>
            </a:pPr>
            <a:r>
              <a:rPr lang="en-US" sz="1600" dirty="0"/>
              <a:t>Гостра ревматична лихоманка (ГРЛ) та хронічна ревматична хвороба серця (ХРХС) — ускладнення назофарингіту/тонзиліту, викликаного бета-гемолітичним стрептококом групи А (БГСА), які виникають внаслідок уповільненої імунної відповіді на стрептококову </a:t>
            </a:r>
            <a:r>
              <a:rPr lang="en-US" dirty="0" err="1"/>
              <a:t>інфекцію</a:t>
            </a:r>
            <a:r>
              <a:rPr lang="en-US" dirty="0"/>
              <a:t>.</a:t>
            </a:r>
          </a:p>
        </p:txBody>
      </p:sp>
      <p:sp>
        <p:nvSpPr>
          <p:cNvPr id="4" name="Text 2"/>
          <p:cNvSpPr/>
          <p:nvPr/>
        </p:nvSpPr>
        <p:spPr>
          <a:xfrm>
            <a:off x="511008" y="5341884"/>
            <a:ext cx="11119741" cy="150475"/>
          </a:xfrm>
          <a:prstGeom prst="rect">
            <a:avLst/>
          </a:prstGeom>
          <a:noFill/>
          <a:ln/>
        </p:spPr>
        <p:txBody>
          <a:bodyPr wrap="none" lIns="0" tIns="0" rIns="0" bIns="0" rtlCol="0" anchor="t"/>
          <a:lstStyle/>
          <a:p>
            <a:pPr defTabSz="761970">
              <a:lnSpc>
                <a:spcPts val="1542"/>
              </a:lnSpc>
            </a:pPr>
            <a:r>
              <a:rPr lang="en-US" sz="1400" dirty="0">
                <a:solidFill>
                  <a:srgbClr val="000000"/>
                </a:solidFill>
                <a:latin typeface="Open Sans" pitchFamily="34" charset="0"/>
                <a:ea typeface="Open Sans" pitchFamily="34" charset="-122"/>
                <a:cs typeface="Open Sans" pitchFamily="34" charset="-120"/>
              </a:rPr>
              <a:t>.</a:t>
            </a:r>
          </a:p>
        </p:txBody>
      </p:sp>
      <p:sp>
        <p:nvSpPr>
          <p:cNvPr id="5" name="Text 3"/>
          <p:cNvSpPr/>
          <p:nvPr/>
        </p:nvSpPr>
        <p:spPr>
          <a:xfrm>
            <a:off x="1970401" y="2691304"/>
            <a:ext cx="1981398" cy="193774"/>
          </a:xfrm>
          <a:prstGeom prst="rect">
            <a:avLst/>
          </a:prstGeom>
          <a:noFill/>
          <a:ln/>
        </p:spPr>
        <p:txBody>
          <a:bodyPr wrap="none" lIns="0" tIns="0" rIns="0" bIns="0" rtlCol="0" anchor="t"/>
          <a:lstStyle/>
          <a:p>
            <a:pPr algn="r" defTabSz="761970">
              <a:lnSpc>
                <a:spcPts val="1500"/>
              </a:lnSpc>
            </a:pPr>
            <a:r>
              <a:rPr lang="en-US" sz="1600" b="1" dirty="0">
                <a:solidFill>
                  <a:srgbClr val="000000"/>
                </a:solidFill>
                <a:latin typeface="Open Sans Bold" pitchFamily="34" charset="0"/>
                <a:ea typeface="Open Sans Bold" pitchFamily="34" charset="-122"/>
                <a:cs typeface="Open Sans Bold" pitchFamily="34" charset="-120"/>
              </a:rPr>
              <a:t>Стрептококова інфекція</a:t>
            </a:r>
            <a:endParaRPr lang="en-US" sz="1600" dirty="0">
              <a:solidFill>
                <a:prstClr val="black"/>
              </a:solidFill>
              <a:latin typeface="Calibri" panose="020F0502020204030204"/>
            </a:endParaRPr>
          </a:p>
        </p:txBody>
      </p:sp>
      <p:sp>
        <p:nvSpPr>
          <p:cNvPr id="6" name="Text 4"/>
          <p:cNvSpPr/>
          <p:nvPr/>
        </p:nvSpPr>
        <p:spPr>
          <a:xfrm>
            <a:off x="-143673" y="3071178"/>
            <a:ext cx="4095472" cy="316259"/>
          </a:xfrm>
          <a:prstGeom prst="rect">
            <a:avLst/>
          </a:prstGeom>
          <a:noFill/>
          <a:ln/>
        </p:spPr>
        <p:txBody>
          <a:bodyPr wrap="square" lIns="0" tIns="0" rIns="0" bIns="0" rtlCol="0" anchor="t"/>
          <a:lstStyle/>
          <a:p>
            <a:pPr algn="r" defTabSz="761970">
              <a:lnSpc>
                <a:spcPts val="1542"/>
              </a:lnSpc>
            </a:pPr>
            <a:r>
              <a:rPr lang="en-US" sz="1200" dirty="0">
                <a:solidFill>
                  <a:srgbClr val="000000"/>
                </a:solidFill>
                <a:latin typeface="Open Sans" pitchFamily="34" charset="0"/>
                <a:ea typeface="Open Sans" pitchFamily="34" charset="-122"/>
                <a:cs typeface="Open Sans" pitchFamily="34" charset="-120"/>
              </a:rPr>
              <a:t>Початкове інфікування бета-гемолітичним стрептококом групи </a:t>
            </a:r>
            <a:r>
              <a:rPr lang="en-US" sz="958" dirty="0">
                <a:solidFill>
                  <a:srgbClr val="000000"/>
                </a:solidFill>
                <a:latin typeface="Open Sans" pitchFamily="34" charset="0"/>
                <a:ea typeface="Open Sans" pitchFamily="34" charset="-122"/>
                <a:cs typeface="Open Sans" pitchFamily="34" charset="-120"/>
              </a:rPr>
              <a:t>А</a:t>
            </a:r>
            <a:endParaRPr lang="en-US" sz="958" dirty="0">
              <a:solidFill>
                <a:prstClr val="black"/>
              </a:solidFill>
              <a:latin typeface="Calibri" panose="020F0502020204030204"/>
            </a:endParaRPr>
          </a:p>
        </p:txBody>
      </p:sp>
      <p:pic>
        <p:nvPicPr>
          <p:cNvPr id="7" name="Image 0" descr="preencoded.png"/>
          <p:cNvPicPr>
            <a:picLocks noChangeAspect="1"/>
          </p:cNvPicPr>
          <p:nvPr/>
        </p:nvPicPr>
        <p:blipFill>
          <a:blip r:embed="rId3"/>
          <a:stretch>
            <a:fillRect/>
          </a:stretch>
        </p:blipFill>
        <p:spPr>
          <a:xfrm>
            <a:off x="4542833" y="2331501"/>
            <a:ext cx="2853035" cy="2853035"/>
          </a:xfrm>
          <a:prstGeom prst="rect">
            <a:avLst/>
          </a:prstGeom>
        </p:spPr>
      </p:pic>
      <p:pic>
        <p:nvPicPr>
          <p:cNvPr id="8" name="Image 1" descr="preencoded.png"/>
          <p:cNvPicPr>
            <a:picLocks noChangeAspect="1"/>
          </p:cNvPicPr>
          <p:nvPr/>
        </p:nvPicPr>
        <p:blipFill>
          <a:blip r:embed="rId4"/>
          <a:stretch>
            <a:fillRect/>
          </a:stretch>
        </p:blipFill>
        <p:spPr>
          <a:xfrm>
            <a:off x="5244957" y="2784227"/>
            <a:ext cx="185539" cy="231973"/>
          </a:xfrm>
          <a:prstGeom prst="rect">
            <a:avLst/>
          </a:prstGeom>
        </p:spPr>
      </p:pic>
      <p:sp>
        <p:nvSpPr>
          <p:cNvPr id="9" name="Text 5"/>
          <p:cNvSpPr/>
          <p:nvPr/>
        </p:nvSpPr>
        <p:spPr>
          <a:xfrm>
            <a:off x="7973476" y="2690478"/>
            <a:ext cx="1550492" cy="193774"/>
          </a:xfrm>
          <a:prstGeom prst="rect">
            <a:avLst/>
          </a:prstGeom>
          <a:noFill/>
          <a:ln/>
        </p:spPr>
        <p:txBody>
          <a:bodyPr wrap="none" lIns="0" tIns="0" rIns="0" bIns="0" rtlCol="0" anchor="t"/>
          <a:lstStyle/>
          <a:p>
            <a:pPr defTabSz="761970">
              <a:lnSpc>
                <a:spcPts val="1500"/>
              </a:lnSpc>
            </a:pPr>
            <a:r>
              <a:rPr lang="en-US" sz="1600" b="1" dirty="0">
                <a:solidFill>
                  <a:srgbClr val="000000"/>
                </a:solidFill>
                <a:latin typeface="Open Sans Bold" pitchFamily="34" charset="0"/>
                <a:ea typeface="Open Sans Bold" pitchFamily="34" charset="-122"/>
                <a:cs typeface="Open Sans Bold" pitchFamily="34" charset="-120"/>
              </a:rPr>
              <a:t>Імунна відповідь</a:t>
            </a:r>
            <a:endParaRPr lang="en-US" sz="1600" dirty="0">
              <a:solidFill>
                <a:prstClr val="black"/>
              </a:solidFill>
              <a:latin typeface="Calibri" panose="020F0502020204030204"/>
            </a:endParaRPr>
          </a:p>
        </p:txBody>
      </p:sp>
      <p:sp>
        <p:nvSpPr>
          <p:cNvPr id="10" name="Text 6"/>
          <p:cNvSpPr/>
          <p:nvPr/>
        </p:nvSpPr>
        <p:spPr>
          <a:xfrm>
            <a:off x="7741976" y="3001781"/>
            <a:ext cx="3822006" cy="426810"/>
          </a:xfrm>
          <a:prstGeom prst="rect">
            <a:avLst/>
          </a:prstGeom>
          <a:noFill/>
          <a:ln/>
        </p:spPr>
        <p:txBody>
          <a:bodyPr wrap="none" lIns="0" tIns="0" rIns="0" bIns="0" rtlCol="0" anchor="t"/>
          <a:lstStyle/>
          <a:p>
            <a:pPr defTabSz="761970">
              <a:lnSpc>
                <a:spcPts val="1542"/>
              </a:lnSpc>
            </a:pPr>
            <a:r>
              <a:rPr lang="en-US" sz="1400" dirty="0">
                <a:solidFill>
                  <a:srgbClr val="000000"/>
                </a:solidFill>
                <a:latin typeface="Open Sans" pitchFamily="34" charset="0"/>
                <a:ea typeface="Open Sans" pitchFamily="34" charset="-122"/>
                <a:cs typeface="Open Sans" pitchFamily="34" charset="-120"/>
              </a:rPr>
              <a:t>Уповільнена аутоімунна </a:t>
            </a:r>
            <a:r>
              <a:rPr lang="en-US" sz="1400" dirty="0" err="1">
                <a:solidFill>
                  <a:srgbClr val="000000"/>
                </a:solidFill>
                <a:latin typeface="Open Sans" pitchFamily="34" charset="0"/>
                <a:ea typeface="Open Sans" pitchFamily="34" charset="-122"/>
                <a:cs typeface="Open Sans" pitchFamily="34" charset="-120"/>
              </a:rPr>
              <a:t>реакція</a:t>
            </a:r>
            <a:r>
              <a:rPr lang="en-US" sz="1400" dirty="0">
                <a:solidFill>
                  <a:srgbClr val="000000"/>
                </a:solidFill>
                <a:latin typeface="Open Sans" pitchFamily="34" charset="0"/>
                <a:ea typeface="Open Sans" pitchFamily="34" charset="-122"/>
                <a:cs typeface="Open Sans" pitchFamily="34" charset="-120"/>
              </a:rPr>
              <a:t> </a:t>
            </a:r>
            <a:r>
              <a:rPr lang="en-US" sz="1400" dirty="0" err="1">
                <a:solidFill>
                  <a:srgbClr val="000000"/>
                </a:solidFill>
                <a:latin typeface="Open Sans" pitchFamily="34" charset="0"/>
                <a:ea typeface="Open Sans" pitchFamily="34" charset="-122"/>
                <a:cs typeface="Open Sans" pitchFamily="34" charset="-120"/>
              </a:rPr>
              <a:t>на</a:t>
            </a:r>
            <a:endParaRPr lang="uk-UA" sz="1400" dirty="0">
              <a:solidFill>
                <a:srgbClr val="000000"/>
              </a:solidFill>
              <a:latin typeface="Open Sans" pitchFamily="34" charset="0"/>
              <a:ea typeface="Open Sans" pitchFamily="34" charset="-122"/>
              <a:cs typeface="Open Sans" pitchFamily="34" charset="-120"/>
            </a:endParaRPr>
          </a:p>
          <a:p>
            <a:pPr defTabSz="761970">
              <a:lnSpc>
                <a:spcPts val="1542"/>
              </a:lnSpc>
            </a:pPr>
            <a:r>
              <a:rPr lang="en-US" sz="1400" dirty="0">
                <a:solidFill>
                  <a:srgbClr val="000000"/>
                </a:solidFill>
                <a:latin typeface="Open Sans" pitchFamily="34" charset="0"/>
                <a:ea typeface="Open Sans" pitchFamily="34" charset="-122"/>
                <a:cs typeface="Open Sans" pitchFamily="34" charset="-120"/>
              </a:rPr>
              <a:t> стрептококову інфекцію</a:t>
            </a:r>
            <a:endParaRPr lang="en-US" sz="1400" dirty="0">
              <a:solidFill>
                <a:prstClr val="black"/>
              </a:solidFill>
              <a:latin typeface="Calibri" panose="020F0502020204030204"/>
            </a:endParaRPr>
          </a:p>
        </p:txBody>
      </p:sp>
      <p:pic>
        <p:nvPicPr>
          <p:cNvPr id="11" name="Image 2" descr="preencoded.png"/>
          <p:cNvPicPr>
            <a:picLocks noChangeAspect="1"/>
          </p:cNvPicPr>
          <p:nvPr/>
        </p:nvPicPr>
        <p:blipFill>
          <a:blip r:embed="rId5"/>
          <a:stretch>
            <a:fillRect/>
          </a:stretch>
        </p:blipFill>
        <p:spPr>
          <a:xfrm>
            <a:off x="4831637" y="2319343"/>
            <a:ext cx="2853035" cy="2853035"/>
          </a:xfrm>
          <a:prstGeom prst="rect">
            <a:avLst/>
          </a:prstGeom>
        </p:spPr>
      </p:pic>
      <p:pic>
        <p:nvPicPr>
          <p:cNvPr id="12" name="Image 3" descr="preencoded.png"/>
          <p:cNvPicPr>
            <a:picLocks noChangeAspect="1"/>
          </p:cNvPicPr>
          <p:nvPr/>
        </p:nvPicPr>
        <p:blipFill>
          <a:blip r:embed="rId6"/>
          <a:stretch>
            <a:fillRect/>
          </a:stretch>
        </p:blipFill>
        <p:spPr>
          <a:xfrm>
            <a:off x="6820050" y="3155801"/>
            <a:ext cx="185539" cy="231973"/>
          </a:xfrm>
          <a:prstGeom prst="rect">
            <a:avLst/>
          </a:prstGeom>
        </p:spPr>
      </p:pic>
      <p:sp>
        <p:nvSpPr>
          <p:cNvPr id="13" name="Text 7"/>
          <p:cNvSpPr/>
          <p:nvPr/>
        </p:nvSpPr>
        <p:spPr>
          <a:xfrm>
            <a:off x="7708503" y="4422081"/>
            <a:ext cx="2541092" cy="193774"/>
          </a:xfrm>
          <a:prstGeom prst="rect">
            <a:avLst/>
          </a:prstGeom>
          <a:noFill/>
          <a:ln/>
        </p:spPr>
        <p:txBody>
          <a:bodyPr wrap="none" lIns="0" tIns="0" rIns="0" bIns="0" rtlCol="0" anchor="t"/>
          <a:lstStyle/>
          <a:p>
            <a:pPr defTabSz="761970">
              <a:lnSpc>
                <a:spcPts val="1500"/>
              </a:lnSpc>
            </a:pPr>
            <a:r>
              <a:rPr lang="en-US" sz="1600" b="1" dirty="0">
                <a:solidFill>
                  <a:srgbClr val="000000"/>
                </a:solidFill>
                <a:latin typeface="Open Sans Bold" pitchFamily="34" charset="0"/>
                <a:ea typeface="Open Sans Bold" pitchFamily="34" charset="-122"/>
                <a:cs typeface="Open Sans Bold" pitchFamily="34" charset="-120"/>
              </a:rPr>
              <a:t>Гостра </a:t>
            </a:r>
            <a:r>
              <a:rPr lang="en-US" sz="1600" b="1" dirty="0" err="1">
                <a:solidFill>
                  <a:srgbClr val="000000"/>
                </a:solidFill>
                <a:latin typeface="Open Sans Bold" pitchFamily="34" charset="0"/>
                <a:ea typeface="Open Sans Bold" pitchFamily="34" charset="-122"/>
                <a:cs typeface="Open Sans Bold" pitchFamily="34" charset="-120"/>
              </a:rPr>
              <a:t>ревматична</a:t>
            </a:r>
            <a:r>
              <a:rPr lang="en-US" sz="1600" b="1" dirty="0">
                <a:solidFill>
                  <a:srgbClr val="000000"/>
                </a:solidFill>
                <a:latin typeface="Open Sans Bold" pitchFamily="34" charset="0"/>
                <a:ea typeface="Open Sans Bold" pitchFamily="34" charset="-122"/>
                <a:cs typeface="Open Sans Bold" pitchFamily="34" charset="-120"/>
              </a:rPr>
              <a:t> </a:t>
            </a:r>
            <a:r>
              <a:rPr lang="en-US" sz="1600" b="1" dirty="0" err="1">
                <a:solidFill>
                  <a:srgbClr val="000000"/>
                </a:solidFill>
                <a:latin typeface="Open Sans Bold" pitchFamily="34" charset="0"/>
                <a:ea typeface="Open Sans Bold" pitchFamily="34" charset="-122"/>
                <a:cs typeface="Open Sans Bold" pitchFamily="34" charset="-120"/>
              </a:rPr>
              <a:t>лихоманка</a:t>
            </a:r>
            <a:endParaRPr lang="en-US" sz="1600" b="1" dirty="0">
              <a:solidFill>
                <a:srgbClr val="000000"/>
              </a:solidFill>
              <a:latin typeface="Open Sans Bold" pitchFamily="34" charset="0"/>
              <a:ea typeface="Open Sans Bold" pitchFamily="34" charset="-122"/>
              <a:cs typeface="Open Sans Bold" pitchFamily="34" charset="-120"/>
            </a:endParaRPr>
          </a:p>
        </p:txBody>
      </p:sp>
      <p:sp>
        <p:nvSpPr>
          <p:cNvPr id="14" name="Text 8"/>
          <p:cNvSpPr/>
          <p:nvPr/>
        </p:nvSpPr>
        <p:spPr>
          <a:xfrm>
            <a:off x="7612965" y="4706930"/>
            <a:ext cx="3822006" cy="198438"/>
          </a:xfrm>
          <a:prstGeom prst="rect">
            <a:avLst/>
          </a:prstGeom>
          <a:noFill/>
          <a:ln/>
        </p:spPr>
        <p:txBody>
          <a:bodyPr wrap="none" lIns="0" tIns="0" rIns="0" bIns="0" rtlCol="0" anchor="t"/>
          <a:lstStyle/>
          <a:p>
            <a:pPr defTabSz="761970">
              <a:lnSpc>
                <a:spcPts val="1542"/>
              </a:lnSpc>
            </a:pPr>
            <a:r>
              <a:rPr lang="en-US" sz="1400" dirty="0">
                <a:solidFill>
                  <a:srgbClr val="000000"/>
                </a:solidFill>
                <a:latin typeface="Open Sans" pitchFamily="34" charset="0"/>
                <a:ea typeface="Open Sans" pitchFamily="34" charset="-122"/>
                <a:cs typeface="Open Sans" pitchFamily="34" charset="-120"/>
              </a:rPr>
              <a:t>Ураження серця, суглобів, шкіри </a:t>
            </a:r>
            <a:r>
              <a:rPr lang="en-US" sz="1400" dirty="0" err="1">
                <a:solidFill>
                  <a:srgbClr val="000000"/>
                </a:solidFill>
                <a:latin typeface="Open Sans" pitchFamily="34" charset="0"/>
                <a:ea typeface="Open Sans" pitchFamily="34" charset="-122"/>
                <a:cs typeface="Open Sans" pitchFamily="34" charset="-120"/>
              </a:rPr>
              <a:t>та</a:t>
            </a:r>
            <a:r>
              <a:rPr lang="en-US" sz="1400" dirty="0">
                <a:solidFill>
                  <a:srgbClr val="000000"/>
                </a:solidFill>
                <a:latin typeface="Open Sans" pitchFamily="34" charset="0"/>
                <a:ea typeface="Open Sans" pitchFamily="34" charset="-122"/>
                <a:cs typeface="Open Sans" pitchFamily="34" charset="-120"/>
              </a:rPr>
              <a:t> </a:t>
            </a:r>
            <a:r>
              <a:rPr lang="en-US" sz="1400" dirty="0" err="1">
                <a:solidFill>
                  <a:srgbClr val="000000"/>
                </a:solidFill>
                <a:latin typeface="Open Sans" pitchFamily="34" charset="0"/>
                <a:ea typeface="Open Sans" pitchFamily="34" charset="-122"/>
                <a:cs typeface="Open Sans" pitchFamily="34" charset="-120"/>
              </a:rPr>
              <a:t>мозку</a:t>
            </a:r>
            <a:endParaRPr lang="en-US" sz="1400" dirty="0">
              <a:solidFill>
                <a:srgbClr val="000000"/>
              </a:solidFill>
              <a:latin typeface="Open Sans" pitchFamily="34" charset="0"/>
              <a:ea typeface="Open Sans" pitchFamily="34" charset="-122"/>
              <a:cs typeface="Open Sans" pitchFamily="34" charset="-120"/>
            </a:endParaRPr>
          </a:p>
        </p:txBody>
      </p:sp>
      <p:pic>
        <p:nvPicPr>
          <p:cNvPr id="15" name="Image 4" descr="preencoded.png"/>
          <p:cNvPicPr>
            <a:picLocks noChangeAspect="1"/>
          </p:cNvPicPr>
          <p:nvPr/>
        </p:nvPicPr>
        <p:blipFill>
          <a:blip r:embed="rId7"/>
          <a:stretch>
            <a:fillRect/>
          </a:stretch>
        </p:blipFill>
        <p:spPr>
          <a:xfrm>
            <a:off x="4790831" y="2521795"/>
            <a:ext cx="2853035" cy="2853035"/>
          </a:xfrm>
          <a:prstGeom prst="rect">
            <a:avLst/>
          </a:prstGeom>
        </p:spPr>
      </p:pic>
      <p:pic>
        <p:nvPicPr>
          <p:cNvPr id="16" name="Image 5" descr="preencoded.png"/>
          <p:cNvPicPr>
            <a:picLocks noChangeAspect="1"/>
          </p:cNvPicPr>
          <p:nvPr/>
        </p:nvPicPr>
        <p:blipFill>
          <a:blip r:embed="rId8"/>
          <a:stretch>
            <a:fillRect/>
          </a:stretch>
        </p:blipFill>
        <p:spPr>
          <a:xfrm>
            <a:off x="6693049" y="4742047"/>
            <a:ext cx="185539" cy="231973"/>
          </a:xfrm>
          <a:prstGeom prst="rect">
            <a:avLst/>
          </a:prstGeom>
        </p:spPr>
      </p:pic>
      <p:sp>
        <p:nvSpPr>
          <p:cNvPr id="17" name="Text 9"/>
          <p:cNvSpPr/>
          <p:nvPr/>
        </p:nvSpPr>
        <p:spPr>
          <a:xfrm>
            <a:off x="452620" y="4352089"/>
            <a:ext cx="3007618" cy="193774"/>
          </a:xfrm>
          <a:prstGeom prst="rect">
            <a:avLst/>
          </a:prstGeom>
          <a:noFill/>
          <a:ln/>
        </p:spPr>
        <p:txBody>
          <a:bodyPr wrap="none" lIns="0" tIns="0" rIns="0" bIns="0" rtlCol="0" anchor="t"/>
          <a:lstStyle/>
          <a:p>
            <a:pPr defTabSz="761970">
              <a:lnSpc>
                <a:spcPts val="1500"/>
              </a:lnSpc>
            </a:pPr>
            <a:r>
              <a:rPr lang="en-US" sz="1600" b="1" dirty="0">
                <a:solidFill>
                  <a:srgbClr val="000000"/>
                </a:solidFill>
                <a:latin typeface="Open Sans Bold" pitchFamily="34" charset="0"/>
                <a:ea typeface="Open Sans Bold" pitchFamily="34" charset="-122"/>
                <a:cs typeface="Open Sans Bold" pitchFamily="34" charset="-120"/>
              </a:rPr>
              <a:t>Хронічна ревматична </a:t>
            </a:r>
            <a:r>
              <a:rPr lang="en-US" sz="1600" b="1" dirty="0" err="1">
                <a:solidFill>
                  <a:srgbClr val="000000"/>
                </a:solidFill>
                <a:latin typeface="Open Sans Bold" pitchFamily="34" charset="0"/>
                <a:ea typeface="Open Sans Bold" pitchFamily="34" charset="-122"/>
                <a:cs typeface="Open Sans Bold" pitchFamily="34" charset="-120"/>
              </a:rPr>
              <a:t>хвороба</a:t>
            </a:r>
            <a:r>
              <a:rPr lang="en-US" sz="1600" b="1" dirty="0">
                <a:solidFill>
                  <a:srgbClr val="000000"/>
                </a:solidFill>
                <a:latin typeface="Open Sans Bold" pitchFamily="34" charset="0"/>
                <a:ea typeface="Open Sans Bold" pitchFamily="34" charset="-122"/>
                <a:cs typeface="Open Sans Bold" pitchFamily="34" charset="-120"/>
              </a:rPr>
              <a:t> </a:t>
            </a:r>
            <a:r>
              <a:rPr lang="en-US" sz="1600" b="1" dirty="0" err="1">
                <a:solidFill>
                  <a:srgbClr val="000000"/>
                </a:solidFill>
                <a:latin typeface="Open Sans Bold" pitchFamily="34" charset="0"/>
                <a:ea typeface="Open Sans Bold" pitchFamily="34" charset="-122"/>
                <a:cs typeface="Open Sans Bold" pitchFamily="34" charset="-120"/>
              </a:rPr>
              <a:t>серця</a:t>
            </a:r>
            <a:endParaRPr lang="en-US" sz="1600" b="1" dirty="0">
              <a:solidFill>
                <a:srgbClr val="000000"/>
              </a:solidFill>
              <a:latin typeface="Open Sans Bold" pitchFamily="34" charset="0"/>
              <a:ea typeface="Open Sans Bold" pitchFamily="34" charset="-122"/>
              <a:cs typeface="Open Sans Bold" pitchFamily="34" charset="-120"/>
            </a:endParaRPr>
          </a:p>
        </p:txBody>
      </p:sp>
      <p:sp>
        <p:nvSpPr>
          <p:cNvPr id="18" name="Text 10"/>
          <p:cNvSpPr/>
          <p:nvPr/>
        </p:nvSpPr>
        <p:spPr>
          <a:xfrm>
            <a:off x="761732" y="4726761"/>
            <a:ext cx="3821907" cy="198438"/>
          </a:xfrm>
          <a:prstGeom prst="rect">
            <a:avLst/>
          </a:prstGeom>
          <a:noFill/>
          <a:ln/>
        </p:spPr>
        <p:txBody>
          <a:bodyPr wrap="none" lIns="0" tIns="0" rIns="0" bIns="0" rtlCol="0" anchor="t"/>
          <a:lstStyle/>
          <a:p>
            <a:pPr algn="r" defTabSz="761970">
              <a:lnSpc>
                <a:spcPts val="1542"/>
              </a:lnSpc>
            </a:pPr>
            <a:r>
              <a:rPr lang="en-US" sz="1400" dirty="0">
                <a:solidFill>
                  <a:srgbClr val="000000"/>
                </a:solidFill>
                <a:latin typeface="Open Sans" pitchFamily="34" charset="0"/>
                <a:ea typeface="Open Sans" pitchFamily="34" charset="-122"/>
                <a:cs typeface="Open Sans" pitchFamily="34" charset="-120"/>
              </a:rPr>
              <a:t>Розвиток фіброзу та склерозу </a:t>
            </a:r>
            <a:r>
              <a:rPr lang="en-US" sz="1400" dirty="0" err="1">
                <a:solidFill>
                  <a:srgbClr val="000000"/>
                </a:solidFill>
                <a:latin typeface="Open Sans" pitchFamily="34" charset="0"/>
                <a:ea typeface="Open Sans" pitchFamily="34" charset="-122"/>
                <a:cs typeface="Open Sans" pitchFamily="34" charset="-120"/>
              </a:rPr>
              <a:t>клапанів</a:t>
            </a:r>
            <a:r>
              <a:rPr lang="en-US" sz="1400" dirty="0">
                <a:solidFill>
                  <a:srgbClr val="000000"/>
                </a:solidFill>
                <a:latin typeface="Open Sans" pitchFamily="34" charset="0"/>
                <a:ea typeface="Open Sans" pitchFamily="34" charset="-122"/>
                <a:cs typeface="Open Sans" pitchFamily="34" charset="-120"/>
              </a:rPr>
              <a:t> </a:t>
            </a:r>
            <a:r>
              <a:rPr lang="en-US" sz="1400" dirty="0" err="1">
                <a:solidFill>
                  <a:srgbClr val="000000"/>
                </a:solidFill>
                <a:latin typeface="Open Sans" pitchFamily="34" charset="0"/>
                <a:ea typeface="Open Sans" pitchFamily="34" charset="-122"/>
                <a:cs typeface="Open Sans" pitchFamily="34" charset="-120"/>
              </a:rPr>
              <a:t>серця</a:t>
            </a:r>
            <a:endParaRPr lang="en-US" sz="1400" dirty="0">
              <a:solidFill>
                <a:srgbClr val="000000"/>
              </a:solidFill>
              <a:latin typeface="Open Sans" pitchFamily="34" charset="0"/>
              <a:ea typeface="Open Sans" pitchFamily="34" charset="-122"/>
              <a:cs typeface="Open Sans" pitchFamily="34" charset="-120"/>
            </a:endParaRPr>
          </a:p>
        </p:txBody>
      </p:sp>
      <p:pic>
        <p:nvPicPr>
          <p:cNvPr id="19" name="Image 6" descr="preencoded.png"/>
          <p:cNvPicPr>
            <a:picLocks noChangeAspect="1"/>
          </p:cNvPicPr>
          <p:nvPr/>
        </p:nvPicPr>
        <p:blipFill>
          <a:blip r:embed="rId9"/>
          <a:stretch>
            <a:fillRect/>
          </a:stretch>
        </p:blipFill>
        <p:spPr>
          <a:xfrm>
            <a:off x="4519001" y="2501007"/>
            <a:ext cx="2853035" cy="2853035"/>
          </a:xfrm>
          <a:prstGeom prst="rect">
            <a:avLst/>
          </a:prstGeom>
        </p:spPr>
      </p:pic>
      <p:pic>
        <p:nvPicPr>
          <p:cNvPr id="20" name="Image 7" descr="preencoded.png"/>
          <p:cNvPicPr>
            <a:picLocks noChangeAspect="1"/>
          </p:cNvPicPr>
          <p:nvPr/>
        </p:nvPicPr>
        <p:blipFill>
          <a:blip r:embed="rId10"/>
          <a:stretch>
            <a:fillRect/>
          </a:stretch>
        </p:blipFill>
        <p:spPr>
          <a:xfrm>
            <a:off x="5112224" y="4448976"/>
            <a:ext cx="185539" cy="231973"/>
          </a:xfrm>
          <a:prstGeom prst="rect">
            <a:avLst/>
          </a:prstGeom>
        </p:spPr>
      </p:pic>
      <p:sp>
        <p:nvSpPr>
          <p:cNvPr id="21" name="Shape 11"/>
          <p:cNvSpPr/>
          <p:nvPr/>
        </p:nvSpPr>
        <p:spPr>
          <a:xfrm>
            <a:off x="399545" y="5405447"/>
            <a:ext cx="10869018" cy="923925"/>
          </a:xfrm>
          <a:prstGeom prst="roundRect">
            <a:avLst>
              <a:gd name="adj" fmla="val 20139"/>
            </a:avLst>
          </a:prstGeom>
          <a:solidFill>
            <a:srgbClr val="FFB3B4"/>
          </a:solidFill>
          <a:ln/>
        </p:spPr>
      </p:sp>
      <p:sp>
        <p:nvSpPr>
          <p:cNvPr id="23" name="Text 12"/>
          <p:cNvSpPr/>
          <p:nvPr/>
        </p:nvSpPr>
        <p:spPr>
          <a:xfrm>
            <a:off x="561251" y="5469366"/>
            <a:ext cx="10707312" cy="595313"/>
          </a:xfrm>
          <a:prstGeom prst="rect">
            <a:avLst/>
          </a:prstGeom>
          <a:noFill/>
          <a:ln/>
        </p:spPr>
        <p:txBody>
          <a:bodyPr wrap="square" lIns="0" tIns="0" rIns="0" bIns="0" rtlCol="0" anchor="t"/>
          <a:lstStyle/>
          <a:p>
            <a:pPr defTabSz="761970">
              <a:lnSpc>
                <a:spcPts val="1542"/>
              </a:lnSpc>
            </a:pPr>
            <a:r>
              <a:rPr lang="en-US" sz="1200" b="1" dirty="0">
                <a:solidFill>
                  <a:srgbClr val="000000"/>
                </a:solidFill>
                <a:latin typeface="Open Sans" pitchFamily="34" charset="0"/>
                <a:ea typeface="Open Sans" pitchFamily="34" charset="-122"/>
                <a:cs typeface="Open Sans" pitchFamily="34" charset="-120"/>
              </a:rPr>
              <a:t>Гостра ревматична лихоманка</a:t>
            </a:r>
            <a:r>
              <a:rPr lang="en-US" sz="1200" dirty="0">
                <a:solidFill>
                  <a:srgbClr val="000000"/>
                </a:solidFill>
                <a:latin typeface="Open Sans" pitchFamily="34" charset="0"/>
                <a:ea typeface="Open Sans" pitchFamily="34" charset="-122"/>
                <a:cs typeface="Open Sans" pitchFamily="34" charset="-120"/>
              </a:rPr>
              <a:t> — це серйозне аутоімунне ускладнення, яке може виникнути після нелікованої або неправильно лікованої стрептококової інфекції. Це захворювання може уражати серце, суглоби, шкіру та мозок, призводячи до довічних ускладнень. Своєчасна та точна діагностика стрептококового тонзиліту за </a:t>
            </a:r>
            <a:r>
              <a:rPr lang="en-US" sz="1200" dirty="0">
                <a:latin typeface="Open Sans" pitchFamily="34" charset="0"/>
                <a:ea typeface="Open Sans" pitchFamily="34" charset="-122"/>
                <a:cs typeface="Open Sans" pitchFamily="34" charset="-120"/>
              </a:rPr>
              <a:t>допомогою </a:t>
            </a:r>
            <a:r>
              <a:rPr lang="en-US" sz="1200" b="1" dirty="0">
                <a:latin typeface="Open Sans" pitchFamily="34" charset="0"/>
                <a:ea typeface="Open Sans" pitchFamily="34" charset="-122"/>
                <a:cs typeface="Open Sans" pitchFamily="34" charset="-120"/>
              </a:rPr>
              <a:t>Cito Test Strep A</a:t>
            </a:r>
            <a:r>
              <a:rPr lang="en-US" sz="1200" dirty="0">
                <a:latin typeface="Open Sans" pitchFamily="34" charset="0"/>
                <a:ea typeface="Open Sans" pitchFamily="34" charset="-122"/>
                <a:cs typeface="Open Sans" pitchFamily="34" charset="-120"/>
              </a:rPr>
              <a:t> та </a:t>
            </a:r>
            <a:r>
              <a:rPr lang="en-US" sz="1200" dirty="0">
                <a:solidFill>
                  <a:srgbClr val="000000"/>
                </a:solidFill>
                <a:latin typeface="Open Sans" pitchFamily="34" charset="0"/>
                <a:ea typeface="Open Sans" pitchFamily="34" charset="-122"/>
                <a:cs typeface="Open Sans" pitchFamily="34" charset="-120"/>
              </a:rPr>
              <a:t>швидке призначення адекватного </a:t>
            </a:r>
            <a:r>
              <a:rPr lang="en-US" sz="1200" dirty="0" err="1">
                <a:solidFill>
                  <a:srgbClr val="000000"/>
                </a:solidFill>
                <a:latin typeface="Open Sans" pitchFamily="34" charset="0"/>
                <a:ea typeface="Open Sans" pitchFamily="34" charset="-122"/>
                <a:cs typeface="Open Sans" pitchFamily="34" charset="-120"/>
              </a:rPr>
              <a:t>лікування</a:t>
            </a:r>
            <a:r>
              <a:rPr lang="en-US" sz="1200" dirty="0">
                <a:solidFill>
                  <a:srgbClr val="000000"/>
                </a:solidFill>
                <a:latin typeface="Open Sans" pitchFamily="34" charset="0"/>
                <a:ea typeface="Open Sans" pitchFamily="34" charset="-122"/>
                <a:cs typeface="Open Sans" pitchFamily="34" charset="-120"/>
              </a:rPr>
              <a:t> </a:t>
            </a:r>
            <a:r>
              <a:rPr lang="en-US" sz="1200" dirty="0" err="1">
                <a:solidFill>
                  <a:srgbClr val="000000"/>
                </a:solidFill>
                <a:latin typeface="Open Sans" pitchFamily="34" charset="0"/>
                <a:ea typeface="Open Sans" pitchFamily="34" charset="-122"/>
                <a:cs typeface="Open Sans" pitchFamily="34" charset="-120"/>
              </a:rPr>
              <a:t>знижують</a:t>
            </a:r>
            <a:r>
              <a:rPr lang="en-US" sz="1200" dirty="0">
                <a:solidFill>
                  <a:srgbClr val="000000"/>
                </a:solidFill>
                <a:latin typeface="Open Sans" pitchFamily="34" charset="0"/>
                <a:ea typeface="Open Sans" pitchFamily="34" charset="-122"/>
                <a:cs typeface="Open Sans" pitchFamily="34" charset="-120"/>
              </a:rPr>
              <a:t> ризик </a:t>
            </a:r>
            <a:r>
              <a:rPr lang="en-US" sz="1200" dirty="0" err="1">
                <a:solidFill>
                  <a:srgbClr val="000000"/>
                </a:solidFill>
                <a:latin typeface="Open Sans" pitchFamily="34" charset="0"/>
                <a:ea typeface="Open Sans" pitchFamily="34" charset="-122"/>
                <a:cs typeface="Open Sans" pitchFamily="34" charset="-120"/>
              </a:rPr>
              <a:t>розвитку</a:t>
            </a:r>
            <a:r>
              <a:rPr lang="en-US" sz="1200" dirty="0">
                <a:solidFill>
                  <a:srgbClr val="000000"/>
                </a:solidFill>
                <a:latin typeface="Open Sans" pitchFamily="34" charset="0"/>
                <a:ea typeface="Open Sans" pitchFamily="34" charset="-122"/>
                <a:cs typeface="Open Sans" pitchFamily="34" charset="-120"/>
              </a:rPr>
              <a:t> </a:t>
            </a:r>
            <a:r>
              <a:rPr lang="en-US" sz="1200" dirty="0" err="1">
                <a:solidFill>
                  <a:srgbClr val="000000"/>
                </a:solidFill>
                <a:latin typeface="Open Sans" pitchFamily="34" charset="0"/>
                <a:ea typeface="Open Sans" pitchFamily="34" charset="-122"/>
                <a:cs typeface="Open Sans" pitchFamily="34" charset="-120"/>
              </a:rPr>
              <a:t>ускладнен</a:t>
            </a:r>
            <a:r>
              <a:rPr lang="uk-UA" sz="1200" dirty="0">
                <a:solidFill>
                  <a:srgbClr val="000000"/>
                </a:solidFill>
                <a:latin typeface="Open Sans" pitchFamily="34" charset="0"/>
                <a:ea typeface="Open Sans" pitchFamily="34" charset="-122"/>
                <a:cs typeface="Open Sans" pitchFamily="34" charset="-120"/>
              </a:rPr>
              <a:t>ь</a:t>
            </a:r>
            <a:r>
              <a:rPr lang="en-US" sz="958" dirty="0">
                <a:solidFill>
                  <a:srgbClr val="000000"/>
                </a:solidFill>
                <a:latin typeface="Open Sans" pitchFamily="34" charset="0"/>
                <a:ea typeface="Open Sans" pitchFamily="34" charset="-122"/>
                <a:cs typeface="Open Sans" pitchFamily="34" charset="-120"/>
              </a:rPr>
              <a:t>.</a:t>
            </a:r>
            <a:endParaRPr lang="en-US" sz="958" dirty="0">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5C7F15-E167-1BAF-F0B0-4AF24BA5B045}"/>
              </a:ext>
            </a:extLst>
          </p:cNvPr>
          <p:cNvSpPr txBox="1"/>
          <p:nvPr/>
        </p:nvSpPr>
        <p:spPr>
          <a:xfrm>
            <a:off x="872066" y="936120"/>
            <a:ext cx="1158240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b="1" spc="-50" dirty="0" err="1">
                <a:solidFill>
                  <a:srgbClr val="496B21"/>
                </a:solidFill>
                <a:latin typeface="Open Sans Bold" pitchFamily="34" charset="0"/>
                <a:ea typeface="Open Sans Bold" pitchFamily="34" charset="-122"/>
                <a:cs typeface="Open Sans Bold" pitchFamily="34" charset="-120"/>
              </a:rPr>
              <a:t>Емпірична</a:t>
            </a:r>
            <a:r>
              <a:rPr lang="ru-RU" sz="2000" b="1" spc="-50" dirty="0">
                <a:solidFill>
                  <a:srgbClr val="496B21"/>
                </a:solidFill>
                <a:latin typeface="Open Sans Bold" pitchFamily="34" charset="0"/>
                <a:ea typeface="Open Sans Bold" pitchFamily="34" charset="-122"/>
                <a:cs typeface="Open Sans Bold" pitchFamily="34" charset="-120"/>
              </a:rPr>
              <a:t> </a:t>
            </a:r>
            <a:r>
              <a:rPr lang="ru-RU" sz="2000" b="1" spc="-50" dirty="0" err="1">
                <a:solidFill>
                  <a:srgbClr val="496B21"/>
                </a:solidFill>
                <a:latin typeface="Open Sans Bold" pitchFamily="34" charset="0"/>
                <a:ea typeface="Open Sans Bold" pitchFamily="34" charset="-122"/>
                <a:cs typeface="Open Sans Bold" pitchFamily="34" charset="-120"/>
              </a:rPr>
              <a:t>антибіотикотерапія</a:t>
            </a:r>
            <a:r>
              <a:rPr lang="ru-RU" sz="2000" b="1" spc="-50" dirty="0">
                <a:solidFill>
                  <a:srgbClr val="496B21"/>
                </a:solidFill>
                <a:latin typeface="Open Sans Bold" pitchFamily="34" charset="0"/>
                <a:ea typeface="Open Sans Bold" pitchFamily="34" charset="-122"/>
                <a:cs typeface="Open Sans Bold" pitchFamily="34" charset="-120"/>
              </a:rPr>
              <a:t>: </a:t>
            </a:r>
            <a:r>
              <a:rPr lang="ru-RU" sz="2000" b="1" spc="-50" dirty="0" err="1">
                <a:solidFill>
                  <a:srgbClr val="496B21"/>
                </a:solidFill>
                <a:latin typeface="Open Sans Bold" pitchFamily="34" charset="0"/>
                <a:ea typeface="Open Sans Bold" pitchFamily="34" charset="-122"/>
                <a:cs typeface="Open Sans Bold" pitchFamily="34" charset="-120"/>
              </a:rPr>
              <a:t>що</a:t>
            </a:r>
            <a:r>
              <a:rPr lang="ru-RU" sz="2000" b="1" spc="-50" dirty="0">
                <a:solidFill>
                  <a:srgbClr val="496B21"/>
                </a:solidFill>
                <a:latin typeface="Open Sans Bold" pitchFamily="34" charset="0"/>
                <a:ea typeface="Open Sans Bold" pitchFamily="34" charset="-122"/>
                <a:cs typeface="Open Sans Bold" pitchFamily="34" charset="-120"/>
              </a:rPr>
              <a:t> </a:t>
            </a:r>
            <a:r>
              <a:rPr lang="ru-RU" sz="2000" b="1" spc="-50" dirty="0" err="1">
                <a:solidFill>
                  <a:srgbClr val="496B21"/>
                </a:solidFill>
                <a:latin typeface="Open Sans Bold" pitchFamily="34" charset="0"/>
                <a:ea typeface="Open Sans Bold" pitchFamily="34" charset="-122"/>
                <a:cs typeface="Open Sans Bold" pitchFamily="34" charset="-120"/>
              </a:rPr>
              <a:t>має</a:t>
            </a:r>
            <a:r>
              <a:rPr lang="ru-RU" sz="2000" b="1" spc="-50" dirty="0">
                <a:solidFill>
                  <a:srgbClr val="496B21"/>
                </a:solidFill>
                <a:latin typeface="Open Sans Bold" pitchFamily="34" charset="0"/>
                <a:ea typeface="Open Sans Bold" pitchFamily="34" charset="-122"/>
                <a:cs typeface="Open Sans Bold" pitchFamily="34" charset="-120"/>
              </a:rPr>
              <a:t> знати </a:t>
            </a:r>
            <a:r>
              <a:rPr lang="ru-RU" sz="2000" b="1" spc="-50" dirty="0" err="1">
                <a:solidFill>
                  <a:srgbClr val="496B21"/>
                </a:solidFill>
                <a:latin typeface="Open Sans Bold" pitchFamily="34" charset="0"/>
                <a:ea typeface="Open Sans Bold" pitchFamily="34" charset="-122"/>
                <a:cs typeface="Open Sans Bold" pitchFamily="34" charset="-120"/>
              </a:rPr>
              <a:t>лікар</a:t>
            </a:r>
            <a:r>
              <a:rPr lang="ru-RU" sz="2000" b="1" spc="-50" dirty="0">
                <a:solidFill>
                  <a:srgbClr val="496B21"/>
                </a:solidFill>
                <a:latin typeface="Open Sans Bold" pitchFamily="34" charset="0"/>
                <a:ea typeface="Open Sans Bold" pitchFamily="34" charset="-122"/>
                <a:cs typeface="Open Sans Bold" pitchFamily="34" charset="-120"/>
              </a:rPr>
              <a:t> до </a:t>
            </a:r>
            <a:r>
              <a:rPr lang="ru-RU" sz="2000" b="1" spc="-50" dirty="0" err="1">
                <a:solidFill>
                  <a:srgbClr val="496B21"/>
                </a:solidFill>
                <a:latin typeface="Open Sans Bold" pitchFamily="34" charset="0"/>
                <a:ea typeface="Open Sans Bold" pitchFamily="34" charset="-122"/>
                <a:cs typeface="Open Sans Bold" pitchFamily="34" charset="-120"/>
              </a:rPr>
              <a:t>визначення</a:t>
            </a:r>
            <a:r>
              <a:rPr lang="ru-RU" sz="2000" b="1" spc="-50" dirty="0">
                <a:solidFill>
                  <a:srgbClr val="496B21"/>
                </a:solidFill>
                <a:latin typeface="Open Sans Bold" pitchFamily="34" charset="0"/>
                <a:ea typeface="Open Sans Bold" pitchFamily="34" charset="-122"/>
                <a:cs typeface="Open Sans Bold" pitchFamily="34" charset="-120"/>
              </a:rPr>
              <a:t> </a:t>
            </a:r>
            <a:r>
              <a:rPr lang="ru-RU" sz="2000" b="1" spc="-50" dirty="0" err="1">
                <a:solidFill>
                  <a:srgbClr val="496B21"/>
                </a:solidFill>
                <a:latin typeface="Open Sans Bold" pitchFamily="34" charset="0"/>
                <a:ea typeface="Open Sans Bold" pitchFamily="34" charset="-122"/>
                <a:cs typeface="Open Sans Bold" pitchFamily="34" charset="-120"/>
              </a:rPr>
              <a:t>збудника</a:t>
            </a:r>
            <a:r>
              <a:rPr lang="ru-RU" sz="2000" b="1" spc="-50" dirty="0">
                <a:solidFill>
                  <a:srgbClr val="496B21"/>
                </a:solidFill>
                <a:latin typeface="Open Sans Bold" pitchFamily="34" charset="0"/>
                <a:ea typeface="Open Sans Bold" pitchFamily="34" charset="-122"/>
                <a:cs typeface="Open Sans Bold" pitchFamily="34" charset="-120"/>
              </a:rPr>
              <a:t> </a:t>
            </a:r>
            <a:r>
              <a:rPr lang="ru-RU" sz="2000" b="1" spc="-50" dirty="0" err="1">
                <a:solidFill>
                  <a:srgbClr val="496B21"/>
                </a:solidFill>
                <a:latin typeface="Open Sans Bold" pitchFamily="34" charset="0"/>
                <a:ea typeface="Open Sans Bold" pitchFamily="34" charset="-122"/>
                <a:cs typeface="Open Sans Bold" pitchFamily="34" charset="-120"/>
              </a:rPr>
              <a:t>інфекції</a:t>
            </a:r>
            <a:endParaRPr lang="uk-UA" sz="2000" b="1" spc="-50" dirty="0">
              <a:solidFill>
                <a:srgbClr val="496B21"/>
              </a:solidFill>
              <a:latin typeface="Open Sans Bold" pitchFamily="34" charset="0"/>
              <a:ea typeface="Open Sans Bold" pitchFamily="34" charset="-122"/>
              <a:cs typeface="Open Sans Bold" pitchFamily="34" charset="-120"/>
            </a:endParaRPr>
          </a:p>
        </p:txBody>
      </p:sp>
      <p:sp>
        <p:nvSpPr>
          <p:cNvPr id="5" name="TextBox 4">
            <a:extLst>
              <a:ext uri="{FF2B5EF4-FFF2-40B4-BE49-F238E27FC236}">
                <a16:creationId xmlns:a16="http://schemas.microsoft.com/office/drawing/2014/main" id="{0B522FBD-8278-943B-4EFD-A4C848654C39}"/>
              </a:ext>
            </a:extLst>
          </p:cNvPr>
          <p:cNvSpPr txBox="1"/>
          <p:nvPr/>
        </p:nvSpPr>
        <p:spPr>
          <a:xfrm>
            <a:off x="711726" y="6078885"/>
            <a:ext cx="8364682"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https://phc.org.ua/news/empirichna-antibiotikoterapiya-scho-mae-znati-likar-do-viznachennya-zbudnika-infekcii</a:t>
            </a:r>
            <a:endParaRPr kumimoji="0" lang="uk-UA"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8E1BAAE-26E3-F7B1-7FA9-CAB26734C52A}"/>
              </a:ext>
            </a:extLst>
          </p:cNvPr>
          <p:cNvSpPr txBox="1"/>
          <p:nvPr/>
        </p:nvSpPr>
        <p:spPr>
          <a:xfrm>
            <a:off x="1154351" y="1963851"/>
            <a:ext cx="8722128"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Лікування антибіотиками повинно розпочинатися у разі наявності в пацієнта лабораторно підтвердженої або ж із високою ймовірністю підозрюваної бактеріальної інфекції — не вірусної, не грибкової, а саме бактеріальної. </a:t>
            </a:r>
          </a:p>
        </p:txBody>
      </p:sp>
      <p:sp>
        <p:nvSpPr>
          <p:cNvPr id="9" name="TextBox 8">
            <a:extLst>
              <a:ext uri="{FF2B5EF4-FFF2-40B4-BE49-F238E27FC236}">
                <a16:creationId xmlns:a16="http://schemas.microsoft.com/office/drawing/2014/main" id="{BEDF709E-8696-3AAB-32B9-DAC7235E4D65}"/>
              </a:ext>
            </a:extLst>
          </p:cNvPr>
          <p:cNvSpPr txBox="1"/>
          <p:nvPr/>
        </p:nvSpPr>
        <p:spPr>
          <a:xfrm>
            <a:off x="1154351" y="3105834"/>
            <a:ext cx="1039298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Точно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визначити</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бактерію</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можна</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після</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бактеріального</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дослідження</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біологічного</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матеріалу</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від</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пацієнта</a:t>
            </a:r>
            <a:r>
              <a:rPr kumimoji="0" lang="ru-RU"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a:t>
            </a:r>
            <a:endParaRPr kumimoji="0" lang="uk-UA"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000B273-178F-59CE-A584-0EF475A688AB}"/>
              </a:ext>
            </a:extLst>
          </p:cNvPr>
          <p:cNvSpPr txBox="1"/>
          <p:nvPr/>
        </p:nvSpPr>
        <p:spPr>
          <a:xfrm>
            <a:off x="1144076" y="3970818"/>
            <a:ext cx="10091651"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Водночас</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у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лікаря</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повинна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залишатися</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можливість</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оперативно та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обґрунтовано</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призначити</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емпіричну</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антибіотикотерапію</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адже</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своєчасність</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важливий</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принцип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раціонального</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використання</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антибіотиків</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Рисунок 12">
            <a:extLst>
              <a:ext uri="{FF2B5EF4-FFF2-40B4-BE49-F238E27FC236}">
                <a16:creationId xmlns:a16="http://schemas.microsoft.com/office/drawing/2014/main" id="{C3048670-CFBC-C881-D76E-30660DB7F77D}"/>
              </a:ext>
            </a:extLst>
          </p:cNvPr>
          <p:cNvPicPr>
            <a:picLocks noChangeAspect="1"/>
          </p:cNvPicPr>
          <p:nvPr/>
        </p:nvPicPr>
        <p:blipFill>
          <a:blip r:embed="rId2"/>
          <a:stretch>
            <a:fillRect/>
          </a:stretch>
        </p:blipFill>
        <p:spPr>
          <a:xfrm>
            <a:off x="132307" y="60087"/>
            <a:ext cx="2534004" cy="771633"/>
          </a:xfrm>
          <a:prstGeom prst="rect">
            <a:avLst/>
          </a:prstGeom>
        </p:spPr>
      </p:pic>
    </p:spTree>
    <p:extLst>
      <p:ext uri="{BB962C8B-B14F-4D97-AF65-F5344CB8AC3E}">
        <p14:creationId xmlns:p14="http://schemas.microsoft.com/office/powerpoint/2010/main" val="2410295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EB47B8-95AA-630F-B356-0DBD16FE1532}"/>
              </a:ext>
            </a:extLst>
          </p:cNvPr>
          <p:cNvSpPr txBox="1"/>
          <p:nvPr/>
        </p:nvSpPr>
        <p:spPr>
          <a:xfrm>
            <a:off x="1017919" y="992795"/>
            <a:ext cx="10407506" cy="53553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Резистентність до антимікробних препаратів (АРП) є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однією з найактуальніших проблем громадського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здоров'я у 2025 році. Це явище виникає, коли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мікроорганізми, такі як бактерії, віруси, грибки та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паразити, розвивають стійкість до ліків, які колись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були ефективними. Згідно зі звітом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CDC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за 2025 рік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АРП може призвести до 10 мільйонів смертей щорічно до 2050 року, перевищивши кількість смертей від таких основних захворювань, як рак.</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Антимікробна резистентність (АМР) виникає внаслідок природної еволюційної здатності мікробів виживати під селективним тиском антимікробних препаратів. Цей процес значно прискорюється надмірним та неправильним використанням цих препаратів у сфері охорони здоров'я людини, ветеринарії та сільського господарства. </a:t>
            </a:r>
            <a:r>
              <a:rPr kumimoji="0" lang="uk-UA"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Резистентні інфекції часто потребують триваліших курсів лікування, пов'язані зі збільшенням інвалідності та смертності, а також призводять до тривалого перебування в лікарні та вищих витрат на охорону здоров'я, що створює зростаючий тягар для систем охорони здоров'я та світової економіки.</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За оцінками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CDC,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лише в США щорічно реєструється щонайменше </a:t>
            </a:r>
            <a:r>
              <a:rPr kumimoji="0" lang="uk-UA"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2,8 мільйона резистентних інфекцій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та понад 35 000 пов'язаних з ними смертей.</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CD7FAB4-4F0B-1D28-89C8-6D07767C6508}"/>
              </a:ext>
            </a:extLst>
          </p:cNvPr>
          <p:cNvSpPr txBox="1"/>
          <p:nvPr/>
        </p:nvSpPr>
        <p:spPr>
          <a:xfrm>
            <a:off x="275744" y="6453209"/>
            <a:ext cx="9541115"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https://www.medscape.com/viewarticle/amr-isnt-just-coming-its-already-undermining-your-practice-2025a1000iax</a:t>
            </a:r>
            <a:endParaRPr kumimoji="0" lang="uk-UA"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Рисунок 3">
            <a:extLst>
              <a:ext uri="{FF2B5EF4-FFF2-40B4-BE49-F238E27FC236}">
                <a16:creationId xmlns:a16="http://schemas.microsoft.com/office/drawing/2014/main" id="{60CBD0DC-E5D1-AEA2-4B1C-F5FF90EF52F1}"/>
              </a:ext>
            </a:extLst>
          </p:cNvPr>
          <p:cNvPicPr>
            <a:picLocks noChangeAspect="1"/>
          </p:cNvPicPr>
          <p:nvPr/>
        </p:nvPicPr>
        <p:blipFill>
          <a:blip r:embed="rId2"/>
          <a:stretch>
            <a:fillRect/>
          </a:stretch>
        </p:blipFill>
        <p:spPr>
          <a:xfrm>
            <a:off x="362310" y="91106"/>
            <a:ext cx="5259048" cy="2506203"/>
          </a:xfrm>
          <a:prstGeom prst="rect">
            <a:avLst/>
          </a:prstGeom>
        </p:spPr>
      </p:pic>
    </p:spTree>
    <p:extLst>
      <p:ext uri="{BB962C8B-B14F-4D97-AF65-F5344CB8AC3E}">
        <p14:creationId xmlns:p14="http://schemas.microsoft.com/office/powerpoint/2010/main" val="1071886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B8A60281-7313-4161-9D17-0D1FEFD44299}"/>
              </a:ext>
            </a:extLst>
          </p:cNvPr>
          <p:cNvSpPr>
            <a:spLocks noGrp="1"/>
          </p:cNvSpPr>
          <p:nvPr>
            <p:ph type="title" idx="4294967295"/>
          </p:nvPr>
        </p:nvSpPr>
        <p:spPr>
          <a:xfrm>
            <a:off x="91440" y="183424"/>
            <a:ext cx="10714038" cy="715962"/>
          </a:xfrm>
        </p:spPr>
        <p:txBody>
          <a:bodyPr>
            <a:normAutofit fontScale="90000"/>
          </a:bodyPr>
          <a:lstStyle/>
          <a:p>
            <a:pPr algn="ctr"/>
            <a:r>
              <a:rPr lang="uk-UA" sz="2000" b="1" dirty="0">
                <a:solidFill>
                  <a:srgbClr val="496B21"/>
                </a:solidFill>
                <a:latin typeface="Open Sans Bold" pitchFamily="34" charset="0"/>
                <a:ea typeface="Open Sans Bold" pitchFamily="34" charset="-122"/>
                <a:cs typeface="Open Sans Bold" pitchFamily="34" charset="-120"/>
              </a:rPr>
              <a:t>Швидкий тест для виявлення</a:t>
            </a:r>
            <a:br>
              <a:rPr lang="uk-UA" sz="2000" b="1" dirty="0">
                <a:solidFill>
                  <a:srgbClr val="496B21"/>
                </a:solidFill>
                <a:latin typeface="Open Sans Bold" pitchFamily="34" charset="0"/>
                <a:ea typeface="Open Sans Bold" pitchFamily="34" charset="-122"/>
                <a:cs typeface="Open Sans Bold" pitchFamily="34" charset="-120"/>
              </a:rPr>
            </a:br>
            <a:r>
              <a:rPr lang="uk-UA" sz="2000" b="1" dirty="0">
                <a:solidFill>
                  <a:srgbClr val="496B21"/>
                </a:solidFill>
                <a:latin typeface="Open Sans Bold" pitchFamily="34" charset="0"/>
                <a:ea typeface="Open Sans Bold" pitchFamily="34" charset="-122"/>
                <a:cs typeface="Open Sans Bold" pitchFamily="34" charset="-120"/>
              </a:rPr>
              <a:t>бета-гемолітичного стрептокока групи А </a:t>
            </a:r>
            <a:br>
              <a:rPr lang="uk-UA" sz="2000" b="1" dirty="0">
                <a:solidFill>
                  <a:srgbClr val="496B21"/>
                </a:solidFill>
                <a:latin typeface="Open Sans Bold" pitchFamily="34" charset="0"/>
                <a:ea typeface="Open Sans Bold" pitchFamily="34" charset="-122"/>
                <a:cs typeface="Open Sans Bold" pitchFamily="34" charset="-120"/>
              </a:rPr>
            </a:br>
            <a:r>
              <a:rPr lang="en-US" sz="2000" b="1" dirty="0">
                <a:solidFill>
                  <a:srgbClr val="496B21"/>
                </a:solidFill>
                <a:latin typeface="Open Sans Bold" pitchFamily="34" charset="0"/>
                <a:ea typeface="Open Sans Bold" pitchFamily="34" charset="-122"/>
                <a:cs typeface="Open Sans Bold" pitchFamily="34" charset="-120"/>
              </a:rPr>
              <a:t>CITO TEST® STREP A </a:t>
            </a:r>
            <a:endParaRPr lang="ru-RU" sz="2000" b="1" dirty="0">
              <a:solidFill>
                <a:srgbClr val="496B21"/>
              </a:solidFill>
              <a:latin typeface="Open Sans Bold" pitchFamily="34" charset="0"/>
              <a:ea typeface="Open Sans Bold" pitchFamily="34" charset="-122"/>
              <a:cs typeface="Open Sans Bold" pitchFamily="34" charset="-120"/>
            </a:endParaRPr>
          </a:p>
        </p:txBody>
      </p:sp>
      <p:sp>
        <p:nvSpPr>
          <p:cNvPr id="7" name="Content Placeholder 7">
            <a:extLst>
              <a:ext uri="{FF2B5EF4-FFF2-40B4-BE49-F238E27FC236}">
                <a16:creationId xmlns:a16="http://schemas.microsoft.com/office/drawing/2014/main" id="{B950E5A1-50C8-4502-BB95-52415CABD8BD}"/>
              </a:ext>
            </a:extLst>
          </p:cNvPr>
          <p:cNvSpPr txBox="1">
            <a:spLocks/>
          </p:cNvSpPr>
          <p:nvPr/>
        </p:nvSpPr>
        <p:spPr>
          <a:xfrm>
            <a:off x="643712" y="6236184"/>
            <a:ext cx="10904576" cy="404040"/>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marR="0" lvl="0" indent="0" algn="l" defTabSz="914400" rtl="0" eaLnBrk="1" fontAlgn="auto" latinLnBrk="0" hangingPunct="1">
              <a:lnSpc>
                <a:spcPct val="90000"/>
              </a:lnSpc>
              <a:spcBef>
                <a:spcPts val="1200"/>
              </a:spcBef>
              <a:spcAft>
                <a:spcPts val="200"/>
              </a:spcAft>
              <a:buClr>
                <a:srgbClr val="99CB38"/>
              </a:buClr>
              <a:buSzPct val="100000"/>
              <a:buFont typeface="Calibri" panose="020F0502020204030204" pitchFamily="34" charset="0"/>
              <a:buNone/>
              <a:tabLst/>
              <a:defRPr/>
            </a:pPr>
            <a:r>
              <a:rPr kumimoji="0" lang="uk-UA" sz="11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a:t>
            </a:r>
            <a:r>
              <a:rPr kumimoji="0" lang="en-US" sz="11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Complicated pneumonia caused by group A Streptococcus in children - 2022/2023 infectious season outbreak and update on clinical characteristics. Magdalena </a:t>
            </a:r>
            <a:r>
              <a:rPr kumimoji="0" lang="en-US" sz="1100" b="0"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Grochowska</a:t>
            </a:r>
            <a:r>
              <a:rPr kumimoji="0" lang="en-US" sz="11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Agnieszka </a:t>
            </a:r>
            <a:r>
              <a:rPr kumimoji="0" lang="en-US" sz="1100" b="0"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Strzelak</a:t>
            </a:r>
            <a:r>
              <a:rPr kumimoji="0" lang="en-US" sz="11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Katarzyna </a:t>
            </a:r>
            <a:r>
              <a:rPr kumimoji="0" lang="en-US" sz="1100" b="0"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Krenke</a:t>
            </a:r>
            <a:r>
              <a:rPr kumimoji="0" lang="en-US" sz="11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a:t>
            </a:r>
            <a:r>
              <a:rPr kumimoji="0" lang="en-US" sz="11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hlinkClick r:id="rId2"/>
              </a:rPr>
              <a:t>http://pubmed.ncbi.nlm.nih.gov/38631479/</a:t>
            </a:r>
            <a:endParaRPr kumimoji="0" lang="en-US" sz="11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200"/>
              </a:spcAft>
              <a:buClr>
                <a:srgbClr val="99CB38"/>
              </a:buClr>
              <a:buSzPct val="100000"/>
              <a:buFont typeface="Calibri" panose="020F0502020204030204" pitchFamily="34" charset="0"/>
              <a:buNone/>
              <a:tabLst/>
              <a:defRPr/>
            </a:pPr>
            <a:endParaRPr kumimoji="0" lang="ru-RU"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91440" marR="0" lvl="0" indent="-91440" algn="l" defTabSz="914400" rtl="0" eaLnBrk="1" fontAlgn="auto" latinLnBrk="0" hangingPunct="1">
              <a:lnSpc>
                <a:spcPct val="90000"/>
              </a:lnSpc>
              <a:spcBef>
                <a:spcPts val="1200"/>
              </a:spcBef>
              <a:spcAft>
                <a:spcPts val="200"/>
              </a:spcAft>
              <a:buClr>
                <a:srgbClr val="99CB38"/>
              </a:buClr>
              <a:buSzPct val="100000"/>
              <a:buFont typeface="Wingdings" panose="05000000000000000000" pitchFamily="2" charset="2"/>
              <a:buChar char="Ø"/>
              <a:tabLst/>
              <a:defRPr/>
            </a:pPr>
            <a:endParaRPr kumimoji="0" lang="ru-RU"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p:txBody>
      </p:sp>
      <p:pic>
        <p:nvPicPr>
          <p:cNvPr id="3" name="Рисунок 2">
            <a:extLst>
              <a:ext uri="{FF2B5EF4-FFF2-40B4-BE49-F238E27FC236}">
                <a16:creationId xmlns:a16="http://schemas.microsoft.com/office/drawing/2014/main" id="{D2AACCA7-480E-41BC-B68D-8BC7E2BE19E4}"/>
              </a:ext>
            </a:extLst>
          </p:cNvPr>
          <p:cNvPicPr>
            <a:picLocks noChangeAspect="1"/>
          </p:cNvPicPr>
          <p:nvPr/>
        </p:nvPicPr>
        <p:blipFill>
          <a:blip r:embed="rId3"/>
          <a:stretch>
            <a:fillRect/>
          </a:stretch>
        </p:blipFill>
        <p:spPr>
          <a:xfrm>
            <a:off x="227096" y="1741657"/>
            <a:ext cx="5868904" cy="2434026"/>
          </a:xfrm>
          <a:prstGeom prst="rect">
            <a:avLst/>
          </a:prstGeom>
        </p:spPr>
      </p:pic>
      <p:sp>
        <p:nvSpPr>
          <p:cNvPr id="12" name="Content Placeholder 7">
            <a:extLst>
              <a:ext uri="{FF2B5EF4-FFF2-40B4-BE49-F238E27FC236}">
                <a16:creationId xmlns:a16="http://schemas.microsoft.com/office/drawing/2014/main" id="{BF4A8CD5-0C4B-484A-9234-53802370C073}"/>
              </a:ext>
            </a:extLst>
          </p:cNvPr>
          <p:cNvSpPr txBox="1">
            <a:spLocks/>
          </p:cNvSpPr>
          <p:nvPr/>
        </p:nvSpPr>
        <p:spPr>
          <a:xfrm>
            <a:off x="6291427" y="1741657"/>
            <a:ext cx="5664197" cy="4404388"/>
          </a:xfrm>
          <a:prstGeom prst="rect">
            <a:avLst/>
          </a:prstGeom>
        </p:spPr>
        <p:txBody>
          <a:bodyPr>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Ø"/>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91440" marR="0" lvl="0" indent="-91440" algn="l" defTabSz="914400" rtl="0" eaLnBrk="1" fontAlgn="auto" latinLnBrk="0" hangingPunct="1">
              <a:lnSpc>
                <a:spcPct val="90000"/>
              </a:lnSpc>
              <a:spcBef>
                <a:spcPts val="1200"/>
              </a:spcBef>
              <a:spcAft>
                <a:spcPts val="200"/>
              </a:spcAft>
              <a:buClr>
                <a:srgbClr val="99CB38"/>
              </a:buClr>
              <a:buSzPct val="100000"/>
              <a:buFont typeface="Wingdings" panose="05000000000000000000" pitchFamily="2" charset="2"/>
              <a:buChar char="Ø"/>
              <a:tabLst/>
              <a:defRPr/>
            </a:pPr>
            <a:r>
              <a:rPr kumimoji="0" lang="uk-UA"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призначений для якісного виявлення антигенів бета-гемолітичного стрептокока групи А у мазках із зіву з метою діагностики стрептококових тонзиліту та фарингіту, скарлатини.</a:t>
            </a:r>
          </a:p>
          <a:p>
            <a:pPr marL="91440" marR="0" lvl="0" indent="-91440" algn="l" defTabSz="914400" rtl="0" eaLnBrk="1" fontAlgn="auto" latinLnBrk="0" hangingPunct="1">
              <a:lnSpc>
                <a:spcPct val="90000"/>
              </a:lnSpc>
              <a:spcBef>
                <a:spcPts val="1200"/>
              </a:spcBef>
              <a:spcAft>
                <a:spcPts val="200"/>
              </a:spcAft>
              <a:buClr>
                <a:srgbClr val="99CB38"/>
              </a:buClr>
              <a:buSzPct val="100000"/>
              <a:buFont typeface="Wingdings" panose="05000000000000000000" pitchFamily="2" charset="2"/>
              <a:buChar char="Ø"/>
              <a:tabLst/>
              <a:defRPr/>
            </a:pPr>
            <a:r>
              <a:rPr kumimoji="0" lang="uk-UA"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призначений для самоконтролю  </a:t>
            </a:r>
            <a:endParaRPr kumimoji="0" lang="ru-RU"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200"/>
              </a:spcAft>
              <a:buClr>
                <a:srgbClr val="99CB38"/>
              </a:buClr>
              <a:buSzPct val="100000"/>
              <a:buFont typeface="Calibri" panose="020F0502020204030204" pitchFamily="34" charset="0"/>
              <a:buNone/>
              <a:tabLst/>
              <a:defRPr/>
            </a:pPr>
            <a:endParaRPr kumimoji="0" lang="ru-RU"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200"/>
              </a:spcAft>
              <a:buClr>
                <a:srgbClr val="99CB38"/>
              </a:buClr>
              <a:buSzPct val="100000"/>
              <a:buFont typeface="Calibri" panose="020F0502020204030204" pitchFamily="34" charset="0"/>
              <a:buNone/>
              <a:tabLst/>
              <a:defRPr/>
            </a:pPr>
            <a:r>
              <a:rPr kumimoji="0" lang="uk-UA"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Після пандемії COVID-19 серед дітей спостерігається підвищена захворюваність на стрептококові інфекції групи А. У ході дослідження, проведеного фахівцями Варшавського медичного університету (2022-2023 </a:t>
            </a:r>
            <a:r>
              <a:rPr kumimoji="0" lang="uk-UA" sz="2000" b="0"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рр</a:t>
            </a:r>
            <a:r>
              <a:rPr kumimoji="0" lang="uk-UA"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був зроблений висновок, що стрептокок групи А є домінуючим збудником ускладненої </a:t>
            </a:r>
            <a:r>
              <a:rPr kumimoji="0" lang="uk-UA" sz="2000" b="0" i="0" u="none" strike="noStrike" kern="1200" cap="none" spc="0" normalizeH="0" baseline="0" noProof="0" dirty="0" err="1">
                <a:ln>
                  <a:noFill/>
                </a:ln>
                <a:solidFill>
                  <a:prstClr val="black">
                    <a:lumMod val="75000"/>
                    <a:lumOff val="25000"/>
                  </a:prstClr>
                </a:solidFill>
                <a:effectLst/>
                <a:uLnTx/>
                <a:uFillTx/>
                <a:latin typeface="Calibri" panose="020F0502020204030204"/>
                <a:ea typeface="+mn-ea"/>
                <a:cs typeface="+mn-cs"/>
              </a:rPr>
              <a:t>позалікарняної</a:t>
            </a:r>
            <a:r>
              <a:rPr kumimoji="0" lang="uk-UA"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 пневмонії у дітей. У 68,2% пацієнтів із такою пневмонією спостерігалися симптоми скарлатини*</a:t>
            </a:r>
          </a:p>
          <a:p>
            <a:pPr marL="0" marR="0" lvl="0" indent="0" algn="l" defTabSz="914400" rtl="0" eaLnBrk="1" fontAlgn="auto" latinLnBrk="0" hangingPunct="1">
              <a:lnSpc>
                <a:spcPct val="90000"/>
              </a:lnSpc>
              <a:spcBef>
                <a:spcPts val="1200"/>
              </a:spcBef>
              <a:spcAft>
                <a:spcPts val="200"/>
              </a:spcAft>
              <a:buClr>
                <a:srgbClr val="99CB38"/>
              </a:buClr>
              <a:buSzPct val="100000"/>
              <a:buFont typeface="Calibri" panose="020F0502020204030204" pitchFamily="34" charset="0"/>
              <a:buNone/>
              <a:tabLst/>
              <a:defRPr/>
            </a:pPr>
            <a:endParaRPr kumimoji="0" lang="uk-UA"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200"/>
              </a:spcAft>
              <a:buClr>
                <a:srgbClr val="99CB38"/>
              </a:buClr>
              <a:buSzPct val="100000"/>
              <a:buFont typeface="Calibri" panose="020F0502020204030204" pitchFamily="34" charset="0"/>
              <a:buNone/>
              <a:tabLst/>
              <a:defRPr/>
            </a:pPr>
            <a:endParaRPr kumimoji="0" lang="uk-UA"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A0DF9E95-3681-41D5-8718-49B8DF0DF7B2}"/>
              </a:ext>
            </a:extLst>
          </p:cNvPr>
          <p:cNvSpPr txBox="1"/>
          <p:nvPr/>
        </p:nvSpPr>
        <p:spPr>
          <a:xfrm>
            <a:off x="730129" y="4855577"/>
            <a:ext cx="4166491" cy="1200329"/>
          </a:xfrm>
          <a:prstGeom prst="rect">
            <a:avLst/>
          </a:prstGeom>
          <a:noFill/>
        </p:spPr>
        <p:txBody>
          <a:bodyPr wrap="square" rtlCol="0">
            <a:spAutoFit/>
          </a:bodyPr>
          <a:lstStyle>
            <a:defPPr>
              <a:defRPr lang="uk-UA"/>
            </a:defPPr>
            <a:lvl1pPr marL="342900" marR="0" lvl="0" indent="-342900" fontAlgn="auto">
              <a:lnSpc>
                <a:spcPct val="100000"/>
              </a:lnSpc>
              <a:spcBef>
                <a:spcPts val="0"/>
              </a:spcBef>
              <a:spcAft>
                <a:spcPts val="0"/>
              </a:spcAft>
              <a:buClrTx/>
              <a:buSzTx/>
              <a:buFont typeface="Wingdings" panose="05000000000000000000" pitchFamily="2" charset="2"/>
              <a:buChar char="ü"/>
              <a:tabLst/>
              <a:defRPr kumimoji="0" sz="2400" b="1" i="0" u="none" strike="noStrike" cap="none" spc="0" normalizeH="0" baseline="0">
                <a:ln>
                  <a:noFill/>
                </a:ln>
                <a:solidFill>
                  <a:srgbClr val="FF0000"/>
                </a:solidFill>
                <a:effectLst/>
                <a:uLnTx/>
                <a:uFillTx/>
                <a:latin typeface="Calibri" panose="020F0502020204030204"/>
              </a:defRPr>
            </a:lvl1p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2400" b="1" i="0" u="none" strike="noStrike" kern="1200" cap="none" spc="0" normalizeH="0" baseline="0" noProof="0" dirty="0">
                <a:ln>
                  <a:noFill/>
                </a:ln>
                <a:solidFill>
                  <a:srgbClr val="FF0000"/>
                </a:solidFill>
                <a:effectLst/>
                <a:uLnTx/>
                <a:uFillTx/>
                <a:latin typeface="Calibri" panose="020F0502020204030204"/>
                <a:ea typeface="+mn-ea"/>
                <a:cs typeface="+mn-cs"/>
              </a:rPr>
              <a:t>ШВИДКО</a:t>
            </a:r>
          </a:p>
          <a:p>
            <a:pPr marL="1257300" marR="0" lvl="2"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2400" b="1" i="0" u="none" strike="noStrike" kern="1200" cap="none" spc="0" normalizeH="0" baseline="0" noProof="0" dirty="0">
                <a:ln>
                  <a:noFill/>
                </a:ln>
                <a:solidFill>
                  <a:srgbClr val="FF0000"/>
                </a:solidFill>
                <a:effectLst/>
                <a:uLnTx/>
                <a:uFillTx/>
                <a:latin typeface="Calibri" panose="020F0502020204030204"/>
                <a:ea typeface="+mn-ea"/>
                <a:cs typeface="+mn-cs"/>
              </a:rPr>
              <a:t>ТОЧНО</a:t>
            </a:r>
            <a:endPar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2171700" marR="0" lvl="4"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2400" b="1" i="0" u="none" strike="noStrike" kern="1200" cap="none" spc="0" normalizeH="0" baseline="0" noProof="0" dirty="0">
                <a:ln>
                  <a:noFill/>
                </a:ln>
                <a:solidFill>
                  <a:srgbClr val="FF0000"/>
                </a:solidFill>
                <a:effectLst/>
                <a:uLnTx/>
                <a:uFillTx/>
                <a:latin typeface="Calibri" panose="020F0502020204030204"/>
                <a:ea typeface="+mn-ea"/>
                <a:cs typeface="+mn-cs"/>
              </a:rPr>
              <a:t>ДОКАЗОВО</a:t>
            </a:r>
          </a:p>
        </p:txBody>
      </p:sp>
      <p:pic>
        <p:nvPicPr>
          <p:cNvPr id="4" name="Рисунок 3">
            <a:extLst>
              <a:ext uri="{FF2B5EF4-FFF2-40B4-BE49-F238E27FC236}">
                <a16:creationId xmlns:a16="http://schemas.microsoft.com/office/drawing/2014/main" id="{9D0E1E39-9B67-4629-9F67-D990393A76A6}"/>
              </a:ext>
            </a:extLst>
          </p:cNvPr>
          <p:cNvPicPr>
            <a:picLocks noChangeAspect="1"/>
          </p:cNvPicPr>
          <p:nvPr/>
        </p:nvPicPr>
        <p:blipFill>
          <a:blip r:embed="rId4"/>
          <a:stretch>
            <a:fillRect/>
          </a:stretch>
        </p:blipFill>
        <p:spPr>
          <a:xfrm>
            <a:off x="10953541" y="44043"/>
            <a:ext cx="1247949" cy="828791"/>
          </a:xfrm>
          <a:prstGeom prst="rect">
            <a:avLst/>
          </a:prstGeom>
        </p:spPr>
      </p:pic>
    </p:spTree>
    <p:extLst>
      <p:ext uri="{BB962C8B-B14F-4D97-AF65-F5344CB8AC3E}">
        <p14:creationId xmlns:p14="http://schemas.microsoft.com/office/powerpoint/2010/main" val="1300781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68A4D26A-9587-4595-8C2C-1BFCC16BA051}"/>
              </a:ext>
            </a:extLst>
          </p:cNvPr>
          <p:cNvPicPr>
            <a:picLocks noGrp="1" noChangeAspect="1"/>
          </p:cNvPicPr>
          <p:nvPr>
            <p:ph idx="4294967295"/>
          </p:nvPr>
        </p:nvPicPr>
        <p:blipFill>
          <a:blip r:embed="rId2"/>
          <a:stretch>
            <a:fillRect/>
          </a:stretch>
        </p:blipFill>
        <p:spPr>
          <a:xfrm>
            <a:off x="715992" y="336430"/>
            <a:ext cx="9817100" cy="5695950"/>
          </a:xfrm>
        </p:spPr>
      </p:pic>
      <p:pic>
        <p:nvPicPr>
          <p:cNvPr id="2" name="Рисунок 1">
            <a:extLst>
              <a:ext uri="{FF2B5EF4-FFF2-40B4-BE49-F238E27FC236}">
                <a16:creationId xmlns:a16="http://schemas.microsoft.com/office/drawing/2014/main" id="{24869B32-4E5D-5751-F84B-74D4C4126936}"/>
              </a:ext>
            </a:extLst>
          </p:cNvPr>
          <p:cNvPicPr>
            <a:picLocks noChangeAspect="1"/>
          </p:cNvPicPr>
          <p:nvPr/>
        </p:nvPicPr>
        <p:blipFill>
          <a:blip r:embed="rId3"/>
          <a:stretch>
            <a:fillRect/>
          </a:stretch>
        </p:blipFill>
        <p:spPr>
          <a:xfrm>
            <a:off x="10942212" y="72829"/>
            <a:ext cx="1249788" cy="829128"/>
          </a:xfrm>
          <a:prstGeom prst="rect">
            <a:avLst/>
          </a:prstGeom>
        </p:spPr>
      </p:pic>
    </p:spTree>
    <p:extLst>
      <p:ext uri="{BB962C8B-B14F-4D97-AF65-F5344CB8AC3E}">
        <p14:creationId xmlns:p14="http://schemas.microsoft.com/office/powerpoint/2010/main" val="3204116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F90FB1B5-043F-0967-56E3-711067BAF578}"/>
              </a:ext>
            </a:extLst>
          </p:cNvPr>
          <p:cNvPicPr>
            <a:picLocks noChangeAspect="1"/>
          </p:cNvPicPr>
          <p:nvPr/>
        </p:nvPicPr>
        <p:blipFill>
          <a:blip r:embed="rId2"/>
          <a:stretch>
            <a:fillRect/>
          </a:stretch>
        </p:blipFill>
        <p:spPr>
          <a:xfrm>
            <a:off x="2947493" y="2115084"/>
            <a:ext cx="5870957" cy="2438611"/>
          </a:xfrm>
          <a:prstGeom prst="rect">
            <a:avLst/>
          </a:prstGeom>
        </p:spPr>
      </p:pic>
      <p:sp>
        <p:nvSpPr>
          <p:cNvPr id="7" name="Виноска: вигнута лінія 6">
            <a:extLst>
              <a:ext uri="{FF2B5EF4-FFF2-40B4-BE49-F238E27FC236}">
                <a16:creationId xmlns:a16="http://schemas.microsoft.com/office/drawing/2014/main" id="{DD291F75-D7CD-4E39-EFF1-5B67D6BFEAA0}"/>
              </a:ext>
            </a:extLst>
          </p:cNvPr>
          <p:cNvSpPr/>
          <p:nvPr/>
        </p:nvSpPr>
        <p:spPr>
          <a:xfrm>
            <a:off x="8146184" y="1161051"/>
            <a:ext cx="2978869" cy="516823"/>
          </a:xfrm>
          <a:prstGeom prst="borderCallout2">
            <a:avLst>
              <a:gd name="adj1" fmla="val 18750"/>
              <a:gd name="adj2" fmla="val -8333"/>
              <a:gd name="adj3" fmla="val 18750"/>
              <a:gd name="adj4" fmla="val -16667"/>
              <a:gd name="adj5" fmla="val 185315"/>
              <a:gd name="adj6" fmla="val -4567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Рисунок 10">
            <a:extLst>
              <a:ext uri="{FF2B5EF4-FFF2-40B4-BE49-F238E27FC236}">
                <a16:creationId xmlns:a16="http://schemas.microsoft.com/office/drawing/2014/main" id="{E76EE4A1-4C61-C36C-2ACA-2C5ED12B0C4C}"/>
              </a:ext>
            </a:extLst>
          </p:cNvPr>
          <p:cNvPicPr>
            <a:picLocks noChangeAspect="1"/>
          </p:cNvPicPr>
          <p:nvPr/>
        </p:nvPicPr>
        <p:blipFill>
          <a:blip r:embed="rId3"/>
          <a:srcRect l="-32" t="3432" r="86677" b="69199"/>
          <a:stretch>
            <a:fillRect/>
          </a:stretch>
        </p:blipFill>
        <p:spPr>
          <a:xfrm>
            <a:off x="11243884" y="1161050"/>
            <a:ext cx="573039" cy="487279"/>
          </a:xfrm>
          <a:prstGeom prst="rect">
            <a:avLst/>
          </a:prstGeom>
        </p:spPr>
      </p:pic>
      <p:pic>
        <p:nvPicPr>
          <p:cNvPr id="12" name="Рисунок 11">
            <a:extLst>
              <a:ext uri="{FF2B5EF4-FFF2-40B4-BE49-F238E27FC236}">
                <a16:creationId xmlns:a16="http://schemas.microsoft.com/office/drawing/2014/main" id="{04FB2017-C799-571E-7FC3-09495A76CD58}"/>
              </a:ext>
            </a:extLst>
          </p:cNvPr>
          <p:cNvPicPr>
            <a:picLocks noChangeAspect="1"/>
          </p:cNvPicPr>
          <p:nvPr/>
        </p:nvPicPr>
        <p:blipFill>
          <a:blip r:embed="rId3"/>
          <a:srcRect l="3137" t="68069" r="89628" b="3744"/>
          <a:stretch>
            <a:fillRect/>
          </a:stretch>
        </p:blipFill>
        <p:spPr>
          <a:xfrm>
            <a:off x="344129" y="4894965"/>
            <a:ext cx="536794" cy="867803"/>
          </a:xfrm>
          <a:prstGeom prst="rect">
            <a:avLst/>
          </a:prstGeom>
        </p:spPr>
      </p:pic>
      <p:pic>
        <p:nvPicPr>
          <p:cNvPr id="13" name="Рисунок 12">
            <a:extLst>
              <a:ext uri="{FF2B5EF4-FFF2-40B4-BE49-F238E27FC236}">
                <a16:creationId xmlns:a16="http://schemas.microsoft.com/office/drawing/2014/main" id="{6D059A22-CFF1-5B92-B72E-5319530BA49F}"/>
              </a:ext>
            </a:extLst>
          </p:cNvPr>
          <p:cNvPicPr>
            <a:picLocks noChangeAspect="1"/>
          </p:cNvPicPr>
          <p:nvPr/>
        </p:nvPicPr>
        <p:blipFill>
          <a:blip r:embed="rId4">
            <a:extLst>
              <a:ext uri="{28A0092B-C50C-407E-A947-70E740481C1C}">
                <a14:useLocalDpi xmlns:a14="http://schemas.microsoft.com/office/drawing/2010/main" val="0"/>
              </a:ext>
            </a:extLst>
          </a:blip>
          <a:srcRect l="91238" t="65482" r="1182" b="3538"/>
          <a:stretch>
            <a:fillRect/>
          </a:stretch>
        </p:blipFill>
        <p:spPr>
          <a:xfrm>
            <a:off x="11425699" y="4629980"/>
            <a:ext cx="550607" cy="933846"/>
          </a:xfrm>
          <a:prstGeom prst="rect">
            <a:avLst/>
          </a:prstGeom>
        </p:spPr>
      </p:pic>
      <p:pic>
        <p:nvPicPr>
          <p:cNvPr id="3" name="Рисунок 2">
            <a:extLst>
              <a:ext uri="{FF2B5EF4-FFF2-40B4-BE49-F238E27FC236}">
                <a16:creationId xmlns:a16="http://schemas.microsoft.com/office/drawing/2014/main" id="{54370207-4110-88F9-185E-781D8753ED09}"/>
              </a:ext>
            </a:extLst>
          </p:cNvPr>
          <p:cNvPicPr>
            <a:picLocks noChangeAspect="1"/>
          </p:cNvPicPr>
          <p:nvPr/>
        </p:nvPicPr>
        <p:blipFill>
          <a:blip r:embed="rId4">
            <a:extLst>
              <a:ext uri="{28A0092B-C50C-407E-A947-70E740481C1C}">
                <a14:useLocalDpi xmlns:a14="http://schemas.microsoft.com/office/drawing/2010/main" val="0"/>
              </a:ext>
            </a:extLst>
          </a:blip>
          <a:srcRect l="89695" b="63426"/>
          <a:stretch>
            <a:fillRect/>
          </a:stretch>
        </p:blipFill>
        <p:spPr>
          <a:xfrm>
            <a:off x="87784" y="1062481"/>
            <a:ext cx="512690" cy="755014"/>
          </a:xfrm>
          <a:prstGeom prst="rect">
            <a:avLst/>
          </a:prstGeom>
        </p:spPr>
      </p:pic>
      <p:sp>
        <p:nvSpPr>
          <p:cNvPr id="16" name="TextBox 15">
            <a:extLst>
              <a:ext uri="{FF2B5EF4-FFF2-40B4-BE49-F238E27FC236}">
                <a16:creationId xmlns:a16="http://schemas.microsoft.com/office/drawing/2014/main" id="{86781ED6-F177-1DD7-BCAE-BDB1F183D362}"/>
              </a:ext>
            </a:extLst>
          </p:cNvPr>
          <p:cNvSpPr txBox="1"/>
          <p:nvPr/>
        </p:nvSpPr>
        <p:spPr>
          <a:xfrm>
            <a:off x="880923" y="1241291"/>
            <a:ext cx="280984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Крок 1: ПІДГОТОВКА</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Виноска: вигнута лінія 18">
            <a:extLst>
              <a:ext uri="{FF2B5EF4-FFF2-40B4-BE49-F238E27FC236}">
                <a16:creationId xmlns:a16="http://schemas.microsoft.com/office/drawing/2014/main" id="{CF8EE5F4-3EC7-E10D-490A-B5E110EBFF5D}"/>
              </a:ext>
            </a:extLst>
          </p:cNvPr>
          <p:cNvSpPr/>
          <p:nvPr/>
        </p:nvSpPr>
        <p:spPr>
          <a:xfrm flipH="1">
            <a:off x="737354" y="1181577"/>
            <a:ext cx="2713558" cy="516823"/>
          </a:xfrm>
          <a:prstGeom prst="borderCallout2">
            <a:avLst>
              <a:gd name="adj1" fmla="val 18750"/>
              <a:gd name="adj2" fmla="val -8333"/>
              <a:gd name="adj3" fmla="val 18750"/>
              <a:gd name="adj4" fmla="val -16667"/>
              <a:gd name="adj5" fmla="val 185315"/>
              <a:gd name="adj6" fmla="val -4567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AC800D2A-5BAA-AA05-461B-9C8494DB7D9B}"/>
              </a:ext>
            </a:extLst>
          </p:cNvPr>
          <p:cNvSpPr txBox="1"/>
          <p:nvPr/>
        </p:nvSpPr>
        <p:spPr>
          <a:xfrm>
            <a:off x="8619923" y="1241291"/>
            <a:ext cx="25842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Крок 2: ЗБІР ЗРАЗКА</a:t>
            </a:r>
          </a:p>
        </p:txBody>
      </p:sp>
      <p:sp>
        <p:nvSpPr>
          <p:cNvPr id="22" name="Виноска: вигнута лінія 21">
            <a:extLst>
              <a:ext uri="{FF2B5EF4-FFF2-40B4-BE49-F238E27FC236}">
                <a16:creationId xmlns:a16="http://schemas.microsoft.com/office/drawing/2014/main" id="{FA10E84B-A0D2-D942-AABA-4F0A0093CC38}"/>
              </a:ext>
            </a:extLst>
          </p:cNvPr>
          <p:cNvSpPr/>
          <p:nvPr/>
        </p:nvSpPr>
        <p:spPr>
          <a:xfrm flipV="1">
            <a:off x="7957978" y="5033284"/>
            <a:ext cx="3285906" cy="496571"/>
          </a:xfrm>
          <a:prstGeom prst="borderCallout2">
            <a:avLst>
              <a:gd name="adj1" fmla="val 18750"/>
              <a:gd name="adj2" fmla="val -8333"/>
              <a:gd name="adj3" fmla="val 18750"/>
              <a:gd name="adj4" fmla="val -16667"/>
              <a:gd name="adj5" fmla="val 185315"/>
              <a:gd name="adj6" fmla="val -4567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Виноска: вигнута лінія 22">
            <a:extLst>
              <a:ext uri="{FF2B5EF4-FFF2-40B4-BE49-F238E27FC236}">
                <a16:creationId xmlns:a16="http://schemas.microsoft.com/office/drawing/2014/main" id="{934671FF-5F68-CA33-3C43-ECB4B66F13C8}"/>
              </a:ext>
            </a:extLst>
          </p:cNvPr>
          <p:cNvSpPr/>
          <p:nvPr/>
        </p:nvSpPr>
        <p:spPr>
          <a:xfrm flipH="1" flipV="1">
            <a:off x="1157129" y="5159601"/>
            <a:ext cx="3018806" cy="516822"/>
          </a:xfrm>
          <a:prstGeom prst="borderCallout2">
            <a:avLst>
              <a:gd name="adj1" fmla="val 18750"/>
              <a:gd name="adj2" fmla="val -8333"/>
              <a:gd name="adj3" fmla="val 18750"/>
              <a:gd name="adj4" fmla="val -16667"/>
              <a:gd name="adj5" fmla="val 185315"/>
              <a:gd name="adj6" fmla="val -4567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CA4526A0-A39C-FF18-0281-250C0D52524C}"/>
              </a:ext>
            </a:extLst>
          </p:cNvPr>
          <p:cNvSpPr txBox="1"/>
          <p:nvPr/>
        </p:nvSpPr>
        <p:spPr>
          <a:xfrm>
            <a:off x="8384012" y="5096903"/>
            <a:ext cx="346385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Крок 4: РЕЗУЛЬТАТ</a:t>
            </a:r>
          </a:p>
        </p:txBody>
      </p:sp>
      <p:sp>
        <p:nvSpPr>
          <p:cNvPr id="27" name="TextBox 26">
            <a:extLst>
              <a:ext uri="{FF2B5EF4-FFF2-40B4-BE49-F238E27FC236}">
                <a16:creationId xmlns:a16="http://schemas.microsoft.com/office/drawing/2014/main" id="{A114C0DE-7916-A358-88B8-B3F7C577E0EA}"/>
              </a:ext>
            </a:extLst>
          </p:cNvPr>
          <p:cNvSpPr txBox="1"/>
          <p:nvPr/>
        </p:nvSpPr>
        <p:spPr>
          <a:xfrm>
            <a:off x="1346060" y="5181826"/>
            <a:ext cx="263426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Крок 3: ТЕСТУВАННЯ</a:t>
            </a:r>
          </a:p>
        </p:txBody>
      </p:sp>
      <p:cxnSp>
        <p:nvCxnSpPr>
          <p:cNvPr id="29" name="Пряма зі стрілкою 28">
            <a:extLst>
              <a:ext uri="{FF2B5EF4-FFF2-40B4-BE49-F238E27FC236}">
                <a16:creationId xmlns:a16="http://schemas.microsoft.com/office/drawing/2014/main" id="{79310B4A-FA8C-A145-7150-FA048A525DE8}"/>
              </a:ext>
            </a:extLst>
          </p:cNvPr>
          <p:cNvCxnSpPr>
            <a:cxnSpLocks/>
          </p:cNvCxnSpPr>
          <p:nvPr/>
        </p:nvCxnSpPr>
        <p:spPr>
          <a:xfrm>
            <a:off x="2450826" y="1758114"/>
            <a:ext cx="4938871" cy="3952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2" name="Рисунок 31">
            <a:extLst>
              <a:ext uri="{FF2B5EF4-FFF2-40B4-BE49-F238E27FC236}">
                <a16:creationId xmlns:a16="http://schemas.microsoft.com/office/drawing/2014/main" id="{210C0767-4243-1B6B-14D5-F41DB4C3723A}"/>
              </a:ext>
            </a:extLst>
          </p:cNvPr>
          <p:cNvPicPr>
            <a:picLocks noChangeAspect="1"/>
          </p:cNvPicPr>
          <p:nvPr/>
        </p:nvPicPr>
        <p:blipFill>
          <a:blip r:embed="rId5"/>
          <a:stretch>
            <a:fillRect/>
          </a:stretch>
        </p:blipFill>
        <p:spPr>
          <a:xfrm>
            <a:off x="1157129" y="-35454"/>
            <a:ext cx="9150663" cy="1001257"/>
          </a:xfrm>
          <a:prstGeom prst="rect">
            <a:avLst/>
          </a:prstGeom>
        </p:spPr>
      </p:pic>
      <p:sp>
        <p:nvSpPr>
          <p:cNvPr id="33" name="Бульбашка думок: хмарка 32">
            <a:extLst>
              <a:ext uri="{FF2B5EF4-FFF2-40B4-BE49-F238E27FC236}">
                <a16:creationId xmlns:a16="http://schemas.microsoft.com/office/drawing/2014/main" id="{8456F3D2-29D7-4EF8-4681-34E016C8F488}"/>
              </a:ext>
            </a:extLst>
          </p:cNvPr>
          <p:cNvSpPr/>
          <p:nvPr/>
        </p:nvSpPr>
        <p:spPr>
          <a:xfrm>
            <a:off x="6893029" y="2010693"/>
            <a:ext cx="5083277" cy="1115962"/>
          </a:xfrm>
          <a:prstGeom prst="cloudCallou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1D8EB264-89A2-7305-8F3E-801491A87041}"/>
              </a:ext>
            </a:extLst>
          </p:cNvPr>
          <p:cNvSpPr txBox="1"/>
          <p:nvPr/>
        </p:nvSpPr>
        <p:spPr>
          <a:xfrm>
            <a:off x="8000032" y="2323685"/>
            <a:ext cx="31250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Місце встановлення пробірки </a:t>
            </a:r>
          </a:p>
        </p:txBody>
      </p:sp>
    </p:spTree>
    <p:extLst>
      <p:ext uri="{BB962C8B-B14F-4D97-AF65-F5344CB8AC3E}">
        <p14:creationId xmlns:p14="http://schemas.microsoft.com/office/powerpoint/2010/main" val="354108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heel(1)">
                                      <p:cBhvr>
                                        <p:cTn id="7" dur="2000"/>
                                        <p:tgtEl>
                                          <p:spTgt spid="16">
                                            <p:txEl>
                                              <p:pRg st="0" end="0"/>
                                            </p:txEl>
                                          </p:spTgt>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heel(1)">
                                      <p:cBhvr>
                                        <p:cTn id="10" dur="20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anim calcmode="lin" valueType="num">
                                      <p:cBhvr>
                                        <p:cTn id="16" dur="2000" fill="hold"/>
                                        <p:tgtEl>
                                          <p:spTgt spid="3"/>
                                        </p:tgtEl>
                                        <p:attrNameLst>
                                          <p:attrName>ppt_w</p:attrName>
                                        </p:attrNameLst>
                                      </p:cBhvr>
                                      <p:tavLst>
                                        <p:tav tm="0" fmla="#ppt_w*sin(2.5*pi*$)">
                                          <p:val>
                                            <p:fltVal val="0"/>
                                          </p:val>
                                        </p:tav>
                                        <p:tav tm="100000">
                                          <p:val>
                                            <p:fltVal val="1"/>
                                          </p:val>
                                        </p:tav>
                                      </p:tavLst>
                                    </p:anim>
                                    <p:anim calcmode="lin" valueType="num">
                                      <p:cBhvr>
                                        <p:cTn id="17"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randombar(horizontal)">
                                      <p:cBhvr>
                                        <p:cTn id="22" dur="500"/>
                                        <p:tgtEl>
                                          <p:spTgt spid="29"/>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randombar(horizontal)">
                                      <p:cBhvr>
                                        <p:cTn id="25" dur="500"/>
                                        <p:tgtEl>
                                          <p:spTgt spid="33"/>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randombar(horizontal)">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circle(in)">
                                      <p:cBhvr>
                                        <p:cTn id="33" dur="2000"/>
                                        <p:tgtEl>
                                          <p:spTgt spid="7"/>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circle(in)">
                                      <p:cBhvr>
                                        <p:cTn id="36" dur="20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80">
                                          <p:stCondLst>
                                            <p:cond delay="0"/>
                                          </p:stCondLst>
                                        </p:cTn>
                                        <p:tgtEl>
                                          <p:spTgt spid="11"/>
                                        </p:tgtEl>
                                      </p:cBhvr>
                                    </p:animEffect>
                                    <p:anim calcmode="lin" valueType="num">
                                      <p:cBhvr>
                                        <p:cTn id="4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7" dur="26">
                                          <p:stCondLst>
                                            <p:cond delay="650"/>
                                          </p:stCondLst>
                                        </p:cTn>
                                        <p:tgtEl>
                                          <p:spTgt spid="11"/>
                                        </p:tgtEl>
                                      </p:cBhvr>
                                      <p:to x="100000" y="60000"/>
                                    </p:animScale>
                                    <p:animScale>
                                      <p:cBhvr>
                                        <p:cTn id="48" dur="166" decel="50000">
                                          <p:stCondLst>
                                            <p:cond delay="676"/>
                                          </p:stCondLst>
                                        </p:cTn>
                                        <p:tgtEl>
                                          <p:spTgt spid="11"/>
                                        </p:tgtEl>
                                      </p:cBhvr>
                                      <p:to x="100000" y="100000"/>
                                    </p:animScale>
                                    <p:animScale>
                                      <p:cBhvr>
                                        <p:cTn id="49" dur="26">
                                          <p:stCondLst>
                                            <p:cond delay="1312"/>
                                          </p:stCondLst>
                                        </p:cTn>
                                        <p:tgtEl>
                                          <p:spTgt spid="11"/>
                                        </p:tgtEl>
                                      </p:cBhvr>
                                      <p:to x="100000" y="80000"/>
                                    </p:animScale>
                                    <p:animScale>
                                      <p:cBhvr>
                                        <p:cTn id="50" dur="166" decel="50000">
                                          <p:stCondLst>
                                            <p:cond delay="1338"/>
                                          </p:stCondLst>
                                        </p:cTn>
                                        <p:tgtEl>
                                          <p:spTgt spid="11"/>
                                        </p:tgtEl>
                                      </p:cBhvr>
                                      <p:to x="100000" y="100000"/>
                                    </p:animScale>
                                    <p:animScale>
                                      <p:cBhvr>
                                        <p:cTn id="51" dur="26">
                                          <p:stCondLst>
                                            <p:cond delay="1642"/>
                                          </p:stCondLst>
                                        </p:cTn>
                                        <p:tgtEl>
                                          <p:spTgt spid="11"/>
                                        </p:tgtEl>
                                      </p:cBhvr>
                                      <p:to x="100000" y="90000"/>
                                    </p:animScale>
                                    <p:animScale>
                                      <p:cBhvr>
                                        <p:cTn id="52" dur="166" decel="50000">
                                          <p:stCondLst>
                                            <p:cond delay="1668"/>
                                          </p:stCondLst>
                                        </p:cTn>
                                        <p:tgtEl>
                                          <p:spTgt spid="11"/>
                                        </p:tgtEl>
                                      </p:cBhvr>
                                      <p:to x="100000" y="100000"/>
                                    </p:animScale>
                                    <p:animScale>
                                      <p:cBhvr>
                                        <p:cTn id="53" dur="26">
                                          <p:stCondLst>
                                            <p:cond delay="1808"/>
                                          </p:stCondLst>
                                        </p:cTn>
                                        <p:tgtEl>
                                          <p:spTgt spid="11"/>
                                        </p:tgtEl>
                                      </p:cBhvr>
                                      <p:to x="100000" y="95000"/>
                                    </p:animScale>
                                    <p:animScale>
                                      <p:cBhvr>
                                        <p:cTn id="54" dur="166" decel="50000">
                                          <p:stCondLst>
                                            <p:cond delay="1834"/>
                                          </p:stCondLst>
                                        </p:cTn>
                                        <p:tgtEl>
                                          <p:spTgt spid="11"/>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 calcmode="lin" valueType="num">
                                      <p:cBhvr>
                                        <p:cTn id="67" dur="500" fill="hold"/>
                                        <p:tgtEl>
                                          <p:spTgt spid="12"/>
                                        </p:tgtEl>
                                        <p:attrNameLst>
                                          <p:attrName>ppt_w</p:attrName>
                                        </p:attrNameLst>
                                      </p:cBhvr>
                                      <p:tavLst>
                                        <p:tav tm="0">
                                          <p:val>
                                            <p:fltVal val="0"/>
                                          </p:val>
                                        </p:tav>
                                        <p:tav tm="100000">
                                          <p:val>
                                            <p:strVal val="#ppt_w"/>
                                          </p:val>
                                        </p:tav>
                                      </p:tavLst>
                                    </p:anim>
                                    <p:anim calcmode="lin" valueType="num">
                                      <p:cBhvr>
                                        <p:cTn id="68" dur="500" fill="hold"/>
                                        <p:tgtEl>
                                          <p:spTgt spid="12"/>
                                        </p:tgtEl>
                                        <p:attrNameLst>
                                          <p:attrName>ppt_h</p:attrName>
                                        </p:attrNameLst>
                                      </p:cBhvr>
                                      <p:tavLst>
                                        <p:tav tm="0">
                                          <p:val>
                                            <p:fltVal val="0"/>
                                          </p:val>
                                        </p:tav>
                                        <p:tav tm="100000">
                                          <p:val>
                                            <p:strVal val="#ppt_h"/>
                                          </p:val>
                                        </p:tav>
                                      </p:tavLst>
                                    </p:anim>
                                    <p:animEffect transition="in" filter="fade">
                                      <p:cBhvr>
                                        <p:cTn id="69" dur="500"/>
                                        <p:tgtEl>
                                          <p:spTgt spid="1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wipe(down)">
                                      <p:cBhvr>
                                        <p:cTn id="74" dur="500"/>
                                        <p:tgtEl>
                                          <p:spTgt spid="22"/>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wipe(down)">
                                      <p:cBhvr>
                                        <p:cTn id="77" dur="5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26" presetClass="entr" presetSubtype="0" fill="hold" nodeType="click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wipe(down)">
                                      <p:cBhvr>
                                        <p:cTn id="82" dur="580">
                                          <p:stCondLst>
                                            <p:cond delay="0"/>
                                          </p:stCondLst>
                                        </p:cTn>
                                        <p:tgtEl>
                                          <p:spTgt spid="13"/>
                                        </p:tgtEl>
                                      </p:cBhvr>
                                    </p:animEffect>
                                    <p:anim calcmode="lin" valueType="num">
                                      <p:cBhvr>
                                        <p:cTn id="83"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84"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85"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86"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87"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88" dur="26">
                                          <p:stCondLst>
                                            <p:cond delay="650"/>
                                          </p:stCondLst>
                                        </p:cTn>
                                        <p:tgtEl>
                                          <p:spTgt spid="13"/>
                                        </p:tgtEl>
                                      </p:cBhvr>
                                      <p:to x="100000" y="60000"/>
                                    </p:animScale>
                                    <p:animScale>
                                      <p:cBhvr>
                                        <p:cTn id="89" dur="166" decel="50000">
                                          <p:stCondLst>
                                            <p:cond delay="676"/>
                                          </p:stCondLst>
                                        </p:cTn>
                                        <p:tgtEl>
                                          <p:spTgt spid="13"/>
                                        </p:tgtEl>
                                      </p:cBhvr>
                                      <p:to x="100000" y="100000"/>
                                    </p:animScale>
                                    <p:animScale>
                                      <p:cBhvr>
                                        <p:cTn id="90" dur="26">
                                          <p:stCondLst>
                                            <p:cond delay="1312"/>
                                          </p:stCondLst>
                                        </p:cTn>
                                        <p:tgtEl>
                                          <p:spTgt spid="13"/>
                                        </p:tgtEl>
                                      </p:cBhvr>
                                      <p:to x="100000" y="80000"/>
                                    </p:animScale>
                                    <p:animScale>
                                      <p:cBhvr>
                                        <p:cTn id="91" dur="166" decel="50000">
                                          <p:stCondLst>
                                            <p:cond delay="1338"/>
                                          </p:stCondLst>
                                        </p:cTn>
                                        <p:tgtEl>
                                          <p:spTgt spid="13"/>
                                        </p:tgtEl>
                                      </p:cBhvr>
                                      <p:to x="100000" y="100000"/>
                                    </p:animScale>
                                    <p:animScale>
                                      <p:cBhvr>
                                        <p:cTn id="92" dur="26">
                                          <p:stCondLst>
                                            <p:cond delay="1642"/>
                                          </p:stCondLst>
                                        </p:cTn>
                                        <p:tgtEl>
                                          <p:spTgt spid="13"/>
                                        </p:tgtEl>
                                      </p:cBhvr>
                                      <p:to x="100000" y="90000"/>
                                    </p:animScale>
                                    <p:animScale>
                                      <p:cBhvr>
                                        <p:cTn id="93" dur="166" decel="50000">
                                          <p:stCondLst>
                                            <p:cond delay="1668"/>
                                          </p:stCondLst>
                                        </p:cTn>
                                        <p:tgtEl>
                                          <p:spTgt spid="13"/>
                                        </p:tgtEl>
                                      </p:cBhvr>
                                      <p:to x="100000" y="100000"/>
                                    </p:animScale>
                                    <p:animScale>
                                      <p:cBhvr>
                                        <p:cTn id="94" dur="26">
                                          <p:stCondLst>
                                            <p:cond delay="1808"/>
                                          </p:stCondLst>
                                        </p:cTn>
                                        <p:tgtEl>
                                          <p:spTgt spid="13"/>
                                        </p:tgtEl>
                                      </p:cBhvr>
                                      <p:to x="100000" y="95000"/>
                                    </p:animScale>
                                    <p:animScale>
                                      <p:cBhvr>
                                        <p:cTn id="95" dur="166" decel="50000">
                                          <p:stCondLst>
                                            <p:cond delay="1834"/>
                                          </p:stCondLst>
                                        </p:cTn>
                                        <p:tgtEl>
                                          <p:spTgt spid="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build="allAtOnce"/>
      <p:bldP spid="19" grpId="0" animBg="1"/>
      <p:bldP spid="21" grpId="0"/>
      <p:bldP spid="22" grpId="0" animBg="1"/>
      <p:bldP spid="23" grpId="0" animBg="1"/>
      <p:bldP spid="25" grpId="0"/>
      <p:bldP spid="27" grpId="0"/>
      <p:bldP spid="33" grpId="0" animBg="1"/>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B425C96B-38DE-DCBD-10DF-40CEAA216F98}"/>
              </a:ext>
            </a:extLst>
          </p:cNvPr>
          <p:cNvPicPr>
            <a:picLocks noChangeAspect="1"/>
          </p:cNvPicPr>
          <p:nvPr/>
        </p:nvPicPr>
        <p:blipFill>
          <a:blip r:embed="rId2"/>
          <a:stretch>
            <a:fillRect/>
          </a:stretch>
        </p:blipFill>
        <p:spPr>
          <a:xfrm>
            <a:off x="192515" y="1125414"/>
            <a:ext cx="5295393" cy="3715123"/>
          </a:xfrm>
          <a:prstGeom prst="rect">
            <a:avLst/>
          </a:prstGeom>
        </p:spPr>
      </p:pic>
      <p:sp>
        <p:nvSpPr>
          <p:cNvPr id="7" name="TextBox 6">
            <a:extLst>
              <a:ext uri="{FF2B5EF4-FFF2-40B4-BE49-F238E27FC236}">
                <a16:creationId xmlns:a16="http://schemas.microsoft.com/office/drawing/2014/main" id="{62B75412-7A71-2B0D-F674-D2F243F8634C}"/>
              </a:ext>
            </a:extLst>
          </p:cNvPr>
          <p:cNvSpPr txBox="1"/>
          <p:nvPr/>
        </p:nvSpPr>
        <p:spPr>
          <a:xfrm>
            <a:off x="5673969" y="1651563"/>
            <a:ext cx="6392985" cy="42473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Приготування розчину:</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Додати 6 крапель Реагенту 1 (червоний) у пробірку</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.Додати 6 крапель Реагенту 2 (безбарвний).Індикатор: Колір має змінитись із червоного на жовтий.</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Екстракція антигену:</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Помістити тампон у пробірку, енергійно обертати 15 разів.</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Залишити тампон у пробірці на 1 хв.</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Віджати тампон об стінки пробірки та утилізувати його.</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Тестування:</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Одягнути наконечник-</a:t>
            </a:r>
            <a:r>
              <a:rPr kumimoji="0" lang="uk-UA" sz="1800" b="0" i="0" u="none" strike="noStrike" kern="1200" cap="none" spc="0" normalizeH="0" baseline="0" noProof="0" dirty="0" err="1">
                <a:ln>
                  <a:noFill/>
                </a:ln>
                <a:solidFill>
                  <a:prstClr val="black"/>
                </a:solidFill>
                <a:effectLst/>
                <a:uLnTx/>
                <a:uFillTx/>
                <a:latin typeface="Calibri" panose="020F0502020204030204"/>
                <a:ea typeface="+mn-ea"/>
                <a:cs typeface="+mn-cs"/>
              </a:rPr>
              <a:t>піпетку.Додати</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 3 краплі розчину в лунку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 </a:t>
            </a:r>
            <a:r>
              <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rPr>
              <a:t>на касеті.</a:t>
            </a: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1" i="0" u="none" strike="noStrike" kern="1200" cap="none" spc="0" normalizeH="0" baseline="0" noProof="0" dirty="0" err="1">
                <a:ln>
                  <a:noFill/>
                </a:ln>
                <a:solidFill>
                  <a:prstClr val="black"/>
                </a:solidFill>
                <a:effectLst/>
                <a:uLnTx/>
                <a:uFillTx/>
                <a:latin typeface="Calibri" panose="020F0502020204030204"/>
                <a:ea typeface="+mn-ea"/>
                <a:cs typeface="+mn-cs"/>
              </a:rPr>
              <a:t>Інтерпретація</a:t>
            </a: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1" i="0" u="none" strike="noStrike" kern="1200" cap="none" spc="0" normalizeH="0" baseline="0" noProof="0" dirty="0" err="1">
                <a:ln>
                  <a:noFill/>
                </a:ln>
                <a:solidFill>
                  <a:prstClr val="black"/>
                </a:solidFill>
                <a:effectLst/>
                <a:uLnTx/>
                <a:uFillTx/>
                <a:latin typeface="Calibri" panose="020F0502020204030204"/>
                <a:ea typeface="+mn-ea"/>
                <a:cs typeface="+mn-cs"/>
              </a:rPr>
              <a:t>результатів</a:t>
            </a:r>
            <a:endPar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Час </a:t>
            </a:r>
            <a:r>
              <a:rPr kumimoji="0" lang="ru-RU" sz="1800" b="1" i="0" u="none" strike="noStrike" kern="1200" cap="none" spc="0" normalizeH="0" baseline="0" noProof="0" dirty="0" err="1">
                <a:ln>
                  <a:noFill/>
                </a:ln>
                <a:solidFill>
                  <a:prstClr val="black"/>
                </a:solidFill>
                <a:effectLst/>
                <a:uLnTx/>
                <a:uFillTx/>
                <a:latin typeface="Calibri" panose="020F0502020204030204"/>
                <a:ea typeface="+mn-ea"/>
                <a:cs typeface="+mn-cs"/>
              </a:rPr>
              <a:t>зчитування</a:t>
            </a: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Рівно</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через </a:t>
            </a: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5 </a:t>
            </a:r>
            <a:r>
              <a:rPr kumimoji="0" lang="ru-RU" sz="1800" b="1" i="0" u="none" strike="noStrike" kern="1200" cap="none" spc="0" normalizeH="0" baseline="0" noProof="0" dirty="0" err="1">
                <a:ln>
                  <a:noFill/>
                </a:ln>
                <a:solidFill>
                  <a:prstClr val="black"/>
                </a:solidFill>
                <a:effectLst/>
                <a:uLnTx/>
                <a:uFillTx/>
                <a:latin typeface="Calibri" panose="020F0502020204030204"/>
                <a:ea typeface="+mn-ea"/>
                <a:cs typeface="+mn-cs"/>
              </a:rPr>
              <a:t>хвилин</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err="1">
                <a:ln>
                  <a:noFill/>
                </a:ln>
                <a:solidFill>
                  <a:prstClr val="black"/>
                </a:solidFill>
                <a:effectLst/>
                <a:uLnTx/>
                <a:uFillTx/>
                <a:latin typeface="Calibri" panose="020F0502020204030204"/>
                <a:ea typeface="+mn-ea"/>
                <a:cs typeface="+mn-cs"/>
              </a:rPr>
              <a:t>Увага</a:t>
            </a: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Не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враховувати</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результат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після</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10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хвилин</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uk-U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Рисунок 7">
            <a:extLst>
              <a:ext uri="{FF2B5EF4-FFF2-40B4-BE49-F238E27FC236}">
                <a16:creationId xmlns:a16="http://schemas.microsoft.com/office/drawing/2014/main" id="{AA310EFA-292E-6AAE-52D3-A8CE51C31078}"/>
              </a:ext>
            </a:extLst>
          </p:cNvPr>
          <p:cNvPicPr>
            <a:picLocks noChangeAspect="1"/>
          </p:cNvPicPr>
          <p:nvPr/>
        </p:nvPicPr>
        <p:blipFill>
          <a:blip r:embed="rId3"/>
          <a:stretch>
            <a:fillRect/>
          </a:stretch>
        </p:blipFill>
        <p:spPr>
          <a:xfrm>
            <a:off x="691427" y="0"/>
            <a:ext cx="10809145" cy="1182727"/>
          </a:xfrm>
          <a:prstGeom prst="rect">
            <a:avLst/>
          </a:prstGeom>
        </p:spPr>
      </p:pic>
    </p:spTree>
    <p:extLst>
      <p:ext uri="{BB962C8B-B14F-4D97-AF65-F5344CB8AC3E}">
        <p14:creationId xmlns:p14="http://schemas.microsoft.com/office/powerpoint/2010/main" val="675400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Схема 2">
            <a:extLst>
              <a:ext uri="{FF2B5EF4-FFF2-40B4-BE49-F238E27FC236}">
                <a16:creationId xmlns:a16="http://schemas.microsoft.com/office/drawing/2014/main" id="{CDF00D40-2F19-2059-793C-EE9106C5D67F}"/>
              </a:ext>
            </a:extLst>
          </p:cNvPr>
          <p:cNvGraphicFramePr/>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Овал 3">
            <a:extLst>
              <a:ext uri="{FF2B5EF4-FFF2-40B4-BE49-F238E27FC236}">
                <a16:creationId xmlns:a16="http://schemas.microsoft.com/office/drawing/2014/main" id="{8C3AE373-94A1-729E-48C3-AC1F2E419F06}"/>
              </a:ext>
            </a:extLst>
          </p:cNvPr>
          <p:cNvSpPr/>
          <p:nvPr/>
        </p:nvSpPr>
        <p:spPr>
          <a:xfrm>
            <a:off x="134187" y="2159070"/>
            <a:ext cx="2950233" cy="29157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uk-UA" sz="3200" b="1" i="0" u="none" strike="noStrike" kern="1200" cap="none" spc="0" normalizeH="0" baseline="0" noProof="0" dirty="0">
                <a:ln>
                  <a:noFill/>
                </a:ln>
                <a:solidFill>
                  <a:prstClr val="black"/>
                </a:solidFill>
                <a:effectLst/>
                <a:uLnTx/>
                <a:uFillTx/>
                <a:latin typeface="Calibri" panose="020F0502020204030204"/>
                <a:ea typeface="+mn-ea"/>
                <a:cs typeface="+mn-cs"/>
              </a:rPr>
              <a:t>Переваги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CITO TEST STREP </a:t>
            </a:r>
            <a:r>
              <a:rPr kumimoji="0" lang="uk-UA" sz="3200" b="1" i="0" u="none" strike="noStrike" kern="1200" cap="none" spc="0" normalizeH="0" baseline="0" noProof="0" dirty="0">
                <a:ln>
                  <a:noFill/>
                </a:ln>
                <a:solidFill>
                  <a:prstClr val="black"/>
                </a:solidFill>
                <a:effectLst/>
                <a:uLnTx/>
                <a:uFillTx/>
                <a:latin typeface="Calibri" panose="020F0502020204030204"/>
                <a:ea typeface="+mn-ea"/>
                <a:cs typeface="+mn-cs"/>
              </a:rPr>
              <a:t>А</a:t>
            </a:r>
          </a:p>
        </p:txBody>
      </p:sp>
      <p:sp>
        <p:nvSpPr>
          <p:cNvPr id="5" name="Дуга 4">
            <a:extLst>
              <a:ext uri="{FF2B5EF4-FFF2-40B4-BE49-F238E27FC236}">
                <a16:creationId xmlns:a16="http://schemas.microsoft.com/office/drawing/2014/main" id="{963AFB36-AE47-9745-8FC8-FA25275B422A}"/>
              </a:ext>
            </a:extLst>
          </p:cNvPr>
          <p:cNvSpPr/>
          <p:nvPr/>
        </p:nvSpPr>
        <p:spPr>
          <a:xfrm>
            <a:off x="-491228" y="1652462"/>
            <a:ext cx="4201064" cy="5418666"/>
          </a:xfrm>
          <a:prstGeom prst="arc">
            <a:avLst>
              <a:gd name="adj1" fmla="val 16200000"/>
              <a:gd name="adj2" fmla="val 2529782"/>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Виноска: лінія з границею та рискою 12">
            <a:extLst>
              <a:ext uri="{FF2B5EF4-FFF2-40B4-BE49-F238E27FC236}">
                <a16:creationId xmlns:a16="http://schemas.microsoft.com/office/drawing/2014/main" id="{B7A242C3-AB19-CF59-9429-903CC20B6D54}"/>
              </a:ext>
            </a:extLst>
          </p:cNvPr>
          <p:cNvSpPr/>
          <p:nvPr/>
        </p:nvSpPr>
        <p:spPr>
          <a:xfrm>
            <a:off x="3545455" y="150290"/>
            <a:ext cx="4433978" cy="612648"/>
          </a:xfrm>
          <a:prstGeom prst="accentBorderCallout1">
            <a:avLst>
              <a:gd name="adj1" fmla="val 18750"/>
              <a:gd name="adj2" fmla="val -8333"/>
              <a:gd name="adj3" fmla="val 239225"/>
              <a:gd name="adj4" fmla="val -42427"/>
            </a:avLst>
          </a:prstGeom>
          <a:solidFill>
            <a:schemeClr val="accent4">
              <a:lumMod val="20000"/>
              <a:lumOff val="8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95,2</a:t>
            </a:r>
            <a:r>
              <a:rPr kumimoji="0" lang="uk-UA"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1" i="0" u="none" strike="noStrike" kern="1200" cap="none" spc="0" normalizeH="0" baseline="0" noProof="0" dirty="0" err="1">
                <a:ln>
                  <a:noFill/>
                </a:ln>
                <a:solidFill>
                  <a:prstClr val="black"/>
                </a:solidFill>
                <a:effectLst/>
                <a:uLnTx/>
                <a:uFillTx/>
                <a:latin typeface="Calibri" panose="020F0502020204030204"/>
                <a:ea typeface="+mn-ea"/>
                <a:cs typeface="+mn-cs"/>
              </a:rPr>
              <a:t>Висока</a:t>
            </a: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800" b="1" i="0" u="none" strike="noStrike" kern="1200" cap="none" spc="0" normalizeH="0" baseline="0" noProof="0" dirty="0" err="1">
                <a:ln>
                  <a:noFill/>
                </a:ln>
                <a:solidFill>
                  <a:prstClr val="black"/>
                </a:solidFill>
                <a:effectLst/>
                <a:uLnTx/>
                <a:uFillTx/>
                <a:latin typeface="Calibri" panose="020F0502020204030204"/>
                <a:ea typeface="+mn-ea"/>
                <a:cs typeface="+mn-cs"/>
              </a:rPr>
              <a:t>чутливість</a:t>
            </a: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 та </a:t>
            </a:r>
            <a:r>
              <a:rPr kumimoji="0" lang="ru-RU" sz="1800" b="1" i="0" u="none" strike="noStrike" kern="1200" cap="none" spc="0" normalizeH="0" baseline="0" noProof="0" dirty="0" err="1">
                <a:ln>
                  <a:noFill/>
                </a:ln>
                <a:solidFill>
                  <a:prstClr val="black"/>
                </a:solidFill>
                <a:effectLst/>
                <a:uLnTx/>
                <a:uFillTx/>
                <a:latin typeface="Calibri" panose="020F0502020204030204"/>
                <a:ea typeface="+mn-ea"/>
                <a:cs typeface="+mn-cs"/>
              </a:rPr>
              <a:t>специфічність</a:t>
            </a:r>
            <a:r>
              <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uk-UA"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Виноска: лінія з границею та рискою 13">
            <a:extLst>
              <a:ext uri="{FF2B5EF4-FFF2-40B4-BE49-F238E27FC236}">
                <a16:creationId xmlns:a16="http://schemas.microsoft.com/office/drawing/2014/main" id="{A25AB3DA-356E-B813-9F2A-83B47173E591}"/>
              </a:ext>
            </a:extLst>
          </p:cNvPr>
          <p:cNvSpPr/>
          <p:nvPr/>
        </p:nvSpPr>
        <p:spPr>
          <a:xfrm>
            <a:off x="4860264" y="985156"/>
            <a:ext cx="3861759" cy="612648"/>
          </a:xfrm>
          <a:prstGeom prst="accentBorderCallout1">
            <a:avLst>
              <a:gd name="adj1" fmla="val 18750"/>
              <a:gd name="adj2" fmla="val -8333"/>
              <a:gd name="adj3" fmla="val 126581"/>
              <a:gd name="adj4" fmla="val -62660"/>
            </a:avLst>
          </a:prstGeom>
          <a:solidFill>
            <a:schemeClr val="accent4">
              <a:lumMod val="20000"/>
              <a:lumOff val="8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uk-UA" sz="3600" b="0" i="0" u="none" strike="noStrike" kern="1200" cap="none" spc="0" normalizeH="0" baseline="0" noProof="0" dirty="0">
                <a:ln>
                  <a:noFill/>
                </a:ln>
                <a:solidFill>
                  <a:prstClr val="black"/>
                </a:solidFill>
                <a:effectLst/>
                <a:uLnTx/>
                <a:uFillTx/>
                <a:latin typeface="Calibri" panose="020F0502020204030204"/>
                <a:ea typeface="+mn-ea"/>
                <a:cs typeface="+mn-cs"/>
              </a:rPr>
              <a:t>5 хв</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200" b="1" i="0" u="none" strike="noStrike" kern="1200" cap="none" spc="0" normalizeH="0" baseline="0" noProof="0" dirty="0" err="1">
                <a:ln>
                  <a:noFill/>
                </a:ln>
                <a:solidFill>
                  <a:prstClr val="black"/>
                </a:solidFill>
                <a:effectLst/>
                <a:uLnTx/>
                <a:uFillTx/>
                <a:latin typeface="Calibri" panose="020F0502020204030204"/>
                <a:ea typeface="+mn-ea"/>
                <a:cs typeface="+mn-cs"/>
              </a:rPr>
              <a:t>Швидкість</a:t>
            </a:r>
            <a:r>
              <a:rPr kumimoji="0" lang="ru-RU" sz="12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1200" b="1" i="0" u="none" strike="noStrike" kern="1200" cap="none" spc="0" normalizeH="0" baseline="0" noProof="0" dirty="0" err="1">
                <a:ln>
                  <a:noFill/>
                </a:ln>
                <a:solidFill>
                  <a:prstClr val="black"/>
                </a:solidFill>
                <a:effectLst/>
                <a:uLnTx/>
                <a:uFillTx/>
                <a:latin typeface="Calibri" panose="020F0502020204030204"/>
                <a:ea typeface="+mn-ea"/>
                <a:cs typeface="+mn-cs"/>
              </a:rPr>
              <a:t>отримання</a:t>
            </a:r>
            <a:r>
              <a:rPr kumimoji="0" lang="ru-RU" sz="1200" b="1" i="0" u="none" strike="noStrike" kern="1200" cap="none" spc="0" normalizeH="0" baseline="0" noProof="0" dirty="0">
                <a:ln>
                  <a:noFill/>
                </a:ln>
                <a:solidFill>
                  <a:prstClr val="black"/>
                </a:solidFill>
                <a:effectLst/>
                <a:uLnTx/>
                <a:uFillTx/>
                <a:latin typeface="Calibri" panose="020F0502020204030204"/>
                <a:ea typeface="+mn-ea"/>
                <a:cs typeface="+mn-cs"/>
              </a:rPr>
              <a:t> результату</a:t>
            </a:r>
          </a:p>
        </p:txBody>
      </p:sp>
      <p:sp>
        <p:nvSpPr>
          <p:cNvPr id="15" name="Виноска: лінія з границею та рискою 14">
            <a:extLst>
              <a:ext uri="{FF2B5EF4-FFF2-40B4-BE49-F238E27FC236}">
                <a16:creationId xmlns:a16="http://schemas.microsoft.com/office/drawing/2014/main" id="{B9EF04DA-6709-921A-4A39-C9AB7D9F6447}"/>
              </a:ext>
            </a:extLst>
          </p:cNvPr>
          <p:cNvSpPr/>
          <p:nvPr/>
        </p:nvSpPr>
        <p:spPr>
          <a:xfrm>
            <a:off x="5762444" y="1795456"/>
            <a:ext cx="3861759" cy="612648"/>
          </a:xfrm>
          <a:prstGeom prst="accentBorderCallout1">
            <a:avLst>
              <a:gd name="adj1" fmla="val 18750"/>
              <a:gd name="adj2" fmla="val -8333"/>
              <a:gd name="adj3" fmla="val 126581"/>
              <a:gd name="adj4" fmla="val -62660"/>
            </a:avLst>
          </a:prstGeom>
          <a:solidFill>
            <a:schemeClr val="accent4">
              <a:lumMod val="20000"/>
              <a:lumOff val="8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uk-UA" sz="2400" b="1" i="0" u="none" strike="noStrike" kern="1200" cap="none" spc="0" normalizeH="0" baseline="0" noProof="0" dirty="0">
                <a:ln>
                  <a:noFill/>
                </a:ln>
                <a:solidFill>
                  <a:prstClr val="black"/>
                </a:solidFill>
                <a:effectLst/>
                <a:uLnTx/>
                <a:uFillTx/>
                <a:latin typeface="Calibri" panose="020F0502020204030204"/>
                <a:ea typeface="+mn-ea"/>
                <a:cs typeface="+mn-cs"/>
              </a:rPr>
              <a:t>Національний </a:t>
            </a:r>
            <a:r>
              <a:rPr kumimoji="0" lang="uk-UA" sz="2400" b="1" i="0" u="none" strike="noStrike" kern="1200" cap="none" spc="0" normalizeH="0" baseline="0" noProof="0" dirty="0" err="1">
                <a:ln>
                  <a:noFill/>
                </a:ln>
                <a:solidFill>
                  <a:prstClr val="black"/>
                </a:solidFill>
                <a:effectLst/>
                <a:uLnTx/>
                <a:uFillTx/>
                <a:latin typeface="Calibri" panose="020F0502020204030204"/>
                <a:ea typeface="+mn-ea"/>
                <a:cs typeface="+mn-cs"/>
              </a:rPr>
              <a:t>кешбек</a:t>
            </a:r>
            <a:endParaRPr kumimoji="0" lang="uk-UA"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7" name="Рисунок 16">
            <a:extLst>
              <a:ext uri="{FF2B5EF4-FFF2-40B4-BE49-F238E27FC236}">
                <a16:creationId xmlns:a16="http://schemas.microsoft.com/office/drawing/2014/main" id="{B2D24AA8-7582-CD74-BF95-F841DC3294F6}"/>
              </a:ext>
            </a:extLst>
          </p:cNvPr>
          <p:cNvPicPr>
            <a:picLocks noChangeAspect="1"/>
          </p:cNvPicPr>
          <p:nvPr/>
        </p:nvPicPr>
        <p:blipFill>
          <a:blip r:embed="rId8"/>
          <a:stretch>
            <a:fillRect/>
          </a:stretch>
        </p:blipFill>
        <p:spPr>
          <a:xfrm>
            <a:off x="8835282" y="1865842"/>
            <a:ext cx="732849" cy="409173"/>
          </a:xfrm>
          <a:prstGeom prst="rect">
            <a:avLst/>
          </a:prstGeom>
        </p:spPr>
      </p:pic>
      <p:sp>
        <p:nvSpPr>
          <p:cNvPr id="18" name="Виноска: лінія з границею та рискою 17">
            <a:extLst>
              <a:ext uri="{FF2B5EF4-FFF2-40B4-BE49-F238E27FC236}">
                <a16:creationId xmlns:a16="http://schemas.microsoft.com/office/drawing/2014/main" id="{66895488-C814-1147-9D14-8FEB8DF2C9C0}"/>
              </a:ext>
            </a:extLst>
          </p:cNvPr>
          <p:cNvSpPr/>
          <p:nvPr/>
        </p:nvSpPr>
        <p:spPr>
          <a:xfrm>
            <a:off x="6077308" y="2598604"/>
            <a:ext cx="3861759" cy="612648"/>
          </a:xfrm>
          <a:prstGeom prst="accentBorderCallout1">
            <a:avLst>
              <a:gd name="adj1" fmla="val 18750"/>
              <a:gd name="adj2" fmla="val -8333"/>
              <a:gd name="adj3" fmla="val 126581"/>
              <a:gd name="adj4" fmla="val -62660"/>
            </a:avLst>
          </a:prstGeom>
          <a:solidFill>
            <a:schemeClr val="accent4">
              <a:lumMod val="20000"/>
              <a:lumOff val="8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uk-UA" sz="1800" b="1" i="0" u="none" strike="noStrike" kern="1200" cap="none" spc="0" normalizeH="0" baseline="0" noProof="0" dirty="0">
                <a:ln>
                  <a:noFill/>
                </a:ln>
                <a:solidFill>
                  <a:prstClr val="black"/>
                </a:solidFill>
                <a:effectLst/>
                <a:uLnTx/>
                <a:uFillTx/>
                <a:latin typeface="Calibri" panose="020F0502020204030204"/>
                <a:ea typeface="+mn-ea"/>
                <a:cs typeface="+mn-cs"/>
              </a:rPr>
              <a:t>Для самоконтролю</a:t>
            </a:r>
            <a:endParaRPr kumimoji="0" lang="uk-UA"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Виноска: лінія з границею та рискою 18">
            <a:extLst>
              <a:ext uri="{FF2B5EF4-FFF2-40B4-BE49-F238E27FC236}">
                <a16:creationId xmlns:a16="http://schemas.microsoft.com/office/drawing/2014/main" id="{33D78172-080F-F33B-3513-00AF0944711C}"/>
              </a:ext>
            </a:extLst>
          </p:cNvPr>
          <p:cNvSpPr/>
          <p:nvPr/>
        </p:nvSpPr>
        <p:spPr>
          <a:xfrm>
            <a:off x="6048553" y="4988027"/>
            <a:ext cx="3861759" cy="612648"/>
          </a:xfrm>
          <a:prstGeom prst="accentBorderCallout1">
            <a:avLst>
              <a:gd name="adj1" fmla="val 18750"/>
              <a:gd name="adj2" fmla="val -8333"/>
              <a:gd name="adj3" fmla="val 126581"/>
              <a:gd name="adj4" fmla="val -62660"/>
            </a:avLst>
          </a:prstGeom>
          <a:solidFill>
            <a:schemeClr val="accent4">
              <a:lumMod val="20000"/>
              <a:lumOff val="8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uk-UA" sz="1400" b="1" i="0" u="none" strike="noStrike" kern="1200" cap="none" spc="0" normalizeH="0" baseline="0" noProof="0" dirty="0">
                <a:ln>
                  <a:noFill/>
                </a:ln>
                <a:solidFill>
                  <a:prstClr val="black"/>
                </a:solidFill>
                <a:effectLst/>
                <a:uLnTx/>
                <a:uFillTx/>
                <a:latin typeface="Calibri" panose="020F0502020204030204"/>
                <a:ea typeface="+mn-ea"/>
                <a:cs typeface="+mn-cs"/>
              </a:rPr>
              <a:t>Для зменшення ризику розвитку інфекційних </a:t>
            </a:r>
            <a:r>
              <a:rPr kumimoji="0" lang="uk-UA" sz="1400" b="1" i="0" u="none" strike="noStrike" kern="1200" cap="none" spc="0" normalizeH="0" baseline="0" noProof="0" dirty="0" err="1">
                <a:ln>
                  <a:noFill/>
                </a:ln>
                <a:solidFill>
                  <a:prstClr val="black"/>
                </a:solidFill>
                <a:effectLst/>
                <a:uLnTx/>
                <a:uFillTx/>
                <a:latin typeface="Calibri" panose="020F0502020204030204"/>
                <a:ea typeface="+mn-ea"/>
                <a:cs typeface="+mn-cs"/>
              </a:rPr>
              <a:t>аутоімунних</a:t>
            </a:r>
            <a:r>
              <a:rPr kumimoji="0" lang="uk-UA" sz="1400" b="1" i="0" u="none" strike="noStrike" kern="1200" cap="none" spc="0" normalizeH="0" baseline="0" noProof="0" dirty="0">
                <a:ln>
                  <a:noFill/>
                </a:ln>
                <a:solidFill>
                  <a:prstClr val="black"/>
                </a:solidFill>
                <a:effectLst/>
                <a:uLnTx/>
                <a:uFillTx/>
                <a:latin typeface="Calibri" panose="020F0502020204030204"/>
                <a:ea typeface="+mn-ea"/>
                <a:cs typeface="+mn-cs"/>
              </a:rPr>
              <a:t> ускладнень </a:t>
            </a:r>
          </a:p>
        </p:txBody>
      </p:sp>
      <p:sp>
        <p:nvSpPr>
          <p:cNvPr id="20" name="Виноска: лінія з границею та рискою 19">
            <a:extLst>
              <a:ext uri="{FF2B5EF4-FFF2-40B4-BE49-F238E27FC236}">
                <a16:creationId xmlns:a16="http://schemas.microsoft.com/office/drawing/2014/main" id="{080C62D9-A532-7C20-0D37-2E0392A696B7}"/>
              </a:ext>
            </a:extLst>
          </p:cNvPr>
          <p:cNvSpPr/>
          <p:nvPr/>
        </p:nvSpPr>
        <p:spPr>
          <a:xfrm>
            <a:off x="6226269" y="4184879"/>
            <a:ext cx="3861759" cy="612648"/>
          </a:xfrm>
          <a:prstGeom prst="accentBorderCallout1">
            <a:avLst>
              <a:gd name="adj1" fmla="val 18750"/>
              <a:gd name="adj2" fmla="val -8333"/>
              <a:gd name="adj3" fmla="val 126581"/>
              <a:gd name="adj4" fmla="val -62660"/>
            </a:avLst>
          </a:prstGeom>
          <a:solidFill>
            <a:schemeClr val="accent4">
              <a:lumMod val="20000"/>
              <a:lumOff val="8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uk-UA" sz="1600" b="1" i="0" u="none" strike="noStrike" kern="1200" cap="none" spc="0" normalizeH="0" baseline="0" noProof="0" dirty="0">
                <a:ln>
                  <a:noFill/>
                </a:ln>
                <a:solidFill>
                  <a:prstClr val="black"/>
                </a:solidFill>
                <a:effectLst/>
                <a:uLnTx/>
                <a:uFillTx/>
                <a:latin typeface="Calibri" panose="020F0502020204030204"/>
                <a:ea typeface="+mn-ea"/>
                <a:cs typeface="+mn-cs"/>
              </a:rPr>
              <a:t>Для запобігання розповсюдженню інфекцій</a:t>
            </a:r>
          </a:p>
        </p:txBody>
      </p:sp>
      <p:sp>
        <p:nvSpPr>
          <p:cNvPr id="21" name="Виноска: лінія з границею та рискою 20">
            <a:extLst>
              <a:ext uri="{FF2B5EF4-FFF2-40B4-BE49-F238E27FC236}">
                <a16:creationId xmlns:a16="http://schemas.microsoft.com/office/drawing/2014/main" id="{716B1D98-8231-1AB5-B7A9-CCC7F29C62C5}"/>
              </a:ext>
            </a:extLst>
          </p:cNvPr>
          <p:cNvSpPr/>
          <p:nvPr/>
        </p:nvSpPr>
        <p:spPr>
          <a:xfrm>
            <a:off x="6226270" y="3354246"/>
            <a:ext cx="3861759" cy="612648"/>
          </a:xfrm>
          <a:prstGeom prst="accentBorderCallout1">
            <a:avLst>
              <a:gd name="adj1" fmla="val 18750"/>
              <a:gd name="adj2" fmla="val -8333"/>
              <a:gd name="adj3" fmla="val 126581"/>
              <a:gd name="adj4" fmla="val -62660"/>
            </a:avLst>
          </a:prstGeom>
          <a:solidFill>
            <a:schemeClr val="accent4">
              <a:lumMod val="20000"/>
              <a:lumOff val="8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uk-UA" sz="1800" b="1" i="0" u="none" strike="noStrike" kern="1200" cap="none" spc="0" normalizeH="0" baseline="0" noProof="0" dirty="0">
                <a:ln>
                  <a:noFill/>
                </a:ln>
                <a:solidFill>
                  <a:prstClr val="black"/>
                </a:solidFill>
                <a:effectLst/>
                <a:uLnTx/>
                <a:uFillTx/>
                <a:latin typeface="Calibri" panose="020F0502020204030204"/>
                <a:ea typeface="+mn-ea"/>
                <a:cs typeface="+mn-cs"/>
              </a:rPr>
              <a:t>Зниження </a:t>
            </a:r>
            <a:r>
              <a:rPr kumimoji="0" lang="uk-UA" sz="1800" b="1" i="0" u="none" strike="noStrike" kern="1200" cap="none" spc="0" normalizeH="0" baseline="0" noProof="0" dirty="0" err="1">
                <a:ln>
                  <a:noFill/>
                </a:ln>
                <a:solidFill>
                  <a:prstClr val="black"/>
                </a:solidFill>
                <a:effectLst/>
                <a:uLnTx/>
                <a:uFillTx/>
                <a:latin typeface="Calibri" panose="020F0502020204030204"/>
                <a:ea typeface="+mn-ea"/>
                <a:cs typeface="+mn-cs"/>
              </a:rPr>
              <a:t>антибіотикорезистентності</a:t>
            </a:r>
            <a:endParaRPr kumimoji="0" lang="uk-UA"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Рисунок 22">
            <a:extLst>
              <a:ext uri="{FF2B5EF4-FFF2-40B4-BE49-F238E27FC236}">
                <a16:creationId xmlns:a16="http://schemas.microsoft.com/office/drawing/2014/main" id="{FEB7A43A-D6CF-B69C-6980-6AA45FB96D30}"/>
              </a:ext>
            </a:extLst>
          </p:cNvPr>
          <p:cNvPicPr>
            <a:picLocks noChangeAspect="1"/>
          </p:cNvPicPr>
          <p:nvPr/>
        </p:nvPicPr>
        <p:blipFill>
          <a:blip r:embed="rId9"/>
          <a:srcRect l="-1127" t="29818" r="1515" b="25413"/>
          <a:stretch>
            <a:fillRect/>
          </a:stretch>
        </p:blipFill>
        <p:spPr>
          <a:xfrm>
            <a:off x="250404" y="5094183"/>
            <a:ext cx="2589055" cy="1163591"/>
          </a:xfrm>
          <a:prstGeom prst="rect">
            <a:avLst/>
          </a:prstGeom>
        </p:spPr>
      </p:pic>
      <p:pic>
        <p:nvPicPr>
          <p:cNvPr id="25" name="Рисунок 24">
            <a:extLst>
              <a:ext uri="{FF2B5EF4-FFF2-40B4-BE49-F238E27FC236}">
                <a16:creationId xmlns:a16="http://schemas.microsoft.com/office/drawing/2014/main" id="{A6D17920-E00A-1AA4-54F1-C0B49BF4DF03}"/>
              </a:ext>
            </a:extLst>
          </p:cNvPr>
          <p:cNvPicPr>
            <a:picLocks noChangeAspect="1"/>
          </p:cNvPicPr>
          <p:nvPr/>
        </p:nvPicPr>
        <p:blipFill>
          <a:blip r:embed="rId10"/>
          <a:stretch>
            <a:fillRect/>
          </a:stretch>
        </p:blipFill>
        <p:spPr>
          <a:xfrm>
            <a:off x="8686496" y="5726543"/>
            <a:ext cx="3505504" cy="1109568"/>
          </a:xfrm>
          <a:prstGeom prst="rect">
            <a:avLst/>
          </a:prstGeom>
        </p:spPr>
      </p:pic>
    </p:spTree>
    <p:extLst>
      <p:ext uri="{BB962C8B-B14F-4D97-AF65-F5344CB8AC3E}">
        <p14:creationId xmlns:p14="http://schemas.microsoft.com/office/powerpoint/2010/main" val="231290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80">
                                          <p:stCondLst>
                                            <p:cond delay="0"/>
                                          </p:stCondLst>
                                        </p:cTn>
                                        <p:tgtEl>
                                          <p:spTgt spid="17"/>
                                        </p:tgtEl>
                                      </p:cBhvr>
                                    </p:animEffect>
                                    <p:anim calcmode="lin" valueType="num">
                                      <p:cBhvr>
                                        <p:cTn id="23"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28" dur="26">
                                          <p:stCondLst>
                                            <p:cond delay="650"/>
                                          </p:stCondLst>
                                        </p:cTn>
                                        <p:tgtEl>
                                          <p:spTgt spid="17"/>
                                        </p:tgtEl>
                                      </p:cBhvr>
                                      <p:to x="100000" y="60000"/>
                                    </p:animScale>
                                    <p:animScale>
                                      <p:cBhvr>
                                        <p:cTn id="29" dur="166" decel="50000">
                                          <p:stCondLst>
                                            <p:cond delay="676"/>
                                          </p:stCondLst>
                                        </p:cTn>
                                        <p:tgtEl>
                                          <p:spTgt spid="17"/>
                                        </p:tgtEl>
                                      </p:cBhvr>
                                      <p:to x="100000" y="100000"/>
                                    </p:animScale>
                                    <p:animScale>
                                      <p:cBhvr>
                                        <p:cTn id="30" dur="26">
                                          <p:stCondLst>
                                            <p:cond delay="1312"/>
                                          </p:stCondLst>
                                        </p:cTn>
                                        <p:tgtEl>
                                          <p:spTgt spid="17"/>
                                        </p:tgtEl>
                                      </p:cBhvr>
                                      <p:to x="100000" y="80000"/>
                                    </p:animScale>
                                    <p:animScale>
                                      <p:cBhvr>
                                        <p:cTn id="31" dur="166" decel="50000">
                                          <p:stCondLst>
                                            <p:cond delay="1338"/>
                                          </p:stCondLst>
                                        </p:cTn>
                                        <p:tgtEl>
                                          <p:spTgt spid="17"/>
                                        </p:tgtEl>
                                      </p:cBhvr>
                                      <p:to x="100000" y="100000"/>
                                    </p:animScale>
                                    <p:animScale>
                                      <p:cBhvr>
                                        <p:cTn id="32" dur="26">
                                          <p:stCondLst>
                                            <p:cond delay="1642"/>
                                          </p:stCondLst>
                                        </p:cTn>
                                        <p:tgtEl>
                                          <p:spTgt spid="17"/>
                                        </p:tgtEl>
                                      </p:cBhvr>
                                      <p:to x="100000" y="90000"/>
                                    </p:animScale>
                                    <p:animScale>
                                      <p:cBhvr>
                                        <p:cTn id="33" dur="166" decel="50000">
                                          <p:stCondLst>
                                            <p:cond delay="1668"/>
                                          </p:stCondLst>
                                        </p:cTn>
                                        <p:tgtEl>
                                          <p:spTgt spid="17"/>
                                        </p:tgtEl>
                                      </p:cBhvr>
                                      <p:to x="100000" y="100000"/>
                                    </p:animScale>
                                    <p:animScale>
                                      <p:cBhvr>
                                        <p:cTn id="34" dur="26">
                                          <p:stCondLst>
                                            <p:cond delay="1808"/>
                                          </p:stCondLst>
                                        </p:cTn>
                                        <p:tgtEl>
                                          <p:spTgt spid="17"/>
                                        </p:tgtEl>
                                      </p:cBhvr>
                                      <p:to x="100000" y="95000"/>
                                    </p:animScale>
                                    <p:animScale>
                                      <p:cBhvr>
                                        <p:cTn id="35" dur="166" decel="50000">
                                          <p:stCondLst>
                                            <p:cond delay="1834"/>
                                          </p:stCondLst>
                                        </p:cTn>
                                        <p:tgtEl>
                                          <p:spTgt spid="17"/>
                                        </p:tgtEl>
                                      </p:cBhvr>
                                      <p:to x="100000" y="100000"/>
                                    </p:animScale>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1000"/>
                                        <p:tgtEl>
                                          <p:spTgt spid="18"/>
                                        </p:tgtEl>
                                      </p:cBhvr>
                                    </p:animEffect>
                                    <p:anim calcmode="lin" valueType="num">
                                      <p:cBhvr>
                                        <p:cTn id="41" dur="1000" fill="hold"/>
                                        <p:tgtEl>
                                          <p:spTgt spid="18"/>
                                        </p:tgtEl>
                                        <p:attrNameLst>
                                          <p:attrName>ppt_x</p:attrName>
                                        </p:attrNameLst>
                                      </p:cBhvr>
                                      <p:tavLst>
                                        <p:tav tm="0">
                                          <p:val>
                                            <p:strVal val="#ppt_x"/>
                                          </p:val>
                                        </p:tav>
                                        <p:tav tm="100000">
                                          <p:val>
                                            <p:strVal val="#ppt_x"/>
                                          </p:val>
                                        </p:tav>
                                      </p:tavLst>
                                    </p:anim>
                                    <p:anim calcmode="lin" valueType="num">
                                      <p:cBhvr>
                                        <p:cTn id="4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ppt_x"/>
                                          </p:val>
                                        </p:tav>
                                        <p:tav tm="100000">
                                          <p:val>
                                            <p:strVal val="#ppt_x"/>
                                          </p:val>
                                        </p:tav>
                                      </p:tavLst>
                                    </p:anim>
                                    <p:anim calcmode="lin" valueType="num">
                                      <p:cBhvr additive="base">
                                        <p:cTn id="4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down)">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31"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 calcmode="lin" valueType="num">
                                      <p:cBhvr>
                                        <p:cTn id="58" dur="1000" fill="hold"/>
                                        <p:tgtEl>
                                          <p:spTgt spid="19"/>
                                        </p:tgtEl>
                                        <p:attrNameLst>
                                          <p:attrName>ppt_w</p:attrName>
                                        </p:attrNameLst>
                                      </p:cBhvr>
                                      <p:tavLst>
                                        <p:tav tm="0">
                                          <p:val>
                                            <p:fltVal val="0"/>
                                          </p:val>
                                        </p:tav>
                                        <p:tav tm="100000">
                                          <p:val>
                                            <p:strVal val="#ppt_w"/>
                                          </p:val>
                                        </p:tav>
                                      </p:tavLst>
                                    </p:anim>
                                    <p:anim calcmode="lin" valueType="num">
                                      <p:cBhvr>
                                        <p:cTn id="59" dur="1000" fill="hold"/>
                                        <p:tgtEl>
                                          <p:spTgt spid="19"/>
                                        </p:tgtEl>
                                        <p:attrNameLst>
                                          <p:attrName>ppt_h</p:attrName>
                                        </p:attrNameLst>
                                      </p:cBhvr>
                                      <p:tavLst>
                                        <p:tav tm="0">
                                          <p:val>
                                            <p:fltVal val="0"/>
                                          </p:val>
                                        </p:tav>
                                        <p:tav tm="100000">
                                          <p:val>
                                            <p:strVal val="#ppt_h"/>
                                          </p:val>
                                        </p:tav>
                                      </p:tavLst>
                                    </p:anim>
                                    <p:anim calcmode="lin" valueType="num">
                                      <p:cBhvr>
                                        <p:cTn id="60" dur="1000" fill="hold"/>
                                        <p:tgtEl>
                                          <p:spTgt spid="19"/>
                                        </p:tgtEl>
                                        <p:attrNameLst>
                                          <p:attrName>style.rotation</p:attrName>
                                        </p:attrNameLst>
                                      </p:cBhvr>
                                      <p:tavLst>
                                        <p:tav tm="0">
                                          <p:val>
                                            <p:fltVal val="90"/>
                                          </p:val>
                                        </p:tav>
                                        <p:tav tm="100000">
                                          <p:val>
                                            <p:fltVal val="0"/>
                                          </p:val>
                                        </p:tav>
                                      </p:tavLst>
                                    </p:anim>
                                    <p:animEffect transition="in" filter="fade">
                                      <p:cBhvr>
                                        <p:cTn id="61"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8" grpId="0" animBg="1"/>
      <p:bldP spid="19" grpId="0" animBg="1"/>
      <p:bldP spid="20"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Місце для номера слайда 3">
            <a:extLst>
              <a:ext uri="{FF2B5EF4-FFF2-40B4-BE49-F238E27FC236}">
                <a16:creationId xmlns:a16="http://schemas.microsoft.com/office/drawing/2014/main" id="{76584C56-C3D4-C673-3B44-764B542C60E7}"/>
              </a:ext>
            </a:extLst>
          </p:cNvPr>
          <p:cNvSpPr>
            <a:spLocks noGrp="1"/>
          </p:cNvSpPr>
          <p:nvPr>
            <p:ph type="sldNum" sz="quarter" idx="12"/>
          </p:nvPr>
        </p:nvSpPr>
        <p:spPr/>
        <p:txBody>
          <a:bodyPr/>
          <a:lstStyle/>
          <a:p>
            <a:pPr>
              <a:defRPr/>
            </a:pPr>
            <a:fld id="{7A85B57D-60D4-4E9E-B2F8-75565BAF9632}" type="slidenum">
              <a:rPr lang="ru-RU" smtClean="0">
                <a:solidFill>
                  <a:srgbClr val="000000"/>
                </a:solidFill>
              </a:rPr>
              <a:pPr>
                <a:defRPr/>
              </a:pPr>
              <a:t>12</a:t>
            </a:fld>
            <a:endParaRPr lang="ru-RU" dirty="0">
              <a:solidFill>
                <a:srgbClr val="000000"/>
              </a:solidFill>
            </a:endParaRPr>
          </a:p>
        </p:txBody>
      </p:sp>
      <p:sp>
        <p:nvSpPr>
          <p:cNvPr id="2" name="Заголовок 1">
            <a:extLst>
              <a:ext uri="{FF2B5EF4-FFF2-40B4-BE49-F238E27FC236}">
                <a16:creationId xmlns:a16="http://schemas.microsoft.com/office/drawing/2014/main" id="{7F1E53B7-B801-1C94-D786-5E738A2D4F30}"/>
              </a:ext>
            </a:extLst>
          </p:cNvPr>
          <p:cNvSpPr>
            <a:spLocks noGrp="1"/>
          </p:cNvSpPr>
          <p:nvPr>
            <p:ph type="title" idx="4294967295"/>
          </p:nvPr>
        </p:nvSpPr>
        <p:spPr>
          <a:xfrm>
            <a:off x="358700" y="206616"/>
            <a:ext cx="12042475" cy="1177925"/>
          </a:xfrm>
        </p:spPr>
        <p:txBody>
          <a:bodyPr>
            <a:normAutofit fontScale="90000"/>
          </a:bodyPr>
          <a:lstStyle/>
          <a:p>
            <a:r>
              <a:rPr lang="ru-RU" sz="4400" dirty="0" err="1"/>
              <a:t>Наукове</a:t>
            </a:r>
            <a:r>
              <a:rPr lang="ru-RU" sz="4400" dirty="0"/>
              <a:t> </a:t>
            </a:r>
            <a:r>
              <a:rPr lang="ru-RU" sz="4400" dirty="0" err="1"/>
              <a:t>обґрунтування</a:t>
            </a:r>
            <a:r>
              <a:rPr lang="ru-RU" sz="4400" dirty="0"/>
              <a:t> </a:t>
            </a:r>
            <a:r>
              <a:rPr lang="ru-RU" sz="4400" dirty="0" err="1"/>
              <a:t>використання</a:t>
            </a:r>
            <a:r>
              <a:rPr lang="ru-RU" sz="4400" dirty="0"/>
              <a:t> </a:t>
            </a:r>
            <a:r>
              <a:rPr lang="ru-RU" sz="4400" dirty="0" err="1"/>
              <a:t>швидких</a:t>
            </a:r>
            <a:r>
              <a:rPr lang="ru-RU" sz="4400" dirty="0"/>
              <a:t> </a:t>
            </a:r>
            <a:r>
              <a:rPr lang="ru-RU" sz="4400" dirty="0" err="1"/>
              <a:t>тестів</a:t>
            </a:r>
            <a:br>
              <a:rPr lang="ru-RU" dirty="0"/>
            </a:br>
            <a:endParaRPr lang="uk-UA" dirty="0"/>
          </a:p>
        </p:txBody>
      </p:sp>
      <p:pic>
        <p:nvPicPr>
          <p:cNvPr id="6" name="Місце для вмісту 5">
            <a:extLst>
              <a:ext uri="{FF2B5EF4-FFF2-40B4-BE49-F238E27FC236}">
                <a16:creationId xmlns:a16="http://schemas.microsoft.com/office/drawing/2014/main" id="{5E965436-3389-B6CE-FD9A-1811A7F27357}"/>
              </a:ext>
            </a:extLst>
          </p:cNvPr>
          <p:cNvPicPr>
            <a:picLocks noGrp="1" noChangeAspect="1"/>
          </p:cNvPicPr>
          <p:nvPr>
            <p:ph idx="4294967295"/>
          </p:nvPr>
        </p:nvPicPr>
        <p:blipFill>
          <a:blip r:embed="rId2"/>
          <a:stretch>
            <a:fillRect/>
          </a:stretch>
        </p:blipFill>
        <p:spPr bwMode="auto">
          <a:xfrm>
            <a:off x="358700" y="1292437"/>
            <a:ext cx="50165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11AB61A-D266-CCD7-DA70-CF35B06615D0}"/>
              </a:ext>
            </a:extLst>
          </p:cNvPr>
          <p:cNvSpPr txBox="1"/>
          <p:nvPr/>
        </p:nvSpPr>
        <p:spPr>
          <a:xfrm>
            <a:off x="848214" y="4069593"/>
            <a:ext cx="11083277" cy="1754326"/>
          </a:xfrm>
          <a:prstGeom prst="rect">
            <a:avLst/>
          </a:prstGeom>
          <a:noFill/>
        </p:spPr>
        <p:txBody>
          <a:bodyPr wrap="square">
            <a:spAutoFit/>
          </a:bodyPr>
          <a:lstStyle/>
          <a:p>
            <a:r>
              <a:rPr lang="uk-UA" dirty="0"/>
              <a:t>Висновок. У регіонах з високим навантаженням на </a:t>
            </a:r>
            <a:r>
              <a:rPr lang="en-US" dirty="0"/>
              <a:t>Group A streptococcus (GAS)</a:t>
            </a:r>
            <a:r>
              <a:rPr lang="uk-UA" dirty="0"/>
              <a:t>, таких як округ </a:t>
            </a:r>
            <a:r>
              <a:rPr lang="uk-UA" dirty="0" err="1"/>
              <a:t>Манукау</a:t>
            </a:r>
            <a:r>
              <a:rPr lang="uk-UA" dirty="0"/>
              <a:t>, Нова Зеландія, тест </a:t>
            </a:r>
            <a:r>
              <a:rPr lang="en-US" dirty="0"/>
              <a:t>Strep A </a:t>
            </a:r>
            <a:r>
              <a:rPr lang="uk-UA" dirty="0"/>
              <a:t>значно швидший, ніж посів, має відмінну точність та дозволяє швидко та надійно ідентифікувати пацієнтів з фарингітом, спричиненим </a:t>
            </a:r>
            <a:r>
              <a:rPr lang="en-US" dirty="0"/>
              <a:t>Group A streptococcus (GAS)</a:t>
            </a:r>
            <a:r>
              <a:rPr lang="uk-UA" dirty="0"/>
              <a:t>. </a:t>
            </a:r>
            <a:r>
              <a:rPr lang="uk-UA" dirty="0">
                <a:highlight>
                  <a:srgbClr val="FFFF00"/>
                </a:highlight>
              </a:rPr>
              <a:t>Негативний результат тесту дозволяє клініцистам утримуватися від антибіотиків що призводить до раціонального використання антимікробних препаратів </a:t>
            </a:r>
            <a:r>
              <a:rPr lang="uk-UA" dirty="0"/>
              <a:t>у регіонах з високим навантаженням на захворювання, пов'язані з </a:t>
            </a:r>
            <a:r>
              <a:rPr lang="en-US" dirty="0"/>
              <a:t>Group A streptococcus (GAS)</a:t>
            </a:r>
            <a:r>
              <a:rPr lang="uk-UA" dirty="0"/>
              <a:t>.</a:t>
            </a:r>
          </a:p>
        </p:txBody>
      </p:sp>
      <p:sp>
        <p:nvSpPr>
          <p:cNvPr id="10" name="TextBox 9">
            <a:extLst>
              <a:ext uri="{FF2B5EF4-FFF2-40B4-BE49-F238E27FC236}">
                <a16:creationId xmlns:a16="http://schemas.microsoft.com/office/drawing/2014/main" id="{90A30E22-1C87-D4E2-64D3-E620A760F3B3}"/>
              </a:ext>
            </a:extLst>
          </p:cNvPr>
          <p:cNvSpPr txBox="1"/>
          <p:nvPr/>
        </p:nvSpPr>
        <p:spPr>
          <a:xfrm>
            <a:off x="1487126" y="6435725"/>
            <a:ext cx="6096000" cy="369332"/>
          </a:xfrm>
          <a:prstGeom prst="rect">
            <a:avLst/>
          </a:prstGeom>
          <a:noFill/>
        </p:spPr>
        <p:txBody>
          <a:bodyPr wrap="square">
            <a:spAutoFit/>
          </a:bodyPr>
          <a:lstStyle/>
          <a:p>
            <a:r>
              <a:rPr lang="en-US" dirty="0"/>
              <a:t>https://journals.asm.org/doi/10.1128/jcm.00978-21</a:t>
            </a:r>
            <a:endParaRPr lang="uk-UA" dirty="0"/>
          </a:p>
        </p:txBody>
      </p:sp>
    </p:spTree>
    <p:extLst>
      <p:ext uri="{BB962C8B-B14F-4D97-AF65-F5344CB8AC3E}">
        <p14:creationId xmlns:p14="http://schemas.microsoft.com/office/powerpoint/2010/main" val="4242525853"/>
      </p:ext>
    </p:extLst>
  </p:cSld>
  <p:clrMapOvr>
    <a:masterClrMapping/>
  </p:clrMapOvr>
</p:sld>
</file>

<file path=ppt/theme/theme1.xml><?xml version="1.0" encoding="utf-8"?>
<a:theme xmlns:a="http://schemas.openxmlformats.org/drawingml/2006/main" name="Ретро">
  <a:themeElements>
    <a:clrScheme name="Ретро">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Ретроспектива">
  <a:themeElements>
    <a:clrScheme name="Ретроспектива">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Ретроспектива">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спектива">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3.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4434</TotalTime>
  <Words>1053</Words>
  <Application>Microsoft Office PowerPoint</Application>
  <PresentationFormat>Широкий екран</PresentationFormat>
  <Paragraphs>112</Paragraphs>
  <Slides>12</Slides>
  <Notes>4</Notes>
  <HiddenSlides>0</HiddenSlides>
  <MMClips>0</MMClips>
  <ScaleCrop>false</ScaleCrop>
  <HeadingPairs>
    <vt:vector size="6" baseType="variant">
      <vt:variant>
        <vt:lpstr>Використані шрифти</vt:lpstr>
      </vt:variant>
      <vt:variant>
        <vt:i4>7</vt:i4>
      </vt:variant>
      <vt:variant>
        <vt:lpstr>Тема</vt:lpstr>
      </vt:variant>
      <vt:variant>
        <vt:i4>2</vt:i4>
      </vt:variant>
      <vt:variant>
        <vt:lpstr>Заголовки слайдів</vt:lpstr>
      </vt:variant>
      <vt:variant>
        <vt:i4>12</vt:i4>
      </vt:variant>
    </vt:vector>
  </HeadingPairs>
  <TitlesOfParts>
    <vt:vector size="21" baseType="lpstr">
      <vt:lpstr>Arial</vt:lpstr>
      <vt:lpstr>Calibri</vt:lpstr>
      <vt:lpstr>Calibri Light</vt:lpstr>
      <vt:lpstr>Open Sans</vt:lpstr>
      <vt:lpstr>Open Sans Bold</vt:lpstr>
      <vt:lpstr>Verdana</vt:lpstr>
      <vt:lpstr>Wingdings</vt:lpstr>
      <vt:lpstr>Ретро</vt:lpstr>
      <vt:lpstr>Ретроспектива</vt:lpstr>
      <vt:lpstr>ДОЛЯ ПАЦІЄНТА ЗАЛЕЖИТЬ ВІД ШВИДКОСТІ ТА ОБГРУНТОВАНОСТІ РІШЕННЯ ЛІКАРЯ</vt:lpstr>
      <vt:lpstr>Шкала Центора (модифікована/McIsaac) для стрептококового фарингіту)</vt:lpstr>
      <vt:lpstr>РАННІ УСКЛАДНЕННЯ СТРЕПТОКОКОВОЇ АНГІНИ</vt:lpstr>
      <vt:lpstr>Презентація PowerPoint</vt:lpstr>
      <vt:lpstr>Презентація PowerPoint</vt:lpstr>
      <vt:lpstr>Презентація PowerPoint</vt:lpstr>
      <vt:lpstr>Швидкий тест для виявлення бета-гемолітичного стрептокока групи А  CITO TEST® STREP A </vt:lpstr>
      <vt:lpstr>Презентація PowerPoint</vt:lpstr>
      <vt:lpstr>Презентація PowerPoint</vt:lpstr>
      <vt:lpstr>Презентація PowerPoint</vt:lpstr>
      <vt:lpstr>Презентація PowerPoint</vt:lpstr>
      <vt:lpstr>Наукове обґрунтування використання швидких тестів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Master</dc:creator>
  <cp:lastModifiedBy>Master</cp:lastModifiedBy>
  <cp:revision>3</cp:revision>
  <dcterms:created xsi:type="dcterms:W3CDTF">2026-04-07T07:24:13Z</dcterms:created>
  <dcterms:modified xsi:type="dcterms:W3CDTF">2026-04-10T09:18:21Z</dcterms:modified>
</cp:coreProperties>
</file>