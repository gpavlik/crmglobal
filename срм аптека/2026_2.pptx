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842" r:id="rId2"/>
    <p:sldId id="1844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F49CF-4398-F6CE-7E8C-EBE54004D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8C40ABE-8013-AC59-C883-D4393C6DB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A1B8BAE-2FE5-78A8-9CF6-F98C5BFF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56A423B-36CA-0A8C-73C9-EA1F5406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112A1C-66C7-D496-FCB3-7AAF10BB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960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9F093-97BD-3E7A-3A78-2BAE1E94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BB1E3B-8E6D-415A-B1C6-49466B175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790387B-1307-EA0D-2E01-19516F52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0211A4-ED9B-F4FC-8BCD-563F276D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9066D9-37CC-6D50-6D34-B1416EED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11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706EB-CD76-CA51-66F7-5C99F814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F546E51-B1EC-E400-6058-A64ED98A9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4EE5477-A6B0-CF36-85A8-ECA1DDB2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25DF6B0-6073-B256-3F87-D856A7E6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D5248F8-518B-520D-C148-D274A5CF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670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43398-3095-0466-B009-5B4CE077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7002D6-7FDC-6C0A-2470-91AF5C35C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5E8E07B-CE8A-56F2-D866-0AC229E64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4D32B77-82B3-5D38-571B-057EFC22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F0EA42E-61F1-CD3C-1C67-AD7D40D6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689A970-51CE-0C53-4510-C066B0D4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689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C953-B544-6C2E-0E3A-D16B2648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39F19E1-43BC-D39B-0046-4DFB4D2D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523C4D0-2037-779A-A3F4-15390421D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461FF68-2347-CD0E-1797-D9D955D8B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F2708C5-1000-7086-F963-A9653EB05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287CF63-B3AC-E864-7E7C-395AECBF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9CF2D74-7695-1124-E0B7-86988316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C98392F-237C-777E-0462-E540F160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146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11E6E-B2C6-CA01-5E25-92690F66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AE4FB0E-90C7-7457-D473-999DB019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8394585-870E-6D86-4F49-D759C3A1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68F5F0F-B841-6AA0-B1A9-7405074F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895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01B2293-2876-6A55-8F6B-C97D8C2E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FE4C4F2-0829-0832-FE43-C6113612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5550A12-AC14-6D8D-7C58-A8551411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188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42FEB-E4C1-1975-0C80-4641D64D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666EB53-21FC-BE88-EFFA-C803ABA5B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22D5C58-B7A7-1F97-8B7A-8E84FA7E9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4767B6B-3545-3885-3404-3F21F652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04D5A0E-9F9B-6149-A3C0-63CFF19D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47E45E8-FC04-53A4-1EBF-149F441A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253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501CC-D0A4-703B-86C4-F177A034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873B889-B389-F54A-B9C1-0C066057C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544CDE3-F154-EB36-036F-E23776AF9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6DD8231-DEBE-8086-892D-775664FE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DABC1B9-C509-18C7-BBFD-842AA469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3EC4F94-9CBE-79E1-2249-E6F58D5A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190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64F32-129F-7DC7-CD56-3CE5C21F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6842081-6974-BF41-AABB-32EA6CFC3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A319BA-0B08-D422-B2BB-13AB0821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FD37130-142F-7E74-F3F8-AFD0EA17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8B5D74-EDF3-0639-79D0-588CAB1D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140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4D6545F-9636-A67A-E6C8-2ED41616E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450AEF4-546B-F0E2-6E06-3F4F821F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BDBD19-7EA5-FA0A-0992-E7A46CCF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054BA56-092A-9A79-B28A-D55BD657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DC6BC34-BE3F-2EB4-F30B-7D9BD7EA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72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175901A-E259-A740-7B94-F8CDD89E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8BD362A-3D14-C458-13A6-1AB102CA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CDE101-D6D6-EE59-89DC-299C69C76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DFA2E-C905-4CB2-83F7-203260967634}" type="datetimeFigureOut">
              <a:rPr lang="uk-UA" smtClean="0"/>
              <a:t>10.04.2026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C02F3FE-49FA-4D99-0BAB-9C8AD2039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07F6CD0-BF2E-2F62-A083-72BEC5CDC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8D4C7-2988-4032-9245-36ACFA18416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111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18227-6FCF-4A40-B68A-2017BA7742C6}"/>
              </a:ext>
            </a:extLst>
          </p:cNvPr>
          <p:cNvSpPr txBox="1"/>
          <p:nvPr/>
        </p:nvSpPr>
        <p:spPr>
          <a:xfrm>
            <a:off x="760165" y="717783"/>
            <a:ext cx="7579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/>
              <a:t>Розрахунок візитів до лікарів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E36C9A4-26CA-431D-A749-3483E2467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687884"/>
              </p:ext>
            </p:extLst>
          </p:nvPr>
        </p:nvGraphicFramePr>
        <p:xfrm>
          <a:off x="405045" y="1864063"/>
          <a:ext cx="11029073" cy="2953606"/>
        </p:xfrm>
        <a:graphic>
          <a:graphicData uri="http://schemas.openxmlformats.org/drawingml/2006/table">
            <a:tbl>
              <a:tblPr/>
              <a:tblGrid>
                <a:gridCol w="1737897">
                  <a:extLst>
                    <a:ext uri="{9D8B030D-6E8A-4147-A177-3AD203B41FA5}">
                      <a16:colId xmlns:a16="http://schemas.microsoft.com/office/drawing/2014/main" val="2658035718"/>
                    </a:ext>
                  </a:extLst>
                </a:gridCol>
                <a:gridCol w="1226564">
                  <a:extLst>
                    <a:ext uri="{9D8B030D-6E8A-4147-A177-3AD203B41FA5}">
                      <a16:colId xmlns:a16="http://schemas.microsoft.com/office/drawing/2014/main" val="1853230044"/>
                    </a:ext>
                  </a:extLst>
                </a:gridCol>
                <a:gridCol w="1832866">
                  <a:extLst>
                    <a:ext uri="{9D8B030D-6E8A-4147-A177-3AD203B41FA5}">
                      <a16:colId xmlns:a16="http://schemas.microsoft.com/office/drawing/2014/main" val="572375821"/>
                    </a:ext>
                  </a:extLst>
                </a:gridCol>
                <a:gridCol w="1386604">
                  <a:extLst>
                    <a:ext uri="{9D8B030D-6E8A-4147-A177-3AD203B41FA5}">
                      <a16:colId xmlns:a16="http://schemas.microsoft.com/office/drawing/2014/main" val="4017255220"/>
                    </a:ext>
                  </a:extLst>
                </a:gridCol>
                <a:gridCol w="1386604">
                  <a:extLst>
                    <a:ext uri="{9D8B030D-6E8A-4147-A177-3AD203B41FA5}">
                      <a16:colId xmlns:a16="http://schemas.microsoft.com/office/drawing/2014/main" val="945592315"/>
                    </a:ext>
                  </a:extLst>
                </a:gridCol>
                <a:gridCol w="1338789">
                  <a:extLst>
                    <a:ext uri="{9D8B030D-6E8A-4147-A177-3AD203B41FA5}">
                      <a16:colId xmlns:a16="http://schemas.microsoft.com/office/drawing/2014/main" val="3895123297"/>
                    </a:ext>
                  </a:extLst>
                </a:gridCol>
                <a:gridCol w="1338789">
                  <a:extLst>
                    <a:ext uri="{9D8B030D-6E8A-4147-A177-3AD203B41FA5}">
                      <a16:colId xmlns:a16="http://schemas.microsoft.com/office/drawing/2014/main" val="2412437091"/>
                    </a:ext>
                  </a:extLst>
                </a:gridCol>
                <a:gridCol w="780960">
                  <a:extLst>
                    <a:ext uri="{9D8B030D-6E8A-4147-A177-3AD203B41FA5}">
                      <a16:colId xmlns:a16="http://schemas.microsoft.com/office/drawing/2014/main" val="3257134560"/>
                    </a:ext>
                  </a:extLst>
                </a:gridCol>
              </a:tblGrid>
              <a:tr h="97308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Початок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Закінчення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Таргет- група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 базі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візитів в місяць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Кількість візитів за весь період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Кратність за період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Кількість в день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135180"/>
                  </a:ext>
                </a:extLst>
              </a:tr>
              <a:tr h="292297"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01.05.2026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31.07.2026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Гінеколог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uk-U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  <a:endParaRPr lang="uk-U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951718"/>
                  </a:ext>
                </a:extLst>
              </a:tr>
              <a:tr h="2922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Робочих</a:t>
                      </a:r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днів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ЛОР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endParaRPr lang="uk-U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  <a:endParaRPr lang="uk-U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540186"/>
                  </a:ext>
                </a:extLst>
              </a:tr>
              <a:tr h="292297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Гастроентеролог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uk-UA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  <a:endParaRPr lang="uk-U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807220"/>
                  </a:ext>
                </a:extLst>
              </a:tr>
              <a:tr h="739650"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uk-U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Підсумок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  <a:endParaRPr lang="uk-UA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480</a:t>
                      </a:r>
                      <a:endParaRPr lang="uk-UA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uk-UA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 візитів / день</a:t>
                      </a:r>
                    </a:p>
                    <a:p>
                      <a:pPr algn="ctr" fontAlgn="ctr"/>
                      <a:r>
                        <a:rPr lang="uk-U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2170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8661E9-C0D5-5CCF-E9C1-3AC741061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60735"/>
            <a:ext cx="12192000" cy="109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3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22777-94C5-436D-A905-2ED9ACF9149E}"/>
              </a:ext>
            </a:extLst>
          </p:cNvPr>
          <p:cNvSpPr txBox="1"/>
          <p:nvPr/>
        </p:nvSpPr>
        <p:spPr>
          <a:xfrm>
            <a:off x="542805" y="608858"/>
            <a:ext cx="8692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b="1" dirty="0"/>
              <a:t>Сітка візитів</a:t>
            </a:r>
            <a:r>
              <a:rPr lang="en-US" sz="3600" b="1" dirty="0"/>
              <a:t> </a:t>
            </a:r>
            <a:r>
              <a:rPr lang="uk-UA" sz="3600" b="1" dirty="0"/>
              <a:t>(</a:t>
            </a:r>
            <a:r>
              <a:rPr lang="en-US" sz="3600" b="1" dirty="0"/>
              <a:t>2 </a:t>
            </a:r>
            <a:r>
              <a:rPr lang="uk-UA" sz="3600" b="1" dirty="0" err="1"/>
              <a:t>промоційний</a:t>
            </a:r>
            <a:r>
              <a:rPr lang="uk-UA" sz="3600" b="1" dirty="0"/>
              <a:t> цикл)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1E81A10-D1B1-47EA-B9FF-5AFA15BF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83946"/>
              </p:ext>
            </p:extLst>
          </p:nvPr>
        </p:nvGraphicFramePr>
        <p:xfrm>
          <a:off x="403654" y="1614219"/>
          <a:ext cx="11377543" cy="3697123"/>
        </p:xfrm>
        <a:graphic>
          <a:graphicData uri="http://schemas.openxmlformats.org/drawingml/2006/table">
            <a:tbl>
              <a:tblPr/>
              <a:tblGrid>
                <a:gridCol w="765157">
                  <a:extLst>
                    <a:ext uri="{9D8B030D-6E8A-4147-A177-3AD203B41FA5}">
                      <a16:colId xmlns:a16="http://schemas.microsoft.com/office/drawing/2014/main" val="3312520409"/>
                    </a:ext>
                  </a:extLst>
                </a:gridCol>
                <a:gridCol w="1680018">
                  <a:extLst>
                    <a:ext uri="{9D8B030D-6E8A-4147-A177-3AD203B41FA5}">
                      <a16:colId xmlns:a16="http://schemas.microsoft.com/office/drawing/2014/main" val="2844353027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511370255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3199120197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1551814089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870147870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2538166356"/>
                    </a:ext>
                  </a:extLst>
                </a:gridCol>
                <a:gridCol w="1488728">
                  <a:extLst>
                    <a:ext uri="{9D8B030D-6E8A-4147-A177-3AD203B41FA5}">
                      <a16:colId xmlns:a16="http://schemas.microsoft.com/office/drawing/2014/main" val="3808142786"/>
                    </a:ext>
                  </a:extLst>
                </a:gridCol>
              </a:tblGrid>
              <a:tr h="217742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Сітка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RU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візитів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на 1 </a:t>
                      </a:r>
                      <a:r>
                        <a:rPr lang="ru-RU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промоційний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цикл 2026 р. (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</a:t>
                      </a:r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uk-UA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промоцикл</a:t>
                      </a:r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 р.)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548885"/>
                  </a:ext>
                </a:extLst>
              </a:tr>
              <a:tr h="21774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Кількість </a:t>
                      </a:r>
                      <a:b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uk-UA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Спеціальність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Травень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Червень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Липень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2564"/>
                  </a:ext>
                </a:extLst>
              </a:tr>
              <a:tr h="217742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2-й візит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491362"/>
                  </a:ext>
                </a:extLst>
              </a:tr>
              <a:tr h="646913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ГІНЕКОЛОГ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CITOLAB pH vaginal </a:t>
                      </a:r>
                    </a:p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Solo mini</a:t>
                      </a:r>
                    </a:p>
                    <a:p>
                      <a:pPr algn="l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Actim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PROM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CITOLAB pH vaginal </a:t>
                      </a:r>
                    </a:p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Solo mini</a:t>
                      </a:r>
                    </a:p>
                    <a:p>
                      <a:pPr algn="l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Actim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PROM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CITOLAB pH vaginal </a:t>
                      </a:r>
                    </a:p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Solo mini</a:t>
                      </a:r>
                    </a:p>
                    <a:p>
                      <a:pPr algn="l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Actim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PROM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753369"/>
                  </a:ext>
                </a:extLst>
              </a:tr>
              <a:tr h="318465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ГАСТРОЕНТЕРОЛОГ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  <a:p>
                      <a:pPr algn="l" fontAlgn="ctr"/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  <a:p>
                      <a:pPr algn="l" fontAlgn="ctr"/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 H.Pylori Ag</a:t>
                      </a:r>
                    </a:p>
                    <a:p>
                      <a:pPr algn="l" fontAlgn="ctr"/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571692"/>
                  </a:ext>
                </a:extLst>
              </a:tr>
              <a:tr h="217742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ЛОР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Strep A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Strep A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CITO TEST®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Strep A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127602"/>
                  </a:ext>
                </a:extLst>
              </a:tr>
              <a:tr h="612260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Індивідуальна база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АПТЕЧНА МЕРЕЖА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раз в місяць/квартал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раз в місяць/квартал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раз в місяць/квартал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859314"/>
                  </a:ext>
                </a:extLst>
              </a:tr>
              <a:tr h="612260"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60" marR="5460" marT="54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АДМІНІСТРАТИВНИЙ ДЕНЬ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та 15 число місяця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та 15 число місяця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та 15 число місяця</a:t>
                      </a:r>
                    </a:p>
                  </a:txBody>
                  <a:tcPr marL="5460" marR="5460" marT="5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00367"/>
                  </a:ext>
                </a:extLst>
              </a:tr>
              <a:tr h="217742"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uk-U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0" marR="5460" marT="546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800524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AF541D-0375-0AD4-03D3-0259258A0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60735"/>
            <a:ext cx="12192000" cy="109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924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223</Words>
  <Application>Microsoft Office PowerPoint</Application>
  <PresentationFormat>Широкий екран</PresentationFormat>
  <Paragraphs>89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Yaroslav Golovan</dc:creator>
  <cp:lastModifiedBy>Yaroslav Golovan</cp:lastModifiedBy>
  <cp:revision>8</cp:revision>
  <dcterms:created xsi:type="dcterms:W3CDTF">2026-04-10T06:30:39Z</dcterms:created>
  <dcterms:modified xsi:type="dcterms:W3CDTF">2026-04-10T06:58:54Z</dcterms:modified>
</cp:coreProperties>
</file>