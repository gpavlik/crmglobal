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1026" r:id="rId2"/>
    <p:sldId id="1027" r:id="rId3"/>
    <p:sldId id="1028" r:id="rId4"/>
    <p:sldId id="1038" r:id="rId5"/>
    <p:sldId id="1029" r:id="rId6"/>
    <p:sldId id="1030" r:id="rId7"/>
    <p:sldId id="1031" r:id="rId8"/>
    <p:sldId id="1032" r:id="rId9"/>
    <p:sldId id="1036" r:id="rId10"/>
    <p:sldId id="1033" r:id="rId11"/>
    <p:sldId id="1034" r:id="rId12"/>
    <p:sldId id="1037" r:id="rId13"/>
    <p:sldId id="1035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CA027-67A7-4D82-8098-3AC793D82CEC}" type="datetimeFigureOut">
              <a:rPr lang="uk-UA" smtClean="0"/>
              <a:t>30.04.2026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0EEF6-A0D2-422F-B570-33AE709E1DF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3407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4EED3-6AD3-4195-8D00-4048B9F4F5D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94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7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3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0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4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9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2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6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83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11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60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0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pavlik.github.io/A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691BA-498E-B804-5BB1-5E89B986F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bject 20">
            <a:extLst>
              <a:ext uri="{FF2B5EF4-FFF2-40B4-BE49-F238E27FC236}">
                <a16:creationId xmlns:a16="http://schemas.microsoft.com/office/drawing/2014/main" id="{40AADE85-E30F-50A9-963B-48EAB6F92874}"/>
              </a:ext>
            </a:extLst>
          </p:cNvPr>
          <p:cNvSpPr txBox="1">
            <a:spLocks/>
          </p:cNvSpPr>
          <p:nvPr/>
        </p:nvSpPr>
        <p:spPr>
          <a:xfrm>
            <a:off x="797788" y="5219769"/>
            <a:ext cx="3157311" cy="9762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5715" algn="l">
              <a:spcAft>
                <a:spcPts val="600"/>
              </a:spcAft>
            </a:pPr>
            <a:r>
              <a:rPr lang="en-US" sz="3600" b="1" spc="-10" dirty="0"/>
              <a:t>CRM</a:t>
            </a:r>
            <a:r>
              <a:rPr lang="uk-UA" sz="3600" b="1" spc="-10" dirty="0"/>
              <a:t> Аптечного </a:t>
            </a:r>
            <a:r>
              <a:rPr lang="uk-UA" sz="3600" b="1" spc="-10" dirty="0" err="1"/>
              <a:t>юніту</a:t>
            </a:r>
            <a:r>
              <a:rPr lang="en-US" sz="3600" b="1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4" descr="https://scontent.fiev17-1.fna.fbcdn.net/v/t39.30808-6/301368587_482781047190626_419509612925898040_n.png?_nc_cat=102&amp;ccb=1-7&amp;_nc_sid=cc71e4&amp;_nc_ohc=IsINimtr1nwQ7kNvgECTDls&amp;_nc_ht=scontent.fiev17-1.fna&amp;oh=00_AYALwhNobVCh8Tu3HHc96TjYiz3eZYz40akjvn3zkBuztw&amp;oe=66BA4BA8">
            <a:extLst>
              <a:ext uri="{FF2B5EF4-FFF2-40B4-BE49-F238E27FC236}">
                <a16:creationId xmlns:a16="http://schemas.microsoft.com/office/drawing/2014/main" id="{4755785A-8C98-6349-F601-B7B9116B46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1"/>
          <a:stretch>
            <a:fillRect/>
          </a:stretch>
        </p:blipFill>
        <p:spPr bwMode="auto">
          <a:xfrm>
            <a:off x="20" y="10"/>
            <a:ext cx="12191980" cy="455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21">
            <a:extLst>
              <a:ext uri="{FF2B5EF4-FFF2-40B4-BE49-F238E27FC236}">
                <a16:creationId xmlns:a16="http://schemas.microsoft.com/office/drawing/2014/main" id="{69A964CE-697F-B97D-3F07-02C8966252C1}"/>
              </a:ext>
            </a:extLst>
          </p:cNvPr>
          <p:cNvSpPr txBox="1"/>
          <p:nvPr/>
        </p:nvSpPr>
        <p:spPr>
          <a:xfrm>
            <a:off x="8236901" y="4900051"/>
            <a:ext cx="3562965" cy="1615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76555" indent="-2286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pc="-10" noProof="0" dirty="0"/>
              <a:t>Павло </a:t>
            </a:r>
            <a:r>
              <a:rPr lang="en-US" spc="-10" noProof="0" dirty="0" err="1"/>
              <a:t>Гриценко</a:t>
            </a:r>
            <a:endParaRPr lang="en-US" spc="-10" noProof="0" dirty="0"/>
          </a:p>
          <a:p>
            <a:pPr marL="376555" indent="-2286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pc="-10" noProof="0" dirty="0"/>
          </a:p>
          <a:p>
            <a:pPr marL="376555" indent="-22860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pc="-10" noProof="0" dirty="0" err="1"/>
              <a:t>Менеджер</a:t>
            </a:r>
            <a:r>
              <a:rPr lang="en-US" spc="-10" noProof="0" dirty="0"/>
              <a:t> з </a:t>
            </a:r>
            <a:r>
              <a:rPr lang="en-US" spc="-10" noProof="0" dirty="0" err="1"/>
              <a:t>розвитку</a:t>
            </a:r>
            <a:r>
              <a:rPr lang="en-US" spc="-10" noProof="0" dirty="0"/>
              <a:t> </a:t>
            </a:r>
            <a:r>
              <a:rPr lang="en-US" spc="-10" noProof="0" dirty="0" err="1"/>
              <a:t>персоналу</a:t>
            </a:r>
            <a:endParaRPr lang="en-US" noProof="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CBCE67-567E-E7B8-A529-7921F1483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771" y="4569542"/>
            <a:ext cx="2288458" cy="228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8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0B459-9422-FB06-2633-98F2EA55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008986"/>
          </a:xfrm>
        </p:spPr>
        <p:txBody>
          <a:bodyPr anchor="b">
            <a:normAutofit fontScale="90000"/>
          </a:bodyPr>
          <a:lstStyle/>
          <a:p>
            <a:r>
              <a:rPr lang="ru-RU" dirty="0" err="1"/>
              <a:t>Встановлення</a:t>
            </a:r>
            <a:r>
              <a:rPr lang="ru-RU" dirty="0"/>
              <a:t> СРМ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6FF6571-008C-031D-087D-B9B614192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81905"/>
            <a:ext cx="3553412" cy="5063023"/>
          </a:xfrm>
        </p:spPr>
        <p:txBody>
          <a:bodyPr>
            <a:normAutofit/>
          </a:bodyPr>
          <a:lstStyle/>
          <a:p>
            <a:r>
              <a:rPr lang="uk-UA" sz="1800" dirty="0"/>
              <a:t>Відкрийте будь який браузер і зайдіть на сайт </a:t>
            </a:r>
            <a:r>
              <a:rPr lang="en-US" sz="1800" dirty="0">
                <a:hlinkClick r:id="rId2"/>
              </a:rPr>
              <a:t>https://gpavlik.github.io/AM/</a:t>
            </a:r>
            <a:r>
              <a:rPr lang="uk-UA" sz="1800" dirty="0"/>
              <a:t> та </a:t>
            </a:r>
            <a:r>
              <a:rPr lang="uk-UA" sz="1800" dirty="0" err="1"/>
              <a:t>натисність</a:t>
            </a:r>
            <a:r>
              <a:rPr lang="uk-UA" sz="1800" dirty="0"/>
              <a:t> </a:t>
            </a:r>
            <a:r>
              <a:rPr lang="en-US" sz="1800" dirty="0"/>
              <a:t>Enter</a:t>
            </a:r>
            <a:r>
              <a:rPr lang="ru-RU" sz="1800" dirty="0"/>
              <a:t>.</a:t>
            </a:r>
          </a:p>
          <a:p>
            <a:endParaRPr lang="ru-RU" sz="1800" dirty="0"/>
          </a:p>
          <a:p>
            <a:r>
              <a:rPr lang="uk-UA" sz="1800" dirty="0"/>
              <a:t>На екрані з’явиться вікно реєстрації</a:t>
            </a:r>
          </a:p>
          <a:p>
            <a:r>
              <a:rPr lang="uk-UA" sz="1800" dirty="0"/>
              <a:t>В полі «Виберіть користувача» оберіть своє ім’я та прізвище</a:t>
            </a:r>
          </a:p>
          <a:p>
            <a:r>
              <a:rPr lang="uk-UA" sz="1800" dirty="0"/>
              <a:t>В полі «пароль» введіть пароль, що прийшов Вам на пошту.</a:t>
            </a:r>
          </a:p>
          <a:p>
            <a:r>
              <a:rPr lang="uk-UA" sz="1800" dirty="0"/>
              <a:t>Після чого натисніть зелену кнопку «Увійти»</a:t>
            </a:r>
            <a:endParaRPr lang="en-US" sz="1800" dirty="0"/>
          </a:p>
          <a:p>
            <a:endParaRPr lang="en-US" sz="1800" dirty="0"/>
          </a:p>
          <a:p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61B8A3-8A7A-CEA7-50C5-6220DC92A7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3" r="3889" b="2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3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26514-8228-E93E-E964-530C956F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4FA758-A88C-4649-FBCD-2DDA4BD43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82104E-CCA4-9347-EA07-04DE3556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008986"/>
          </a:xfrm>
        </p:spPr>
        <p:txBody>
          <a:bodyPr anchor="b">
            <a:normAutofit/>
          </a:bodyPr>
          <a:lstStyle/>
          <a:p>
            <a:r>
              <a:rPr lang="ru-RU" dirty="0"/>
              <a:t>Меню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4243ADD-FE96-BA35-B51B-D5BDCBC3D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81905"/>
            <a:ext cx="3553412" cy="5063023"/>
          </a:xfrm>
        </p:spPr>
        <p:txBody>
          <a:bodyPr>
            <a:normAutofit/>
          </a:bodyPr>
          <a:lstStyle/>
          <a:p>
            <a:r>
              <a:rPr lang="uk-UA" sz="1800" dirty="0"/>
              <a:t>Якщо все зроблено правильно система відкриє для Вас сторінку меню</a:t>
            </a:r>
          </a:p>
          <a:p>
            <a:pPr marL="0" indent="0">
              <a:buNone/>
            </a:pPr>
            <a:endParaRPr lang="en-US" sz="1800" dirty="0"/>
          </a:p>
          <a:p>
            <a:endParaRPr lang="uk-UA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4E64D9-267F-50E5-E19D-EC1A26138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660" y="0"/>
            <a:ext cx="6955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078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E06141-252E-8341-05B4-F86E96C76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10800C-9A00-F9A9-F30B-4FB9141D2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65157E-9F9B-EDCA-AB3C-24A4FABAD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764"/>
            <a:ext cx="3553412" cy="681643"/>
          </a:xfrm>
        </p:spPr>
        <p:txBody>
          <a:bodyPr anchor="b">
            <a:normAutofit/>
          </a:bodyPr>
          <a:lstStyle/>
          <a:p>
            <a:r>
              <a:rPr lang="ru-RU" dirty="0"/>
              <a:t>Меню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3D1D265-C000-018D-B68B-2FCB7AA46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180407"/>
            <a:ext cx="3553412" cy="5564521"/>
          </a:xfrm>
        </p:spPr>
        <p:txBody>
          <a:bodyPr>
            <a:normAutofit lnSpcReduction="10000"/>
          </a:bodyPr>
          <a:lstStyle/>
          <a:p>
            <a:r>
              <a:rPr lang="uk-UA" sz="1800" dirty="0"/>
              <a:t>Під кнопками через кілька секунд ви побачите невеличкі швидкі </a:t>
            </a:r>
            <a:r>
              <a:rPr lang="uk-UA" sz="1800" dirty="0" err="1"/>
              <a:t>дашборди</a:t>
            </a:r>
            <a:r>
              <a:rPr lang="uk-UA" sz="1800" dirty="0"/>
              <a:t>  з виконання плану візитів та продаж</a:t>
            </a:r>
          </a:p>
          <a:p>
            <a:pPr marL="0" indent="0">
              <a:buNone/>
            </a:pPr>
            <a:r>
              <a:rPr lang="uk-UA" sz="1800" dirty="0"/>
              <a:t>План візитів на день:  (сумісників не стосується)</a:t>
            </a:r>
          </a:p>
          <a:p>
            <a:r>
              <a:rPr lang="uk-UA" sz="1800" dirty="0"/>
              <a:t>5 гінекологів</a:t>
            </a:r>
          </a:p>
          <a:p>
            <a:r>
              <a:rPr lang="uk-UA" sz="1800" dirty="0"/>
              <a:t>2 отоларингологи</a:t>
            </a:r>
          </a:p>
          <a:p>
            <a:r>
              <a:rPr lang="uk-UA" sz="1800" dirty="0"/>
              <a:t>1 гастроентеролог</a:t>
            </a:r>
          </a:p>
          <a:p>
            <a:r>
              <a:rPr lang="uk-UA" sz="1800" dirty="0"/>
              <a:t>1 аптечна мережа</a:t>
            </a:r>
          </a:p>
          <a:p>
            <a:r>
              <a:rPr lang="uk-UA" sz="1800" dirty="0"/>
              <a:t>4 аптеки </a:t>
            </a:r>
          </a:p>
          <a:p>
            <a:pPr marL="0" indent="0">
              <a:buNone/>
            </a:pPr>
            <a:r>
              <a:rPr lang="uk-UA" sz="1800" dirty="0"/>
              <a:t>План продажів розподілений на загальний, по обраному партнеру(ах), та по обраному продукту(ах)</a:t>
            </a:r>
            <a:endParaRPr lang="en-US" sz="1800" dirty="0"/>
          </a:p>
          <a:p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0D6558-89A5-33C0-3D13-43DBBF696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245" y="0"/>
            <a:ext cx="6608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7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6CDE5-BF63-7370-C1E4-9432958E8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42398F-91FB-4623-7863-C875B3AEC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704186"/>
          </a:xfrm>
        </p:spPr>
        <p:txBody>
          <a:bodyPr anchor="b">
            <a:normAutofit/>
          </a:bodyPr>
          <a:lstStyle/>
          <a:p>
            <a:r>
              <a:rPr lang="ru-RU" dirty="0" err="1"/>
              <a:t>Візити</a:t>
            </a:r>
            <a:r>
              <a:rPr lang="ru-RU" dirty="0"/>
              <a:t> в </a:t>
            </a:r>
            <a:r>
              <a:rPr lang="ru-RU" dirty="0" err="1"/>
              <a:t>мережі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F0E3315-C811-F546-49CF-2E568A53E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841" y="1435510"/>
            <a:ext cx="4361687" cy="487385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uk-UA" sz="1800" dirty="0"/>
              <a:t>В полі «оберіть партнера» оберіть назву мережі.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Заповніть поля «контактна особа і телефон»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Якщо у ВАС ВЖЕ БУЛИ ВІЗИТИ до цієї АМ то в історії візитів Ви побачите  дані заповнені Вами на попередній зустрічі.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Оберіть статус візиту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При потребі запишіть коментар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Після заповнення даних натисніть зелену кнопку «Відправити дані» Система </a:t>
            </a:r>
            <a:r>
              <a:rPr lang="uk-UA" sz="1800" dirty="0" err="1"/>
              <a:t>запише</a:t>
            </a:r>
            <a:r>
              <a:rPr lang="uk-UA" sz="1800" dirty="0"/>
              <a:t> ваш візит і оновить сторінку для наступного візиту.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Також Ви можете перейти в календар чи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на сторінку меню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EDDA9DE-E48A-B73A-F076-1BD959838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580" y="-1"/>
            <a:ext cx="5366774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B2545D-9971-62AE-E2AE-622DD023C70F}"/>
              </a:ext>
            </a:extLst>
          </p:cNvPr>
          <p:cNvSpPr txBox="1"/>
          <p:nvPr/>
        </p:nvSpPr>
        <p:spPr>
          <a:xfrm>
            <a:off x="7284915" y="1435510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FA9BE-7644-113B-A6B6-C02C58F5BD16}"/>
              </a:ext>
            </a:extLst>
          </p:cNvPr>
          <p:cNvSpPr txBox="1"/>
          <p:nvPr/>
        </p:nvSpPr>
        <p:spPr>
          <a:xfrm>
            <a:off x="7284915" y="2159410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B0C6D9-2196-E9C0-BDC2-E33776EC896C}"/>
              </a:ext>
            </a:extLst>
          </p:cNvPr>
          <p:cNvSpPr txBox="1"/>
          <p:nvPr/>
        </p:nvSpPr>
        <p:spPr>
          <a:xfrm>
            <a:off x="6580065" y="3428999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FB0444-F599-EEB6-C75C-62D4B25186DE}"/>
              </a:ext>
            </a:extLst>
          </p:cNvPr>
          <p:cNvSpPr txBox="1"/>
          <p:nvPr/>
        </p:nvSpPr>
        <p:spPr>
          <a:xfrm>
            <a:off x="6580065" y="4774167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90B5A-8A0F-9969-7D6C-D13B025AED39}"/>
              </a:ext>
            </a:extLst>
          </p:cNvPr>
          <p:cNvSpPr txBox="1"/>
          <p:nvPr/>
        </p:nvSpPr>
        <p:spPr>
          <a:xfrm>
            <a:off x="6580064" y="5240892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BCF3F9-1BEF-2883-51A2-50FEB3461E51}"/>
              </a:ext>
            </a:extLst>
          </p:cNvPr>
          <p:cNvSpPr txBox="1"/>
          <p:nvPr/>
        </p:nvSpPr>
        <p:spPr>
          <a:xfrm>
            <a:off x="7732589" y="6202917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84990C-4AE0-42B4-AA3A-63D478655B66}"/>
              </a:ext>
            </a:extLst>
          </p:cNvPr>
          <p:cNvSpPr txBox="1"/>
          <p:nvPr/>
        </p:nvSpPr>
        <p:spPr>
          <a:xfrm>
            <a:off x="9005316" y="6202917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2BDA7B-D344-4EF0-CC63-2DAACEF19439}"/>
              </a:ext>
            </a:extLst>
          </p:cNvPr>
          <p:cNvSpPr txBox="1"/>
          <p:nvPr/>
        </p:nvSpPr>
        <p:spPr>
          <a:xfrm>
            <a:off x="10283485" y="6202917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21999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1AC21-601D-8888-8AAB-E248F974D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CC2AA-5D73-0F9D-BF9F-B52CD981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008986"/>
          </a:xfrm>
        </p:spPr>
        <p:txBody>
          <a:bodyPr anchor="b">
            <a:normAutofit/>
          </a:bodyPr>
          <a:lstStyle/>
          <a:p>
            <a:r>
              <a:rPr lang="ru-RU" dirty="0" err="1"/>
              <a:t>Візити</a:t>
            </a:r>
            <a:r>
              <a:rPr lang="ru-RU" dirty="0"/>
              <a:t> в аптеку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DD3F1C-D0CD-22BC-325F-678991BF96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65"/>
          <a:stretch>
            <a:fillRect/>
          </a:stretch>
        </p:blipFill>
        <p:spPr>
          <a:xfrm>
            <a:off x="4886632" y="0"/>
            <a:ext cx="7305368" cy="6858000"/>
          </a:xfrm>
          <a:prstGeom prst="rect">
            <a:avLst/>
          </a:prstGeom>
        </p:spPr>
      </p:pic>
      <p:sp>
        <p:nvSpPr>
          <p:cNvPr id="7" name="Місце для вмісту 2">
            <a:extLst>
              <a:ext uri="{FF2B5EF4-FFF2-40B4-BE49-F238E27FC236}">
                <a16:creationId xmlns:a16="http://schemas.microsoft.com/office/drawing/2014/main" id="{2482044A-8C6C-939B-EC5D-CF446B0DB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1681163"/>
            <a:ext cx="3900129" cy="5064125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uk-UA" sz="1800" dirty="0"/>
              <a:t>В полі «оберіть партнера» оберіть назву мережі. Так само оберіть «Місто» і «Адресу» аптеки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Заповніть поля «контактна особа і телефон»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Відмітьте наявність викладки та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рівня обізнаності персоналу по продуктах компанії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При потребі запишіть коментар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Після заповнення даних натисніть зелену кнопку «Зберегти візит» Система </a:t>
            </a:r>
            <a:r>
              <a:rPr lang="uk-UA" sz="1800" dirty="0" err="1"/>
              <a:t>запише</a:t>
            </a:r>
            <a:r>
              <a:rPr lang="uk-UA" sz="1800" dirty="0"/>
              <a:t> ваш візит і оновить сторінку для наступного візиту.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Також Ви можете перейти в календар чи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на сторінку меню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01F2D9-5631-59C1-21E1-92DA4043822A}"/>
              </a:ext>
            </a:extLst>
          </p:cNvPr>
          <p:cNvSpPr txBox="1"/>
          <p:nvPr/>
        </p:nvSpPr>
        <p:spPr>
          <a:xfrm>
            <a:off x="7284913" y="1720030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BB7FE-C34A-582F-E09E-BE24931A5457}"/>
              </a:ext>
            </a:extLst>
          </p:cNvPr>
          <p:cNvSpPr txBox="1"/>
          <p:nvPr/>
        </p:nvSpPr>
        <p:spPr>
          <a:xfrm>
            <a:off x="7284914" y="2871020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3F3465-8013-39C5-3A6E-2BC717C3E662}"/>
              </a:ext>
            </a:extLst>
          </p:cNvPr>
          <p:cNvSpPr txBox="1"/>
          <p:nvPr/>
        </p:nvSpPr>
        <p:spPr>
          <a:xfrm>
            <a:off x="6580065" y="3428999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F0141C-67EF-D1EA-71D3-FA8D265F865A}"/>
              </a:ext>
            </a:extLst>
          </p:cNvPr>
          <p:cNvSpPr txBox="1"/>
          <p:nvPr/>
        </p:nvSpPr>
        <p:spPr>
          <a:xfrm>
            <a:off x="6580064" y="3798331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FD3A0-C74F-0A33-2A4B-FF6F846A40E8}"/>
              </a:ext>
            </a:extLst>
          </p:cNvPr>
          <p:cNvSpPr txBox="1"/>
          <p:nvPr/>
        </p:nvSpPr>
        <p:spPr>
          <a:xfrm>
            <a:off x="6580064" y="4213225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A51794-56AE-9A7D-F98F-344BCF5BE0B7}"/>
              </a:ext>
            </a:extLst>
          </p:cNvPr>
          <p:cNvSpPr txBox="1"/>
          <p:nvPr/>
        </p:nvSpPr>
        <p:spPr>
          <a:xfrm>
            <a:off x="7009611" y="5337678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8AC508-EC06-1B7C-3741-C17A1CFD44C8}"/>
              </a:ext>
            </a:extLst>
          </p:cNvPr>
          <p:cNvSpPr txBox="1"/>
          <p:nvPr/>
        </p:nvSpPr>
        <p:spPr>
          <a:xfrm>
            <a:off x="8376052" y="5337678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8E143C-F04A-BCCA-C158-64DF2E17012A}"/>
              </a:ext>
            </a:extLst>
          </p:cNvPr>
          <p:cNvSpPr txBox="1"/>
          <p:nvPr/>
        </p:nvSpPr>
        <p:spPr>
          <a:xfrm>
            <a:off x="9834106" y="5337678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4341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906B8-E237-660C-0F2C-8A1901C36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61820-F7EB-82C1-0B6B-984CA393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008986"/>
          </a:xfrm>
        </p:spPr>
        <p:txBody>
          <a:bodyPr anchor="b">
            <a:normAutofit/>
          </a:bodyPr>
          <a:lstStyle/>
          <a:p>
            <a:r>
              <a:rPr lang="ru-RU" dirty="0" err="1"/>
              <a:t>Візит</a:t>
            </a:r>
            <a:r>
              <a:rPr lang="ru-RU" dirty="0"/>
              <a:t> до </a:t>
            </a:r>
            <a:r>
              <a:rPr lang="ru-RU" dirty="0" err="1"/>
              <a:t>лікаря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BE2A11-810E-EB2C-065F-A9B03F61C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094" y="0"/>
            <a:ext cx="7744906" cy="6858000"/>
          </a:xfrm>
          <a:prstGeom prst="rect">
            <a:avLst/>
          </a:prstGeom>
        </p:spPr>
      </p:pic>
      <p:sp>
        <p:nvSpPr>
          <p:cNvPr id="7" name="Місце для вмісту 2">
            <a:extLst>
              <a:ext uri="{FF2B5EF4-FFF2-40B4-BE49-F238E27FC236}">
                <a16:creationId xmlns:a16="http://schemas.microsoft.com/office/drawing/2014/main" id="{DEAD47B5-D0BB-C21F-D573-2741C3F79591}"/>
              </a:ext>
            </a:extLst>
          </p:cNvPr>
          <p:cNvSpPr txBox="1">
            <a:spLocks/>
          </p:cNvSpPr>
          <p:nvPr/>
        </p:nvSpPr>
        <p:spPr>
          <a:xfrm>
            <a:off x="124851" y="1750142"/>
            <a:ext cx="4361687" cy="4873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uk-UA" sz="1800" dirty="0"/>
              <a:t>Заповніть поля вибору щоб обрати потрібного лікаря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Якщо у ВАС ВЖЕ БУЛИ ВІЗИТИ до цього Лікаря то в історії візитів Ви побачите  дані заповнені Вами на попередній зустрічі.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Після заповнення даних натисніть зелену кнопку «Зберегти візит» Система </a:t>
            </a:r>
            <a:r>
              <a:rPr lang="uk-UA" sz="1800" dirty="0" err="1"/>
              <a:t>запише</a:t>
            </a:r>
            <a:r>
              <a:rPr lang="uk-UA" sz="1800" dirty="0"/>
              <a:t> ваш візит і оновить сторінку для наступного візиту.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Також Ви можете перейти в календар чи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на сторінку меню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3CA11C-6505-ED83-74AF-739D3658723A}"/>
              </a:ext>
            </a:extLst>
          </p:cNvPr>
          <p:cNvSpPr txBox="1"/>
          <p:nvPr/>
        </p:nvSpPr>
        <p:spPr>
          <a:xfrm>
            <a:off x="6567158" y="2093344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B1A92-37C5-724F-E698-C0B33A99B821}"/>
              </a:ext>
            </a:extLst>
          </p:cNvPr>
          <p:cNvSpPr txBox="1"/>
          <p:nvPr/>
        </p:nvSpPr>
        <p:spPr>
          <a:xfrm>
            <a:off x="6567159" y="3244334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B4F629-2784-5D72-73AA-33C7EAABF6C7}"/>
              </a:ext>
            </a:extLst>
          </p:cNvPr>
          <p:cNvSpPr txBox="1"/>
          <p:nvPr/>
        </p:nvSpPr>
        <p:spPr>
          <a:xfrm>
            <a:off x="6704809" y="5208326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AC39CA-E5F9-4F0D-8BD7-790AFB261EBE}"/>
              </a:ext>
            </a:extLst>
          </p:cNvPr>
          <p:cNvSpPr txBox="1"/>
          <p:nvPr/>
        </p:nvSpPr>
        <p:spPr>
          <a:xfrm>
            <a:off x="8181895" y="5208326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A832B3-7538-EE94-3E24-F2DBEE34EE56}"/>
              </a:ext>
            </a:extLst>
          </p:cNvPr>
          <p:cNvSpPr txBox="1"/>
          <p:nvPr/>
        </p:nvSpPr>
        <p:spPr>
          <a:xfrm>
            <a:off x="9658981" y="5208326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98642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2DFC4-CD22-11C4-EF6F-F210C6BC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D1A05-B7D1-D04F-FAB5-3516F6FAE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586199"/>
          </a:xfrm>
        </p:spPr>
        <p:txBody>
          <a:bodyPr anchor="b">
            <a:normAutofit/>
          </a:bodyPr>
          <a:lstStyle/>
          <a:p>
            <a:r>
              <a:rPr lang="ru-RU" dirty="0" err="1"/>
              <a:t>Калькулятори</a:t>
            </a:r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36C460D-D578-CB30-BEE1-478D3C276E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40" r="7640"/>
          <a:stretch>
            <a:fillRect/>
          </a:stretch>
        </p:blipFill>
        <p:spPr>
          <a:xfrm>
            <a:off x="5607435" y="0"/>
            <a:ext cx="6584565" cy="6858000"/>
          </a:xfrm>
          <a:prstGeom prst="rect">
            <a:avLst/>
          </a:prstGeom>
        </p:spPr>
      </p:pic>
      <p:sp>
        <p:nvSpPr>
          <p:cNvPr id="9" name="Місце для вмісту 2">
            <a:extLst>
              <a:ext uri="{FF2B5EF4-FFF2-40B4-BE49-F238E27FC236}">
                <a16:creationId xmlns:a16="http://schemas.microsoft.com/office/drawing/2014/main" id="{AD9E4F6B-100B-0205-A9C1-C6637C6D1943}"/>
              </a:ext>
            </a:extLst>
          </p:cNvPr>
          <p:cNvSpPr txBox="1">
            <a:spLocks/>
          </p:cNvSpPr>
          <p:nvPr/>
        </p:nvSpPr>
        <p:spPr>
          <a:xfrm>
            <a:off x="366841" y="1435510"/>
            <a:ext cx="4361687" cy="4873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uk-UA" sz="1800" dirty="0"/>
              <a:t>В полі «Партнер» оберіть назву мережі.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Оберіть квартал 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Та форму розрахунку Гроші чи Упаковки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Натисніть зелену кнопку «Розрахувати»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CFA7D5-387A-116C-D4F3-41378B5432AC}"/>
              </a:ext>
            </a:extLst>
          </p:cNvPr>
          <p:cNvSpPr txBox="1"/>
          <p:nvPr/>
        </p:nvSpPr>
        <p:spPr>
          <a:xfrm>
            <a:off x="8248475" y="2142817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9348F4-8480-69D8-0091-726A78B3BA10}"/>
              </a:ext>
            </a:extLst>
          </p:cNvPr>
          <p:cNvSpPr txBox="1"/>
          <p:nvPr/>
        </p:nvSpPr>
        <p:spPr>
          <a:xfrm>
            <a:off x="8248475" y="2684207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A72732-2F8A-CBCE-F99B-C517423BFABB}"/>
              </a:ext>
            </a:extLst>
          </p:cNvPr>
          <p:cNvSpPr txBox="1"/>
          <p:nvPr/>
        </p:nvSpPr>
        <p:spPr>
          <a:xfrm>
            <a:off x="8248475" y="3244334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D41306-9C90-EEBB-0621-F9E1CA438FD1}"/>
              </a:ext>
            </a:extLst>
          </p:cNvPr>
          <p:cNvSpPr txBox="1"/>
          <p:nvPr/>
        </p:nvSpPr>
        <p:spPr>
          <a:xfrm>
            <a:off x="8979135" y="3429000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16077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2695-7677-1437-EBC8-D9AD43B4F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0B753-D27A-336A-06A7-DEAB5396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546870"/>
          </a:xfrm>
        </p:spPr>
        <p:txBody>
          <a:bodyPr anchor="b">
            <a:normAutofit fontScale="90000"/>
          </a:bodyPr>
          <a:lstStyle/>
          <a:p>
            <a:r>
              <a:rPr lang="ru-RU" dirty="0" err="1"/>
              <a:t>Калькулятори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58BEC1A-4AA5-E16D-B78C-EA315E7F3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81905"/>
            <a:ext cx="3553412" cy="5063023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uk-UA" sz="1800" dirty="0"/>
              <a:t>Після цього Ви отримаєте дані по мережі в розрізі всіх Ваших партнерів та окремо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А також таблицю розрахунку плану по продуктах і пакетних пропозиціях для нього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5BC5BF-28C8-5036-0910-BA2BEC83E4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85" r="1745"/>
          <a:stretch>
            <a:fillRect/>
          </a:stretch>
        </p:blipFill>
        <p:spPr>
          <a:xfrm>
            <a:off x="4286865" y="0"/>
            <a:ext cx="774781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F36279-13F9-DFB1-5F2B-1BD26A81E6C2}"/>
              </a:ext>
            </a:extLst>
          </p:cNvPr>
          <p:cNvSpPr txBox="1"/>
          <p:nvPr/>
        </p:nvSpPr>
        <p:spPr>
          <a:xfrm>
            <a:off x="11148991" y="1041605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A4BE06-368C-7DA6-1253-4F4E1D1543D6}"/>
              </a:ext>
            </a:extLst>
          </p:cNvPr>
          <p:cNvSpPr txBox="1"/>
          <p:nvPr/>
        </p:nvSpPr>
        <p:spPr>
          <a:xfrm>
            <a:off x="11148992" y="2192595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2509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44DC7-498D-0658-CDE1-F57E5160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E851A-7CA6-D424-E66E-5DA37B69B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008986"/>
          </a:xfrm>
        </p:spPr>
        <p:txBody>
          <a:bodyPr anchor="b">
            <a:normAutofit/>
          </a:bodyPr>
          <a:lstStyle/>
          <a:p>
            <a:r>
              <a:rPr lang="uk-UA" noProof="0" dirty="0"/>
              <a:t>Звіти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57CA387-4A27-A01F-0BF2-7844F4FCE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81905"/>
            <a:ext cx="3553412" cy="5063023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uk-UA" sz="1800" dirty="0"/>
              <a:t>Розділ звіти дозволяє переглянути результати заповнених вами візитів чи плані в календарі 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за вибраний період часу, 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в розрізі обраного партнера чи продуктів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А також експортувати візити в </a:t>
            </a:r>
            <a:r>
              <a:rPr lang="uk-UA" sz="1800" dirty="0" err="1"/>
              <a:t>ексель</a:t>
            </a:r>
            <a:endParaRPr lang="uk-UA" sz="1800" dirty="0"/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Також з цієї сторінки у вас є можливість перейти в меню</a:t>
            </a:r>
            <a:endParaRPr lang="en-US" sz="1800" dirty="0"/>
          </a:p>
          <a:p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51DC85-A8B2-C44C-E215-EF83CCE5D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238" y="0"/>
            <a:ext cx="656476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E5C728-034E-BDC7-5E06-081B7B4B0A10}"/>
              </a:ext>
            </a:extLst>
          </p:cNvPr>
          <p:cNvSpPr txBox="1"/>
          <p:nvPr/>
        </p:nvSpPr>
        <p:spPr>
          <a:xfrm>
            <a:off x="8771967" y="3725499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19F1E8-DFB2-18B4-9E51-18DB0E21647A}"/>
              </a:ext>
            </a:extLst>
          </p:cNvPr>
          <p:cNvSpPr txBox="1"/>
          <p:nvPr/>
        </p:nvSpPr>
        <p:spPr>
          <a:xfrm>
            <a:off x="7776527" y="1838321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0EE17-32A5-C9BF-EE79-81A49D57BEC7}"/>
              </a:ext>
            </a:extLst>
          </p:cNvPr>
          <p:cNvSpPr txBox="1"/>
          <p:nvPr/>
        </p:nvSpPr>
        <p:spPr>
          <a:xfrm>
            <a:off x="6921119" y="2504455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34A3F5-0E1E-B1FD-1D2B-9681823C0EB6}"/>
              </a:ext>
            </a:extLst>
          </p:cNvPr>
          <p:cNvSpPr txBox="1"/>
          <p:nvPr/>
        </p:nvSpPr>
        <p:spPr>
          <a:xfrm>
            <a:off x="6645816" y="4028750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0D37A-AC4F-0E88-0B39-54EDC7E7B3E4}"/>
              </a:ext>
            </a:extLst>
          </p:cNvPr>
          <p:cNvSpPr txBox="1"/>
          <p:nvPr/>
        </p:nvSpPr>
        <p:spPr>
          <a:xfrm>
            <a:off x="10206680" y="3725499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5124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1623F-5112-E542-CF58-604F6A98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DBFFC-6912-1FB5-90D8-DE2D87D55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596031"/>
          </a:xfrm>
        </p:spPr>
        <p:txBody>
          <a:bodyPr anchor="b">
            <a:normAutofit/>
          </a:bodyPr>
          <a:lstStyle/>
          <a:p>
            <a:r>
              <a:rPr lang="ru-RU" dirty="0" err="1"/>
              <a:t>Календар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F98746B-8B30-540D-DAF3-5026E7BBD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81905"/>
            <a:ext cx="3553412" cy="5063023"/>
          </a:xfrm>
        </p:spPr>
        <p:txBody>
          <a:bodyPr>
            <a:normAutofit/>
          </a:bodyPr>
          <a:lstStyle/>
          <a:p>
            <a:r>
              <a:rPr lang="uk-UA" sz="1800" dirty="0"/>
              <a:t>В Цьому розділі Ви можете запланувати, відмінити чи перенести свої візити</a:t>
            </a:r>
          </a:p>
          <a:p>
            <a:r>
              <a:rPr lang="uk-UA" sz="1800" dirty="0"/>
              <a:t>В полі «Партнер» ви можете обрати аптечну мережу, аптеку чи лікаря</a:t>
            </a:r>
          </a:p>
          <a:p>
            <a:r>
              <a:rPr lang="uk-UA" sz="1800" dirty="0"/>
              <a:t>Оберіть дату та час візиту</a:t>
            </a:r>
          </a:p>
          <a:p>
            <a:r>
              <a:rPr lang="uk-UA" sz="1800" dirty="0"/>
              <a:t>Та натисніть Зелену кнопку «додати візит». Після цього візит з’явиться в </a:t>
            </a:r>
            <a:r>
              <a:rPr lang="uk-UA" sz="1800" dirty="0" err="1"/>
              <a:t>ячейці</a:t>
            </a:r>
            <a:r>
              <a:rPr lang="uk-UA" sz="1800" dirty="0"/>
              <a:t> календаря</a:t>
            </a:r>
          </a:p>
          <a:p>
            <a:pPr marL="0" indent="0">
              <a:buNone/>
            </a:pPr>
            <a:endParaRPr lang="en-US" sz="1800" dirty="0"/>
          </a:p>
          <a:p>
            <a:endParaRPr lang="uk-UA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972A2D-9CE9-2289-77BD-3375DF1C2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311" y="-113072"/>
            <a:ext cx="6695690" cy="6971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AC3A4C-7E53-4360-F1BA-4F94F7F476B2}"/>
              </a:ext>
            </a:extLst>
          </p:cNvPr>
          <p:cNvSpPr txBox="1"/>
          <p:nvPr/>
        </p:nvSpPr>
        <p:spPr>
          <a:xfrm>
            <a:off x="7127598" y="901519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CF5515-6388-4658-05A2-9CE70F8B422C}"/>
              </a:ext>
            </a:extLst>
          </p:cNvPr>
          <p:cNvSpPr txBox="1"/>
          <p:nvPr/>
        </p:nvSpPr>
        <p:spPr>
          <a:xfrm>
            <a:off x="7126808" y="1612491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FA80E9-6B97-EF4E-A173-D0D1B3F66975}"/>
              </a:ext>
            </a:extLst>
          </p:cNvPr>
          <p:cNvSpPr txBox="1"/>
          <p:nvPr/>
        </p:nvSpPr>
        <p:spPr>
          <a:xfrm>
            <a:off x="7126807" y="2323463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59301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C5C5C-26BE-588D-E4D9-A548E4EFB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0C45E-5AC9-67EE-480F-10B450935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596031"/>
          </a:xfrm>
        </p:spPr>
        <p:txBody>
          <a:bodyPr anchor="b">
            <a:normAutofit/>
          </a:bodyPr>
          <a:lstStyle/>
          <a:p>
            <a:r>
              <a:rPr lang="ru-RU" dirty="0" err="1"/>
              <a:t>Календар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8C43F96-D2DE-5DD8-8855-46A06C994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81905"/>
            <a:ext cx="3553412" cy="5063023"/>
          </a:xfrm>
        </p:spPr>
        <p:txBody>
          <a:bodyPr>
            <a:normAutofit/>
          </a:bodyPr>
          <a:lstStyle/>
          <a:p>
            <a:r>
              <a:rPr lang="uk-UA" sz="1800" dirty="0"/>
              <a:t>Якщо ви «</a:t>
            </a:r>
            <a:r>
              <a:rPr lang="uk-UA" sz="1800" dirty="0" err="1"/>
              <a:t>натисните</a:t>
            </a:r>
            <a:r>
              <a:rPr lang="uk-UA" sz="1800" dirty="0"/>
              <a:t>» на значок візиту в поля календаря то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Ви зможете Почати візит і система вас перенесе до візиту саме того типу якого партнера Ви обрали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Перенести візит (Попередньо обравши нову дату та час)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800" dirty="0"/>
              <a:t>Або відмінити візит</a:t>
            </a:r>
          </a:p>
          <a:p>
            <a:pPr marL="0" indent="0">
              <a:buNone/>
            </a:pPr>
            <a:endParaRPr lang="en-US" sz="1800" dirty="0"/>
          </a:p>
          <a:p>
            <a:endParaRPr lang="uk-UA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14EF1A-2ACF-4031-B7AC-0D0204F8B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647" y="0"/>
            <a:ext cx="776835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A94B85-9F8C-0229-2DA5-8EB369A2A796}"/>
              </a:ext>
            </a:extLst>
          </p:cNvPr>
          <p:cNvSpPr txBox="1"/>
          <p:nvPr/>
        </p:nvSpPr>
        <p:spPr>
          <a:xfrm>
            <a:off x="7520888" y="1199535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DE6A7-F883-0121-8CF4-639D485B9CC4}"/>
              </a:ext>
            </a:extLst>
          </p:cNvPr>
          <p:cNvSpPr txBox="1"/>
          <p:nvPr/>
        </p:nvSpPr>
        <p:spPr>
          <a:xfrm>
            <a:off x="8896614" y="1199535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3E0951-E8F4-4131-1B71-B59B25CDFEFF}"/>
              </a:ext>
            </a:extLst>
          </p:cNvPr>
          <p:cNvSpPr txBox="1"/>
          <p:nvPr/>
        </p:nvSpPr>
        <p:spPr>
          <a:xfrm>
            <a:off x="9171917" y="1822018"/>
            <a:ext cx="27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FFFF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0009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26A3-6001-DFE3-C9A3-D1767BA7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A3EB478-B0FF-DCFE-ECF4-07F7C6100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2" r="4762"/>
          <a:stretch>
            <a:fillRect/>
          </a:stretch>
        </p:blipFill>
        <p:spPr>
          <a:xfrm>
            <a:off x="4345858" y="0"/>
            <a:ext cx="7846142" cy="687662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B0ECE-D6AC-F86C-0B3C-4FC98B27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4084874"/>
          </a:xfrm>
        </p:spPr>
        <p:txBody>
          <a:bodyPr anchor="b">
            <a:normAutofit/>
          </a:bodyPr>
          <a:lstStyle/>
          <a:p>
            <a:pPr algn="ctr"/>
            <a:r>
              <a:rPr lang="uk-UA" noProof="0" dirty="0"/>
              <a:t>Дякую за Увагу.</a:t>
            </a:r>
            <a:br>
              <a:rPr lang="uk-UA" noProof="0" dirty="0"/>
            </a:br>
            <a:br>
              <a:rPr lang="uk-UA" noProof="0" dirty="0"/>
            </a:br>
            <a:br>
              <a:rPr lang="uk-UA" noProof="0" dirty="0"/>
            </a:br>
            <a:br>
              <a:rPr lang="uk-UA" noProof="0" dirty="0"/>
            </a:br>
            <a:br>
              <a:rPr lang="uk-UA" noProof="0" dirty="0"/>
            </a:br>
            <a:br>
              <a:rPr lang="uk-UA" noProof="0" dirty="0"/>
            </a:br>
            <a:r>
              <a:rPr lang="uk-UA" noProof="0" dirty="0"/>
              <a:t>Бажаю успішних продажів !</a:t>
            </a:r>
          </a:p>
        </p:txBody>
      </p:sp>
    </p:spTree>
    <p:extLst>
      <p:ext uri="{BB962C8B-B14F-4D97-AF65-F5344CB8AC3E}">
        <p14:creationId xmlns:p14="http://schemas.microsoft.com/office/powerpoint/2010/main" val="379270419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596</Words>
  <Application>Microsoft Office PowerPoint</Application>
  <PresentationFormat>Широкий екран</PresentationFormat>
  <Paragraphs>110</Paragraphs>
  <Slides>13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17" baseType="lpstr">
      <vt:lpstr>Aptos</vt:lpstr>
      <vt:lpstr>Arial</vt:lpstr>
      <vt:lpstr>Neue Haas Grotesk Text Pro</vt:lpstr>
      <vt:lpstr>VanillaVTI</vt:lpstr>
      <vt:lpstr>Презентація PowerPoint</vt:lpstr>
      <vt:lpstr>Встановлення СРМ</vt:lpstr>
      <vt:lpstr>Меню</vt:lpstr>
      <vt:lpstr>Меню</vt:lpstr>
      <vt:lpstr>Візити в мережі</vt:lpstr>
      <vt:lpstr>Візити в аптеку</vt:lpstr>
      <vt:lpstr>Візит до лікаря</vt:lpstr>
      <vt:lpstr>Калькулятори</vt:lpstr>
      <vt:lpstr>Калькулятори</vt:lpstr>
      <vt:lpstr>Звіти</vt:lpstr>
      <vt:lpstr>Календар</vt:lpstr>
      <vt:lpstr>Календар</vt:lpstr>
      <vt:lpstr>Дякую за Увагу.      Бажаю успішних продажів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Pharmasco Hrytsenko</dc:creator>
  <cp:lastModifiedBy>Pharmasco Hrytsenko</cp:lastModifiedBy>
  <cp:revision>5</cp:revision>
  <dcterms:created xsi:type="dcterms:W3CDTF">2026-04-14T10:51:55Z</dcterms:created>
  <dcterms:modified xsi:type="dcterms:W3CDTF">2026-04-30T09:04:03Z</dcterms:modified>
</cp:coreProperties>
</file>