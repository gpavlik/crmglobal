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8" r:id="rId3"/>
    <p:sldId id="259" r:id="rId4"/>
    <p:sldId id="261" r:id="rId5"/>
    <p:sldId id="267" r:id="rId6"/>
    <p:sldId id="270" r:id="rId7"/>
    <p:sldId id="271" r:id="rId8"/>
    <p:sldId id="276" r:id="rId9"/>
    <p:sldId id="279" r:id="rId10"/>
    <p:sldId id="281" r:id="rId11"/>
    <p:sldId id="282" r:id="rId12"/>
    <p:sldId id="283" r:id="rId13"/>
    <p:sldId id="387" r:id="rId14"/>
    <p:sldId id="388" r:id="rId15"/>
    <p:sldId id="389" r:id="rId16"/>
    <p:sldId id="390" r:id="rId17"/>
    <p:sldId id="391" r:id="rId18"/>
    <p:sldId id="392" r:id="rId19"/>
    <p:sldId id="393" r:id="rId20"/>
    <p:sldId id="394" r:id="rId21"/>
    <p:sldId id="395" r:id="rId22"/>
    <p:sldId id="397" r:id="rId23"/>
    <p:sldId id="399" r:id="rId24"/>
    <p:sldId id="400" r:id="rId25"/>
    <p:sldId id="401" r:id="rId26"/>
    <p:sldId id="403" r:id="rId27"/>
    <p:sldId id="404" r:id="rId28"/>
    <p:sldId id="405" r:id="rId29"/>
    <p:sldId id="406" r:id="rId30"/>
    <p:sldId id="407" r:id="rId31"/>
    <p:sldId id="416" r:id="rId32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80392" autoAdjust="0"/>
  </p:normalViewPr>
  <p:slideViewPr>
    <p:cSldViewPr snapToGrid="0" showGuides="1">
      <p:cViewPr varScale="1">
        <p:scale>
          <a:sx n="85" d="100"/>
          <a:sy n="85" d="100"/>
        </p:scale>
        <p:origin x="1398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44AC51-0690-4566-865E-33F62253DB12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A06ACE-FF67-4E83-A57C-FE10B8C1B65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3308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ru-RU" dirty="0" err="1"/>
              <a:t>KioMedine</a:t>
            </a:r>
            <a:r>
              <a:rPr lang="ru-RU" dirty="0"/>
              <a:t>® — </a:t>
            </a:r>
            <a:r>
              <a:rPr lang="ru-RU" dirty="0" err="1"/>
              <a:t>рішення</a:t>
            </a:r>
            <a:r>
              <a:rPr lang="ru-RU" dirty="0"/>
              <a:t> для </a:t>
            </a:r>
            <a:r>
              <a:rPr lang="ru-RU" dirty="0" err="1"/>
              <a:t>складних</a:t>
            </a:r>
            <a:r>
              <a:rPr lang="ru-RU" dirty="0"/>
              <a:t> </a:t>
            </a:r>
            <a:r>
              <a:rPr lang="ru-RU" dirty="0" err="1"/>
              <a:t>випадків</a:t>
            </a:r>
            <a:r>
              <a:rPr lang="ru-RU" dirty="0"/>
              <a:t> остеоартриту»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10081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="1" dirty="0" err="1"/>
              <a:t>остеоартрит</a:t>
            </a:r>
            <a:r>
              <a:rPr lang="uk-UA" b="1" dirty="0"/>
              <a:t> колінного суглоба</a:t>
            </a:r>
            <a:r>
              <a:rPr lang="uk-UA" dirty="0"/>
              <a:t> є </a:t>
            </a:r>
            <a:r>
              <a:rPr lang="uk-UA" b="1" dirty="0"/>
              <a:t>хронічним дегенеративним і прогресуючим захворюванням</a:t>
            </a:r>
            <a:r>
              <a:rPr lang="uk-UA" dirty="0"/>
              <a:t>.</a:t>
            </a:r>
            <a:br>
              <a:rPr lang="uk-UA" dirty="0"/>
            </a:br>
            <a:r>
              <a:rPr lang="uk-UA" dirty="0"/>
              <a:t>Основними чинниками розвитку є </a:t>
            </a:r>
            <a:r>
              <a:rPr lang="uk-UA" b="1" dirty="0"/>
              <a:t>повторювані механічні навантаження</a:t>
            </a:r>
            <a:r>
              <a:rPr lang="uk-UA" dirty="0"/>
              <a:t> та </a:t>
            </a:r>
            <a:r>
              <a:rPr lang="uk-UA" b="1" dirty="0"/>
              <a:t>окислювальне й запальне ураження тканин</a:t>
            </a:r>
            <a:r>
              <a:rPr lang="uk-UA" dirty="0"/>
              <a:t>.</a:t>
            </a:r>
            <a:br>
              <a:rPr lang="uk-UA" dirty="0"/>
            </a:br>
            <a:r>
              <a:rPr lang="uk-UA" dirty="0"/>
              <a:t>Під дією цих факторів відбувається </a:t>
            </a:r>
            <a:r>
              <a:rPr lang="uk-UA" b="1" dirty="0"/>
              <a:t>надмірне утворення активних форм кисню (АФК)</a:t>
            </a:r>
            <a:r>
              <a:rPr lang="uk-UA" dirty="0"/>
              <a:t>, що пошкоджують клітини хряща.</a:t>
            </a:r>
            <a:br>
              <a:rPr lang="uk-UA" dirty="0"/>
            </a:br>
            <a:r>
              <a:rPr lang="uk-UA" dirty="0"/>
              <a:t>Це призводить до </a:t>
            </a:r>
            <a:r>
              <a:rPr lang="uk-UA" b="1" dirty="0"/>
              <a:t>зниження молекулярної маси та кількості ендогенної </a:t>
            </a:r>
            <a:r>
              <a:rPr lang="uk-UA" b="1" dirty="0" err="1"/>
              <a:t>гіалуронової</a:t>
            </a:r>
            <a:r>
              <a:rPr lang="uk-UA" b="1" dirty="0"/>
              <a:t> кислоти</a:t>
            </a:r>
            <a:r>
              <a:rPr lang="uk-UA" dirty="0"/>
              <a:t>, яка відповідає за змащення суглоба.</a:t>
            </a:r>
            <a:br>
              <a:rPr lang="uk-UA" dirty="0"/>
            </a:br>
            <a:r>
              <a:rPr lang="uk-UA" dirty="0"/>
              <a:t>У результаті порушується </a:t>
            </a:r>
            <a:r>
              <a:rPr lang="uk-UA" b="1" dirty="0"/>
              <a:t>тканинний гомеостаз</a:t>
            </a:r>
            <a:r>
              <a:rPr lang="uk-UA" dirty="0"/>
              <a:t>, що проявляється втратою еластичності, болем і обмеженням рухливості.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06277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основні </a:t>
            </a:r>
            <a:r>
              <a:rPr lang="uk-UA" b="1" dirty="0"/>
              <a:t>фактори ризику розвитку </a:t>
            </a:r>
            <a:r>
              <a:rPr lang="uk-UA" b="1" dirty="0" err="1"/>
              <a:t>остеоартриту</a:t>
            </a:r>
            <a:r>
              <a:rPr lang="uk-UA" b="1" dirty="0"/>
              <a:t> колінного суглоба</a:t>
            </a:r>
            <a:r>
              <a:rPr lang="uk-UA" dirty="0"/>
              <a:t>.</a:t>
            </a:r>
            <a:br>
              <a:rPr lang="uk-UA" dirty="0"/>
            </a:br>
            <a:r>
              <a:rPr lang="uk-UA" dirty="0"/>
              <a:t>До </a:t>
            </a:r>
            <a:r>
              <a:rPr lang="uk-UA" b="1" dirty="0"/>
              <a:t>системних чинників</a:t>
            </a:r>
            <a:r>
              <a:rPr lang="uk-UA" dirty="0"/>
              <a:t> належать вік, стать, генетика, гормональний статус, щільність кісток і </a:t>
            </a:r>
            <a:r>
              <a:rPr lang="uk-UA" b="1" dirty="0"/>
              <a:t>запалення</a:t>
            </a:r>
            <a:r>
              <a:rPr lang="uk-UA" dirty="0"/>
              <a:t>, що підсилює дегенеративні зміни.</a:t>
            </a:r>
            <a:br>
              <a:rPr lang="uk-UA" dirty="0"/>
            </a:br>
            <a:r>
              <a:rPr lang="uk-UA" b="1" dirty="0"/>
              <a:t>Локальні причини</a:t>
            </a:r>
            <a:r>
              <a:rPr lang="uk-UA" dirty="0"/>
              <a:t> включають деформацію суглоба, розтягнення зв’язок, м’язову слабкість і попередні травми.</a:t>
            </a:r>
            <a:br>
              <a:rPr lang="uk-UA" dirty="0"/>
            </a:br>
            <a:r>
              <a:rPr lang="uk-UA" dirty="0"/>
              <a:t>Серед </a:t>
            </a:r>
            <a:r>
              <a:rPr lang="uk-UA" b="1" dirty="0"/>
              <a:t>зовнішніх чинників</a:t>
            </a:r>
            <a:r>
              <a:rPr lang="uk-UA" dirty="0"/>
              <a:t> ключову роль відіграють </a:t>
            </a:r>
            <a:r>
              <a:rPr lang="uk-UA" b="1" dirty="0"/>
              <a:t>ожиріння</a:t>
            </a:r>
            <a:r>
              <a:rPr lang="uk-UA" dirty="0"/>
              <a:t>, надмірні фізичні навантаження та професійні травматичні дії.</a:t>
            </a:r>
            <a:br>
              <a:rPr lang="uk-UA" dirty="0"/>
            </a:br>
            <a:r>
              <a:rPr lang="uk-UA" dirty="0"/>
              <a:t>Усі ці фактори в комплексі формують </a:t>
            </a:r>
            <a:r>
              <a:rPr lang="uk-UA" b="1" dirty="0"/>
              <a:t>схильність до розвитку або прогресування </a:t>
            </a:r>
            <a:r>
              <a:rPr lang="uk-UA" b="1" dirty="0" err="1"/>
              <a:t>остеоартриту</a:t>
            </a:r>
            <a:r>
              <a:rPr lang="uk-UA" dirty="0"/>
              <a:t>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71619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="1" dirty="0"/>
              <a:t>унікальна технологія виробництва </a:t>
            </a:r>
            <a:r>
              <a:rPr lang="uk-UA" b="1" dirty="0" err="1"/>
              <a:t>хітозану</a:t>
            </a:r>
            <a:r>
              <a:rPr lang="uk-UA" dirty="0"/>
              <a:t>, отриманого з грибів </a:t>
            </a:r>
            <a:r>
              <a:rPr lang="en-US" i="1" dirty="0"/>
              <a:t>Agaricus bisporus</a:t>
            </a:r>
            <a:r>
              <a:rPr lang="en-US" dirty="0"/>
              <a:t> («</a:t>
            </a:r>
            <a:r>
              <a:rPr lang="uk-UA" dirty="0"/>
              <a:t>печериця </a:t>
            </a:r>
            <a:r>
              <a:rPr lang="uk-UA" dirty="0" err="1"/>
              <a:t>двоспорова</a:t>
            </a:r>
            <a:r>
              <a:rPr lang="uk-UA" dirty="0"/>
              <a:t>»).</a:t>
            </a:r>
            <a:br>
              <a:rPr lang="uk-UA" dirty="0"/>
            </a:br>
            <a:r>
              <a:rPr lang="uk-UA" dirty="0"/>
              <a:t>Пояснюється, що </a:t>
            </a:r>
            <a:r>
              <a:rPr lang="uk-UA" b="1" dirty="0" err="1"/>
              <a:t>хітозан</a:t>
            </a:r>
            <a:r>
              <a:rPr lang="uk-UA" dirty="0"/>
              <a:t> є природним полімером із потужними властивостями — </a:t>
            </a:r>
            <a:r>
              <a:rPr lang="uk-UA" b="1" dirty="0"/>
              <a:t>захоплення вільних радикалів, змащування, гідратація та </a:t>
            </a:r>
            <a:r>
              <a:rPr lang="uk-UA" b="1" dirty="0" err="1"/>
              <a:t>біорозкладність</a:t>
            </a:r>
            <a:r>
              <a:rPr lang="uk-UA" dirty="0"/>
              <a:t>.</a:t>
            </a:r>
            <a:br>
              <a:rPr lang="uk-UA" dirty="0"/>
            </a:br>
            <a:r>
              <a:rPr lang="uk-UA" dirty="0"/>
              <a:t>На відміну від тваринного походження, </a:t>
            </a:r>
            <a:r>
              <a:rPr lang="uk-UA" b="1" dirty="0"/>
              <a:t>рослинний </a:t>
            </a:r>
            <a:r>
              <a:rPr lang="uk-UA" b="1" dirty="0" err="1"/>
              <a:t>хітозан</a:t>
            </a:r>
            <a:r>
              <a:rPr lang="uk-UA" dirty="0"/>
              <a:t> не викликає алергії, краще переноситься й має стабільнішу якість.</a:t>
            </a:r>
            <a:br>
              <a:rPr lang="uk-UA" dirty="0"/>
            </a:br>
            <a:r>
              <a:rPr lang="uk-UA" dirty="0"/>
              <a:t>Компанія </a:t>
            </a:r>
            <a:r>
              <a:rPr lang="en-US" b="1" dirty="0" err="1"/>
              <a:t>KiOmed</a:t>
            </a:r>
            <a:r>
              <a:rPr lang="en-US" b="1" dirty="0"/>
              <a:t> Pharma</a:t>
            </a:r>
            <a:r>
              <a:rPr lang="en-US" dirty="0"/>
              <a:t> </a:t>
            </a:r>
            <a:r>
              <a:rPr lang="uk-UA" dirty="0"/>
              <a:t>є </a:t>
            </a:r>
            <a:r>
              <a:rPr lang="uk-UA" b="1" dirty="0"/>
              <a:t>єдиною у світі</a:t>
            </a:r>
            <a:r>
              <a:rPr lang="uk-UA" dirty="0"/>
              <a:t>, що виробляє </a:t>
            </a:r>
            <a:r>
              <a:rPr lang="uk-UA" dirty="0" err="1"/>
              <a:t>ультрачистий</a:t>
            </a:r>
            <a:r>
              <a:rPr lang="uk-UA" dirty="0"/>
              <a:t> </a:t>
            </a:r>
            <a:r>
              <a:rPr lang="uk-UA" dirty="0" err="1"/>
              <a:t>хітозан</a:t>
            </a:r>
            <a:r>
              <a:rPr lang="uk-UA" dirty="0"/>
              <a:t> із грибів за стандартами </a:t>
            </a:r>
            <a:r>
              <a:rPr lang="en-US" b="1" dirty="0"/>
              <a:t>GMP </a:t>
            </a:r>
            <a:r>
              <a:rPr lang="uk-UA" b="1" dirty="0"/>
              <a:t>та </a:t>
            </a:r>
            <a:r>
              <a:rPr lang="en-US" b="1" dirty="0"/>
              <a:t>ISO 13485</a:t>
            </a:r>
            <a:r>
              <a:rPr lang="en-US" dirty="0"/>
              <a:t>.</a:t>
            </a:r>
            <a:br>
              <a:rPr lang="en-US" dirty="0"/>
            </a:br>
            <a:r>
              <a:rPr lang="uk-UA" dirty="0"/>
              <a:t>Ця технологія забезпечує створення інноваційного компоненту — </a:t>
            </a:r>
            <a:r>
              <a:rPr lang="uk-UA" b="1" dirty="0" err="1"/>
              <a:t>карбоксиметилхітозану</a:t>
            </a:r>
            <a:r>
              <a:rPr lang="uk-UA" b="1" dirty="0"/>
              <a:t> (К</a:t>
            </a:r>
            <a:r>
              <a:rPr lang="en-US" b="1" dirty="0"/>
              <a:t>M-</a:t>
            </a:r>
            <a:r>
              <a:rPr lang="uk-UA" b="1" dirty="0" err="1"/>
              <a:t>Хітозан</a:t>
            </a:r>
            <a:r>
              <a:rPr lang="en-US" b="1" dirty="0"/>
              <a:t>)</a:t>
            </a:r>
            <a:r>
              <a:rPr lang="en-US" dirty="0"/>
              <a:t>, </a:t>
            </a:r>
            <a:r>
              <a:rPr lang="uk-UA" dirty="0"/>
              <a:t>який використовується у продукті </a:t>
            </a:r>
            <a:r>
              <a:rPr lang="en-US" b="1" dirty="0" err="1"/>
              <a:t>KioMedine</a:t>
            </a:r>
            <a:r>
              <a:rPr lang="en-US" b="1" dirty="0"/>
              <a:t>®</a:t>
            </a:r>
            <a:r>
              <a:rPr lang="en-US" dirty="0"/>
              <a:t> </a:t>
            </a:r>
            <a:r>
              <a:rPr lang="uk-UA" dirty="0"/>
              <a:t>для клінічного застосування.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26333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KioMedine</a:t>
            </a:r>
            <a:r>
              <a:rPr lang="en-US" b="1" dirty="0"/>
              <a:t>®</a:t>
            </a:r>
            <a:r>
              <a:rPr lang="en-US" dirty="0"/>
              <a:t> </a:t>
            </a:r>
            <a:r>
              <a:rPr lang="uk-UA" dirty="0"/>
              <a:t>є </a:t>
            </a:r>
            <a:r>
              <a:rPr lang="uk-UA" b="1" dirty="0"/>
              <a:t>препаратом вибору для пацієнтів із рефрактерним </a:t>
            </a:r>
            <a:r>
              <a:rPr lang="uk-UA" b="1" dirty="0" err="1"/>
              <a:t>остеоартритом</a:t>
            </a:r>
            <a:r>
              <a:rPr lang="uk-UA" b="1" dirty="0"/>
              <a:t> колінного суглоба</a:t>
            </a:r>
            <a:r>
              <a:rPr lang="uk-UA" dirty="0"/>
              <a:t>, у яких стандартна терапія не дає результатів.</a:t>
            </a:r>
            <a:br>
              <a:rPr lang="uk-UA" dirty="0"/>
            </a:br>
            <a:r>
              <a:rPr lang="uk-UA" dirty="0"/>
              <a:t>Його застосування допомагає </a:t>
            </a:r>
            <a:r>
              <a:rPr lang="uk-UA" b="1" dirty="0"/>
              <a:t>зменшити фізичне та соціальне навантаження</a:t>
            </a:r>
            <a:r>
              <a:rPr lang="uk-UA" dirty="0"/>
              <a:t>, підвищуючи якість життя.</a:t>
            </a:r>
            <a:br>
              <a:rPr lang="uk-UA" dirty="0"/>
            </a:br>
            <a:r>
              <a:rPr lang="uk-UA" dirty="0"/>
              <a:t>Препарат особливо показаний при </a:t>
            </a:r>
            <a:r>
              <a:rPr lang="uk-UA" b="1" dirty="0"/>
              <a:t>ураженні </a:t>
            </a:r>
            <a:r>
              <a:rPr lang="uk-UA" b="1" dirty="0" err="1"/>
              <a:t>пателлофеморального</a:t>
            </a:r>
            <a:r>
              <a:rPr lang="uk-UA" b="1" dirty="0"/>
              <a:t> суглоба</a:t>
            </a:r>
            <a:r>
              <a:rPr lang="uk-UA" dirty="0"/>
              <a:t>, у пацієнтів із </a:t>
            </a:r>
            <a:r>
              <a:rPr lang="uk-UA" b="1" dirty="0"/>
              <a:t>ожирінням</a:t>
            </a:r>
            <a:r>
              <a:rPr lang="uk-UA" dirty="0"/>
              <a:t> або </a:t>
            </a:r>
            <a:r>
              <a:rPr lang="uk-UA" b="1" dirty="0"/>
              <a:t>показаннями до </a:t>
            </a:r>
            <a:r>
              <a:rPr lang="uk-UA" b="1" dirty="0" err="1"/>
              <a:t>ендопротезування</a:t>
            </a:r>
            <a:r>
              <a:rPr lang="uk-UA" b="1" dirty="0"/>
              <a:t> (ТЕПКС)</a:t>
            </a:r>
            <a:r>
              <a:rPr lang="uk-UA" dirty="0"/>
              <a:t>, які не бажають або не можуть його пройти.</a:t>
            </a:r>
            <a:br>
              <a:rPr lang="uk-UA" dirty="0"/>
            </a:br>
            <a:r>
              <a:rPr lang="uk-UA" dirty="0"/>
              <a:t>Ефективність не залежить від стадії </a:t>
            </a:r>
            <a:r>
              <a:rPr lang="uk-UA" dirty="0" err="1"/>
              <a:t>остеоартриту</a:t>
            </a:r>
            <a:r>
              <a:rPr lang="uk-UA" dirty="0"/>
              <a:t>, що розширює можливості його використання.</a:t>
            </a:r>
            <a:br>
              <a:rPr lang="uk-UA" dirty="0"/>
            </a:br>
            <a:r>
              <a:rPr lang="uk-UA" dirty="0"/>
              <a:t>Таким чином, </a:t>
            </a:r>
            <a:r>
              <a:rPr lang="en-US" dirty="0" err="1"/>
              <a:t>KioMedine</a:t>
            </a:r>
            <a:r>
              <a:rPr lang="en-US" dirty="0"/>
              <a:t>® — </a:t>
            </a:r>
            <a:r>
              <a:rPr lang="uk-UA" dirty="0"/>
              <a:t>це рішення для складних клінічних випадків, де інші методи лікування неефективні.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91370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Ключові повідомлення 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66825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Акцент на подвійному механізмі дії. 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468817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="1" dirty="0"/>
              <a:t>механізм дії </a:t>
            </a:r>
            <a:r>
              <a:rPr lang="uk-UA" b="1" dirty="0" err="1"/>
              <a:t>карбоксиметилхітозану</a:t>
            </a:r>
            <a:r>
              <a:rPr lang="uk-UA" b="1" dirty="0"/>
              <a:t> (КМ-</a:t>
            </a:r>
            <a:r>
              <a:rPr lang="uk-UA" b="1" dirty="0" err="1"/>
              <a:t>хітозану</a:t>
            </a:r>
            <a:r>
              <a:rPr lang="uk-UA" b="1" dirty="0"/>
              <a:t>)</a:t>
            </a:r>
            <a:r>
              <a:rPr lang="uk-UA" dirty="0"/>
              <a:t> при рефрактерному </a:t>
            </a:r>
            <a:r>
              <a:rPr lang="uk-UA" dirty="0" err="1"/>
              <a:t>остеоартриті</a:t>
            </a:r>
            <a:r>
              <a:rPr lang="uk-UA" dirty="0"/>
              <a:t>.</a:t>
            </a:r>
            <a:br>
              <a:rPr lang="uk-UA" dirty="0"/>
            </a:br>
            <a:r>
              <a:rPr lang="uk-UA" dirty="0"/>
              <a:t>У </a:t>
            </a:r>
            <a:r>
              <a:rPr lang="uk-UA" b="1" dirty="0" err="1"/>
              <a:t>трибологічній</a:t>
            </a:r>
            <a:r>
              <a:rPr lang="uk-UA" b="1" dirty="0"/>
              <a:t> моделі </a:t>
            </a:r>
            <a:r>
              <a:rPr lang="en-US" b="1" dirty="0"/>
              <a:t>in vitro</a:t>
            </a:r>
            <a:r>
              <a:rPr lang="en-US" dirty="0"/>
              <a:t> </a:t>
            </a:r>
            <a:r>
              <a:rPr lang="en-US" dirty="0" err="1"/>
              <a:t>KioMedine</a:t>
            </a:r>
            <a:r>
              <a:rPr lang="en-US" dirty="0"/>
              <a:t>® </a:t>
            </a:r>
            <a:r>
              <a:rPr lang="uk-UA" dirty="0"/>
              <a:t>показує </a:t>
            </a:r>
            <a:r>
              <a:rPr lang="uk-UA" b="1" dirty="0"/>
              <a:t>нижчий коефіцієнт тертя</a:t>
            </a:r>
            <a:r>
              <a:rPr lang="uk-UA" dirty="0"/>
              <a:t>, що свідчить про його </a:t>
            </a:r>
            <a:r>
              <a:rPr lang="uk-UA" b="1" dirty="0"/>
              <a:t>високу мастильну здатність</a:t>
            </a:r>
            <a:r>
              <a:rPr lang="uk-UA" dirty="0"/>
              <a:t> порівняно з </a:t>
            </a:r>
            <a:r>
              <a:rPr lang="uk-UA" dirty="0" err="1"/>
              <a:t>гіалуроновими</a:t>
            </a:r>
            <a:r>
              <a:rPr lang="uk-UA" dirty="0"/>
              <a:t> аналогами.</a:t>
            </a:r>
            <a:br>
              <a:rPr lang="uk-UA" dirty="0"/>
            </a:br>
            <a:r>
              <a:rPr lang="uk-UA" dirty="0"/>
              <a:t>У </a:t>
            </a:r>
            <a:r>
              <a:rPr lang="uk-UA" b="1" dirty="0"/>
              <a:t>моделі </a:t>
            </a:r>
            <a:r>
              <a:rPr lang="en-US" b="1" dirty="0"/>
              <a:t>ex vivo</a:t>
            </a:r>
            <a:r>
              <a:rPr lang="en-US" dirty="0"/>
              <a:t> </a:t>
            </a:r>
            <a:r>
              <a:rPr lang="uk-UA" dirty="0"/>
              <a:t>на колінному суглобі вівці </a:t>
            </a:r>
            <a:r>
              <a:rPr lang="uk-UA" dirty="0" err="1"/>
              <a:t>відмічено</a:t>
            </a:r>
            <a:r>
              <a:rPr lang="uk-UA" dirty="0"/>
              <a:t> </a:t>
            </a:r>
            <a:r>
              <a:rPr lang="uk-UA" b="1" dirty="0"/>
              <a:t>кращу рухливість і менше тертя</a:t>
            </a:r>
            <a:r>
              <a:rPr lang="uk-UA" dirty="0"/>
              <a:t>, що вказує на ефективне змащування та відновлення функції суглоба.</a:t>
            </a:r>
            <a:br>
              <a:rPr lang="uk-UA" dirty="0"/>
            </a:br>
            <a:r>
              <a:rPr lang="uk-UA" dirty="0"/>
              <a:t>Таким чином, </a:t>
            </a:r>
            <a:r>
              <a:rPr lang="en-US" dirty="0" err="1"/>
              <a:t>KioMedine</a:t>
            </a:r>
            <a:r>
              <a:rPr lang="en-US" dirty="0"/>
              <a:t>® </a:t>
            </a:r>
            <a:r>
              <a:rPr lang="uk-UA" dirty="0"/>
              <a:t>забезпечує </a:t>
            </a:r>
            <a:r>
              <a:rPr lang="uk-UA" b="1" dirty="0"/>
              <a:t>покращення ковзання та зниження механічного навантаження</a:t>
            </a:r>
            <a:r>
              <a:rPr lang="uk-UA" dirty="0"/>
              <a:t> на уражені поверхні.</a:t>
            </a:r>
            <a:br>
              <a:rPr lang="uk-UA" dirty="0"/>
            </a:br>
            <a:r>
              <a:rPr lang="uk-UA" dirty="0"/>
              <a:t>Дані підтверджують його здатність </a:t>
            </a:r>
            <a:r>
              <a:rPr lang="uk-UA" b="1" dirty="0"/>
              <a:t>зменшувати біль і покращувати рухливість коліна</a:t>
            </a:r>
            <a:r>
              <a:rPr lang="uk-UA" dirty="0"/>
              <a:t> завдяки унікальним змащувальним властивостям </a:t>
            </a:r>
            <a:r>
              <a:rPr lang="en-US" dirty="0"/>
              <a:t>CM-</a:t>
            </a:r>
            <a:r>
              <a:rPr lang="uk-UA" dirty="0" err="1"/>
              <a:t>хітозану</a:t>
            </a:r>
            <a:r>
              <a:rPr lang="uk-UA" dirty="0"/>
              <a:t>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64939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роль </a:t>
            </a:r>
            <a:r>
              <a:rPr lang="uk-UA" b="1" dirty="0" err="1"/>
              <a:t>оксидативного</a:t>
            </a:r>
            <a:r>
              <a:rPr lang="uk-UA" b="1" dirty="0"/>
              <a:t> стресу при </a:t>
            </a:r>
            <a:r>
              <a:rPr lang="uk-UA" b="1" dirty="0" err="1"/>
              <a:t>остеоартриті</a:t>
            </a:r>
            <a:r>
              <a:rPr lang="uk-UA" dirty="0"/>
              <a:t> та потребу у </a:t>
            </a:r>
            <a:r>
              <a:rPr lang="uk-UA" b="1" dirty="0"/>
              <a:t>захисті компонентів синовіальної мембрани</a:t>
            </a:r>
            <a:r>
              <a:rPr lang="uk-UA" dirty="0"/>
              <a:t>.</a:t>
            </a:r>
            <a:br>
              <a:rPr lang="uk-UA" dirty="0"/>
            </a:br>
            <a:r>
              <a:rPr lang="uk-UA" dirty="0"/>
              <a:t>Механічне навантаження, цитокіни або старіння викликають </a:t>
            </a:r>
            <a:r>
              <a:rPr lang="uk-UA" b="1" dirty="0"/>
              <a:t>дисфункцію мітохондрій</a:t>
            </a:r>
            <a:r>
              <a:rPr lang="uk-UA" dirty="0"/>
              <a:t>, що підвищує рівень </a:t>
            </a:r>
            <a:r>
              <a:rPr lang="uk-UA" b="1" dirty="0"/>
              <a:t>активних форм кисню (АФК)</a:t>
            </a:r>
            <a:r>
              <a:rPr lang="uk-UA" dirty="0"/>
              <a:t>.</a:t>
            </a:r>
            <a:br>
              <a:rPr lang="uk-UA" dirty="0"/>
            </a:br>
            <a:r>
              <a:rPr lang="uk-UA" dirty="0"/>
              <a:t>Надлишок АФК призводить до </a:t>
            </a:r>
            <a:r>
              <a:rPr lang="uk-UA" b="1" dirty="0" err="1"/>
              <a:t>апоптозу</a:t>
            </a:r>
            <a:r>
              <a:rPr lang="uk-UA" b="1" dirty="0"/>
              <a:t> </a:t>
            </a:r>
            <a:r>
              <a:rPr lang="uk-UA" b="1" dirty="0" err="1"/>
              <a:t>хондроцитів</a:t>
            </a:r>
            <a:r>
              <a:rPr lang="uk-UA" dirty="0"/>
              <a:t>, зниження синтезу позаклітинного матриксу й активації ферментів, які його руйнують.</a:t>
            </a:r>
            <a:br>
              <a:rPr lang="uk-UA" dirty="0"/>
            </a:br>
            <a:r>
              <a:rPr lang="uk-UA" dirty="0"/>
              <a:t>Це провокує </a:t>
            </a:r>
            <a:r>
              <a:rPr lang="uk-UA" b="1" dirty="0"/>
              <a:t>запалення синовіальної оболонки</a:t>
            </a:r>
            <a:r>
              <a:rPr lang="uk-UA" dirty="0"/>
              <a:t>, </a:t>
            </a:r>
            <a:r>
              <a:rPr lang="uk-UA" b="1" dirty="0"/>
              <a:t>дисфункцію </a:t>
            </a:r>
            <a:r>
              <a:rPr lang="uk-UA" b="1" dirty="0" err="1"/>
              <a:t>субхондральної</a:t>
            </a:r>
            <a:r>
              <a:rPr lang="uk-UA" b="1" dirty="0"/>
              <a:t> кістки</a:t>
            </a:r>
            <a:r>
              <a:rPr lang="uk-UA" dirty="0"/>
              <a:t> та </a:t>
            </a:r>
            <a:r>
              <a:rPr lang="uk-UA" b="1" dirty="0"/>
              <a:t>зменшення молекулярної маси ендогенної </a:t>
            </a:r>
            <a:r>
              <a:rPr lang="uk-UA" b="1" dirty="0" err="1"/>
              <a:t>гіалуронової</a:t>
            </a:r>
            <a:r>
              <a:rPr lang="uk-UA" b="1" dirty="0"/>
              <a:t> кислоти</a:t>
            </a:r>
            <a:r>
              <a:rPr lang="uk-UA" dirty="0"/>
              <a:t>.</a:t>
            </a:r>
            <a:br>
              <a:rPr lang="uk-UA" dirty="0"/>
            </a:br>
            <a:r>
              <a:rPr lang="uk-UA" dirty="0"/>
              <a:t>Таким чином, боротьба з </a:t>
            </a:r>
            <a:r>
              <a:rPr lang="uk-UA" dirty="0" err="1"/>
              <a:t>оксидативним</a:t>
            </a:r>
            <a:r>
              <a:rPr lang="uk-UA" dirty="0"/>
              <a:t> стресом є ключем до </a:t>
            </a:r>
            <a:r>
              <a:rPr lang="uk-UA" b="1" dirty="0"/>
              <a:t>збереження структури та функції суглоба при </a:t>
            </a:r>
            <a:r>
              <a:rPr lang="uk-UA" b="1" dirty="0" err="1"/>
              <a:t>остеоартриті</a:t>
            </a:r>
            <a:r>
              <a:rPr lang="uk-UA" dirty="0"/>
              <a:t>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990753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="1" dirty="0"/>
              <a:t>подвійний механізм дії </a:t>
            </a:r>
            <a:r>
              <a:rPr lang="en-US" b="1" dirty="0" err="1"/>
              <a:t>KioMedineVSOne</a:t>
            </a:r>
            <a:r>
              <a:rPr lang="en-US" dirty="0"/>
              <a:t>, </a:t>
            </a:r>
            <a:r>
              <a:rPr lang="uk-UA" dirty="0"/>
              <a:t>який поєднує </a:t>
            </a:r>
            <a:r>
              <a:rPr lang="uk-UA" b="1" dirty="0"/>
              <a:t>захист суглоба від </a:t>
            </a:r>
            <a:r>
              <a:rPr lang="uk-UA" b="1" dirty="0" err="1"/>
              <a:t>оксидативного</a:t>
            </a:r>
            <a:r>
              <a:rPr lang="uk-UA" b="1" dirty="0"/>
              <a:t> стресу</a:t>
            </a:r>
            <a:r>
              <a:rPr lang="uk-UA" dirty="0"/>
              <a:t> та </a:t>
            </a:r>
            <a:r>
              <a:rPr lang="uk-UA" b="1" dirty="0"/>
              <a:t>покращення змащувальних властивостей синовіальної рідини</a:t>
            </a:r>
            <a:r>
              <a:rPr lang="uk-UA" dirty="0"/>
              <a:t>.</a:t>
            </a:r>
            <a:br>
              <a:rPr lang="uk-UA" dirty="0"/>
            </a:br>
            <a:r>
              <a:rPr lang="uk-UA" dirty="0"/>
              <a:t>Завдяки антиоксидантній активності </a:t>
            </a:r>
            <a:r>
              <a:rPr lang="uk-UA" b="1" dirty="0"/>
              <a:t>КМ-</a:t>
            </a:r>
            <a:r>
              <a:rPr lang="uk-UA" b="1" dirty="0" err="1"/>
              <a:t>хітозан</a:t>
            </a:r>
            <a:r>
              <a:rPr lang="uk-UA" b="1" dirty="0"/>
              <a:t> нейтралізує вільні радикали</a:t>
            </a:r>
            <a:r>
              <a:rPr lang="uk-UA" dirty="0"/>
              <a:t>, перевершуючи за ефективністю </a:t>
            </a:r>
            <a:r>
              <a:rPr lang="uk-UA" dirty="0" err="1"/>
              <a:t>гіалуронову</a:t>
            </a:r>
            <a:r>
              <a:rPr lang="uk-UA" dirty="0"/>
              <a:t> кислоту.</a:t>
            </a:r>
            <a:br>
              <a:rPr lang="uk-UA" dirty="0"/>
            </a:br>
            <a:r>
              <a:rPr lang="uk-UA" dirty="0"/>
              <a:t>Дані дослідження </a:t>
            </a:r>
            <a:r>
              <a:rPr lang="en-US" b="1" dirty="0"/>
              <a:t>in vitro</a:t>
            </a:r>
            <a:r>
              <a:rPr lang="en-US" dirty="0"/>
              <a:t> </a:t>
            </a:r>
            <a:r>
              <a:rPr lang="uk-UA" dirty="0"/>
              <a:t>показують вищу здатність до захоплення активних форм кисню.</a:t>
            </a:r>
            <a:br>
              <a:rPr lang="uk-UA" dirty="0"/>
            </a:br>
            <a:r>
              <a:rPr lang="uk-UA" dirty="0"/>
              <a:t>У моделі </a:t>
            </a:r>
            <a:r>
              <a:rPr lang="en-US" b="1" dirty="0"/>
              <a:t>ex vivo</a:t>
            </a:r>
            <a:r>
              <a:rPr lang="en-US" dirty="0"/>
              <a:t> </a:t>
            </a:r>
            <a:r>
              <a:rPr lang="uk-UA" dirty="0"/>
              <a:t>продемонстровано </a:t>
            </a:r>
            <a:r>
              <a:rPr lang="uk-UA" b="1" dirty="0"/>
              <a:t>краще відновлення рухливості коліна</a:t>
            </a:r>
            <a:r>
              <a:rPr lang="uk-UA" dirty="0"/>
              <a:t>, що свідчить про стабільне змащення та захист хряща.</a:t>
            </a:r>
            <a:br>
              <a:rPr lang="uk-UA" dirty="0"/>
            </a:br>
            <a:r>
              <a:rPr lang="uk-UA" dirty="0"/>
              <a:t>Таким чином, </a:t>
            </a:r>
            <a:r>
              <a:rPr lang="en-US" dirty="0" err="1"/>
              <a:t>KioMedine</a:t>
            </a:r>
            <a:r>
              <a:rPr lang="en-US" dirty="0"/>
              <a:t> </a:t>
            </a:r>
            <a:r>
              <a:rPr lang="uk-UA" dirty="0"/>
              <a:t>забезпечує </a:t>
            </a:r>
            <a:r>
              <a:rPr lang="uk-UA" b="1" dirty="0"/>
              <a:t>комплексну дію — антиоксидантний захист і тривале зниження тертя у суглобі</a:t>
            </a:r>
            <a:r>
              <a:rPr lang="uk-UA" dirty="0"/>
              <a:t>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31525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="1" dirty="0"/>
              <a:t>що відбувається після ін’єкції КМ-</a:t>
            </a:r>
            <a:r>
              <a:rPr lang="uk-UA" b="1" dirty="0" err="1"/>
              <a:t>хітозану</a:t>
            </a:r>
            <a:r>
              <a:rPr lang="uk-UA" b="1" dirty="0"/>
              <a:t> в суглоб</a:t>
            </a:r>
            <a:r>
              <a:rPr lang="uk-UA" dirty="0"/>
              <a:t>.</a:t>
            </a:r>
            <a:br>
              <a:rPr lang="uk-UA" dirty="0"/>
            </a:br>
            <a:r>
              <a:rPr lang="uk-UA" dirty="0"/>
              <a:t>Молекули КМ-</a:t>
            </a:r>
            <a:r>
              <a:rPr lang="uk-UA" dirty="0" err="1"/>
              <a:t>хітозану</a:t>
            </a:r>
            <a:r>
              <a:rPr lang="uk-UA" dirty="0"/>
              <a:t> рівномірно розподіляються по суглобовій поверхні, </a:t>
            </a:r>
            <a:r>
              <a:rPr lang="uk-UA" b="1" dirty="0"/>
              <a:t>взаємодіють із компонентами синовіальної рідини</a:t>
            </a:r>
            <a:r>
              <a:rPr lang="uk-UA" dirty="0"/>
              <a:t> та покращують змащення й рухливість.</a:t>
            </a:r>
            <a:br>
              <a:rPr lang="uk-UA" dirty="0"/>
            </a:br>
            <a:r>
              <a:rPr lang="uk-UA" dirty="0"/>
              <a:t>Завдяки </a:t>
            </a:r>
            <a:r>
              <a:rPr lang="uk-UA" b="1" dirty="0"/>
              <a:t>нейтралізації вільних радикалів</a:t>
            </a:r>
            <a:r>
              <a:rPr lang="uk-UA" dirty="0"/>
              <a:t>, </a:t>
            </a:r>
            <a:r>
              <a:rPr lang="uk-UA" dirty="0" err="1"/>
              <a:t>хітозан</a:t>
            </a:r>
            <a:r>
              <a:rPr lang="uk-UA" dirty="0"/>
              <a:t> знижує </a:t>
            </a:r>
            <a:r>
              <a:rPr lang="uk-UA" dirty="0" err="1"/>
              <a:t>оксидативний</a:t>
            </a:r>
            <a:r>
              <a:rPr lang="uk-UA" dirty="0"/>
              <a:t> стрес і </a:t>
            </a:r>
            <a:r>
              <a:rPr lang="uk-UA" b="1" dirty="0"/>
              <a:t>захищає клітини та хрящ від пошкодження</a:t>
            </a:r>
            <a:r>
              <a:rPr lang="uk-UA" dirty="0"/>
              <a:t>.</a:t>
            </a:r>
            <a:br>
              <a:rPr lang="uk-UA" dirty="0"/>
            </a:br>
            <a:r>
              <a:rPr lang="uk-UA" dirty="0"/>
              <a:t>Спостерігається </a:t>
            </a:r>
            <a:r>
              <a:rPr lang="uk-UA" b="1" dirty="0"/>
              <a:t>помірна, контрольована реакція імунної системи</a:t>
            </a:r>
            <a:r>
              <a:rPr lang="uk-UA" dirty="0"/>
              <a:t>, що запускає </a:t>
            </a:r>
            <a:r>
              <a:rPr lang="uk-UA" b="1" dirty="0"/>
              <a:t>біологічний розклад і оновлення тканин</a:t>
            </a:r>
            <a:r>
              <a:rPr lang="uk-UA" dirty="0"/>
              <a:t> без значного запалення.</a:t>
            </a:r>
            <a:br>
              <a:rPr lang="uk-UA" dirty="0"/>
            </a:br>
            <a:r>
              <a:rPr lang="uk-UA" dirty="0"/>
              <a:t>Ефект знеболення та відновлення функції коліна триває </a:t>
            </a:r>
            <a:r>
              <a:rPr lang="uk-UA" b="1" dirty="0"/>
              <a:t>до 9–16 місяців після ін’єкції</a:t>
            </a:r>
            <a:r>
              <a:rPr lang="uk-UA" dirty="0"/>
              <a:t>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870854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="1" dirty="0"/>
              <a:t>ефект пролонгується завдяки тривалій присутності КМ-</a:t>
            </a:r>
            <a:r>
              <a:rPr lang="uk-UA" b="1" dirty="0" err="1"/>
              <a:t>хітозану</a:t>
            </a:r>
            <a:r>
              <a:rPr lang="uk-UA" b="1" dirty="0"/>
              <a:t> в суглобі та його повільній, макрофаг-опосередкованій резорбції.</a:t>
            </a:r>
            <a:br>
              <a:rPr lang="uk-UA" dirty="0"/>
            </a:br>
            <a:r>
              <a:rPr lang="uk-UA" dirty="0"/>
              <a:t>Матеріал поводиться як </a:t>
            </a:r>
            <a:r>
              <a:rPr lang="uk-UA" b="1" dirty="0"/>
              <a:t>розсмоктуваний </a:t>
            </a:r>
            <a:r>
              <a:rPr lang="uk-UA" b="1" dirty="0" err="1"/>
              <a:t>імплант</a:t>
            </a:r>
            <a:r>
              <a:rPr lang="uk-UA" dirty="0"/>
              <a:t>, зберігається в колінному суглобі </a:t>
            </a:r>
            <a:r>
              <a:rPr lang="uk-UA" b="1" dirty="0"/>
              <a:t>до ~1 місяця</a:t>
            </a:r>
            <a:r>
              <a:rPr lang="uk-UA" dirty="0"/>
              <a:t>, поступово розщеплюється без гранульом → довше підтримує </a:t>
            </a:r>
            <a:r>
              <a:rPr lang="uk-UA" b="1" dirty="0"/>
              <a:t>змащення/захисний шар</a:t>
            </a:r>
            <a:r>
              <a:rPr lang="uk-UA" dirty="0"/>
              <a:t> і антиоксидантний захист, тому й дія триває.</a:t>
            </a:r>
          </a:p>
          <a:p>
            <a:r>
              <a:rPr lang="uk-UA" dirty="0"/>
              <a:t>процес </a:t>
            </a:r>
            <a:r>
              <a:rPr lang="uk-UA" b="1" dirty="0" err="1"/>
              <a:t>біодеградації</a:t>
            </a:r>
            <a:r>
              <a:rPr lang="uk-UA" b="1" dirty="0"/>
              <a:t> КМ-</a:t>
            </a:r>
            <a:r>
              <a:rPr lang="uk-UA" b="1" dirty="0" err="1"/>
              <a:t>хітозану</a:t>
            </a:r>
            <a:r>
              <a:rPr lang="uk-UA" dirty="0"/>
              <a:t> після </a:t>
            </a:r>
            <a:r>
              <a:rPr lang="uk-UA" dirty="0" err="1"/>
              <a:t>внутрішньосуглобової</a:t>
            </a:r>
            <a:r>
              <a:rPr lang="uk-UA" dirty="0"/>
              <a:t> ін’єкції.</a:t>
            </a:r>
            <a:br>
              <a:rPr lang="uk-UA" dirty="0"/>
            </a:br>
            <a:r>
              <a:rPr lang="uk-UA" dirty="0"/>
              <a:t>У дослідженні на тваринах показано, що препарат </a:t>
            </a:r>
            <a:r>
              <a:rPr lang="uk-UA" b="1" dirty="0"/>
              <a:t>не має цитотоксичного ефекту</a:t>
            </a:r>
            <a:r>
              <a:rPr lang="uk-UA" dirty="0"/>
              <a:t> та не пошкоджує структури суглоба.</a:t>
            </a:r>
            <a:br>
              <a:rPr lang="uk-UA" dirty="0"/>
            </a:br>
            <a:r>
              <a:rPr lang="uk-UA" dirty="0"/>
              <a:t>КМ-</a:t>
            </a:r>
            <a:r>
              <a:rPr lang="uk-UA" dirty="0" err="1"/>
              <a:t>хітозан</a:t>
            </a:r>
            <a:r>
              <a:rPr lang="uk-UA" dirty="0"/>
              <a:t> класифікується як </a:t>
            </a:r>
            <a:r>
              <a:rPr lang="uk-UA" b="1" dirty="0"/>
              <a:t>розсмоктуваний імплантат</a:t>
            </a:r>
            <a:r>
              <a:rPr lang="uk-UA" dirty="0"/>
              <a:t>, який </a:t>
            </a:r>
            <a:r>
              <a:rPr lang="uk-UA" b="1" dirty="0"/>
              <a:t>залишається в суглобі до одного місяця</a:t>
            </a:r>
            <a:r>
              <a:rPr lang="uk-UA" dirty="0"/>
              <a:t>, забезпечуючи тривалий локальний ефект.</a:t>
            </a:r>
            <a:br>
              <a:rPr lang="uk-UA" dirty="0"/>
            </a:br>
            <a:r>
              <a:rPr lang="uk-UA" dirty="0"/>
              <a:t>Його </a:t>
            </a:r>
            <a:r>
              <a:rPr lang="uk-UA" b="1" dirty="0"/>
              <a:t>розщеплення відбувається природним шляхом</a:t>
            </a:r>
            <a:r>
              <a:rPr lang="uk-UA" dirty="0"/>
              <a:t> — через </a:t>
            </a:r>
            <a:r>
              <a:rPr lang="uk-UA" b="1" dirty="0"/>
              <a:t>фагоцитоз макрофагами</a:t>
            </a:r>
            <a:r>
              <a:rPr lang="uk-UA" dirty="0"/>
              <a:t>, без утворення гранульом чи фіброзу.</a:t>
            </a:r>
            <a:br>
              <a:rPr lang="uk-UA" dirty="0"/>
            </a:br>
            <a:r>
              <a:rPr lang="uk-UA" dirty="0"/>
              <a:t>Тимчасовий біль після ін’єкції може бути </a:t>
            </a:r>
            <a:r>
              <a:rPr lang="uk-UA" b="1" dirty="0"/>
              <a:t>фізіологічним проявом </a:t>
            </a:r>
            <a:r>
              <a:rPr lang="uk-UA" b="1" dirty="0" err="1"/>
              <a:t>біодеградації</a:t>
            </a:r>
            <a:r>
              <a:rPr lang="uk-UA" dirty="0"/>
              <a:t>, що супроводжує нормальний процес резорбції матеріалу.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34943-C5CA-4E2F-AD07-92910AF6F233}" type="slidenum">
              <a:rPr lang="uk-UA" smtClean="0"/>
              <a:t>12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96887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4 ключових дослідження 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39407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результати </a:t>
            </a:r>
            <a:r>
              <a:rPr lang="uk-UA" b="1" dirty="0"/>
              <a:t>клінічного дослідження </a:t>
            </a:r>
            <a:r>
              <a:rPr lang="en-US" b="1" dirty="0"/>
              <a:t>APROOVE</a:t>
            </a:r>
            <a:r>
              <a:rPr lang="en-US" dirty="0"/>
              <a:t>, </a:t>
            </a:r>
            <a:r>
              <a:rPr lang="uk-UA" dirty="0"/>
              <a:t>яке оцінювало ефективність і безпечність </a:t>
            </a:r>
            <a:r>
              <a:rPr lang="en-US" b="1" dirty="0" err="1"/>
              <a:t>KioMedine</a:t>
            </a:r>
            <a:r>
              <a:rPr lang="en-US" b="1" dirty="0"/>
              <a:t>® (</a:t>
            </a:r>
            <a:r>
              <a:rPr lang="uk-UA" b="1" dirty="0"/>
              <a:t>КМ-</a:t>
            </a:r>
            <a:r>
              <a:rPr lang="uk-UA" b="1" dirty="0" err="1"/>
              <a:t>хітозан</a:t>
            </a:r>
            <a:r>
              <a:rPr lang="uk-UA" b="1" dirty="0"/>
              <a:t>)</a:t>
            </a:r>
            <a:r>
              <a:rPr lang="uk-UA" dirty="0"/>
              <a:t> у пацієнтів з </a:t>
            </a:r>
            <a:r>
              <a:rPr lang="uk-UA" dirty="0" err="1"/>
              <a:t>остеоартритом</a:t>
            </a:r>
            <a:r>
              <a:rPr lang="uk-UA" dirty="0"/>
              <a:t> колінного суглоба </a:t>
            </a:r>
            <a:r>
              <a:rPr lang="en-US" dirty="0"/>
              <a:t>II–III </a:t>
            </a:r>
            <a:r>
              <a:rPr lang="uk-UA" dirty="0"/>
              <a:t>стадії.</a:t>
            </a:r>
            <a:br>
              <a:rPr lang="uk-UA" dirty="0"/>
            </a:br>
            <a:r>
              <a:rPr lang="uk-UA" dirty="0"/>
              <a:t>Дослідження проводилося в режимі </a:t>
            </a:r>
            <a:r>
              <a:rPr lang="uk-UA" b="1" dirty="0" err="1"/>
              <a:t>рандомізованого</a:t>
            </a:r>
            <a:r>
              <a:rPr lang="uk-UA" b="1" dirty="0"/>
              <a:t>, одинарного сліпого контролю</a:t>
            </a:r>
            <a:r>
              <a:rPr lang="uk-UA" dirty="0"/>
              <a:t> з використанням групи порівняння (зшита </a:t>
            </a:r>
            <a:r>
              <a:rPr lang="uk-UA" dirty="0" err="1"/>
              <a:t>гіалуронова</a:t>
            </a:r>
            <a:r>
              <a:rPr lang="uk-UA" dirty="0"/>
              <a:t> кислота).</a:t>
            </a:r>
            <a:br>
              <a:rPr lang="uk-UA" dirty="0"/>
            </a:br>
            <a:r>
              <a:rPr lang="uk-UA" dirty="0"/>
              <a:t>Вже через </a:t>
            </a:r>
            <a:r>
              <a:rPr lang="uk-UA" b="1" dirty="0"/>
              <a:t>2 тижні</a:t>
            </a:r>
            <a:r>
              <a:rPr lang="uk-UA" dirty="0"/>
              <a:t> після ін’єкції спостерігалося </a:t>
            </a:r>
            <a:r>
              <a:rPr lang="uk-UA" b="1" dirty="0"/>
              <a:t>швидке зменшення болю</a:t>
            </a:r>
            <a:r>
              <a:rPr lang="uk-UA" dirty="0"/>
              <a:t>, а через </a:t>
            </a:r>
            <a:r>
              <a:rPr lang="uk-UA" b="1" dirty="0"/>
              <a:t>6 місяців</a:t>
            </a:r>
            <a:r>
              <a:rPr lang="uk-UA" dirty="0"/>
              <a:t> — стійке зниження симптомів </a:t>
            </a:r>
            <a:r>
              <a:rPr lang="uk-UA" dirty="0" err="1"/>
              <a:t>остеоартриту</a:t>
            </a:r>
            <a:r>
              <a:rPr lang="uk-UA" dirty="0"/>
              <a:t> (на 66% за шкалою </a:t>
            </a:r>
            <a:r>
              <a:rPr lang="en-US" dirty="0"/>
              <a:t>WOMAC).</a:t>
            </a:r>
            <a:br>
              <a:rPr lang="en-US" dirty="0"/>
            </a:br>
            <a:r>
              <a:rPr lang="en-US" b="1" dirty="0"/>
              <a:t>76% </a:t>
            </a:r>
            <a:r>
              <a:rPr lang="uk-UA" b="1" dirty="0"/>
              <a:t>пацієнтів</a:t>
            </a:r>
            <a:r>
              <a:rPr lang="uk-UA" dirty="0"/>
              <a:t> відзначили покращення, </a:t>
            </a:r>
            <a:r>
              <a:rPr lang="uk-UA" b="1" dirty="0"/>
              <a:t>86%</a:t>
            </a:r>
            <a:r>
              <a:rPr lang="uk-UA" dirty="0"/>
              <a:t> були задоволені лікуванням, а </a:t>
            </a:r>
            <a:r>
              <a:rPr lang="uk-UA" b="1" dirty="0"/>
              <a:t>90% лікарів</a:t>
            </a:r>
            <a:r>
              <a:rPr lang="uk-UA" dirty="0"/>
              <a:t> підтвердили ефективність препарату.</a:t>
            </a:r>
            <a:br>
              <a:rPr lang="uk-UA" dirty="0"/>
            </a:br>
            <a:r>
              <a:rPr lang="uk-UA" dirty="0"/>
              <a:t>Результати підтвердили, що </a:t>
            </a:r>
            <a:r>
              <a:rPr lang="en-US" b="1" dirty="0" err="1"/>
              <a:t>KioMedine</a:t>
            </a:r>
            <a:r>
              <a:rPr lang="en-US" b="1" dirty="0"/>
              <a:t>® </a:t>
            </a:r>
            <a:r>
              <a:rPr lang="uk-UA" b="1" dirty="0"/>
              <a:t>забезпечує швидкий, тривалий і клінічно значущий ефект</a:t>
            </a:r>
            <a:r>
              <a:rPr lang="uk-UA" dirty="0"/>
              <a:t> після одноразового введення.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15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097054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b="1" dirty="0"/>
              <a:t>постфактум-аналіз клінічного дослідження </a:t>
            </a:r>
            <a:r>
              <a:rPr lang="en-US" b="1" dirty="0"/>
              <a:t>APROOVE</a:t>
            </a:r>
            <a:r>
              <a:rPr lang="en-US" dirty="0"/>
              <a:t>, </a:t>
            </a:r>
            <a:r>
              <a:rPr lang="uk-UA" dirty="0"/>
              <a:t>присвячений ефективності </a:t>
            </a:r>
            <a:r>
              <a:rPr lang="en-US" b="1" dirty="0" err="1"/>
              <a:t>KioMedine</a:t>
            </a:r>
            <a:r>
              <a:rPr lang="en-US" b="1" dirty="0"/>
              <a:t>®</a:t>
            </a:r>
            <a:r>
              <a:rPr lang="en-US" dirty="0"/>
              <a:t> </a:t>
            </a:r>
            <a:r>
              <a:rPr lang="uk-UA" dirty="0"/>
              <a:t>у пацієнтів із </a:t>
            </a:r>
            <a:r>
              <a:rPr lang="uk-UA" b="1" dirty="0"/>
              <a:t>рефрактерним </a:t>
            </a:r>
            <a:r>
              <a:rPr lang="uk-UA" b="1" dirty="0" err="1"/>
              <a:t>остеоартритом</a:t>
            </a:r>
            <a:r>
              <a:rPr lang="uk-UA" b="1" dirty="0"/>
              <a:t> колінного суглоба</a:t>
            </a:r>
            <a:r>
              <a:rPr lang="uk-UA" dirty="0"/>
              <a:t>.</a:t>
            </a:r>
            <a:br>
              <a:rPr lang="uk-UA" dirty="0"/>
            </a:br>
            <a:r>
              <a:rPr lang="uk-UA" dirty="0"/>
              <a:t>У дослідження були включені дві підгрупи пацієнтів з </a:t>
            </a:r>
            <a:r>
              <a:rPr lang="uk-UA" b="1" dirty="0"/>
              <a:t>ІМТ &gt;30 кг/м²</a:t>
            </a:r>
            <a:r>
              <a:rPr lang="uk-UA" dirty="0"/>
              <a:t> та </a:t>
            </a:r>
            <a:r>
              <a:rPr lang="uk-UA" b="1" dirty="0"/>
              <a:t>ІІІ ступенем за </a:t>
            </a:r>
            <a:r>
              <a:rPr lang="uk-UA" b="1" dirty="0" err="1"/>
              <a:t>Келлгреном</a:t>
            </a:r>
            <a:r>
              <a:rPr lang="uk-UA" b="1" dirty="0"/>
              <a:t>-Лоуренсом</a:t>
            </a:r>
            <a:r>
              <a:rPr lang="uk-UA" dirty="0"/>
              <a:t>.</a:t>
            </a:r>
            <a:br>
              <a:rPr lang="uk-UA" dirty="0"/>
            </a:br>
            <a:r>
              <a:rPr lang="uk-UA" dirty="0"/>
              <a:t>Через 6 місяців спостерігалося </a:t>
            </a:r>
            <a:r>
              <a:rPr lang="uk-UA" b="1" dirty="0"/>
              <a:t>статистично значуще зниження болю, скутості та покращення фізичної функції</a:t>
            </a:r>
            <a:r>
              <a:rPr lang="uk-UA" dirty="0"/>
              <a:t> за шкалою </a:t>
            </a:r>
            <a:r>
              <a:rPr lang="en-US" dirty="0"/>
              <a:t>WOMAC (p&lt;0,05 </a:t>
            </a:r>
            <a:r>
              <a:rPr lang="uk-UA" dirty="0"/>
              <a:t>у всіх категоріях).</a:t>
            </a:r>
            <a:br>
              <a:rPr lang="uk-UA" dirty="0"/>
            </a:br>
            <a:r>
              <a:rPr lang="uk-UA" dirty="0"/>
              <a:t>У пацієнтів </a:t>
            </a:r>
            <a:r>
              <a:rPr lang="uk-UA" dirty="0" err="1"/>
              <a:t>відмічено</a:t>
            </a:r>
            <a:r>
              <a:rPr lang="uk-UA" dirty="0"/>
              <a:t> </a:t>
            </a:r>
            <a:r>
              <a:rPr lang="uk-UA" b="1" dirty="0"/>
              <a:t>зменшення симптомів на понад 50%</a:t>
            </a:r>
            <a:r>
              <a:rPr lang="uk-UA" dirty="0"/>
              <a:t>, що свідчить про суттєве відновлення функції коліна навіть у складних клінічних випадках.</a:t>
            </a:r>
            <a:br>
              <a:rPr lang="uk-UA" dirty="0"/>
            </a:br>
            <a:r>
              <a:rPr lang="uk-UA" dirty="0"/>
              <a:t>Загальна </a:t>
            </a:r>
            <a:r>
              <a:rPr lang="uk-UA" b="1" dirty="0"/>
              <a:t>частота відповіді на лікування склала близько 60%</a:t>
            </a:r>
            <a:r>
              <a:rPr lang="uk-UA" dirty="0"/>
              <a:t>, підтверджуючи ефективність </a:t>
            </a:r>
            <a:r>
              <a:rPr lang="en-US" dirty="0" err="1"/>
              <a:t>KioMedine</a:t>
            </a:r>
            <a:r>
              <a:rPr lang="en-US" dirty="0"/>
              <a:t>® </a:t>
            </a:r>
            <a:r>
              <a:rPr lang="uk-UA" dirty="0"/>
              <a:t>при рефрактерному </a:t>
            </a:r>
            <a:r>
              <a:rPr lang="uk-UA" dirty="0" err="1"/>
              <a:t>остеоартриті</a:t>
            </a:r>
            <a:r>
              <a:rPr lang="uk-UA" dirty="0"/>
              <a:t>.</a:t>
            </a:r>
          </a:p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16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451292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результати </a:t>
            </a:r>
            <a:r>
              <a:rPr lang="uk-UA" b="1" dirty="0" err="1"/>
              <a:t>постмаркетингового</a:t>
            </a:r>
            <a:r>
              <a:rPr lang="uk-UA" b="1" dirty="0"/>
              <a:t> дослідження </a:t>
            </a:r>
            <a:r>
              <a:rPr lang="en-US" b="1" dirty="0" err="1"/>
              <a:t>KioMedine</a:t>
            </a:r>
            <a:r>
              <a:rPr lang="en-US" b="1" dirty="0"/>
              <a:t>® </a:t>
            </a:r>
            <a:r>
              <a:rPr lang="uk-UA" b="1" dirty="0"/>
              <a:t>у Німеччині</a:t>
            </a:r>
            <a:r>
              <a:rPr lang="uk-UA" dirty="0"/>
              <a:t>.</a:t>
            </a:r>
            <a:br>
              <a:rPr lang="uk-UA" dirty="0"/>
            </a:br>
            <a:r>
              <a:rPr lang="uk-UA" dirty="0"/>
              <a:t>У дослідженні брали участь </a:t>
            </a:r>
            <a:r>
              <a:rPr lang="uk-UA" b="1" dirty="0"/>
              <a:t>50 пацієнтів із ІІ–ІІІ ступенем </a:t>
            </a:r>
            <a:r>
              <a:rPr lang="uk-UA" b="1" dirty="0" err="1"/>
              <a:t>остеоартриту</a:t>
            </a:r>
            <a:r>
              <a:rPr lang="uk-UA" b="1" dirty="0"/>
              <a:t> колінного суглоба</a:t>
            </a:r>
            <a:r>
              <a:rPr lang="uk-UA" dirty="0"/>
              <a:t> віком від 37 до 84 років.</a:t>
            </a:r>
            <a:br>
              <a:rPr lang="uk-UA" dirty="0"/>
            </a:br>
            <a:r>
              <a:rPr lang="uk-UA" dirty="0"/>
              <a:t>Ефективність оцінювали за шкалами </a:t>
            </a:r>
            <a:r>
              <a:rPr lang="en-US" b="1" dirty="0"/>
              <a:t>KOOS, VAS</a:t>
            </a:r>
            <a:r>
              <a:rPr lang="en-US" dirty="0"/>
              <a:t> </a:t>
            </a:r>
            <a:r>
              <a:rPr lang="uk-UA" dirty="0"/>
              <a:t>та </a:t>
            </a:r>
            <a:r>
              <a:rPr lang="en-US" b="1" dirty="0"/>
              <a:t>OMERACT-OARSI</a:t>
            </a:r>
            <a:r>
              <a:rPr lang="en-US" dirty="0"/>
              <a:t>: </a:t>
            </a:r>
            <a:r>
              <a:rPr lang="uk-UA" dirty="0"/>
              <a:t>уже через 6 місяців </a:t>
            </a:r>
            <a:r>
              <a:rPr lang="uk-UA" b="1" dirty="0"/>
              <a:t>72,7% пацієнтів</a:t>
            </a:r>
            <a:r>
              <a:rPr lang="uk-UA" dirty="0"/>
              <a:t> показали позитивну динаміку, а через 9 місяців </a:t>
            </a:r>
            <a:r>
              <a:rPr lang="uk-UA" b="1" dirty="0"/>
              <a:t>82,2% зберігали покращення</a:t>
            </a:r>
            <a:r>
              <a:rPr lang="uk-UA" dirty="0"/>
              <a:t>.</a:t>
            </a:r>
            <a:br>
              <a:rPr lang="uk-UA" dirty="0"/>
            </a:br>
            <a:r>
              <a:rPr lang="uk-UA" dirty="0"/>
              <a:t>Середній показник болю за шкалою </a:t>
            </a:r>
            <a:r>
              <a:rPr lang="en-US" dirty="0"/>
              <a:t>VAS </a:t>
            </a:r>
            <a:r>
              <a:rPr lang="uk-UA" dirty="0"/>
              <a:t>знизився з </a:t>
            </a:r>
            <a:r>
              <a:rPr lang="uk-UA" b="1" dirty="0"/>
              <a:t>47,3 до 25,4 балів</a:t>
            </a:r>
            <a:r>
              <a:rPr lang="uk-UA" dirty="0"/>
              <a:t>, що свідчить про суттєве та стійке зменшення болю.</a:t>
            </a:r>
            <a:br>
              <a:rPr lang="uk-UA" dirty="0"/>
            </a:br>
            <a:r>
              <a:rPr lang="uk-UA" dirty="0"/>
              <a:t>Безпечність препарату підтверджена — не виявлено серйозних побічних ефектів чи структурних змін у суглобі, пов’язаних із лікуванням.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17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647768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результати </a:t>
            </a:r>
            <a:r>
              <a:rPr lang="uk-UA" b="1" dirty="0"/>
              <a:t>реального клінічного застосування </a:t>
            </a:r>
            <a:r>
              <a:rPr lang="en-US" b="1" dirty="0" err="1"/>
              <a:t>KioMedine</a:t>
            </a:r>
            <a:r>
              <a:rPr lang="en-US" b="1" dirty="0"/>
              <a:t>® </a:t>
            </a:r>
            <a:r>
              <a:rPr lang="uk-UA" b="1" dirty="0"/>
              <a:t>у Бельгії</a:t>
            </a:r>
            <a:r>
              <a:rPr lang="uk-UA" dirty="0"/>
              <a:t>.</a:t>
            </a:r>
            <a:br>
              <a:rPr lang="uk-UA" dirty="0"/>
            </a:br>
            <a:r>
              <a:rPr lang="uk-UA" dirty="0"/>
              <a:t>Було проведено </a:t>
            </a:r>
            <a:r>
              <a:rPr lang="uk-UA" b="1" dirty="0"/>
              <a:t>133 ін’єкції у 112 пацієнтів</a:t>
            </a:r>
            <a:r>
              <a:rPr lang="uk-UA" dirty="0"/>
              <a:t> із переважно рефрактерним </a:t>
            </a:r>
            <a:r>
              <a:rPr lang="uk-UA" dirty="0" err="1"/>
              <a:t>остеоартритом</a:t>
            </a:r>
            <a:r>
              <a:rPr lang="uk-UA" dirty="0"/>
              <a:t> у період із 2021 по 2023 рік.</a:t>
            </a:r>
            <a:br>
              <a:rPr lang="uk-UA" dirty="0"/>
            </a:br>
            <a:r>
              <a:rPr lang="uk-UA" dirty="0"/>
              <a:t>Препарат показав </a:t>
            </a:r>
            <a:r>
              <a:rPr lang="uk-UA" b="1" dirty="0"/>
              <a:t>високу безпечність</a:t>
            </a:r>
            <a:r>
              <a:rPr lang="uk-UA" dirty="0"/>
              <a:t>: лише </a:t>
            </a:r>
            <a:r>
              <a:rPr lang="uk-UA" b="1" dirty="0"/>
              <a:t>9% пацієнтів</a:t>
            </a:r>
            <a:r>
              <a:rPr lang="uk-UA" dirty="0"/>
              <a:t> повідомили про короткочасний біль після ін’єкції.</a:t>
            </a:r>
            <a:br>
              <a:rPr lang="uk-UA" dirty="0"/>
            </a:br>
            <a:r>
              <a:rPr lang="uk-UA" dirty="0"/>
              <a:t>За результатами телефонного моніторингу, </a:t>
            </a:r>
            <a:r>
              <a:rPr lang="uk-UA" b="1" dirty="0"/>
              <a:t>71% пацієнтів</a:t>
            </a:r>
            <a:r>
              <a:rPr lang="uk-UA" dirty="0"/>
              <a:t> відзначили загальне покращення стану коліна — зменшення болю, скутості, підвищення сили та рухливості.</a:t>
            </a:r>
            <a:br>
              <a:rPr lang="uk-UA" dirty="0"/>
            </a:br>
            <a:r>
              <a:rPr lang="uk-UA" dirty="0"/>
              <a:t>Крім того, </a:t>
            </a:r>
            <a:r>
              <a:rPr lang="uk-UA" b="1" dirty="0"/>
              <a:t>84% пацієнтів</a:t>
            </a:r>
            <a:r>
              <a:rPr lang="uk-UA" dirty="0"/>
              <a:t> висловили готовність пройти </a:t>
            </a:r>
            <a:r>
              <a:rPr lang="uk-UA" b="1" dirty="0"/>
              <a:t>повторне введення КМ-</a:t>
            </a:r>
            <a:r>
              <a:rPr lang="uk-UA" b="1" dirty="0" err="1"/>
              <a:t>хітозану</a:t>
            </a:r>
            <a:r>
              <a:rPr lang="uk-UA" dirty="0"/>
              <a:t>, що підтверджує довіру та задоволеність терапією.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18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267423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результати </a:t>
            </a:r>
            <a:r>
              <a:rPr lang="uk-UA" b="1" dirty="0"/>
              <a:t>реального клінічного застосування </a:t>
            </a:r>
            <a:r>
              <a:rPr lang="en-US" b="1" dirty="0" err="1"/>
              <a:t>KioMedine®vsOne</a:t>
            </a:r>
            <a:r>
              <a:rPr lang="en-US" b="1" dirty="0"/>
              <a:t> </a:t>
            </a:r>
            <a:r>
              <a:rPr lang="uk-UA" b="1" dirty="0"/>
              <a:t>у Бельгії</a:t>
            </a:r>
            <a:r>
              <a:rPr lang="uk-UA" dirty="0"/>
              <a:t> у пацієнтів із </a:t>
            </a:r>
            <a:r>
              <a:rPr lang="uk-UA" b="1" dirty="0"/>
              <a:t>рефрактерним </a:t>
            </a:r>
            <a:r>
              <a:rPr lang="uk-UA" b="1" dirty="0" err="1"/>
              <a:t>остеоартритом</a:t>
            </a:r>
            <a:r>
              <a:rPr lang="uk-UA" b="1" dirty="0"/>
              <a:t> колінного суглоба</a:t>
            </a:r>
            <a:r>
              <a:rPr lang="uk-UA" dirty="0"/>
              <a:t>, яким було показано тотальне </a:t>
            </a:r>
            <a:r>
              <a:rPr lang="uk-UA" dirty="0" err="1"/>
              <a:t>ендопротезування</a:t>
            </a:r>
            <a:r>
              <a:rPr lang="uk-UA" dirty="0"/>
              <a:t> (ТЕПКС).</a:t>
            </a:r>
            <a:br>
              <a:rPr lang="uk-UA" dirty="0"/>
            </a:br>
            <a:r>
              <a:rPr lang="uk-UA" dirty="0"/>
              <a:t>У дослідженні взяли участь </a:t>
            </a:r>
            <a:r>
              <a:rPr lang="uk-UA" b="1" dirty="0"/>
              <a:t>46 пацієнтів</a:t>
            </a:r>
            <a:r>
              <a:rPr lang="uk-UA" dirty="0"/>
              <a:t>, які отримали </a:t>
            </a:r>
            <a:r>
              <a:rPr lang="uk-UA" b="1" dirty="0"/>
              <a:t>одноразову ін’єкцію </a:t>
            </a:r>
            <a:r>
              <a:rPr lang="en-US" b="1" dirty="0" err="1"/>
              <a:t>KioMedine®vsOne</a:t>
            </a:r>
            <a:r>
              <a:rPr lang="en-US" dirty="0"/>
              <a:t> </a:t>
            </a:r>
            <a:r>
              <a:rPr lang="uk-UA" dirty="0"/>
              <a:t>та спостерігалися протягом </a:t>
            </a:r>
            <a:r>
              <a:rPr lang="uk-UA" b="1" dirty="0"/>
              <a:t>1–11 місяців</a:t>
            </a:r>
            <a:r>
              <a:rPr lang="uk-UA" dirty="0"/>
              <a:t>.</a:t>
            </a:r>
            <a:br>
              <a:rPr lang="uk-UA" dirty="0"/>
            </a:br>
            <a:r>
              <a:rPr lang="uk-UA" dirty="0"/>
              <a:t>Оцінка хірургів показала, що у </a:t>
            </a:r>
            <a:r>
              <a:rPr lang="uk-UA" b="1" dirty="0"/>
              <a:t>63% пацієнтів</a:t>
            </a:r>
            <a:r>
              <a:rPr lang="uk-UA" dirty="0"/>
              <a:t> відбулося </a:t>
            </a:r>
            <a:r>
              <a:rPr lang="uk-UA" b="1" dirty="0"/>
              <a:t>відстрочення проведення </a:t>
            </a:r>
            <a:r>
              <a:rPr lang="uk-UA" b="1" dirty="0" err="1"/>
              <a:t>ендопротезування</a:t>
            </a:r>
            <a:r>
              <a:rPr lang="uk-UA" dirty="0"/>
              <a:t>, що свідчить про покращення стану суглоба.</a:t>
            </a:r>
            <a:br>
              <a:rPr lang="uk-UA" dirty="0"/>
            </a:br>
            <a:r>
              <a:rPr lang="uk-UA" dirty="0"/>
              <a:t>Результати підтверджують </a:t>
            </a:r>
            <a:r>
              <a:rPr lang="uk-UA" b="1" dirty="0"/>
              <a:t>високу клінічну ефективність і доцільність застосування </a:t>
            </a:r>
            <a:r>
              <a:rPr lang="en-US" b="1" dirty="0" err="1"/>
              <a:t>KioMedine®vsOne</a:t>
            </a:r>
            <a:r>
              <a:rPr lang="en-US" b="1" dirty="0"/>
              <a:t> </a:t>
            </a:r>
            <a:r>
              <a:rPr lang="uk-UA" b="1" dirty="0"/>
              <a:t>як нехірургічної альтернативи</a:t>
            </a:r>
            <a:r>
              <a:rPr lang="uk-UA" dirty="0"/>
              <a:t> при </a:t>
            </a:r>
            <a:r>
              <a:rPr lang="uk-UA" dirty="0" err="1"/>
              <a:t>остеоартриті</a:t>
            </a:r>
            <a:r>
              <a:rPr lang="uk-UA" dirty="0"/>
              <a:t> колінного суглоба.</a:t>
            </a:r>
            <a:br>
              <a:rPr lang="uk-UA" dirty="0"/>
            </a:br>
            <a:r>
              <a:rPr lang="uk-UA" dirty="0"/>
              <a:t>Таким чином, препарат демонструє потенціал </a:t>
            </a:r>
            <a:r>
              <a:rPr lang="uk-UA" b="1" dirty="0"/>
              <a:t>відкласти або уникнути операції ТЕКС</a:t>
            </a:r>
            <a:r>
              <a:rPr lang="uk-UA" dirty="0"/>
              <a:t> у значної частки пацієнтів.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19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141541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="1" dirty="0"/>
              <a:t>дослідження </a:t>
            </a:r>
            <a:r>
              <a:rPr lang="en-US" b="1" dirty="0"/>
              <a:t>PIONEER</a:t>
            </a:r>
            <a:r>
              <a:rPr lang="en-US" dirty="0"/>
              <a:t> — </a:t>
            </a:r>
            <a:r>
              <a:rPr lang="uk-UA" dirty="0"/>
              <a:t>перше у світі </a:t>
            </a:r>
            <a:r>
              <a:rPr lang="uk-UA" dirty="0" err="1"/>
              <a:t>рандомізоване</a:t>
            </a:r>
            <a:r>
              <a:rPr lang="uk-UA" dirty="0"/>
              <a:t> клінічне дослідження, присвячене </a:t>
            </a:r>
            <a:r>
              <a:rPr lang="uk-UA" b="1" dirty="0"/>
              <a:t>рефрактерному </a:t>
            </a:r>
            <a:r>
              <a:rPr lang="uk-UA" b="1" dirty="0" err="1"/>
              <a:t>остеоартриту</a:t>
            </a:r>
            <a:r>
              <a:rPr lang="uk-UA" b="1" dirty="0"/>
              <a:t> (ОА)</a:t>
            </a:r>
            <a:r>
              <a:rPr lang="uk-UA" dirty="0"/>
              <a:t>.</a:t>
            </a:r>
            <a:br>
              <a:rPr lang="uk-UA" dirty="0"/>
            </a:br>
            <a:r>
              <a:rPr lang="uk-UA" dirty="0"/>
              <a:t>У ньому взяли участь </a:t>
            </a:r>
            <a:r>
              <a:rPr lang="uk-UA" b="1" dirty="0"/>
              <a:t>104 пацієнти</a:t>
            </a:r>
            <a:r>
              <a:rPr lang="uk-UA" dirty="0"/>
              <a:t>, розподілені на дві групи:</a:t>
            </a:r>
            <a:br>
              <a:rPr lang="uk-UA" dirty="0"/>
            </a:br>
            <a:r>
              <a:rPr lang="uk-UA" dirty="0"/>
              <a:t>— </a:t>
            </a:r>
            <a:r>
              <a:rPr lang="uk-UA" b="1" dirty="0"/>
              <a:t>52 пацієнти</a:t>
            </a:r>
            <a:r>
              <a:rPr lang="uk-UA" dirty="0"/>
              <a:t> отримували </a:t>
            </a:r>
            <a:r>
              <a:rPr lang="en-US" b="1" dirty="0" err="1"/>
              <a:t>KioMedine</a:t>
            </a:r>
            <a:r>
              <a:rPr lang="en-US" b="1" dirty="0"/>
              <a:t>®</a:t>
            </a:r>
            <a:r>
              <a:rPr lang="uk-UA" b="1" dirty="0"/>
              <a:t> </a:t>
            </a:r>
            <a:r>
              <a:rPr lang="en-US" b="1" dirty="0"/>
              <a:t>KM-</a:t>
            </a:r>
            <a:r>
              <a:rPr lang="uk-UA" b="1" dirty="0" err="1"/>
              <a:t>хітозан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— </a:t>
            </a:r>
            <a:r>
              <a:rPr lang="en-US" b="1" dirty="0"/>
              <a:t>52 </a:t>
            </a:r>
            <a:r>
              <a:rPr lang="uk-UA" b="1" dirty="0"/>
              <a:t>пацієнти</a:t>
            </a:r>
            <a:r>
              <a:rPr lang="uk-UA" dirty="0"/>
              <a:t> — </a:t>
            </a:r>
            <a:r>
              <a:rPr lang="en-US" b="1" dirty="0"/>
              <a:t>Synvisc-One®</a:t>
            </a:r>
            <a:r>
              <a:rPr lang="en-US" dirty="0"/>
              <a:t> (</a:t>
            </a:r>
            <a:r>
              <a:rPr lang="uk-UA" dirty="0"/>
              <a:t>компаратор).</a:t>
            </a:r>
          </a:p>
          <a:p>
            <a:r>
              <a:rPr lang="uk-UA" dirty="0"/>
              <a:t>Дослідження було </a:t>
            </a:r>
            <a:r>
              <a:rPr lang="uk-UA" b="1" dirty="0" err="1"/>
              <a:t>односліпим</a:t>
            </a:r>
            <a:r>
              <a:rPr lang="uk-UA" b="1" dirty="0"/>
              <a:t>, контрольованим і </a:t>
            </a:r>
            <a:r>
              <a:rPr lang="uk-UA" b="1" dirty="0" err="1"/>
              <a:t>рандомізованим</a:t>
            </a:r>
            <a:r>
              <a:rPr lang="uk-UA" dirty="0"/>
              <a:t>, із термінами спостереження </a:t>
            </a:r>
            <a:r>
              <a:rPr lang="uk-UA" b="1" dirty="0"/>
              <a:t>2 тижні, 3, 6, 9 та 12 місяців</a:t>
            </a:r>
            <a:r>
              <a:rPr lang="uk-UA" dirty="0"/>
              <a:t>.</a:t>
            </a:r>
            <a:br>
              <a:rPr lang="uk-UA" dirty="0"/>
            </a:br>
            <a:r>
              <a:rPr lang="uk-UA" dirty="0"/>
              <a:t>Учасники мали </a:t>
            </a:r>
            <a:r>
              <a:rPr lang="uk-UA" b="1" dirty="0"/>
              <a:t>рефрактерний ОА</a:t>
            </a:r>
            <a:r>
              <a:rPr lang="uk-UA" dirty="0"/>
              <a:t> із прогнозованими факторами невдачі попередніх курсів в’язко</a:t>
            </a:r>
            <a:r>
              <a:rPr lang="en-US" dirty="0"/>
              <a:t>c</a:t>
            </a:r>
            <a:r>
              <a:rPr lang="uk-UA" dirty="0" err="1"/>
              <a:t>уплементації</a:t>
            </a:r>
            <a:r>
              <a:rPr lang="uk-UA" dirty="0"/>
              <a:t> — тяжке або </a:t>
            </a:r>
            <a:r>
              <a:rPr lang="uk-UA" dirty="0" err="1"/>
              <a:t>мультикомпартментне</a:t>
            </a:r>
            <a:r>
              <a:rPr lang="uk-UA" dirty="0"/>
              <a:t> ураження, ожиріння (ІМТ &gt;30 кг/м²), стадія </a:t>
            </a:r>
            <a:r>
              <a:rPr lang="en-US" dirty="0"/>
              <a:t>Kellgren–Lawrence III–IV.</a:t>
            </a:r>
            <a:br>
              <a:rPr lang="en-US" dirty="0"/>
            </a:br>
            <a:r>
              <a:rPr lang="uk-UA" dirty="0"/>
              <a:t>Метою було оцінити </a:t>
            </a:r>
            <a:r>
              <a:rPr lang="uk-UA" b="1" dirty="0"/>
              <a:t>безпечність, ефективність, зменшення болю (шкала </a:t>
            </a:r>
            <a:r>
              <a:rPr lang="en-US" b="1" dirty="0"/>
              <a:t>WOMAC, NRS)</a:t>
            </a:r>
            <a:r>
              <a:rPr lang="en-US" dirty="0"/>
              <a:t>, </a:t>
            </a:r>
            <a:r>
              <a:rPr lang="uk-UA" dirty="0"/>
              <a:t>а також </a:t>
            </a:r>
            <a:r>
              <a:rPr lang="uk-UA" b="1" dirty="0"/>
              <a:t>задоволеність пацієнтів та лікарів</a:t>
            </a:r>
            <a:r>
              <a:rPr lang="uk-UA" dirty="0"/>
              <a:t> протягом 12 місяців.</a:t>
            </a:r>
          </a:p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20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559233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b="1" dirty="0"/>
              <a:t>демографічні дані пацієнтів дослідження </a:t>
            </a:r>
            <a:r>
              <a:rPr lang="en-US" b="1" dirty="0"/>
              <a:t>PIONEER</a:t>
            </a:r>
            <a:r>
              <a:rPr lang="en-US" dirty="0"/>
              <a:t>, </a:t>
            </a:r>
            <a:r>
              <a:rPr lang="uk-UA" dirty="0"/>
              <a:t>у якому порівнювали </a:t>
            </a:r>
            <a:r>
              <a:rPr lang="en-US" b="1" dirty="0" err="1"/>
              <a:t>KioMedine</a:t>
            </a:r>
            <a:r>
              <a:rPr lang="en-US" b="1" dirty="0"/>
              <a:t>®</a:t>
            </a:r>
            <a:r>
              <a:rPr lang="en-US" dirty="0"/>
              <a:t> </a:t>
            </a:r>
            <a:r>
              <a:rPr lang="uk-UA" dirty="0"/>
              <a:t>та </a:t>
            </a:r>
            <a:r>
              <a:rPr lang="en-US" b="1" dirty="0"/>
              <a:t>Synvisc-One®</a:t>
            </a:r>
            <a:r>
              <a:rPr lang="en-US" dirty="0"/>
              <a:t>.</a:t>
            </a:r>
            <a:br>
              <a:rPr lang="en-US" dirty="0"/>
            </a:br>
            <a:r>
              <a:rPr lang="uk-UA" dirty="0"/>
              <a:t>Демографічні характеристики (вік, ІМТ, стать) були </a:t>
            </a:r>
            <a:r>
              <a:rPr lang="uk-UA" b="1" dirty="0"/>
              <a:t>подібними в обох групах</a:t>
            </a:r>
            <a:r>
              <a:rPr lang="uk-UA" dirty="0"/>
              <a:t>: середній вік близько </a:t>
            </a:r>
            <a:r>
              <a:rPr lang="uk-UA" b="1" dirty="0"/>
              <a:t>62 років</a:t>
            </a:r>
            <a:r>
              <a:rPr lang="uk-UA" dirty="0"/>
              <a:t>, середній ІМТ — </a:t>
            </a:r>
            <a:r>
              <a:rPr lang="uk-UA" b="1" dirty="0"/>
              <a:t>≈28 кг/м²</a:t>
            </a:r>
            <a:r>
              <a:rPr lang="uk-UA" dirty="0"/>
              <a:t>, більшість учасників — жінки.</a:t>
            </a:r>
            <a:br>
              <a:rPr lang="uk-UA" dirty="0"/>
            </a:br>
            <a:r>
              <a:rPr lang="uk-UA" dirty="0"/>
              <a:t>Понад </a:t>
            </a:r>
            <a:r>
              <a:rPr lang="uk-UA" b="1" dirty="0"/>
              <a:t>75% пацієнтів у кожній групі були кандидатами на тотальне </a:t>
            </a:r>
            <a:r>
              <a:rPr lang="uk-UA" b="1" dirty="0" err="1"/>
              <a:t>ендопротезування</a:t>
            </a:r>
            <a:r>
              <a:rPr lang="uk-UA" b="1" dirty="0"/>
              <a:t> колінного суглоба (ТЕПКС)</a:t>
            </a:r>
            <a:r>
              <a:rPr lang="uk-UA" dirty="0"/>
              <a:t>.</a:t>
            </a:r>
            <a:br>
              <a:rPr lang="uk-UA" dirty="0"/>
            </a:br>
            <a:r>
              <a:rPr lang="uk-UA" dirty="0"/>
              <a:t>Більше </a:t>
            </a:r>
            <a:r>
              <a:rPr lang="uk-UA" b="1" dirty="0"/>
              <a:t>75% учасників мали </a:t>
            </a:r>
            <a:r>
              <a:rPr lang="uk-UA" b="1" dirty="0" err="1"/>
              <a:t>трикомпартментний</a:t>
            </a:r>
            <a:r>
              <a:rPr lang="uk-UA" b="1" dirty="0"/>
              <a:t> </a:t>
            </a:r>
            <a:r>
              <a:rPr lang="uk-UA" b="1" dirty="0" err="1"/>
              <a:t>остеоартрит</a:t>
            </a:r>
            <a:r>
              <a:rPr lang="uk-UA" dirty="0"/>
              <a:t>, що вказує на тяжкий рефрактерний фенотип.</a:t>
            </a:r>
            <a:br>
              <a:rPr lang="uk-UA" dirty="0"/>
            </a:br>
            <a:r>
              <a:rPr lang="uk-UA" dirty="0"/>
              <a:t>Ретроспективний аналіз підтвердив, що </a:t>
            </a:r>
            <a:r>
              <a:rPr lang="uk-UA" b="1" dirty="0"/>
              <a:t>100% пацієнтів мали ураження </a:t>
            </a:r>
            <a:r>
              <a:rPr lang="uk-UA" b="1" dirty="0" err="1"/>
              <a:t>пателло-феморального</a:t>
            </a:r>
            <a:r>
              <a:rPr lang="uk-UA" b="1" dirty="0"/>
              <a:t> суглоба</a:t>
            </a:r>
            <a:r>
              <a:rPr lang="uk-UA" dirty="0"/>
              <a:t>, що робить цю вибірку </a:t>
            </a:r>
            <a:r>
              <a:rPr lang="uk-UA" dirty="0" err="1"/>
              <a:t>високорелевантною</a:t>
            </a:r>
            <a:r>
              <a:rPr lang="uk-UA" dirty="0"/>
              <a:t> для оцінки ефективності при складних випадках ОА.</a:t>
            </a:r>
          </a:p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21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80647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результати дослідження </a:t>
            </a:r>
            <a:r>
              <a:rPr lang="en-US" dirty="0"/>
              <a:t>PIONEER </a:t>
            </a:r>
            <a:r>
              <a:rPr lang="uk-UA" dirty="0"/>
              <a:t>щодо </a:t>
            </a:r>
            <a:r>
              <a:rPr lang="uk-UA" b="1" dirty="0"/>
              <a:t>зменшення болю за шкалою </a:t>
            </a:r>
            <a:r>
              <a:rPr lang="en-US" b="1" dirty="0"/>
              <a:t>WOMAC</a:t>
            </a:r>
            <a:r>
              <a:rPr lang="en-US" dirty="0"/>
              <a:t> </a:t>
            </a:r>
            <a:r>
              <a:rPr lang="uk-UA" dirty="0"/>
              <a:t>у пацієнтів із </a:t>
            </a:r>
            <a:r>
              <a:rPr lang="uk-UA" b="1" dirty="0"/>
              <a:t>рефрактерним </a:t>
            </a:r>
            <a:r>
              <a:rPr lang="uk-UA" b="1" dirty="0" err="1"/>
              <a:t>остеоартритом</a:t>
            </a:r>
            <a:r>
              <a:rPr lang="uk-UA" b="1" dirty="0"/>
              <a:t> колінного суглоба</a:t>
            </a:r>
            <a:r>
              <a:rPr lang="uk-UA" dirty="0"/>
              <a:t>, які отримували </a:t>
            </a:r>
            <a:r>
              <a:rPr lang="en-US" b="1" dirty="0" err="1"/>
              <a:t>KioMedine</a:t>
            </a:r>
            <a:r>
              <a:rPr lang="en-US" b="1" dirty="0"/>
              <a:t>®</a:t>
            </a:r>
            <a:r>
              <a:rPr lang="en-US" dirty="0"/>
              <a:t>.</a:t>
            </a:r>
            <a:br>
              <a:rPr lang="en-US" dirty="0"/>
            </a:br>
            <a:r>
              <a:rPr lang="uk-UA" dirty="0"/>
              <a:t>Зниження болю спостерігалося вже з </a:t>
            </a:r>
            <a:r>
              <a:rPr lang="uk-UA" b="1" dirty="0"/>
              <a:t>2-го тижня</a:t>
            </a:r>
            <a:r>
              <a:rPr lang="uk-UA" dirty="0"/>
              <a:t> після ін’єкції й зберігалося протягом усього </a:t>
            </a:r>
            <a:r>
              <a:rPr lang="uk-UA" b="1" dirty="0"/>
              <a:t>12-місячного періоду спостереження</a:t>
            </a:r>
            <a:r>
              <a:rPr lang="uk-UA" dirty="0"/>
              <a:t>.</a:t>
            </a:r>
            <a:br>
              <a:rPr lang="uk-UA" dirty="0"/>
            </a:br>
            <a:r>
              <a:rPr lang="uk-UA" dirty="0"/>
              <a:t>Середнє зменшення показника </a:t>
            </a:r>
            <a:r>
              <a:rPr lang="en-US" dirty="0"/>
              <a:t>WOMAC Pain </a:t>
            </a:r>
            <a:r>
              <a:rPr lang="uk-UA" dirty="0"/>
              <a:t>становило </a:t>
            </a:r>
            <a:r>
              <a:rPr lang="uk-UA" b="1" dirty="0"/>
              <a:t>73,5%</a:t>
            </a:r>
            <a:r>
              <a:rPr lang="uk-UA" dirty="0"/>
              <a:t> через 12 місяців, а за даними окремого аналізу — </a:t>
            </a:r>
            <a:r>
              <a:rPr lang="uk-UA" b="1" dirty="0"/>
              <a:t>до 81,7%</a:t>
            </a:r>
            <a:r>
              <a:rPr lang="uk-UA" dirty="0"/>
              <a:t>.</a:t>
            </a:r>
            <a:br>
              <a:rPr lang="uk-UA" dirty="0"/>
            </a:br>
            <a:r>
              <a:rPr lang="uk-UA" dirty="0"/>
              <a:t>Діаграми демонструють стабільне зниження болю без значного повернення симптомів упродовж року.</a:t>
            </a:r>
            <a:br>
              <a:rPr lang="uk-UA" dirty="0"/>
            </a:br>
            <a:r>
              <a:rPr lang="uk-UA" dirty="0"/>
              <a:t>Отже, </a:t>
            </a:r>
            <a:r>
              <a:rPr lang="en-US" b="1" dirty="0" err="1"/>
              <a:t>KioMedine</a:t>
            </a:r>
            <a:r>
              <a:rPr lang="en-US" b="1" dirty="0"/>
              <a:t>® </a:t>
            </a:r>
            <a:r>
              <a:rPr lang="uk-UA" b="1" dirty="0"/>
              <a:t>забезпечує тривале полегшення болю</a:t>
            </a:r>
            <a:r>
              <a:rPr lang="uk-UA" dirty="0"/>
              <a:t> та стале покращення функціональної активності у пацієнтів із тяжким, резистентним до терапії </a:t>
            </a:r>
            <a:r>
              <a:rPr lang="uk-UA" dirty="0" err="1"/>
              <a:t>остеоартритом</a:t>
            </a:r>
            <a:r>
              <a:rPr lang="uk-UA" dirty="0"/>
              <a:t>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22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27126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b="1" dirty="0"/>
              <a:t>клінічно значущі результати дослідження </a:t>
            </a:r>
            <a:r>
              <a:rPr lang="en-US" b="1" dirty="0"/>
              <a:t>PIONEER</a:t>
            </a:r>
            <a:r>
              <a:rPr lang="en-US" dirty="0"/>
              <a:t> </a:t>
            </a:r>
            <a:r>
              <a:rPr lang="uk-UA" dirty="0"/>
              <a:t>у загальній популяції пацієнтів.</a:t>
            </a:r>
            <a:br>
              <a:rPr lang="uk-UA" dirty="0"/>
            </a:br>
            <a:r>
              <a:rPr lang="uk-UA" dirty="0"/>
              <a:t>На графіку видно, що </a:t>
            </a:r>
            <a:r>
              <a:rPr lang="uk-UA" b="1" dirty="0"/>
              <a:t>зменшення болю за шкалою </a:t>
            </a:r>
            <a:r>
              <a:rPr lang="en-US" b="1" dirty="0"/>
              <a:t>WOMAC</a:t>
            </a:r>
            <a:r>
              <a:rPr lang="en-US" dirty="0"/>
              <a:t> </a:t>
            </a:r>
            <a:r>
              <a:rPr lang="uk-UA" dirty="0"/>
              <a:t>після введення </a:t>
            </a:r>
            <a:r>
              <a:rPr lang="en-US" b="1" dirty="0" err="1"/>
              <a:t>KioMedine</a:t>
            </a:r>
            <a:r>
              <a:rPr lang="en-US" b="1" dirty="0"/>
              <a:t>®</a:t>
            </a:r>
            <a:r>
              <a:rPr lang="en-US" dirty="0"/>
              <a:t> </a:t>
            </a:r>
            <a:r>
              <a:rPr lang="uk-UA" dirty="0"/>
              <a:t>розпочиналося вже з </a:t>
            </a:r>
            <a:r>
              <a:rPr lang="uk-UA" b="1" dirty="0"/>
              <a:t>2-го тижня</a:t>
            </a:r>
            <a:r>
              <a:rPr lang="uk-UA" dirty="0"/>
              <a:t> та зберігалося </a:t>
            </a:r>
            <a:r>
              <a:rPr lang="uk-UA" b="1" dirty="0"/>
              <a:t>щонайменше протягом 12 місяців</a:t>
            </a:r>
            <a:r>
              <a:rPr lang="uk-UA" dirty="0"/>
              <a:t>.</a:t>
            </a:r>
            <a:br>
              <a:rPr lang="uk-UA" dirty="0"/>
            </a:br>
            <a:r>
              <a:rPr lang="uk-UA" dirty="0"/>
              <a:t>За ефективністю </a:t>
            </a:r>
            <a:r>
              <a:rPr lang="en-US" dirty="0" err="1"/>
              <a:t>KioMedine</a:t>
            </a:r>
            <a:r>
              <a:rPr lang="en-US" dirty="0"/>
              <a:t>® </a:t>
            </a:r>
            <a:r>
              <a:rPr lang="uk-UA" dirty="0"/>
              <a:t>показав </a:t>
            </a:r>
            <a:r>
              <a:rPr lang="uk-UA" b="1" dirty="0"/>
              <a:t>не меншу дію порівняно з </a:t>
            </a:r>
            <a:r>
              <a:rPr lang="en-US" b="1" dirty="0"/>
              <a:t>Synvisc-One®</a:t>
            </a:r>
            <a:r>
              <a:rPr lang="en-US" dirty="0"/>
              <a:t> (p=0,024) </a:t>
            </a:r>
            <a:r>
              <a:rPr lang="uk-UA" dirty="0"/>
              <a:t>і навіть мав </a:t>
            </a:r>
            <a:r>
              <a:rPr lang="uk-UA" b="1" dirty="0"/>
              <a:t>перевагу на 11,8%</a:t>
            </a:r>
            <a:r>
              <a:rPr lang="uk-UA" dirty="0"/>
              <a:t> у пацієнтів із рефрактерним </a:t>
            </a:r>
            <a:r>
              <a:rPr lang="uk-UA" dirty="0" err="1"/>
              <a:t>остеоартритом</a:t>
            </a:r>
            <a:r>
              <a:rPr lang="uk-UA" dirty="0"/>
              <a:t> колінного суглоба.</a:t>
            </a:r>
            <a:br>
              <a:rPr lang="uk-UA" dirty="0"/>
            </a:br>
            <a:r>
              <a:rPr lang="uk-UA" dirty="0"/>
              <a:t>Цей ефект підтверджено також у популяції </a:t>
            </a:r>
            <a:r>
              <a:rPr lang="en-US" dirty="0"/>
              <a:t>PP (</a:t>
            </a:r>
            <a:r>
              <a:rPr lang="uk-UA" dirty="0"/>
              <a:t>пер-протокол) із приростом </a:t>
            </a:r>
            <a:r>
              <a:rPr lang="uk-UA" b="1" dirty="0"/>
              <a:t>13,6%</a:t>
            </a:r>
            <a:r>
              <a:rPr lang="uk-UA" dirty="0"/>
              <a:t>.</a:t>
            </a:r>
            <a:br>
              <a:rPr lang="uk-UA" dirty="0"/>
            </a:br>
            <a:r>
              <a:rPr lang="uk-UA" dirty="0"/>
              <a:t>Отже, </a:t>
            </a:r>
            <a:r>
              <a:rPr lang="en-US" b="1" dirty="0" err="1"/>
              <a:t>KioMedine</a:t>
            </a:r>
            <a:r>
              <a:rPr lang="en-US" b="1" dirty="0"/>
              <a:t>® </a:t>
            </a:r>
            <a:r>
              <a:rPr lang="uk-UA" b="1" dirty="0"/>
              <a:t>забезпечує тривале та стабільне зниження болю</a:t>
            </a:r>
            <a:r>
              <a:rPr lang="uk-UA" dirty="0"/>
              <a:t>, навіть у пацієнтів із тяжким ураженням </a:t>
            </a:r>
            <a:r>
              <a:rPr lang="uk-UA" dirty="0" err="1"/>
              <a:t>пателло-феморального</a:t>
            </a:r>
            <a:r>
              <a:rPr lang="uk-UA" dirty="0"/>
              <a:t> відділу суглоба.</a:t>
            </a:r>
          </a:p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23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52923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KioMedine</a:t>
            </a:r>
            <a:r>
              <a:rPr lang="en-US" b="1" dirty="0"/>
              <a:t>® (</a:t>
            </a:r>
            <a:r>
              <a:rPr lang="uk-UA" b="1" dirty="0"/>
              <a:t>КМ-</a:t>
            </a:r>
            <a:r>
              <a:rPr lang="uk-UA" b="1" dirty="0" err="1"/>
              <a:t>хітозан</a:t>
            </a:r>
            <a:r>
              <a:rPr lang="uk-UA" b="1" dirty="0"/>
              <a:t>)</a:t>
            </a:r>
            <a:r>
              <a:rPr lang="uk-UA" dirty="0"/>
              <a:t> продемонстрував </a:t>
            </a:r>
            <a:r>
              <a:rPr lang="uk-UA" b="1" dirty="0"/>
              <a:t>клінічно важливі відмінності у всіх фенотипах пацієнтів з </a:t>
            </a:r>
            <a:r>
              <a:rPr lang="uk-UA" b="1" dirty="0" err="1"/>
              <a:t>остеоартритом</a:t>
            </a:r>
            <a:r>
              <a:rPr lang="uk-UA" b="1" dirty="0"/>
              <a:t> (ОА)</a:t>
            </a:r>
            <a:r>
              <a:rPr lang="uk-UA" dirty="0"/>
              <a:t> порівняно з </a:t>
            </a:r>
            <a:r>
              <a:rPr lang="en-US" dirty="0"/>
              <a:t>Synvisc-One®.</a:t>
            </a:r>
          </a:p>
          <a:p>
            <a:r>
              <a:rPr lang="uk-UA" b="1" dirty="0"/>
              <a:t>Основні результати через 12 місяців:</a:t>
            </a:r>
            <a:endParaRPr lang="uk-UA" dirty="0"/>
          </a:p>
          <a:p>
            <a:r>
              <a:rPr lang="uk-UA" dirty="0"/>
              <a:t>Загальна популяція / ураження </a:t>
            </a:r>
            <a:r>
              <a:rPr lang="uk-UA" dirty="0" err="1"/>
              <a:t>пателлофеморального</a:t>
            </a:r>
            <a:r>
              <a:rPr lang="uk-UA" dirty="0"/>
              <a:t> суглоба — </a:t>
            </a:r>
            <a:r>
              <a:rPr lang="el-GR" b="1" dirty="0"/>
              <a:t>Δ –11,5 %</a:t>
            </a:r>
            <a:endParaRPr lang="el-GR" dirty="0"/>
          </a:p>
          <a:p>
            <a:r>
              <a:rPr lang="uk-UA" dirty="0" err="1"/>
              <a:t>Трикомпартментний</a:t>
            </a:r>
            <a:r>
              <a:rPr lang="uk-UA" dirty="0"/>
              <a:t> </a:t>
            </a:r>
            <a:r>
              <a:rPr lang="uk-UA" dirty="0" err="1"/>
              <a:t>остеоартрит</a:t>
            </a:r>
            <a:r>
              <a:rPr lang="uk-UA" dirty="0"/>
              <a:t> — </a:t>
            </a:r>
            <a:r>
              <a:rPr lang="el-GR" b="1" dirty="0"/>
              <a:t>Δ –12,9 %</a:t>
            </a:r>
            <a:endParaRPr lang="el-GR" dirty="0"/>
          </a:p>
          <a:p>
            <a:r>
              <a:rPr lang="uk-UA" dirty="0"/>
              <a:t>Пацієнти з ожирінням (ІМТ &gt; 30 кг/м²) — </a:t>
            </a:r>
            <a:r>
              <a:rPr lang="el-GR" b="1" dirty="0"/>
              <a:t>Δ –21,7 %</a:t>
            </a:r>
            <a:endParaRPr lang="el-GR" dirty="0"/>
          </a:p>
          <a:p>
            <a:r>
              <a:rPr lang="uk-UA" dirty="0"/>
              <a:t>Кандидати на ТЕПКС — </a:t>
            </a:r>
            <a:r>
              <a:rPr lang="el-GR" b="1" dirty="0"/>
              <a:t>Δ –13,5 %</a:t>
            </a:r>
            <a:endParaRPr lang="el-GR" dirty="0"/>
          </a:p>
          <a:p>
            <a:r>
              <a:rPr lang="uk-UA" dirty="0"/>
              <a:t>У всіх підгрупах спостерігається </a:t>
            </a:r>
            <a:r>
              <a:rPr lang="uk-UA" b="1" dirty="0"/>
              <a:t>стійке зниження болю за шкалою </a:t>
            </a:r>
            <a:r>
              <a:rPr lang="en-US" b="1" dirty="0"/>
              <a:t>WOMAC</a:t>
            </a:r>
            <a:r>
              <a:rPr lang="en-US" dirty="0"/>
              <a:t> </a:t>
            </a:r>
            <a:r>
              <a:rPr lang="uk-UA" dirty="0"/>
              <a:t>протягом року з </a:t>
            </a:r>
            <a:r>
              <a:rPr lang="uk-UA" b="1" dirty="0"/>
              <a:t>тенденцією до кращих результатів у групі </a:t>
            </a:r>
            <a:r>
              <a:rPr lang="en-US" b="1" dirty="0" err="1"/>
              <a:t>KioMedine</a:t>
            </a:r>
            <a:r>
              <a:rPr lang="en-US" b="1" dirty="0"/>
              <a:t>®</a:t>
            </a:r>
            <a:r>
              <a:rPr lang="en-US" dirty="0"/>
              <a:t>, </a:t>
            </a:r>
            <a:r>
              <a:rPr lang="uk-UA" dirty="0"/>
              <a:t>особливо в пацієнтів із тяжкими фенотипами (ожиріння, </a:t>
            </a:r>
            <a:r>
              <a:rPr lang="uk-UA" dirty="0" err="1"/>
              <a:t>трикомпартментне</a:t>
            </a:r>
            <a:r>
              <a:rPr lang="uk-UA" dirty="0"/>
              <a:t> ураження, показання до </a:t>
            </a:r>
            <a:r>
              <a:rPr lang="uk-UA" dirty="0" err="1"/>
              <a:t>ендопротезування</a:t>
            </a:r>
            <a:r>
              <a:rPr lang="uk-UA" dirty="0"/>
              <a:t>).</a:t>
            </a:r>
          </a:p>
          <a:p>
            <a:r>
              <a:rPr lang="uk-UA" dirty="0"/>
              <a:t>Узагальнення: </a:t>
            </a:r>
            <a:r>
              <a:rPr lang="en-US" b="1" dirty="0" err="1"/>
              <a:t>KioMedineVSone</a:t>
            </a:r>
            <a:r>
              <a:rPr lang="en-US" b="1" dirty="0"/>
              <a:t> </a:t>
            </a:r>
            <a:r>
              <a:rPr lang="uk-UA" b="1" dirty="0"/>
              <a:t>забезпечує стабільний тривалий ефект у пацієнтів, найменш чутливих до стандартної </a:t>
            </a:r>
            <a:r>
              <a:rPr lang="uk-UA" b="1" dirty="0" err="1"/>
              <a:t>в’язкосуплементації</a:t>
            </a:r>
            <a:r>
              <a:rPr lang="en-US" b="1" dirty="0"/>
              <a:t> (</a:t>
            </a:r>
            <a:r>
              <a:rPr lang="uk-UA" b="1" dirty="0"/>
              <a:t>введення ГК).</a:t>
            </a:r>
            <a:endParaRPr lang="uk-UA" dirty="0"/>
          </a:p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24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169854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 err="1"/>
              <a:t>авіть</a:t>
            </a:r>
            <a:r>
              <a:rPr lang="uk-UA" dirty="0"/>
              <a:t> у пацієнтів із </a:t>
            </a:r>
            <a:r>
              <a:rPr lang="uk-UA" b="1" dirty="0" err="1"/>
              <a:t>остеоартритом</a:t>
            </a:r>
            <a:r>
              <a:rPr lang="uk-UA" b="1" dirty="0"/>
              <a:t> </a:t>
            </a:r>
            <a:r>
              <a:rPr lang="en-US" b="1" dirty="0"/>
              <a:t>IV </a:t>
            </a:r>
            <a:r>
              <a:rPr lang="uk-UA" b="1" dirty="0"/>
              <a:t>ступеня за шкалою </a:t>
            </a:r>
            <a:r>
              <a:rPr lang="en-US" b="1" dirty="0"/>
              <a:t>Kellgren-Lawrence (KL)</a:t>
            </a:r>
            <a:r>
              <a:rPr lang="en-US" dirty="0"/>
              <a:t>, </a:t>
            </a:r>
            <a:r>
              <a:rPr lang="uk-UA" dirty="0"/>
              <a:t>препарат </a:t>
            </a:r>
            <a:r>
              <a:rPr lang="en-US" b="1" dirty="0" err="1"/>
              <a:t>KioMedine</a:t>
            </a:r>
            <a:r>
              <a:rPr lang="en-US" b="1" dirty="0"/>
              <a:t>® (</a:t>
            </a:r>
            <a:r>
              <a:rPr lang="uk-UA" b="1" dirty="0"/>
              <a:t>КМ-</a:t>
            </a:r>
            <a:r>
              <a:rPr lang="uk-UA" b="1" dirty="0" err="1"/>
              <a:t>хітозан</a:t>
            </a:r>
            <a:r>
              <a:rPr lang="uk-UA" b="1" dirty="0"/>
              <a:t>)</a:t>
            </a:r>
            <a:r>
              <a:rPr lang="uk-UA" dirty="0"/>
              <a:t> показав </a:t>
            </a:r>
            <a:r>
              <a:rPr lang="uk-UA" b="1" dirty="0"/>
              <a:t>клінічно значущі переваги</a:t>
            </a:r>
            <a:r>
              <a:rPr lang="uk-UA" dirty="0"/>
              <a:t> над </a:t>
            </a:r>
            <a:r>
              <a:rPr lang="en-US" dirty="0"/>
              <a:t>Synvisc-One®.</a:t>
            </a:r>
          </a:p>
          <a:p>
            <a:r>
              <a:rPr lang="uk-UA" b="1" dirty="0"/>
              <a:t>Основні результати:</a:t>
            </a:r>
            <a:endParaRPr lang="uk-UA" dirty="0"/>
          </a:p>
          <a:p>
            <a:r>
              <a:rPr lang="uk-UA" dirty="0"/>
              <a:t>Уже через 2 тижні після ін’єкції спостерігалося суттєве зниження болю за шкалою </a:t>
            </a:r>
            <a:r>
              <a:rPr lang="en-US" b="1" dirty="0"/>
              <a:t>WOMAC</a:t>
            </a:r>
            <a:r>
              <a:rPr lang="en-US" dirty="0"/>
              <a:t>.</a:t>
            </a:r>
          </a:p>
          <a:p>
            <a:r>
              <a:rPr lang="uk-UA" dirty="0"/>
              <a:t>Ефект зберігався до </a:t>
            </a:r>
            <a:r>
              <a:rPr lang="uk-UA" b="1" dirty="0"/>
              <a:t>12 місяців</a:t>
            </a:r>
            <a:r>
              <a:rPr lang="uk-UA" dirty="0"/>
              <a:t>, демонструючи </a:t>
            </a:r>
            <a:r>
              <a:rPr lang="el-GR" b="1" dirty="0"/>
              <a:t>Δ –17,2%</a:t>
            </a:r>
            <a:r>
              <a:rPr lang="el-GR" dirty="0"/>
              <a:t> </a:t>
            </a:r>
            <a:r>
              <a:rPr lang="uk-UA" dirty="0"/>
              <a:t>різниці на користь </a:t>
            </a:r>
            <a:r>
              <a:rPr lang="en-US" dirty="0" err="1"/>
              <a:t>KioMedine</a:t>
            </a:r>
            <a:r>
              <a:rPr lang="en-US" dirty="0"/>
              <a:t>®.</a:t>
            </a:r>
          </a:p>
          <a:p>
            <a:r>
              <a:rPr lang="uk-UA" dirty="0"/>
              <a:t>Динаміка </a:t>
            </a:r>
            <a:r>
              <a:rPr lang="en-US" dirty="0"/>
              <a:t>WOMAC Pain</a:t>
            </a:r>
            <a:r>
              <a:rPr lang="uk-UA" dirty="0"/>
              <a:t>(біль)</a:t>
            </a:r>
            <a:r>
              <a:rPr lang="en-US" dirty="0"/>
              <a:t> </a:t>
            </a:r>
            <a:r>
              <a:rPr lang="uk-UA" dirty="0"/>
              <a:t>підтверджує </a:t>
            </a:r>
            <a:r>
              <a:rPr lang="uk-UA" b="1" dirty="0"/>
              <a:t>стійке покращення</a:t>
            </a:r>
            <a:r>
              <a:rPr lang="uk-UA" dirty="0"/>
              <a:t> без вираженого повернення симптомів.</a:t>
            </a:r>
          </a:p>
          <a:p>
            <a:r>
              <a:rPr lang="uk-UA" b="1" dirty="0"/>
              <a:t>Висновок:</a:t>
            </a:r>
            <a:r>
              <a:rPr lang="uk-UA" dirty="0"/>
              <a:t> навіть у найтяжчих випадках (ОА</a:t>
            </a:r>
            <a:r>
              <a:rPr lang="en-US" dirty="0"/>
              <a:t> IV) </a:t>
            </a:r>
            <a:r>
              <a:rPr lang="en-US" dirty="0" err="1"/>
              <a:t>KioMedine</a:t>
            </a:r>
            <a:r>
              <a:rPr lang="en-US" dirty="0"/>
              <a:t>® </a:t>
            </a:r>
            <a:r>
              <a:rPr lang="uk-UA" dirty="0"/>
              <a:t>забезпечує </a:t>
            </a:r>
            <a:r>
              <a:rPr lang="uk-UA" b="1" dirty="0"/>
              <a:t>виражене і тривале полегшення болю</a:t>
            </a:r>
            <a:r>
              <a:rPr lang="uk-UA" dirty="0"/>
              <a:t>, демонструючи </a:t>
            </a:r>
            <a:r>
              <a:rPr lang="uk-UA" b="1" dirty="0"/>
              <a:t>тенденцію до переваги</a:t>
            </a:r>
            <a:r>
              <a:rPr lang="uk-UA" dirty="0"/>
              <a:t> над стандартною </a:t>
            </a:r>
            <a:r>
              <a:rPr lang="uk-UA" dirty="0" err="1"/>
              <a:t>гіалуроновою</a:t>
            </a:r>
            <a:r>
              <a:rPr lang="uk-UA" dirty="0"/>
              <a:t> кислотою.</a:t>
            </a:r>
          </a:p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25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360400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="1" dirty="0"/>
              <a:t>оцінка безпеки та переносимості препарату </a:t>
            </a:r>
            <a:r>
              <a:rPr lang="en-US" b="1" dirty="0" err="1"/>
              <a:t>KioMedine</a:t>
            </a:r>
            <a:r>
              <a:rPr lang="en-US" b="1" dirty="0"/>
              <a:t>® </a:t>
            </a:r>
            <a:r>
              <a:rPr lang="uk-UA" b="1" dirty="0"/>
              <a:t>КМ-</a:t>
            </a:r>
            <a:r>
              <a:rPr lang="uk-UA" b="1" dirty="0" err="1"/>
              <a:t>хітозан</a:t>
            </a:r>
            <a:r>
              <a:rPr lang="en-US" dirty="0"/>
              <a:t> </a:t>
            </a:r>
            <a:r>
              <a:rPr lang="uk-UA" dirty="0"/>
              <a:t>у порівнянні з </a:t>
            </a:r>
            <a:r>
              <a:rPr lang="en-US" dirty="0"/>
              <a:t>Synvisc-One® </a:t>
            </a:r>
            <a:r>
              <a:rPr lang="uk-UA" dirty="0"/>
              <a:t>протягом 12 місяців.</a:t>
            </a:r>
          </a:p>
          <a:p>
            <a:r>
              <a:rPr lang="uk-UA" b="1" dirty="0"/>
              <a:t>Основні результати:</a:t>
            </a:r>
            <a:endParaRPr lang="uk-UA" dirty="0"/>
          </a:p>
          <a:p>
            <a:r>
              <a:rPr lang="uk-UA" dirty="0"/>
              <a:t>Загальна кількість побічних ефектів була </a:t>
            </a:r>
            <a:r>
              <a:rPr lang="uk-UA" b="1" dirty="0"/>
              <a:t>порівнянною</a:t>
            </a:r>
            <a:r>
              <a:rPr lang="uk-UA" dirty="0"/>
              <a:t> у двох групах: 69 випадків у групі </a:t>
            </a:r>
            <a:r>
              <a:rPr lang="en-US" dirty="0" err="1"/>
              <a:t>KioMedine</a:t>
            </a:r>
            <a:r>
              <a:rPr lang="en-US" dirty="0"/>
              <a:t>® </a:t>
            </a:r>
            <a:r>
              <a:rPr lang="uk-UA" dirty="0"/>
              <a:t>і 65 — у </a:t>
            </a:r>
            <a:r>
              <a:rPr lang="en-US" dirty="0"/>
              <a:t>Synvisc-One®.</a:t>
            </a:r>
          </a:p>
          <a:p>
            <a:r>
              <a:rPr lang="uk-UA" b="1" dirty="0"/>
              <a:t>Більшість реакцій</a:t>
            </a:r>
            <a:r>
              <a:rPr lang="uk-UA" dirty="0"/>
              <a:t> були легкими або помірними й переважно </a:t>
            </a:r>
            <a:r>
              <a:rPr lang="uk-UA" b="1" dirty="0"/>
              <a:t>пов’язані з артралгією (біль у суглобі)</a:t>
            </a:r>
            <a:r>
              <a:rPr lang="uk-UA" dirty="0"/>
              <a:t>.</a:t>
            </a:r>
          </a:p>
          <a:p>
            <a:r>
              <a:rPr lang="uk-UA" b="1" dirty="0"/>
              <a:t>Серйозних побічних ефектів, пов’язаних із пристроєм або процедурою, не зареєстровано.</a:t>
            </a:r>
            <a:endParaRPr lang="uk-UA" dirty="0"/>
          </a:p>
          <a:p>
            <a:r>
              <a:rPr lang="uk-UA" dirty="0"/>
              <a:t>Не було жодного випадку смерті чи непередбачених ускладнень.</a:t>
            </a:r>
          </a:p>
          <a:p>
            <a:r>
              <a:rPr lang="uk-UA" b="1" dirty="0"/>
              <a:t>Висновок:</a:t>
            </a:r>
            <a:r>
              <a:rPr lang="uk-UA" dirty="0"/>
              <a:t> </a:t>
            </a:r>
            <a:r>
              <a:rPr lang="en-US" dirty="0" err="1"/>
              <a:t>KioMedine</a:t>
            </a:r>
            <a:r>
              <a:rPr lang="en-US" dirty="0"/>
              <a:t>® </a:t>
            </a:r>
            <a:r>
              <a:rPr lang="uk-UA" dirty="0"/>
              <a:t>КМ-</a:t>
            </a:r>
            <a:r>
              <a:rPr lang="uk-UA" dirty="0" err="1"/>
              <a:t>хітозан</a:t>
            </a:r>
            <a:r>
              <a:rPr lang="en-US" dirty="0"/>
              <a:t> </a:t>
            </a:r>
            <a:r>
              <a:rPr lang="uk-UA" dirty="0"/>
              <a:t>має </a:t>
            </a:r>
            <a:r>
              <a:rPr lang="uk-UA" b="1" dirty="0"/>
              <a:t>добрий профіль безпеки та високу переносимість</a:t>
            </a:r>
            <a:r>
              <a:rPr lang="uk-UA" dirty="0"/>
              <a:t>, подібну до стандартних препаратів </a:t>
            </a:r>
            <a:r>
              <a:rPr lang="uk-UA" dirty="0" err="1"/>
              <a:t>гіалуронової</a:t>
            </a:r>
            <a:r>
              <a:rPr lang="uk-UA" dirty="0"/>
              <a:t> кислоти, навіть за тривалого (12 місяців) спостереження.</a:t>
            </a:r>
          </a:p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26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06597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="1" dirty="0"/>
              <a:t>переносимість препарату </a:t>
            </a:r>
            <a:r>
              <a:rPr lang="en-US" b="1" dirty="0" err="1"/>
              <a:t>KioMedine</a:t>
            </a:r>
            <a:r>
              <a:rPr lang="en-US" b="1" dirty="0"/>
              <a:t>®</a:t>
            </a:r>
            <a:r>
              <a:rPr lang="en-US" dirty="0"/>
              <a:t>, </a:t>
            </a:r>
            <a:r>
              <a:rPr lang="uk-UA" dirty="0"/>
              <a:t>зокрема щодо больових симптомів після ін’єкції.</a:t>
            </a:r>
          </a:p>
          <a:p>
            <a:r>
              <a:rPr lang="uk-UA" b="1" dirty="0"/>
              <a:t>Основні результати:</a:t>
            </a:r>
            <a:endParaRPr lang="uk-UA" dirty="0"/>
          </a:p>
          <a:p>
            <a:r>
              <a:rPr lang="uk-UA" b="1" dirty="0"/>
              <a:t>Артралгія</a:t>
            </a:r>
            <a:r>
              <a:rPr lang="uk-UA" dirty="0"/>
              <a:t> після введення препарату спостерігалася лише у 20 пацієнтів, з яких:</a:t>
            </a:r>
          </a:p>
          <a:p>
            <a:pPr lvl="1"/>
            <a:r>
              <a:rPr lang="uk-UA" dirty="0"/>
              <a:t>85 % випадків були </a:t>
            </a:r>
            <a:r>
              <a:rPr lang="uk-UA" b="1" dirty="0"/>
              <a:t>помірними</a:t>
            </a:r>
            <a:r>
              <a:rPr lang="uk-UA" dirty="0"/>
              <a:t>,</a:t>
            </a:r>
          </a:p>
          <a:p>
            <a:pPr lvl="1"/>
            <a:r>
              <a:rPr lang="uk-UA" dirty="0"/>
              <a:t>15 % — </a:t>
            </a:r>
            <a:r>
              <a:rPr lang="uk-UA" b="1" dirty="0"/>
              <a:t>легкими</a:t>
            </a:r>
            <a:r>
              <a:rPr lang="uk-UA" dirty="0"/>
              <a:t>,</a:t>
            </a:r>
          </a:p>
          <a:p>
            <a:pPr lvl="1"/>
            <a:r>
              <a:rPr lang="uk-UA" b="1" dirty="0"/>
              <a:t>жодного випадку тяжкої реакції</a:t>
            </a:r>
            <a:r>
              <a:rPr lang="uk-UA" dirty="0"/>
              <a:t> не зафіксовано.</a:t>
            </a:r>
          </a:p>
          <a:p>
            <a:r>
              <a:rPr lang="uk-UA" dirty="0"/>
              <a:t>Симптоми добре контролювалися простими анальгетиками, переважно </a:t>
            </a:r>
            <a:r>
              <a:rPr lang="uk-UA" b="1" dirty="0" err="1"/>
              <a:t>парацетамолом</a:t>
            </a:r>
            <a:r>
              <a:rPr lang="uk-UA" b="1" dirty="0"/>
              <a:t> (62,5 %)</a:t>
            </a:r>
            <a:r>
              <a:rPr lang="uk-UA" dirty="0"/>
              <a:t>, рідше — </a:t>
            </a:r>
            <a:r>
              <a:rPr lang="uk-UA" dirty="0" err="1"/>
              <a:t>ібупрофеном</a:t>
            </a:r>
            <a:r>
              <a:rPr lang="uk-UA" dirty="0"/>
              <a:t> або іншими НПЗЗ.</a:t>
            </a:r>
          </a:p>
          <a:p>
            <a:r>
              <a:rPr lang="uk-UA" b="1" dirty="0"/>
              <a:t>Висновок:</a:t>
            </a:r>
            <a:r>
              <a:rPr lang="uk-UA" dirty="0"/>
              <a:t> </a:t>
            </a:r>
            <a:r>
              <a:rPr lang="en-US" dirty="0" err="1"/>
              <a:t>KioMedine</a:t>
            </a:r>
            <a:r>
              <a:rPr lang="en-US" dirty="0"/>
              <a:t>® </a:t>
            </a:r>
            <a:r>
              <a:rPr lang="uk-UA" dirty="0"/>
              <a:t>характеризується </a:t>
            </a:r>
            <a:r>
              <a:rPr lang="uk-UA" b="1" dirty="0"/>
              <a:t>високою безпекою і легкою переносимістю</a:t>
            </a:r>
            <a:r>
              <a:rPr lang="uk-UA" dirty="0"/>
              <a:t>, а короткочасні болісні відчуття після ін’єкції є </a:t>
            </a:r>
            <a:r>
              <a:rPr lang="uk-UA" b="1" dirty="0"/>
              <a:t>передбачуваними, легкими та швидко купуються</a:t>
            </a:r>
            <a:r>
              <a:rPr lang="uk-UA" dirty="0"/>
              <a:t> без необхідності серйозного лікування.</a:t>
            </a:r>
          </a:p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27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910809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="1" dirty="0"/>
              <a:t>обговорення та обмеження дизайну дослідження </a:t>
            </a:r>
            <a:r>
              <a:rPr lang="en-US" b="1" dirty="0" err="1"/>
              <a:t>KioMedine</a:t>
            </a:r>
            <a:r>
              <a:rPr lang="en-US" b="1" dirty="0"/>
              <a:t>®</a:t>
            </a:r>
            <a:r>
              <a:rPr lang="en-US" dirty="0"/>
              <a:t> </a:t>
            </a:r>
            <a:r>
              <a:rPr lang="uk-UA" dirty="0"/>
              <a:t>при лікуванні рефрактерного </a:t>
            </a:r>
            <a:r>
              <a:rPr lang="uk-UA" dirty="0" err="1"/>
              <a:t>остеоартриту</a:t>
            </a:r>
            <a:r>
              <a:rPr lang="uk-UA" dirty="0"/>
              <a:t> колінного суглоба.</a:t>
            </a:r>
          </a:p>
          <a:p>
            <a:r>
              <a:rPr lang="uk-UA" dirty="0"/>
              <a:t> </a:t>
            </a:r>
            <a:r>
              <a:rPr lang="uk-UA" b="1" dirty="0"/>
              <a:t>Ключові моменти:</a:t>
            </a:r>
            <a:endParaRPr lang="uk-UA" dirty="0"/>
          </a:p>
          <a:p>
            <a:r>
              <a:rPr lang="uk-UA" dirty="0"/>
              <a:t>Дослідження мало </a:t>
            </a:r>
            <a:r>
              <a:rPr lang="uk-UA" b="1" dirty="0" err="1"/>
              <a:t>рандомізований</a:t>
            </a:r>
            <a:r>
              <a:rPr lang="uk-UA" b="1" dirty="0"/>
              <a:t> контрольований дизайн</a:t>
            </a:r>
            <a:r>
              <a:rPr lang="uk-UA" dirty="0"/>
              <a:t>, що є золотим стандартом, але проводилось у </a:t>
            </a:r>
            <a:r>
              <a:rPr lang="uk-UA" b="1" dirty="0"/>
              <a:t>важкій до лікування </a:t>
            </a:r>
            <a:r>
              <a:rPr lang="uk-UA" dirty="0"/>
              <a:t>пацієнтів із рефрактерним ОА.</a:t>
            </a:r>
          </a:p>
          <a:p>
            <a:r>
              <a:rPr lang="uk-UA" b="1" dirty="0"/>
              <a:t>Відсутність попередніх даних та літератури</a:t>
            </a:r>
            <a:r>
              <a:rPr lang="uk-UA" dirty="0"/>
              <a:t> ускладнила визначення оптимального розміру вибірки.</a:t>
            </a:r>
          </a:p>
          <a:p>
            <a:r>
              <a:rPr lang="uk-UA" dirty="0"/>
              <a:t>Частина пацієнтів мала </a:t>
            </a:r>
            <a:r>
              <a:rPr lang="uk-UA" b="1" dirty="0"/>
              <a:t>запальний стан на старті дослідження</a:t>
            </a:r>
            <a:r>
              <a:rPr lang="uk-UA" dirty="0"/>
              <a:t>, тому їм було введено </a:t>
            </a:r>
            <a:r>
              <a:rPr lang="uk-UA" b="1" dirty="0"/>
              <a:t>кортикостероїди (</a:t>
            </a:r>
            <a:r>
              <a:rPr lang="uk-UA" b="1" dirty="0" err="1"/>
              <a:t>Депомедрол</a:t>
            </a:r>
            <a:r>
              <a:rPr lang="uk-UA" b="1" dirty="0"/>
              <a:t> 40–80 мг)</a:t>
            </a:r>
            <a:r>
              <a:rPr lang="uk-UA" dirty="0"/>
              <a:t> приблизно за </a:t>
            </a:r>
            <a:r>
              <a:rPr lang="uk-UA" b="1" dirty="0"/>
              <a:t>11 днів до лікування</a:t>
            </a:r>
            <a:r>
              <a:rPr lang="uk-UA" dirty="0"/>
              <a:t>, що могло вплинути на перші результати.</a:t>
            </a:r>
          </a:p>
          <a:p>
            <a:r>
              <a:rPr lang="uk-UA" dirty="0"/>
              <a:t>Попри ці обмеження, </a:t>
            </a:r>
            <a:r>
              <a:rPr lang="uk-UA" b="1" dirty="0"/>
              <a:t>спостерігалась чітка тенденція до кращих результатів на користь </a:t>
            </a:r>
            <a:r>
              <a:rPr lang="en-US" b="1" dirty="0" err="1"/>
              <a:t>KioMedine</a:t>
            </a:r>
            <a:r>
              <a:rPr lang="en-US" b="1" dirty="0"/>
              <a:t>®</a:t>
            </a:r>
            <a:r>
              <a:rPr lang="en-US" dirty="0"/>
              <a:t>, </a:t>
            </a:r>
            <a:r>
              <a:rPr lang="uk-UA" dirty="0"/>
              <a:t>незалежно від обмеженого розміру вибірки.</a:t>
            </a:r>
          </a:p>
          <a:p>
            <a:r>
              <a:rPr lang="uk-UA" b="1" dirty="0"/>
              <a:t>Висновок:</a:t>
            </a:r>
            <a:r>
              <a:rPr lang="uk-UA" dirty="0"/>
              <a:t> Дослідження підтвердило </a:t>
            </a:r>
            <a:r>
              <a:rPr lang="uk-UA" b="1" dirty="0"/>
              <a:t>ефективність і безпеку </a:t>
            </a:r>
            <a:r>
              <a:rPr lang="en-US" b="1" dirty="0" err="1"/>
              <a:t>KioMedine</a:t>
            </a:r>
            <a:r>
              <a:rPr lang="en-US" b="1" dirty="0"/>
              <a:t>®</a:t>
            </a:r>
            <a:r>
              <a:rPr lang="en-US" dirty="0"/>
              <a:t>, </a:t>
            </a:r>
            <a:r>
              <a:rPr lang="uk-UA" dirty="0"/>
              <a:t>навіть у складній когорті пацієнтів із запальними проявами, що робить препарат перспективним для лікування рефрактерного </a:t>
            </a:r>
            <a:r>
              <a:rPr lang="uk-UA" dirty="0" err="1"/>
              <a:t>остеоартриту</a:t>
            </a:r>
            <a:r>
              <a:rPr lang="uk-UA" dirty="0"/>
              <a:t>.</a:t>
            </a:r>
          </a:p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28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222419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ключові </a:t>
            </a:r>
            <a:r>
              <a:rPr lang="uk-UA" b="1" dirty="0"/>
              <a:t>висновки клінічних досліджень </a:t>
            </a:r>
            <a:r>
              <a:rPr lang="en-US" b="1" dirty="0" err="1"/>
              <a:t>KioMedineVsOne</a:t>
            </a:r>
            <a:r>
              <a:rPr lang="en-US" b="1" dirty="0"/>
              <a:t> (</a:t>
            </a:r>
            <a:r>
              <a:rPr lang="uk-UA" b="1" dirty="0"/>
              <a:t>КМ-</a:t>
            </a:r>
            <a:r>
              <a:rPr lang="uk-UA" b="1" dirty="0" err="1"/>
              <a:t>хітозану</a:t>
            </a:r>
            <a:r>
              <a:rPr lang="uk-UA" b="1" dirty="0"/>
              <a:t>)</a:t>
            </a:r>
            <a:r>
              <a:rPr lang="uk-UA" dirty="0"/>
              <a:t> при лікуванні рефрактерного </a:t>
            </a:r>
            <a:r>
              <a:rPr lang="uk-UA" dirty="0" err="1"/>
              <a:t>остеоартриту</a:t>
            </a:r>
            <a:r>
              <a:rPr lang="uk-UA" dirty="0"/>
              <a:t> колінного суглоба.</a:t>
            </a:r>
          </a:p>
          <a:p>
            <a:r>
              <a:rPr lang="uk-UA" b="1" dirty="0"/>
              <a:t>Основні результати:</a:t>
            </a:r>
            <a:endParaRPr lang="uk-UA" dirty="0"/>
          </a:p>
          <a:p>
            <a:r>
              <a:rPr lang="uk-UA" dirty="0"/>
              <a:t>Одноразова ін’єкція </a:t>
            </a:r>
            <a:r>
              <a:rPr lang="en-US" b="1" dirty="0" err="1"/>
              <a:t>KioMedineVsOne</a:t>
            </a:r>
            <a:r>
              <a:rPr lang="en-US" dirty="0"/>
              <a:t> </a:t>
            </a:r>
            <a:r>
              <a:rPr lang="uk-UA" dirty="0"/>
              <a:t>забезпечила </a:t>
            </a:r>
            <a:r>
              <a:rPr lang="uk-UA" b="1" dirty="0"/>
              <a:t>швидке й тривале зменшення болю</a:t>
            </a:r>
            <a:r>
              <a:rPr lang="uk-UA" dirty="0"/>
              <a:t> — на </a:t>
            </a:r>
            <a:r>
              <a:rPr lang="uk-UA" b="1" dirty="0"/>
              <a:t>73,5% за шкалою </a:t>
            </a:r>
            <a:r>
              <a:rPr lang="en-US" b="1" dirty="0"/>
              <a:t>WOMAC</a:t>
            </a:r>
            <a:r>
              <a:rPr lang="en-US" dirty="0"/>
              <a:t> </a:t>
            </a:r>
            <a:r>
              <a:rPr lang="uk-UA" dirty="0"/>
              <a:t>через 12 місяців.</a:t>
            </a:r>
          </a:p>
          <a:p>
            <a:r>
              <a:rPr lang="uk-UA" dirty="0"/>
              <a:t>Рівень відповіді за </a:t>
            </a:r>
            <a:r>
              <a:rPr lang="en-US" b="1" dirty="0"/>
              <a:t>OMERACT-OARSI</a:t>
            </a:r>
            <a:r>
              <a:rPr lang="en-US" dirty="0"/>
              <a:t> </a:t>
            </a:r>
            <a:r>
              <a:rPr lang="uk-UA" dirty="0"/>
              <a:t>становив </a:t>
            </a:r>
            <a:r>
              <a:rPr lang="uk-UA" b="1" dirty="0"/>
              <a:t>89,7% через 6 міс</a:t>
            </a:r>
            <a:r>
              <a:rPr lang="uk-UA" dirty="0"/>
              <a:t> і </a:t>
            </a:r>
            <a:r>
              <a:rPr lang="uk-UA" b="1" dirty="0"/>
              <a:t>93,8% через 12 міс</a:t>
            </a:r>
            <a:r>
              <a:rPr lang="uk-UA" dirty="0"/>
              <a:t>.</a:t>
            </a:r>
          </a:p>
          <a:p>
            <a:r>
              <a:rPr lang="uk-UA" dirty="0"/>
              <a:t>Клінічно значущі </a:t>
            </a:r>
            <a:r>
              <a:rPr lang="uk-UA" b="1" dirty="0"/>
              <a:t>переваги КМ-</a:t>
            </a:r>
            <a:r>
              <a:rPr lang="uk-UA" b="1" dirty="0" err="1"/>
              <a:t>хітозану</a:t>
            </a:r>
            <a:r>
              <a:rPr lang="uk-UA" dirty="0"/>
              <a:t> зафіксовано у всіх підгрупах пацієнтів:</a:t>
            </a:r>
          </a:p>
          <a:p>
            <a:pPr lvl="1"/>
            <a:r>
              <a:rPr lang="uk-UA" dirty="0"/>
              <a:t>ураження </a:t>
            </a:r>
            <a:r>
              <a:rPr lang="uk-UA" dirty="0" err="1"/>
              <a:t>пателофеморального</a:t>
            </a:r>
            <a:r>
              <a:rPr lang="uk-UA" dirty="0"/>
              <a:t> суглоба (–11,5%),</a:t>
            </a:r>
          </a:p>
          <a:p>
            <a:pPr lvl="1"/>
            <a:r>
              <a:rPr lang="uk-UA" dirty="0" err="1"/>
              <a:t>трикомпартментний</a:t>
            </a:r>
            <a:r>
              <a:rPr lang="uk-UA" dirty="0"/>
              <a:t> ОА (–12,9%),</a:t>
            </a:r>
          </a:p>
          <a:p>
            <a:pPr lvl="1"/>
            <a:r>
              <a:rPr lang="uk-UA" dirty="0"/>
              <a:t>ожиріння (–21,7%),</a:t>
            </a:r>
          </a:p>
          <a:p>
            <a:pPr lvl="1"/>
            <a:r>
              <a:rPr lang="uk-UA" dirty="0"/>
              <a:t>кандидати на ТКР (–13,5%),</a:t>
            </a:r>
          </a:p>
          <a:p>
            <a:pPr lvl="1"/>
            <a:r>
              <a:rPr lang="uk-UA" dirty="0"/>
              <a:t>ОА</a:t>
            </a:r>
            <a:r>
              <a:rPr lang="en-US" dirty="0"/>
              <a:t> IV </a:t>
            </a:r>
            <a:r>
              <a:rPr lang="uk-UA" dirty="0"/>
              <a:t>ступінь (–17,2%).</a:t>
            </a:r>
          </a:p>
          <a:p>
            <a:r>
              <a:rPr lang="uk-UA" b="1" dirty="0"/>
              <a:t>&gt;95% пацієнтів і лікарів</a:t>
            </a:r>
            <a:r>
              <a:rPr lang="uk-UA" dirty="0"/>
              <a:t> задоволені результатами лікування.</a:t>
            </a:r>
          </a:p>
          <a:p>
            <a:r>
              <a:rPr lang="uk-UA" dirty="0"/>
              <a:t>Аналіз виживаності показав </a:t>
            </a:r>
            <a:r>
              <a:rPr lang="uk-UA" b="1" dirty="0"/>
              <a:t>меншу потребу в </a:t>
            </a:r>
            <a:r>
              <a:rPr lang="uk-UA" b="1" dirty="0" err="1"/>
              <a:t>ендопротезуванні</a:t>
            </a:r>
            <a:r>
              <a:rPr lang="uk-UA" dirty="0"/>
              <a:t> та довший час до ТЕПКС у групі КМ-</a:t>
            </a:r>
            <a:r>
              <a:rPr lang="uk-UA" dirty="0" err="1"/>
              <a:t>хітозану</a:t>
            </a:r>
            <a:r>
              <a:rPr lang="uk-UA" dirty="0"/>
              <a:t>.</a:t>
            </a:r>
          </a:p>
          <a:p>
            <a:r>
              <a:rPr lang="uk-UA" b="1" dirty="0"/>
              <a:t>Жодних нових сигналів щодо безпеки</a:t>
            </a:r>
            <a:r>
              <a:rPr lang="uk-UA" dirty="0"/>
              <a:t> не виявлено.</a:t>
            </a:r>
          </a:p>
          <a:p>
            <a:r>
              <a:rPr lang="uk-UA" b="1" dirty="0"/>
              <a:t>Висновок:</a:t>
            </a:r>
            <a:br>
              <a:rPr lang="uk-UA" dirty="0"/>
            </a:br>
            <a:r>
              <a:rPr lang="uk-UA" dirty="0" err="1"/>
              <a:t>Рандомізоване</a:t>
            </a:r>
            <a:r>
              <a:rPr lang="uk-UA" dirty="0"/>
              <a:t> дослідження продемонструвало </a:t>
            </a:r>
            <a:r>
              <a:rPr lang="uk-UA" b="1" dirty="0"/>
              <a:t>стійку перевагу </a:t>
            </a:r>
            <a:r>
              <a:rPr lang="en-US" b="1" dirty="0" err="1"/>
              <a:t>KioMedineVsOne</a:t>
            </a:r>
            <a:r>
              <a:rPr lang="en-US" dirty="0"/>
              <a:t> </a:t>
            </a:r>
            <a:r>
              <a:rPr lang="uk-UA" dirty="0"/>
              <a:t>незалежно від типу пацієнтів і параметрів вибірки, що </a:t>
            </a:r>
            <a:r>
              <a:rPr lang="uk-UA" b="1" dirty="0"/>
              <a:t>відкриває перспективу для масштабніших досліджень і широкого клінічного застосування.</a:t>
            </a:r>
            <a:endParaRPr lang="uk-UA" dirty="0"/>
          </a:p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29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503961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="1" dirty="0"/>
              <a:t>оцінка профілю безпеки </a:t>
            </a:r>
            <a:r>
              <a:rPr lang="en-US" b="1" dirty="0" err="1"/>
              <a:t>KioMedineᴠsOne</a:t>
            </a:r>
            <a:r>
              <a:rPr lang="en-US" dirty="0"/>
              <a:t> </a:t>
            </a:r>
            <a:r>
              <a:rPr lang="uk-UA" dirty="0"/>
              <a:t>на основі клінічного дослідження </a:t>
            </a:r>
            <a:r>
              <a:rPr lang="en-US" b="1" dirty="0"/>
              <a:t>APROOVE</a:t>
            </a:r>
            <a:r>
              <a:rPr lang="en-US" dirty="0"/>
              <a:t> </a:t>
            </a:r>
            <a:r>
              <a:rPr lang="uk-UA" dirty="0"/>
              <a:t>та спостережень у реальних умовах у Бельгії.</a:t>
            </a:r>
          </a:p>
          <a:p>
            <a:r>
              <a:rPr lang="uk-UA" b="1" dirty="0"/>
              <a:t>Ключові дані:</a:t>
            </a:r>
            <a:endParaRPr lang="uk-UA" dirty="0"/>
          </a:p>
          <a:p>
            <a:r>
              <a:rPr lang="uk-UA" dirty="0"/>
              <a:t>Небажані явища (</a:t>
            </a:r>
            <a:r>
              <a:rPr lang="en-US" dirty="0"/>
              <a:t>TRAE) </a:t>
            </a:r>
            <a:r>
              <a:rPr lang="uk-UA" dirty="0"/>
              <a:t>були </a:t>
            </a:r>
            <a:r>
              <a:rPr lang="uk-UA" b="1" dirty="0"/>
              <a:t>місцевими та </a:t>
            </a:r>
            <a:r>
              <a:rPr lang="uk-UA" b="1" dirty="0" err="1"/>
              <a:t>транзиторними</a:t>
            </a:r>
            <a:r>
              <a:rPr lang="uk-UA" dirty="0"/>
              <a:t>, зазвичай виникали протягом кількох годин після ін’єкції.</a:t>
            </a:r>
          </a:p>
          <a:p>
            <a:r>
              <a:rPr lang="uk-UA" dirty="0"/>
              <a:t>Найчастіші прояви: </a:t>
            </a:r>
            <a:r>
              <a:rPr lang="uk-UA" b="1" dirty="0"/>
              <a:t>артралгія (2%)</a:t>
            </a:r>
            <a:r>
              <a:rPr lang="uk-UA" dirty="0"/>
              <a:t>, </a:t>
            </a:r>
            <a:r>
              <a:rPr lang="uk-UA" b="1" dirty="0"/>
              <a:t>випіт у суглобах (6%)</a:t>
            </a:r>
            <a:r>
              <a:rPr lang="uk-UA" dirty="0"/>
              <a:t>, </a:t>
            </a:r>
            <a:r>
              <a:rPr lang="uk-UA" b="1" dirty="0"/>
              <a:t>набряк (6,3%)</a:t>
            </a:r>
            <a:r>
              <a:rPr lang="uk-UA" dirty="0"/>
              <a:t>, </a:t>
            </a:r>
            <a:r>
              <a:rPr lang="uk-UA" b="1" dirty="0" err="1"/>
              <a:t>синовіїт</a:t>
            </a:r>
            <a:r>
              <a:rPr lang="uk-UA" b="1" dirty="0"/>
              <a:t>/артрит (4,8%)</a:t>
            </a:r>
            <a:r>
              <a:rPr lang="uk-UA" dirty="0"/>
              <a:t>.</a:t>
            </a:r>
          </a:p>
          <a:p>
            <a:r>
              <a:rPr lang="uk-UA" b="1" dirty="0"/>
              <a:t>Жодних серйозних або неочікуваних побічних ефектів</a:t>
            </a:r>
            <a:r>
              <a:rPr lang="uk-UA" dirty="0"/>
              <a:t> не виявлено, лікування не припинялося через проблеми з безпекою.</a:t>
            </a:r>
          </a:p>
          <a:p>
            <a:r>
              <a:rPr lang="uk-UA" dirty="0"/>
              <a:t>У реальних клінічних умовах (112 пацієнтів, 133 коліна) частота </a:t>
            </a:r>
            <a:r>
              <a:rPr lang="en-US" dirty="0"/>
              <a:t>TRAE </a:t>
            </a:r>
            <a:r>
              <a:rPr lang="uk-UA" dirty="0"/>
              <a:t>становила лише </a:t>
            </a:r>
            <a:r>
              <a:rPr lang="uk-UA" b="1" dirty="0"/>
              <a:t>10,6%</a:t>
            </a:r>
            <a:r>
              <a:rPr lang="uk-UA" dirty="0"/>
              <a:t>.</a:t>
            </a:r>
          </a:p>
          <a:p>
            <a:r>
              <a:rPr lang="uk-UA" b="1" dirty="0"/>
              <a:t>Попереднє введення кортикостероїдів</a:t>
            </a:r>
            <a:r>
              <a:rPr lang="uk-UA" dirty="0"/>
              <a:t> (у 70,7% випадків) сприяло зменшенню частоти місцевих реакцій після ін’єкції </a:t>
            </a:r>
            <a:r>
              <a:rPr lang="en-US" dirty="0" err="1"/>
              <a:t>KioMedineᴠsOne</a:t>
            </a:r>
            <a:r>
              <a:rPr lang="en-US" dirty="0"/>
              <a:t>.</a:t>
            </a:r>
          </a:p>
          <a:p>
            <a:r>
              <a:rPr lang="uk-UA" b="1" dirty="0"/>
              <a:t>Висновок:</a:t>
            </a:r>
            <a:br>
              <a:rPr lang="uk-UA" dirty="0"/>
            </a:br>
            <a:r>
              <a:rPr lang="en-US" dirty="0" err="1"/>
              <a:t>KioMedineᴠsOne</a:t>
            </a:r>
            <a:r>
              <a:rPr lang="en-US" dirty="0"/>
              <a:t> </a:t>
            </a:r>
            <a:r>
              <a:rPr lang="uk-UA" dirty="0"/>
              <a:t>має </a:t>
            </a:r>
            <a:r>
              <a:rPr lang="uk-UA" b="1" dirty="0"/>
              <a:t>високий профіль безпеки та добру переносимість</a:t>
            </a:r>
            <a:r>
              <a:rPr lang="uk-UA" dirty="0"/>
              <a:t>, навіть у пацієнтів із запальними проявами </a:t>
            </a:r>
            <a:r>
              <a:rPr lang="uk-UA" dirty="0" err="1"/>
              <a:t>остеоартриту</a:t>
            </a:r>
            <a:r>
              <a:rPr lang="uk-UA" dirty="0"/>
              <a:t>, що підтверджує можливість його безпечного застосування в реальній клінічній практиці.</a:t>
            </a:r>
          </a:p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06ACE-FF67-4E83-A57C-FE10B8C1B657}" type="slidenum">
              <a:rPr lang="uk-UA" smtClean="0"/>
              <a:t>30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07999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80A51-2176-E337-10A1-5494BAB3B1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C5339060-C4A5-07F0-F0DE-09E727940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0C720CF-AD18-B917-DE78-F36593189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762DD-E558-493B-AD22-CC388E99005A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0CF8E74-2605-EC5E-6CB8-FDC4A8F8B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FF5C067-69CA-5CF5-FC71-C469D497D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6651-E46F-4712-9695-5B4151E23B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4137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BD0BCF-97AB-8A37-AC9D-3F9A92C6C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EEE53BF-65F8-648A-2348-9DEB4CFED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A921FC3-EAD2-EB6C-0CCE-B34A0AA07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762DD-E558-493B-AD22-CC388E99005A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266FCFF-900A-7E35-2EDB-6CB303C55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AB7A5AE-46E5-C5F8-4990-FB84F15CA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6651-E46F-4712-9695-5B4151E23B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84351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87047F-1151-F1C1-D210-C31002DD6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CA390B7-B950-34DD-C5A1-92FBDAF23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E06CF64-9B75-D8B4-493F-C1D0B5F55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762DD-E558-493B-AD22-CC388E99005A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BE59BD3-DB63-6CDA-341E-4D500A2A2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7AA6BE3-93F8-6468-17B4-916E24931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6651-E46F-4712-9695-5B4151E23B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1769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1C1323-236B-2BCD-5287-E074C33E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CB9B6AA-5AA4-A898-40C6-37C3910AF7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C7CBF8B-B1B8-8C1E-B63A-AE24877BE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0989362-24C7-ADF2-D7BF-864C3E68C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762DD-E558-493B-AD22-CC388E99005A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600DEEB-6A2C-5E04-194E-43C464B18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DE9DAA0-34E2-79C7-49C7-B797ADCF0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6651-E46F-4712-9695-5B4151E23B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49802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9FFB5C-5720-7100-725C-BB318D0F5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5407356-87AF-090A-9370-A83F7DB37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0657AAF-C666-3270-62F4-C3D7216E6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DB146059-5F96-AD80-DDF9-353EF3CCF6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115570BD-4F90-0A8E-A893-C5FE1DF1EA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15E59588-D010-9091-3940-AFF2348E8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762DD-E558-493B-AD22-CC388E99005A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81A988A5-2786-BE34-1551-BD09C8CBC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DC5334D3-F830-C684-D1AD-FACBC8F3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6651-E46F-4712-9695-5B4151E23B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40910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3B125B-D2A2-3714-CC98-C51C21922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D8C14E58-EE74-82BB-61EA-012E8FEDA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762DD-E558-493B-AD22-CC388E99005A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4B91AF8C-0832-BBAE-A675-082BA9E91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59BD980A-9B9C-0B63-CCC5-F2DAB949C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6651-E46F-4712-9695-5B4151E23B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7935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337D8830-B2E7-D670-CDDC-00ABA675C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762DD-E558-493B-AD22-CC388E99005A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55BEA2B1-D6CE-D306-80D6-8A0B67164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39D922D5-2F6B-8099-FAB2-9AB8B728F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6651-E46F-4712-9695-5B4151E23B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58120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A007A9-2AFE-849B-70F9-2E53EF575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5B78DCC-8F16-E57C-A261-53D598DB4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C50EAA22-44F4-31CB-F96E-1F85425DD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46E7E3B-1172-E9F8-D6A2-3203813CA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762DD-E558-493B-AD22-CC388E99005A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4760E82-99DE-66AF-EFD5-D54495CFF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B1F049A-31AD-C852-878B-79AFA17E6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6651-E46F-4712-9695-5B4151E23B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71127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0054E-452D-781B-9366-FFA7C7BB2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4F82FF6E-FE99-D118-2C51-51904699A8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13AC1D0-94FB-5C7F-663E-F88C2FA7B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645FF17-6177-7495-39DC-EFBF00775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762DD-E558-493B-AD22-CC388E99005A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66D3C24-7D82-7D78-C596-EC5690FE4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B696955-4328-3E95-0561-5A8800CF5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6651-E46F-4712-9695-5B4151E23B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77814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4691FA-95A8-B1DC-4B8E-07938A11F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0AB43AE-9299-9024-9DF2-2A1841D36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D1574CD-6E16-6078-EB0C-E0BB1A1CF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762DD-E558-493B-AD22-CC388E99005A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2B46D45-B41F-48B8-5A39-FA981B1B1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C0E092F-F93E-7E47-3C1F-C43132A16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6651-E46F-4712-9695-5B4151E23B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89834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36FA2004-B909-088E-2197-DB061DDA68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6BA7703F-0D81-8492-8717-7CFAAADF69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ABED83C-5A2F-6463-83AC-BDCB0FDDC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762DD-E558-493B-AD22-CC388E99005A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DC9A11D-A815-0732-1BFE-25AC988D0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CB7AC58-5D17-BAFD-A42A-BFE2EA4AC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6651-E46F-4712-9695-5B4151E23B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082321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25" dirty="0"/>
              <a:t>‹№›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971270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8218931" y="3428905"/>
            <a:ext cx="2521585" cy="3429635"/>
          </a:xfrm>
          <a:custGeom>
            <a:avLst/>
            <a:gdLst/>
            <a:ahLst/>
            <a:cxnLst/>
            <a:rect l="l" t="t" r="r" b="b"/>
            <a:pathLst>
              <a:path w="2521584" h="3429634">
                <a:moveTo>
                  <a:pt x="1271275" y="0"/>
                </a:moveTo>
                <a:lnTo>
                  <a:pt x="1021577" y="0"/>
                </a:lnTo>
                <a:lnTo>
                  <a:pt x="972834" y="4450"/>
                </a:lnTo>
                <a:lnTo>
                  <a:pt x="925995" y="10440"/>
                </a:lnTo>
                <a:lnTo>
                  <a:pt x="879734" y="17873"/>
                </a:lnTo>
                <a:lnTo>
                  <a:pt x="834035" y="26762"/>
                </a:lnTo>
                <a:lnTo>
                  <a:pt x="788884" y="37121"/>
                </a:lnTo>
                <a:lnTo>
                  <a:pt x="744267" y="48963"/>
                </a:lnTo>
                <a:lnTo>
                  <a:pt x="700169" y="62302"/>
                </a:lnTo>
                <a:lnTo>
                  <a:pt x="648701" y="80106"/>
                </a:lnTo>
                <a:lnTo>
                  <a:pt x="598895" y="100131"/>
                </a:lnTo>
                <a:lnTo>
                  <a:pt x="550762" y="122353"/>
                </a:lnTo>
                <a:lnTo>
                  <a:pt x="504311" y="146752"/>
                </a:lnTo>
                <a:lnTo>
                  <a:pt x="459552" y="173306"/>
                </a:lnTo>
                <a:lnTo>
                  <a:pt x="416493" y="201995"/>
                </a:lnTo>
                <a:lnTo>
                  <a:pt x="375146" y="232797"/>
                </a:lnTo>
                <a:lnTo>
                  <a:pt x="335519" y="265690"/>
                </a:lnTo>
                <a:lnTo>
                  <a:pt x="302017" y="296772"/>
                </a:lnTo>
                <a:lnTo>
                  <a:pt x="270137" y="329795"/>
                </a:lnTo>
                <a:lnTo>
                  <a:pt x="239857" y="364747"/>
                </a:lnTo>
                <a:lnTo>
                  <a:pt x="211158" y="401616"/>
                </a:lnTo>
                <a:lnTo>
                  <a:pt x="184018" y="440390"/>
                </a:lnTo>
                <a:lnTo>
                  <a:pt x="158418" y="481056"/>
                </a:lnTo>
                <a:lnTo>
                  <a:pt x="134336" y="523602"/>
                </a:lnTo>
                <a:lnTo>
                  <a:pt x="111754" y="568016"/>
                </a:lnTo>
                <a:lnTo>
                  <a:pt x="90649" y="614286"/>
                </a:lnTo>
                <a:lnTo>
                  <a:pt x="73359" y="657651"/>
                </a:lnTo>
                <a:lnTo>
                  <a:pt x="57910" y="702402"/>
                </a:lnTo>
                <a:lnTo>
                  <a:pt x="44297" y="748541"/>
                </a:lnTo>
                <a:lnTo>
                  <a:pt x="32515" y="796071"/>
                </a:lnTo>
                <a:lnTo>
                  <a:pt x="22559" y="844994"/>
                </a:lnTo>
                <a:lnTo>
                  <a:pt x="14425" y="895310"/>
                </a:lnTo>
                <a:lnTo>
                  <a:pt x="8106" y="947023"/>
                </a:lnTo>
                <a:lnTo>
                  <a:pt x="3599" y="1000135"/>
                </a:lnTo>
                <a:lnTo>
                  <a:pt x="899" y="1054647"/>
                </a:lnTo>
                <a:lnTo>
                  <a:pt x="0" y="1110561"/>
                </a:lnTo>
                <a:lnTo>
                  <a:pt x="0" y="3429091"/>
                </a:lnTo>
                <a:lnTo>
                  <a:pt x="830620" y="3429091"/>
                </a:lnTo>
                <a:lnTo>
                  <a:pt x="830619" y="992714"/>
                </a:lnTo>
                <a:lnTo>
                  <a:pt x="834336" y="942200"/>
                </a:lnTo>
                <a:lnTo>
                  <a:pt x="845371" y="895310"/>
                </a:lnTo>
                <a:lnTo>
                  <a:pt x="863661" y="851614"/>
                </a:lnTo>
                <a:lnTo>
                  <a:pt x="888996" y="811306"/>
                </a:lnTo>
                <a:lnTo>
                  <a:pt x="921265" y="774162"/>
                </a:lnTo>
                <a:lnTo>
                  <a:pt x="959688" y="741977"/>
                </a:lnTo>
                <a:lnTo>
                  <a:pt x="1001534" y="716999"/>
                </a:lnTo>
                <a:lnTo>
                  <a:pt x="1046687" y="699197"/>
                </a:lnTo>
                <a:lnTo>
                  <a:pt x="1095029" y="688540"/>
                </a:lnTo>
                <a:lnTo>
                  <a:pt x="1146443" y="684994"/>
                </a:lnTo>
                <a:lnTo>
                  <a:pt x="2229553" y="684994"/>
                </a:lnTo>
                <a:lnTo>
                  <a:pt x="2220158" y="657651"/>
                </a:lnTo>
                <a:lnTo>
                  <a:pt x="2203033" y="614286"/>
                </a:lnTo>
                <a:lnTo>
                  <a:pt x="2181982" y="568016"/>
                </a:lnTo>
                <a:lnTo>
                  <a:pt x="2159253" y="523602"/>
                </a:lnTo>
                <a:lnTo>
                  <a:pt x="2134848" y="481056"/>
                </a:lnTo>
                <a:lnTo>
                  <a:pt x="2108766" y="440390"/>
                </a:lnTo>
                <a:lnTo>
                  <a:pt x="2081007" y="401616"/>
                </a:lnTo>
                <a:lnTo>
                  <a:pt x="2051571" y="364747"/>
                </a:lnTo>
                <a:lnTo>
                  <a:pt x="2020458" y="329795"/>
                </a:lnTo>
                <a:lnTo>
                  <a:pt x="1987669" y="296772"/>
                </a:lnTo>
                <a:lnTo>
                  <a:pt x="1953203" y="265690"/>
                </a:lnTo>
                <a:lnTo>
                  <a:pt x="1913323" y="232797"/>
                </a:lnTo>
                <a:lnTo>
                  <a:pt x="1871784" y="201995"/>
                </a:lnTo>
                <a:lnTo>
                  <a:pt x="1828632" y="173306"/>
                </a:lnTo>
                <a:lnTo>
                  <a:pt x="1783913" y="146752"/>
                </a:lnTo>
                <a:lnTo>
                  <a:pt x="1737672" y="122353"/>
                </a:lnTo>
                <a:lnTo>
                  <a:pt x="1689954" y="100131"/>
                </a:lnTo>
                <a:lnTo>
                  <a:pt x="1640806" y="80106"/>
                </a:lnTo>
                <a:lnTo>
                  <a:pt x="1590272" y="62302"/>
                </a:lnTo>
                <a:lnTo>
                  <a:pt x="1538103" y="46475"/>
                </a:lnTo>
                <a:lnTo>
                  <a:pt x="1484982" y="32800"/>
                </a:lnTo>
                <a:lnTo>
                  <a:pt x="1430912" y="21253"/>
                </a:lnTo>
                <a:lnTo>
                  <a:pt x="1375896" y="11811"/>
                </a:lnTo>
                <a:lnTo>
                  <a:pt x="1319936" y="4450"/>
                </a:lnTo>
                <a:lnTo>
                  <a:pt x="1271275" y="0"/>
                </a:lnTo>
                <a:close/>
              </a:path>
              <a:path w="2521584" h="3429634">
                <a:moveTo>
                  <a:pt x="2229553" y="684994"/>
                </a:moveTo>
                <a:lnTo>
                  <a:pt x="1146443" y="684994"/>
                </a:lnTo>
                <a:lnTo>
                  <a:pt x="1195938" y="688540"/>
                </a:lnTo>
                <a:lnTo>
                  <a:pt x="1242932" y="699197"/>
                </a:lnTo>
                <a:lnTo>
                  <a:pt x="1287289" y="716999"/>
                </a:lnTo>
                <a:lnTo>
                  <a:pt x="1328870" y="741977"/>
                </a:lnTo>
                <a:lnTo>
                  <a:pt x="1367539" y="774162"/>
                </a:lnTo>
                <a:lnTo>
                  <a:pt x="1401808" y="811306"/>
                </a:lnTo>
                <a:lnTo>
                  <a:pt x="1428356" y="851614"/>
                </a:lnTo>
                <a:lnTo>
                  <a:pt x="1447270" y="895310"/>
                </a:lnTo>
                <a:lnTo>
                  <a:pt x="1458534" y="942200"/>
                </a:lnTo>
                <a:lnTo>
                  <a:pt x="1462283" y="992714"/>
                </a:lnTo>
                <a:lnTo>
                  <a:pt x="1462284" y="2031957"/>
                </a:lnTo>
                <a:lnTo>
                  <a:pt x="1463260" y="2090343"/>
                </a:lnTo>
                <a:lnTo>
                  <a:pt x="1466187" y="2147259"/>
                </a:lnTo>
                <a:lnTo>
                  <a:pt x="1470957" y="2201464"/>
                </a:lnTo>
                <a:lnTo>
                  <a:pt x="1471066" y="2202702"/>
                </a:lnTo>
                <a:lnTo>
                  <a:pt x="1477896" y="2256671"/>
                </a:lnTo>
                <a:lnTo>
                  <a:pt x="1486676" y="2309166"/>
                </a:lnTo>
                <a:lnTo>
                  <a:pt x="1497405" y="2360185"/>
                </a:lnTo>
                <a:lnTo>
                  <a:pt x="1510084" y="2409726"/>
                </a:lnTo>
                <a:lnTo>
                  <a:pt x="1524711" y="2457789"/>
                </a:lnTo>
                <a:lnTo>
                  <a:pt x="1541287" y="2504372"/>
                </a:lnTo>
                <a:lnTo>
                  <a:pt x="1559811" y="2549474"/>
                </a:lnTo>
                <a:lnTo>
                  <a:pt x="1580281" y="2593094"/>
                </a:lnTo>
                <a:lnTo>
                  <a:pt x="1602699" y="2635230"/>
                </a:lnTo>
                <a:lnTo>
                  <a:pt x="1627062" y="2675881"/>
                </a:lnTo>
                <a:lnTo>
                  <a:pt x="1653372" y="2715046"/>
                </a:lnTo>
                <a:lnTo>
                  <a:pt x="1681627" y="2752724"/>
                </a:lnTo>
                <a:lnTo>
                  <a:pt x="1711826" y="2788912"/>
                </a:lnTo>
                <a:lnTo>
                  <a:pt x="1743970" y="2823611"/>
                </a:lnTo>
                <a:lnTo>
                  <a:pt x="1778058" y="2856818"/>
                </a:lnTo>
                <a:lnTo>
                  <a:pt x="1813684" y="2888383"/>
                </a:lnTo>
                <a:lnTo>
                  <a:pt x="1850557" y="2918158"/>
                </a:lnTo>
                <a:lnTo>
                  <a:pt x="1888679" y="2946141"/>
                </a:lnTo>
                <a:lnTo>
                  <a:pt x="1928048" y="2972331"/>
                </a:lnTo>
                <a:lnTo>
                  <a:pt x="1968664" y="2996727"/>
                </a:lnTo>
                <a:lnTo>
                  <a:pt x="2010527" y="3019325"/>
                </a:lnTo>
                <a:lnTo>
                  <a:pt x="2053636" y="3040126"/>
                </a:lnTo>
                <a:lnTo>
                  <a:pt x="2097991" y="3059127"/>
                </a:lnTo>
                <a:lnTo>
                  <a:pt x="2143592" y="3076327"/>
                </a:lnTo>
                <a:lnTo>
                  <a:pt x="2190438" y="3091723"/>
                </a:lnTo>
                <a:lnTo>
                  <a:pt x="2238529" y="3105314"/>
                </a:lnTo>
                <a:lnTo>
                  <a:pt x="2287865" y="3117098"/>
                </a:lnTo>
                <a:lnTo>
                  <a:pt x="2338445" y="3127074"/>
                </a:lnTo>
                <a:lnTo>
                  <a:pt x="2390269" y="3135241"/>
                </a:lnTo>
                <a:lnTo>
                  <a:pt x="2443337" y="3141595"/>
                </a:lnTo>
                <a:lnTo>
                  <a:pt x="2497649" y="3146136"/>
                </a:lnTo>
                <a:lnTo>
                  <a:pt x="2521435" y="3147303"/>
                </a:lnTo>
                <a:lnTo>
                  <a:pt x="2521435" y="2445475"/>
                </a:lnTo>
                <a:lnTo>
                  <a:pt x="2512946" y="2443595"/>
                </a:lnTo>
                <a:lnTo>
                  <a:pt x="2468702" y="2426099"/>
                </a:lnTo>
                <a:lnTo>
                  <a:pt x="2427219" y="2401437"/>
                </a:lnTo>
                <a:lnTo>
                  <a:pt x="2388424" y="2369510"/>
                </a:lnTo>
                <a:lnTo>
                  <a:pt x="2354374" y="2332210"/>
                </a:lnTo>
                <a:lnTo>
                  <a:pt x="2327946" y="2291887"/>
                </a:lnTo>
                <a:lnTo>
                  <a:pt x="2309108" y="2248365"/>
                </a:lnTo>
                <a:lnTo>
                  <a:pt x="2297829" y="2201464"/>
                </a:lnTo>
                <a:lnTo>
                  <a:pt x="2294076" y="2151007"/>
                </a:lnTo>
                <a:lnTo>
                  <a:pt x="2294076" y="1110561"/>
                </a:lnTo>
                <a:lnTo>
                  <a:pt x="2293146" y="1054647"/>
                </a:lnTo>
                <a:lnTo>
                  <a:pt x="2290366" y="1000135"/>
                </a:lnTo>
                <a:lnTo>
                  <a:pt x="2285747" y="947023"/>
                </a:lnTo>
                <a:lnTo>
                  <a:pt x="2279303" y="895310"/>
                </a:lnTo>
                <a:lnTo>
                  <a:pt x="2271047" y="844994"/>
                </a:lnTo>
                <a:lnTo>
                  <a:pt x="2260991" y="796071"/>
                </a:lnTo>
                <a:lnTo>
                  <a:pt x="2249149" y="748541"/>
                </a:lnTo>
                <a:lnTo>
                  <a:pt x="2235534" y="702402"/>
                </a:lnTo>
                <a:lnTo>
                  <a:pt x="2229553" y="684994"/>
                </a:lnTo>
                <a:close/>
              </a:path>
            </a:pathLst>
          </a:custGeom>
          <a:solidFill>
            <a:srgbClr val="2841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050675" y="913481"/>
            <a:ext cx="4896485" cy="4895850"/>
          </a:xfrm>
          <a:custGeom>
            <a:avLst/>
            <a:gdLst/>
            <a:ahLst/>
            <a:cxnLst/>
            <a:rect l="l" t="t" r="r" b="b"/>
            <a:pathLst>
              <a:path w="4896484" h="4895850">
                <a:moveTo>
                  <a:pt x="4896480" y="2447288"/>
                </a:moveTo>
                <a:lnTo>
                  <a:pt x="4896480" y="2447288"/>
                </a:lnTo>
                <a:lnTo>
                  <a:pt x="4896480" y="2460636"/>
                </a:lnTo>
              </a:path>
              <a:path w="4896484" h="4895850">
                <a:moveTo>
                  <a:pt x="4894573" y="2523563"/>
                </a:moveTo>
                <a:lnTo>
                  <a:pt x="4894573" y="2523563"/>
                </a:lnTo>
                <a:lnTo>
                  <a:pt x="4894573" y="2536911"/>
                </a:lnTo>
              </a:path>
              <a:path w="4896484" h="4895850">
                <a:moveTo>
                  <a:pt x="4890759" y="2599838"/>
                </a:moveTo>
                <a:lnTo>
                  <a:pt x="4890759" y="2599838"/>
                </a:lnTo>
                <a:lnTo>
                  <a:pt x="4889742" y="2613186"/>
                </a:lnTo>
              </a:path>
              <a:path w="4896484" h="4895850">
                <a:moveTo>
                  <a:pt x="4885928" y="2676240"/>
                </a:moveTo>
                <a:lnTo>
                  <a:pt x="4885928" y="2677130"/>
                </a:lnTo>
                <a:lnTo>
                  <a:pt x="4884022" y="2688571"/>
                </a:lnTo>
              </a:path>
              <a:path w="4896484" h="4895850">
                <a:moveTo>
                  <a:pt x="4877411" y="2752515"/>
                </a:moveTo>
                <a:lnTo>
                  <a:pt x="4877411" y="2752515"/>
                </a:lnTo>
                <a:lnTo>
                  <a:pt x="4875504" y="2764847"/>
                </a:lnTo>
              </a:path>
              <a:path w="4896484" h="4895850">
                <a:moveTo>
                  <a:pt x="4866860" y="2827901"/>
                </a:moveTo>
                <a:lnTo>
                  <a:pt x="4866860" y="2827901"/>
                </a:lnTo>
                <a:lnTo>
                  <a:pt x="4864063" y="2840232"/>
                </a:lnTo>
              </a:path>
              <a:path w="4896484" h="4895850">
                <a:moveTo>
                  <a:pt x="4853512" y="2903159"/>
                </a:moveTo>
                <a:lnTo>
                  <a:pt x="4853512" y="2903159"/>
                </a:lnTo>
                <a:lnTo>
                  <a:pt x="4851605" y="2915617"/>
                </a:lnTo>
              </a:path>
              <a:path w="4896484" h="4895850">
                <a:moveTo>
                  <a:pt x="4838256" y="2977527"/>
                </a:moveTo>
                <a:lnTo>
                  <a:pt x="4838256" y="2977527"/>
                </a:lnTo>
                <a:lnTo>
                  <a:pt x="4835460" y="2989985"/>
                </a:lnTo>
              </a:path>
              <a:path w="4896484" h="4895850">
                <a:moveTo>
                  <a:pt x="4820205" y="3052023"/>
                </a:moveTo>
                <a:lnTo>
                  <a:pt x="4820205" y="3052023"/>
                </a:lnTo>
                <a:lnTo>
                  <a:pt x="4817281" y="3064354"/>
                </a:lnTo>
              </a:path>
              <a:path w="4896484" h="4895850">
                <a:moveTo>
                  <a:pt x="4801136" y="3126391"/>
                </a:moveTo>
                <a:lnTo>
                  <a:pt x="4801136" y="3126391"/>
                </a:lnTo>
                <a:lnTo>
                  <a:pt x="4797322" y="3137832"/>
                </a:lnTo>
              </a:path>
              <a:path w="4896484" h="4895850">
                <a:moveTo>
                  <a:pt x="4778253" y="3198852"/>
                </a:moveTo>
                <a:lnTo>
                  <a:pt x="4778253" y="3198852"/>
                </a:lnTo>
                <a:lnTo>
                  <a:pt x="4774440" y="3211183"/>
                </a:lnTo>
              </a:path>
              <a:path w="4896484" h="4895850">
                <a:moveTo>
                  <a:pt x="4753464" y="3271314"/>
                </a:moveTo>
                <a:lnTo>
                  <a:pt x="4753464" y="3271314"/>
                </a:lnTo>
                <a:lnTo>
                  <a:pt x="4749650" y="3282755"/>
                </a:lnTo>
              </a:path>
              <a:path w="4896484" h="4895850">
                <a:moveTo>
                  <a:pt x="4727658" y="3342885"/>
                </a:moveTo>
                <a:lnTo>
                  <a:pt x="4727658" y="3342885"/>
                </a:lnTo>
                <a:lnTo>
                  <a:pt x="4721937" y="3354326"/>
                </a:lnTo>
              </a:path>
              <a:path w="4896484" h="4895850">
                <a:moveTo>
                  <a:pt x="4698165" y="3413440"/>
                </a:moveTo>
                <a:lnTo>
                  <a:pt x="4698165" y="3413440"/>
                </a:lnTo>
                <a:lnTo>
                  <a:pt x="4693334" y="3424881"/>
                </a:lnTo>
              </a:path>
              <a:path w="4896484" h="4895850">
                <a:moveTo>
                  <a:pt x="4666637" y="3483104"/>
                </a:moveTo>
                <a:lnTo>
                  <a:pt x="4666637" y="3483104"/>
                </a:lnTo>
                <a:lnTo>
                  <a:pt x="4661807" y="3494546"/>
                </a:lnTo>
              </a:path>
              <a:path w="4896484" h="4895850">
                <a:moveTo>
                  <a:pt x="4633204" y="3551752"/>
                </a:moveTo>
                <a:lnTo>
                  <a:pt x="4633204" y="3551752"/>
                </a:lnTo>
                <a:lnTo>
                  <a:pt x="4627483" y="3563193"/>
                </a:lnTo>
              </a:path>
              <a:path w="4896484" h="4895850">
                <a:moveTo>
                  <a:pt x="4597990" y="3619383"/>
                </a:moveTo>
                <a:lnTo>
                  <a:pt x="4597990" y="3620400"/>
                </a:lnTo>
                <a:lnTo>
                  <a:pt x="4592269" y="3630824"/>
                </a:lnTo>
              </a:path>
              <a:path w="4896484" h="4895850">
                <a:moveTo>
                  <a:pt x="4559852" y="3685246"/>
                </a:moveTo>
                <a:lnTo>
                  <a:pt x="4559852" y="3685246"/>
                </a:lnTo>
                <a:lnTo>
                  <a:pt x="4554132" y="3696687"/>
                </a:lnTo>
              </a:path>
              <a:path w="4896484" h="4895850">
                <a:moveTo>
                  <a:pt x="4520698" y="3751059"/>
                </a:moveTo>
                <a:lnTo>
                  <a:pt x="4520698" y="3751059"/>
                </a:lnTo>
                <a:lnTo>
                  <a:pt x="4514087" y="3761547"/>
                </a:lnTo>
              </a:path>
              <a:path w="4896484" h="4895850">
                <a:moveTo>
                  <a:pt x="4478746" y="3814952"/>
                </a:moveTo>
                <a:lnTo>
                  <a:pt x="4478746" y="3814952"/>
                </a:lnTo>
                <a:lnTo>
                  <a:pt x="4472009" y="3825453"/>
                </a:lnTo>
              </a:path>
              <a:path w="4896484" h="4895850">
                <a:moveTo>
                  <a:pt x="4434888" y="3877904"/>
                </a:moveTo>
                <a:lnTo>
                  <a:pt x="4434888" y="3877904"/>
                </a:lnTo>
                <a:lnTo>
                  <a:pt x="4428151" y="3887439"/>
                </a:lnTo>
              </a:path>
              <a:path w="4896484" h="4895850">
                <a:moveTo>
                  <a:pt x="4389123" y="3938937"/>
                </a:moveTo>
                <a:lnTo>
                  <a:pt x="4389123" y="3938937"/>
                </a:lnTo>
                <a:lnTo>
                  <a:pt x="4381496" y="3948484"/>
                </a:lnTo>
              </a:path>
              <a:path w="4896484" h="4895850">
                <a:moveTo>
                  <a:pt x="4342341" y="3998076"/>
                </a:moveTo>
                <a:lnTo>
                  <a:pt x="4342341" y="3998076"/>
                </a:lnTo>
                <a:lnTo>
                  <a:pt x="4333824" y="4008564"/>
                </a:lnTo>
              </a:path>
              <a:path w="4896484" h="4895850">
                <a:moveTo>
                  <a:pt x="4292762" y="4057202"/>
                </a:moveTo>
                <a:lnTo>
                  <a:pt x="4288948" y="4061016"/>
                </a:lnTo>
                <a:lnTo>
                  <a:pt x="4284245" y="4066736"/>
                </a:lnTo>
              </a:path>
              <a:path w="4896484" h="4895850">
                <a:moveTo>
                  <a:pt x="4241276" y="4113480"/>
                </a:moveTo>
                <a:lnTo>
                  <a:pt x="4241276" y="4113480"/>
                </a:lnTo>
                <a:lnTo>
                  <a:pt x="4232632" y="4123015"/>
                </a:lnTo>
              </a:path>
              <a:path w="4896484" h="4895850">
                <a:moveTo>
                  <a:pt x="4188774" y="4168792"/>
                </a:moveTo>
                <a:lnTo>
                  <a:pt x="4188774" y="4168792"/>
                </a:lnTo>
                <a:lnTo>
                  <a:pt x="4180256" y="4177373"/>
                </a:lnTo>
              </a:path>
              <a:path w="4896484" h="4895850">
                <a:moveTo>
                  <a:pt x="4134491" y="4222198"/>
                </a:moveTo>
                <a:lnTo>
                  <a:pt x="4134491" y="4222198"/>
                </a:lnTo>
                <a:lnTo>
                  <a:pt x="4124957" y="4230779"/>
                </a:lnTo>
              </a:path>
              <a:path w="4896484" h="4895850">
                <a:moveTo>
                  <a:pt x="4078175" y="4273696"/>
                </a:moveTo>
                <a:lnTo>
                  <a:pt x="4078175" y="4273696"/>
                </a:lnTo>
                <a:lnTo>
                  <a:pt x="4068640" y="4282290"/>
                </a:lnTo>
              </a:path>
              <a:path w="4896484" h="4895850">
                <a:moveTo>
                  <a:pt x="4019951" y="4323300"/>
                </a:moveTo>
                <a:lnTo>
                  <a:pt x="4019951" y="4323300"/>
                </a:lnTo>
                <a:lnTo>
                  <a:pt x="4010417" y="4331881"/>
                </a:lnTo>
              </a:path>
              <a:path w="4896484" h="4895850">
                <a:moveTo>
                  <a:pt x="3960838" y="4371939"/>
                </a:moveTo>
                <a:lnTo>
                  <a:pt x="3960838" y="4371939"/>
                </a:lnTo>
                <a:lnTo>
                  <a:pt x="3951304" y="4379566"/>
                </a:lnTo>
              </a:path>
              <a:path w="4896484" h="4895850">
                <a:moveTo>
                  <a:pt x="3900835" y="4418670"/>
                </a:moveTo>
                <a:lnTo>
                  <a:pt x="3894097" y="4423437"/>
                </a:lnTo>
                <a:lnTo>
                  <a:pt x="3890284" y="4426297"/>
                </a:lnTo>
              </a:path>
              <a:path w="4896484" h="4895850">
                <a:moveTo>
                  <a:pt x="3838798" y="4462541"/>
                </a:moveTo>
                <a:lnTo>
                  <a:pt x="3838798" y="4462541"/>
                </a:lnTo>
                <a:lnTo>
                  <a:pt x="3828246" y="4470168"/>
                </a:lnTo>
              </a:path>
              <a:path w="4896484" h="4895850">
                <a:moveTo>
                  <a:pt x="3774854" y="4505458"/>
                </a:moveTo>
                <a:lnTo>
                  <a:pt x="3774854" y="4505458"/>
                </a:lnTo>
                <a:lnTo>
                  <a:pt x="3764430" y="4512132"/>
                </a:lnTo>
              </a:path>
              <a:path w="4896484" h="4895850">
                <a:moveTo>
                  <a:pt x="3710020" y="4545515"/>
                </a:moveTo>
                <a:lnTo>
                  <a:pt x="3710020" y="4545515"/>
                </a:lnTo>
                <a:lnTo>
                  <a:pt x="3699596" y="4552189"/>
                </a:lnTo>
              </a:path>
              <a:path w="4896484" h="4895850">
                <a:moveTo>
                  <a:pt x="3644169" y="4583666"/>
                </a:moveTo>
                <a:lnTo>
                  <a:pt x="3644169" y="4583666"/>
                </a:lnTo>
                <a:lnTo>
                  <a:pt x="3632728" y="4590340"/>
                </a:lnTo>
              </a:path>
              <a:path w="4896484" h="4895850">
                <a:moveTo>
                  <a:pt x="3576539" y="4619909"/>
                </a:moveTo>
                <a:lnTo>
                  <a:pt x="3576539" y="4619909"/>
                </a:lnTo>
                <a:lnTo>
                  <a:pt x="3565987" y="4625630"/>
                </a:lnTo>
              </a:path>
              <a:path w="4896484" h="4895850">
                <a:moveTo>
                  <a:pt x="3508781" y="4654246"/>
                </a:moveTo>
                <a:lnTo>
                  <a:pt x="3508781" y="4654246"/>
                </a:lnTo>
                <a:lnTo>
                  <a:pt x="3497339" y="4659966"/>
                </a:lnTo>
              </a:path>
              <a:path w="4896484" h="4895850">
                <a:moveTo>
                  <a:pt x="3439116" y="4686675"/>
                </a:moveTo>
                <a:lnTo>
                  <a:pt x="3439116" y="4686675"/>
                </a:lnTo>
                <a:lnTo>
                  <a:pt x="3427675" y="4692396"/>
                </a:lnTo>
              </a:path>
              <a:path w="4896484" h="4895850">
                <a:moveTo>
                  <a:pt x="3369579" y="4716232"/>
                </a:moveTo>
                <a:lnTo>
                  <a:pt x="3369579" y="4716232"/>
                </a:lnTo>
                <a:lnTo>
                  <a:pt x="3357120" y="4720999"/>
                </a:lnTo>
              </a:path>
              <a:path w="4896484" h="4895850">
                <a:moveTo>
                  <a:pt x="3298007" y="4743894"/>
                </a:moveTo>
                <a:lnTo>
                  <a:pt x="3298007" y="4743894"/>
                </a:lnTo>
                <a:lnTo>
                  <a:pt x="3285676" y="4748662"/>
                </a:lnTo>
              </a:path>
              <a:path w="4896484" h="4895850">
                <a:moveTo>
                  <a:pt x="3226436" y="4769650"/>
                </a:moveTo>
                <a:lnTo>
                  <a:pt x="3221732" y="4771557"/>
                </a:lnTo>
                <a:lnTo>
                  <a:pt x="3214104" y="4773464"/>
                </a:lnTo>
              </a:path>
              <a:path w="4896484" h="4895850">
                <a:moveTo>
                  <a:pt x="3153084" y="4792534"/>
                </a:moveTo>
                <a:lnTo>
                  <a:pt x="3153084" y="4792534"/>
                </a:lnTo>
                <a:lnTo>
                  <a:pt x="3140626" y="4796350"/>
                </a:lnTo>
              </a:path>
              <a:path w="4896484" h="4895850">
                <a:moveTo>
                  <a:pt x="3079606" y="4813517"/>
                </a:moveTo>
                <a:lnTo>
                  <a:pt x="3079606" y="4813517"/>
                </a:lnTo>
                <a:lnTo>
                  <a:pt x="3067275" y="4816377"/>
                </a:lnTo>
              </a:path>
              <a:path w="4896484" h="4895850">
                <a:moveTo>
                  <a:pt x="3006128" y="4831637"/>
                </a:moveTo>
                <a:lnTo>
                  <a:pt x="3006128" y="4831637"/>
                </a:lnTo>
                <a:lnTo>
                  <a:pt x="2993796" y="4834499"/>
                </a:lnTo>
              </a:path>
              <a:path w="4896484" h="4895850">
                <a:moveTo>
                  <a:pt x="2930869" y="4847851"/>
                </a:moveTo>
                <a:lnTo>
                  <a:pt x="2930869" y="4847851"/>
                </a:lnTo>
                <a:lnTo>
                  <a:pt x="2918411" y="4850713"/>
                </a:lnTo>
              </a:path>
              <a:path w="4896484" h="4895850">
                <a:moveTo>
                  <a:pt x="2855484" y="4861203"/>
                </a:moveTo>
                <a:lnTo>
                  <a:pt x="2855484" y="4861203"/>
                </a:lnTo>
                <a:lnTo>
                  <a:pt x="2843026" y="4864065"/>
                </a:lnTo>
              </a:path>
              <a:path w="4896484" h="4895850">
                <a:moveTo>
                  <a:pt x="2780099" y="4873603"/>
                </a:moveTo>
                <a:lnTo>
                  <a:pt x="2780099" y="4873603"/>
                </a:lnTo>
                <a:lnTo>
                  <a:pt x="2767768" y="4874556"/>
                </a:lnTo>
              </a:path>
              <a:path w="4896484" h="4895850">
                <a:moveTo>
                  <a:pt x="2704841" y="4882186"/>
                </a:moveTo>
                <a:lnTo>
                  <a:pt x="2704841" y="4882186"/>
                </a:lnTo>
                <a:lnTo>
                  <a:pt x="2692382" y="4884093"/>
                </a:lnTo>
              </a:path>
              <a:path w="4896484" h="4895850">
                <a:moveTo>
                  <a:pt x="2628438" y="4888862"/>
                </a:moveTo>
                <a:lnTo>
                  <a:pt x="2628438" y="4888862"/>
                </a:lnTo>
                <a:lnTo>
                  <a:pt x="2616107" y="4889815"/>
                </a:lnTo>
              </a:path>
              <a:path w="4896484" h="4895850">
                <a:moveTo>
                  <a:pt x="2552163" y="4893630"/>
                </a:moveTo>
                <a:lnTo>
                  <a:pt x="2552163" y="4893630"/>
                </a:lnTo>
                <a:lnTo>
                  <a:pt x="2539832" y="4893630"/>
                </a:lnTo>
              </a:path>
              <a:path w="4896484" h="4895850">
                <a:moveTo>
                  <a:pt x="2475888" y="4895538"/>
                </a:moveTo>
                <a:lnTo>
                  <a:pt x="2475888" y="4895538"/>
                </a:lnTo>
                <a:lnTo>
                  <a:pt x="2463557" y="4895538"/>
                </a:lnTo>
              </a:path>
              <a:path w="4896484" h="4895850">
                <a:moveTo>
                  <a:pt x="2399613" y="4894583"/>
                </a:moveTo>
                <a:lnTo>
                  <a:pt x="2399613" y="4894583"/>
                </a:lnTo>
                <a:lnTo>
                  <a:pt x="2387155" y="4894583"/>
                </a:lnTo>
              </a:path>
              <a:path w="4896484" h="4895850">
                <a:moveTo>
                  <a:pt x="2323338" y="4892677"/>
                </a:moveTo>
                <a:lnTo>
                  <a:pt x="2323338" y="4892677"/>
                </a:lnTo>
                <a:lnTo>
                  <a:pt x="2310880" y="4891723"/>
                </a:lnTo>
              </a:path>
              <a:path w="4896484" h="4895850">
                <a:moveTo>
                  <a:pt x="2247063" y="4886955"/>
                </a:moveTo>
                <a:lnTo>
                  <a:pt x="2247063" y="4886955"/>
                </a:lnTo>
                <a:lnTo>
                  <a:pt x="2234604" y="4886955"/>
                </a:lnTo>
              </a:path>
              <a:path w="4896484" h="4895850">
                <a:moveTo>
                  <a:pt x="2171677" y="4880278"/>
                </a:moveTo>
                <a:lnTo>
                  <a:pt x="2171677" y="4880278"/>
                </a:lnTo>
                <a:lnTo>
                  <a:pt x="2158329" y="4878371"/>
                </a:lnTo>
              </a:path>
              <a:path w="4896484" h="4895850">
                <a:moveTo>
                  <a:pt x="2095402" y="4870741"/>
                </a:moveTo>
                <a:lnTo>
                  <a:pt x="2095402" y="4870741"/>
                </a:lnTo>
                <a:lnTo>
                  <a:pt x="2082944" y="4868834"/>
                </a:lnTo>
              </a:path>
              <a:path w="4896484" h="4895850">
                <a:moveTo>
                  <a:pt x="2020017" y="4858343"/>
                </a:moveTo>
                <a:lnTo>
                  <a:pt x="2020017" y="4858343"/>
                </a:lnTo>
                <a:lnTo>
                  <a:pt x="2007559" y="4856434"/>
                </a:lnTo>
              </a:path>
              <a:path w="4896484" h="4895850">
                <a:moveTo>
                  <a:pt x="1945649" y="4844036"/>
                </a:moveTo>
                <a:lnTo>
                  <a:pt x="1945649" y="4844036"/>
                </a:lnTo>
                <a:lnTo>
                  <a:pt x="1932301" y="4841174"/>
                </a:lnTo>
              </a:path>
              <a:path w="4896484" h="4895850">
                <a:moveTo>
                  <a:pt x="1870263" y="4826869"/>
                </a:moveTo>
                <a:lnTo>
                  <a:pt x="1870263" y="4826869"/>
                </a:lnTo>
                <a:lnTo>
                  <a:pt x="1857932" y="4824007"/>
                </a:lnTo>
              </a:path>
              <a:path w="4896484" h="4895850">
                <a:moveTo>
                  <a:pt x="1796785" y="4807794"/>
                </a:moveTo>
                <a:lnTo>
                  <a:pt x="1796785" y="4807794"/>
                </a:lnTo>
                <a:lnTo>
                  <a:pt x="1784454" y="4804933"/>
                </a:lnTo>
              </a:path>
              <a:path w="4896484" h="4895850">
                <a:moveTo>
                  <a:pt x="1723434" y="4786812"/>
                </a:moveTo>
                <a:lnTo>
                  <a:pt x="1723434" y="4786812"/>
                </a:lnTo>
                <a:lnTo>
                  <a:pt x="1710975" y="4782998"/>
                </a:lnTo>
              </a:path>
              <a:path w="4896484" h="4895850">
                <a:moveTo>
                  <a:pt x="1650972" y="4762963"/>
                </a:moveTo>
                <a:lnTo>
                  <a:pt x="1650972" y="4762963"/>
                </a:lnTo>
                <a:lnTo>
                  <a:pt x="1638514" y="4758196"/>
                </a:lnTo>
              </a:path>
              <a:path w="4896484" h="4895850">
                <a:moveTo>
                  <a:pt x="1579401" y="4737220"/>
                </a:moveTo>
                <a:lnTo>
                  <a:pt x="1570756" y="4734360"/>
                </a:lnTo>
                <a:lnTo>
                  <a:pt x="1566943" y="4732453"/>
                </a:lnTo>
              </a:path>
              <a:path w="4896484" h="4895850">
                <a:moveTo>
                  <a:pt x="1507829" y="4708604"/>
                </a:moveTo>
                <a:lnTo>
                  <a:pt x="1507829" y="4708604"/>
                </a:lnTo>
                <a:lnTo>
                  <a:pt x="1496388" y="4703837"/>
                </a:lnTo>
              </a:path>
              <a:path w="4896484" h="4895850">
                <a:moveTo>
                  <a:pt x="1438292" y="4678082"/>
                </a:moveTo>
                <a:lnTo>
                  <a:pt x="1438292" y="4678082"/>
                </a:lnTo>
                <a:lnTo>
                  <a:pt x="1426851" y="4672361"/>
                </a:lnTo>
              </a:path>
              <a:path w="4896484" h="4895850">
                <a:moveTo>
                  <a:pt x="1368627" y="4645665"/>
                </a:moveTo>
                <a:lnTo>
                  <a:pt x="1368627" y="4645665"/>
                </a:lnTo>
                <a:lnTo>
                  <a:pt x="1357186" y="4639931"/>
                </a:lnTo>
              </a:path>
              <a:path w="4896484" h="4895850">
                <a:moveTo>
                  <a:pt x="1300869" y="4610375"/>
                </a:moveTo>
                <a:lnTo>
                  <a:pt x="1300869" y="4610375"/>
                </a:lnTo>
                <a:lnTo>
                  <a:pt x="1289428" y="4604654"/>
                </a:lnTo>
              </a:path>
              <a:path w="4896484" h="4895850">
                <a:moveTo>
                  <a:pt x="1234129" y="4574131"/>
                </a:moveTo>
                <a:lnTo>
                  <a:pt x="1234129" y="4574131"/>
                </a:lnTo>
                <a:lnTo>
                  <a:pt x="1223641" y="4567457"/>
                </a:lnTo>
              </a:path>
              <a:path w="4896484" h="4895850">
                <a:moveTo>
                  <a:pt x="1168329" y="4535027"/>
                </a:moveTo>
                <a:lnTo>
                  <a:pt x="1168329" y="4535027"/>
                </a:lnTo>
                <a:lnTo>
                  <a:pt x="1157841" y="4528353"/>
                </a:lnTo>
              </a:path>
              <a:path w="4896484" h="4895850">
                <a:moveTo>
                  <a:pt x="1104423" y="4494017"/>
                </a:moveTo>
                <a:lnTo>
                  <a:pt x="1104423" y="4494017"/>
                </a:lnTo>
                <a:lnTo>
                  <a:pt x="1092981" y="4487343"/>
                </a:lnTo>
              </a:path>
              <a:path w="4896484" h="4895850">
                <a:moveTo>
                  <a:pt x="1041483" y="4451099"/>
                </a:moveTo>
                <a:lnTo>
                  <a:pt x="1041483" y="4451099"/>
                </a:lnTo>
                <a:lnTo>
                  <a:pt x="1030982" y="4443472"/>
                </a:lnTo>
              </a:path>
              <a:path w="4896484" h="4895850">
                <a:moveTo>
                  <a:pt x="979484" y="4406275"/>
                </a:moveTo>
                <a:lnTo>
                  <a:pt x="979484" y="4406275"/>
                </a:lnTo>
                <a:lnTo>
                  <a:pt x="968996" y="4398648"/>
                </a:lnTo>
              </a:path>
              <a:path w="4896484" h="4895850">
                <a:moveTo>
                  <a:pt x="918451" y="4359544"/>
                </a:moveTo>
                <a:lnTo>
                  <a:pt x="916544" y="4358590"/>
                </a:lnTo>
                <a:lnTo>
                  <a:pt x="908904" y="4351904"/>
                </a:lnTo>
              </a:path>
              <a:path w="4896484" h="4895850">
                <a:moveTo>
                  <a:pt x="860266" y="4310893"/>
                </a:moveTo>
                <a:lnTo>
                  <a:pt x="860266" y="4310893"/>
                </a:lnTo>
                <a:lnTo>
                  <a:pt x="850732" y="4302312"/>
                </a:lnTo>
              </a:path>
              <a:path w="4896484" h="4895850">
                <a:moveTo>
                  <a:pt x="803047" y="4260348"/>
                </a:moveTo>
                <a:lnTo>
                  <a:pt x="803047" y="4260348"/>
                </a:lnTo>
                <a:lnTo>
                  <a:pt x="793513" y="4251767"/>
                </a:lnTo>
              </a:path>
              <a:path w="4896484" h="4895850">
                <a:moveTo>
                  <a:pt x="746769" y="4207896"/>
                </a:moveTo>
                <a:lnTo>
                  <a:pt x="746769" y="4207896"/>
                </a:lnTo>
                <a:lnTo>
                  <a:pt x="738188" y="4199315"/>
                </a:lnTo>
              </a:path>
              <a:path w="4896484" h="4895850">
                <a:moveTo>
                  <a:pt x="692410" y="4154491"/>
                </a:moveTo>
                <a:lnTo>
                  <a:pt x="692410" y="4154491"/>
                </a:lnTo>
                <a:lnTo>
                  <a:pt x="683829" y="4144944"/>
                </a:lnTo>
              </a:path>
              <a:path w="4896484" h="4895850">
                <a:moveTo>
                  <a:pt x="640911" y="4098212"/>
                </a:moveTo>
                <a:lnTo>
                  <a:pt x="640911" y="4098212"/>
                </a:lnTo>
                <a:lnTo>
                  <a:pt x="632330" y="4089631"/>
                </a:lnTo>
              </a:path>
              <a:path w="4896484" h="4895850">
                <a:moveTo>
                  <a:pt x="590366" y="4041947"/>
                </a:moveTo>
                <a:lnTo>
                  <a:pt x="590366" y="4041947"/>
                </a:lnTo>
                <a:lnTo>
                  <a:pt x="581773" y="4031459"/>
                </a:lnTo>
              </a:path>
              <a:path w="4896484" h="4895850">
                <a:moveTo>
                  <a:pt x="540762" y="3982808"/>
                </a:moveTo>
                <a:lnTo>
                  <a:pt x="536948" y="3978994"/>
                </a:lnTo>
                <a:lnTo>
                  <a:pt x="533135" y="3973274"/>
                </a:lnTo>
              </a:path>
              <a:path w="4896484" h="4895850">
                <a:moveTo>
                  <a:pt x="494031" y="3922729"/>
                </a:moveTo>
                <a:lnTo>
                  <a:pt x="494031" y="3922729"/>
                </a:lnTo>
                <a:lnTo>
                  <a:pt x="486403" y="3912241"/>
                </a:lnTo>
              </a:path>
              <a:path w="4896484" h="4895850">
                <a:moveTo>
                  <a:pt x="449206" y="3860730"/>
                </a:moveTo>
                <a:lnTo>
                  <a:pt x="449206" y="3860730"/>
                </a:lnTo>
                <a:lnTo>
                  <a:pt x="441579" y="3850242"/>
                </a:lnTo>
              </a:path>
              <a:path w="4896484" h="4895850">
                <a:moveTo>
                  <a:pt x="405336" y="3797790"/>
                </a:moveTo>
                <a:lnTo>
                  <a:pt x="405336" y="3797790"/>
                </a:lnTo>
                <a:lnTo>
                  <a:pt x="398661" y="3787302"/>
                </a:lnTo>
              </a:path>
              <a:path w="4896484" h="4895850">
                <a:moveTo>
                  <a:pt x="364325" y="3733884"/>
                </a:moveTo>
                <a:lnTo>
                  <a:pt x="364325" y="3733884"/>
                </a:lnTo>
                <a:lnTo>
                  <a:pt x="357651" y="3723396"/>
                </a:lnTo>
              </a:path>
              <a:path w="4896484" h="4895850">
                <a:moveTo>
                  <a:pt x="325221" y="3668084"/>
                </a:moveTo>
                <a:lnTo>
                  <a:pt x="325221" y="3668084"/>
                </a:lnTo>
                <a:lnTo>
                  <a:pt x="319501" y="3656630"/>
                </a:lnTo>
              </a:path>
              <a:path w="4896484" h="4895850">
                <a:moveTo>
                  <a:pt x="288024" y="3601331"/>
                </a:moveTo>
                <a:lnTo>
                  <a:pt x="288024" y="3601331"/>
                </a:lnTo>
                <a:lnTo>
                  <a:pt x="282304" y="3589889"/>
                </a:lnTo>
              </a:path>
              <a:path w="4896484" h="4895850">
                <a:moveTo>
                  <a:pt x="253688" y="3533573"/>
                </a:moveTo>
                <a:lnTo>
                  <a:pt x="247967" y="3524039"/>
                </a:lnTo>
                <a:lnTo>
                  <a:pt x="247014" y="3522132"/>
                </a:lnTo>
              </a:path>
              <a:path w="4896484" h="4895850">
                <a:moveTo>
                  <a:pt x="220317" y="3464925"/>
                </a:moveTo>
                <a:lnTo>
                  <a:pt x="220317" y="3464925"/>
                </a:lnTo>
                <a:lnTo>
                  <a:pt x="215550" y="3453484"/>
                </a:lnTo>
              </a:path>
              <a:path w="4896484" h="4895850">
                <a:moveTo>
                  <a:pt x="189795" y="3394371"/>
                </a:moveTo>
                <a:lnTo>
                  <a:pt x="189795" y="3394371"/>
                </a:lnTo>
                <a:lnTo>
                  <a:pt x="185027" y="3382929"/>
                </a:lnTo>
              </a:path>
              <a:path w="4896484" h="4895850">
                <a:moveTo>
                  <a:pt x="161179" y="3323816"/>
                </a:moveTo>
                <a:lnTo>
                  <a:pt x="161179" y="3323816"/>
                </a:lnTo>
                <a:lnTo>
                  <a:pt x="156412" y="3312375"/>
                </a:lnTo>
              </a:path>
              <a:path w="4896484" h="4895850">
                <a:moveTo>
                  <a:pt x="135436" y="3252245"/>
                </a:moveTo>
                <a:lnTo>
                  <a:pt x="135436" y="3252245"/>
                </a:lnTo>
                <a:lnTo>
                  <a:pt x="130656" y="3239914"/>
                </a:lnTo>
              </a:path>
              <a:path w="4896484" h="4895850">
                <a:moveTo>
                  <a:pt x="111587" y="3179783"/>
                </a:moveTo>
                <a:lnTo>
                  <a:pt x="111587" y="3179783"/>
                </a:lnTo>
                <a:lnTo>
                  <a:pt x="107772" y="3167325"/>
                </a:lnTo>
              </a:path>
              <a:path w="4896484" h="4895850">
                <a:moveTo>
                  <a:pt x="89650" y="3106305"/>
                </a:moveTo>
                <a:lnTo>
                  <a:pt x="89650" y="3106305"/>
                </a:lnTo>
                <a:lnTo>
                  <a:pt x="85835" y="3093974"/>
                </a:lnTo>
              </a:path>
              <a:path w="4896484" h="4895850">
                <a:moveTo>
                  <a:pt x="70577" y="3032954"/>
                </a:moveTo>
                <a:lnTo>
                  <a:pt x="70577" y="3032954"/>
                </a:lnTo>
                <a:lnTo>
                  <a:pt x="66762" y="3020495"/>
                </a:lnTo>
              </a:path>
              <a:path w="4896484" h="4895850">
                <a:moveTo>
                  <a:pt x="53408" y="2958458"/>
                </a:moveTo>
                <a:lnTo>
                  <a:pt x="53408" y="2958458"/>
                </a:lnTo>
                <a:lnTo>
                  <a:pt x="50548" y="2946127"/>
                </a:lnTo>
              </a:path>
              <a:path w="4896484" h="4895850">
                <a:moveTo>
                  <a:pt x="38149" y="2883200"/>
                </a:moveTo>
                <a:lnTo>
                  <a:pt x="38149" y="2883200"/>
                </a:lnTo>
                <a:lnTo>
                  <a:pt x="36241" y="2870742"/>
                </a:lnTo>
              </a:path>
              <a:path w="4896484" h="4895850">
                <a:moveTo>
                  <a:pt x="25751" y="2807815"/>
                </a:moveTo>
                <a:lnTo>
                  <a:pt x="25751" y="2807815"/>
                </a:lnTo>
                <a:lnTo>
                  <a:pt x="23843" y="2795357"/>
                </a:lnTo>
              </a:path>
              <a:path w="4896484" h="4895850">
                <a:moveTo>
                  <a:pt x="16213" y="2732430"/>
                </a:moveTo>
                <a:lnTo>
                  <a:pt x="16213" y="2732430"/>
                </a:lnTo>
                <a:lnTo>
                  <a:pt x="15259" y="2719081"/>
                </a:lnTo>
              </a:path>
              <a:path w="4896484" h="4895850">
                <a:moveTo>
                  <a:pt x="8583" y="2656154"/>
                </a:moveTo>
                <a:lnTo>
                  <a:pt x="8583" y="2656154"/>
                </a:lnTo>
                <a:lnTo>
                  <a:pt x="7629" y="2643823"/>
                </a:lnTo>
              </a:path>
              <a:path w="4896484" h="4895850">
                <a:moveTo>
                  <a:pt x="3814" y="2579879"/>
                </a:moveTo>
                <a:lnTo>
                  <a:pt x="3814" y="2579879"/>
                </a:lnTo>
                <a:lnTo>
                  <a:pt x="2861" y="2567421"/>
                </a:lnTo>
              </a:path>
              <a:path w="4896484" h="4895850">
                <a:moveTo>
                  <a:pt x="953" y="2503604"/>
                </a:moveTo>
                <a:lnTo>
                  <a:pt x="953" y="2503604"/>
                </a:lnTo>
                <a:lnTo>
                  <a:pt x="953" y="2491146"/>
                </a:lnTo>
              </a:path>
              <a:path w="4896484" h="4895850">
                <a:moveTo>
                  <a:pt x="0" y="2427329"/>
                </a:moveTo>
                <a:lnTo>
                  <a:pt x="0" y="2427329"/>
                </a:lnTo>
                <a:lnTo>
                  <a:pt x="0" y="2414871"/>
                </a:lnTo>
              </a:path>
              <a:path w="4896484" h="4895850">
                <a:moveTo>
                  <a:pt x="1907" y="2350927"/>
                </a:moveTo>
                <a:lnTo>
                  <a:pt x="1907" y="2350927"/>
                </a:lnTo>
                <a:lnTo>
                  <a:pt x="1907" y="2338596"/>
                </a:lnTo>
              </a:path>
              <a:path w="4896484" h="4895850">
                <a:moveTo>
                  <a:pt x="5722" y="2274652"/>
                </a:moveTo>
                <a:lnTo>
                  <a:pt x="5722" y="2274652"/>
                </a:lnTo>
                <a:lnTo>
                  <a:pt x="6676" y="2262320"/>
                </a:lnTo>
              </a:path>
              <a:path w="4896484" h="4895850">
                <a:moveTo>
                  <a:pt x="12398" y="2198376"/>
                </a:moveTo>
                <a:lnTo>
                  <a:pt x="12398" y="2198376"/>
                </a:lnTo>
                <a:lnTo>
                  <a:pt x="14306" y="2185918"/>
                </a:lnTo>
              </a:path>
              <a:path w="4896484" h="4895850">
                <a:moveTo>
                  <a:pt x="20981" y="2122991"/>
                </a:moveTo>
                <a:lnTo>
                  <a:pt x="20981" y="2122991"/>
                </a:lnTo>
                <a:lnTo>
                  <a:pt x="22889" y="2110660"/>
                </a:lnTo>
              </a:path>
              <a:path w="4896484" h="4895850">
                <a:moveTo>
                  <a:pt x="32426" y="2047733"/>
                </a:moveTo>
                <a:lnTo>
                  <a:pt x="32426" y="2047733"/>
                </a:lnTo>
                <a:lnTo>
                  <a:pt x="34334" y="2035275"/>
                </a:lnTo>
              </a:path>
              <a:path w="4896484" h="4895850">
                <a:moveTo>
                  <a:pt x="45779" y="1972348"/>
                </a:moveTo>
                <a:lnTo>
                  <a:pt x="45779" y="1972348"/>
                </a:lnTo>
                <a:lnTo>
                  <a:pt x="48640" y="1959889"/>
                </a:lnTo>
              </a:path>
              <a:path w="4896484" h="4895850">
                <a:moveTo>
                  <a:pt x="61992" y="1897979"/>
                </a:moveTo>
                <a:lnTo>
                  <a:pt x="63900" y="1886538"/>
                </a:lnTo>
                <a:lnTo>
                  <a:pt x="64853" y="1885521"/>
                </a:lnTo>
              </a:path>
              <a:path w="4896484" h="4895850">
                <a:moveTo>
                  <a:pt x="80113" y="1823611"/>
                </a:moveTo>
                <a:lnTo>
                  <a:pt x="80113" y="1823611"/>
                </a:lnTo>
                <a:lnTo>
                  <a:pt x="83928" y="1811153"/>
                </a:lnTo>
              </a:path>
              <a:path w="4896484" h="4895850">
                <a:moveTo>
                  <a:pt x="101095" y="1750133"/>
                </a:moveTo>
                <a:lnTo>
                  <a:pt x="101095" y="1750133"/>
                </a:lnTo>
                <a:lnTo>
                  <a:pt x="104910" y="1737674"/>
                </a:lnTo>
              </a:path>
              <a:path w="4896484" h="4895850">
                <a:moveTo>
                  <a:pt x="123028" y="1676654"/>
                </a:moveTo>
                <a:lnTo>
                  <a:pt x="123982" y="1673858"/>
                </a:lnTo>
                <a:lnTo>
                  <a:pt x="127796" y="1665213"/>
                </a:lnTo>
              </a:path>
              <a:path w="4896484" h="4895850">
                <a:moveTo>
                  <a:pt x="148784" y="1605210"/>
                </a:moveTo>
                <a:lnTo>
                  <a:pt x="148784" y="1605210"/>
                </a:lnTo>
                <a:lnTo>
                  <a:pt x="153551" y="1592752"/>
                </a:lnTo>
              </a:path>
              <a:path w="4896484" h="4895850">
                <a:moveTo>
                  <a:pt x="176446" y="1533638"/>
                </a:moveTo>
                <a:lnTo>
                  <a:pt x="176446" y="1533638"/>
                </a:lnTo>
                <a:lnTo>
                  <a:pt x="181214" y="1522197"/>
                </a:lnTo>
              </a:path>
              <a:path w="4896484" h="4895850">
                <a:moveTo>
                  <a:pt x="206003" y="1463084"/>
                </a:moveTo>
                <a:lnTo>
                  <a:pt x="206003" y="1463084"/>
                </a:lnTo>
                <a:lnTo>
                  <a:pt x="210770" y="1451643"/>
                </a:lnTo>
              </a:path>
              <a:path w="4896484" h="4895850">
                <a:moveTo>
                  <a:pt x="237479" y="1394436"/>
                </a:moveTo>
                <a:lnTo>
                  <a:pt x="237479" y="1394436"/>
                </a:lnTo>
                <a:lnTo>
                  <a:pt x="243200" y="1381978"/>
                </a:lnTo>
              </a:path>
              <a:path w="4896484" h="4895850">
                <a:moveTo>
                  <a:pt x="271816" y="1325662"/>
                </a:moveTo>
                <a:lnTo>
                  <a:pt x="271816" y="1325662"/>
                </a:lnTo>
                <a:lnTo>
                  <a:pt x="277536" y="1314220"/>
                </a:lnTo>
              </a:path>
              <a:path w="4896484" h="4895850">
                <a:moveTo>
                  <a:pt x="308059" y="1258031"/>
                </a:moveTo>
                <a:lnTo>
                  <a:pt x="308059" y="1258031"/>
                </a:lnTo>
                <a:lnTo>
                  <a:pt x="313780" y="1247480"/>
                </a:lnTo>
              </a:path>
              <a:path w="4896484" h="4895850">
                <a:moveTo>
                  <a:pt x="346209" y="1192180"/>
                </a:moveTo>
                <a:lnTo>
                  <a:pt x="346209" y="1192180"/>
                </a:lnTo>
                <a:lnTo>
                  <a:pt x="351930" y="1180739"/>
                </a:lnTo>
              </a:path>
              <a:path w="4896484" h="4895850">
                <a:moveTo>
                  <a:pt x="386267" y="1127346"/>
                </a:moveTo>
                <a:lnTo>
                  <a:pt x="386267" y="1127346"/>
                </a:lnTo>
                <a:lnTo>
                  <a:pt x="392941" y="1116795"/>
                </a:lnTo>
              </a:path>
              <a:path w="4896484" h="4895850">
                <a:moveTo>
                  <a:pt x="428231" y="1063402"/>
                </a:moveTo>
                <a:lnTo>
                  <a:pt x="428231" y="1063402"/>
                </a:lnTo>
                <a:lnTo>
                  <a:pt x="435858" y="1052978"/>
                </a:lnTo>
              </a:path>
              <a:path w="4896484" h="4895850">
                <a:moveTo>
                  <a:pt x="472102" y="1001492"/>
                </a:moveTo>
                <a:lnTo>
                  <a:pt x="472102" y="1001492"/>
                </a:lnTo>
                <a:lnTo>
                  <a:pt x="479729" y="990941"/>
                </a:lnTo>
              </a:path>
              <a:path w="4896484" h="4895850">
                <a:moveTo>
                  <a:pt x="518833" y="940345"/>
                </a:moveTo>
                <a:lnTo>
                  <a:pt x="518833" y="940345"/>
                </a:lnTo>
                <a:lnTo>
                  <a:pt x="526460" y="930811"/>
                </a:lnTo>
              </a:path>
              <a:path w="4896484" h="4895850">
                <a:moveTo>
                  <a:pt x="566517" y="881232"/>
                </a:moveTo>
                <a:lnTo>
                  <a:pt x="566517" y="881232"/>
                </a:lnTo>
                <a:lnTo>
                  <a:pt x="575098" y="871697"/>
                </a:lnTo>
              </a:path>
              <a:path w="4896484" h="4895850">
                <a:moveTo>
                  <a:pt x="616109" y="823135"/>
                </a:moveTo>
                <a:lnTo>
                  <a:pt x="616109" y="823135"/>
                </a:lnTo>
                <a:lnTo>
                  <a:pt x="624703" y="813601"/>
                </a:lnTo>
              </a:path>
              <a:path w="4896484" h="4895850">
                <a:moveTo>
                  <a:pt x="667620" y="766819"/>
                </a:moveTo>
                <a:lnTo>
                  <a:pt x="667620" y="766819"/>
                </a:lnTo>
                <a:lnTo>
                  <a:pt x="676201" y="757285"/>
                </a:lnTo>
              </a:path>
              <a:path w="4896484" h="4895850">
                <a:moveTo>
                  <a:pt x="721025" y="712409"/>
                </a:moveTo>
                <a:lnTo>
                  <a:pt x="721025" y="712409"/>
                </a:lnTo>
                <a:lnTo>
                  <a:pt x="730560" y="702875"/>
                </a:lnTo>
              </a:path>
              <a:path w="4896484" h="4895850">
                <a:moveTo>
                  <a:pt x="776338" y="659017"/>
                </a:moveTo>
                <a:lnTo>
                  <a:pt x="776338" y="659017"/>
                </a:lnTo>
                <a:lnTo>
                  <a:pt x="785872" y="650499"/>
                </a:lnTo>
              </a:path>
              <a:path w="4896484" h="4895850">
                <a:moveTo>
                  <a:pt x="832616" y="607531"/>
                </a:moveTo>
                <a:lnTo>
                  <a:pt x="834523" y="606641"/>
                </a:lnTo>
                <a:lnTo>
                  <a:pt x="842150" y="599014"/>
                </a:lnTo>
              </a:path>
              <a:path w="4896484" h="4895850">
                <a:moveTo>
                  <a:pt x="890788" y="558842"/>
                </a:moveTo>
                <a:lnTo>
                  <a:pt x="890788" y="558842"/>
                </a:lnTo>
                <a:lnTo>
                  <a:pt x="900323" y="550325"/>
                </a:lnTo>
              </a:path>
              <a:path w="4896484" h="4895850">
                <a:moveTo>
                  <a:pt x="950868" y="511170"/>
                </a:moveTo>
                <a:lnTo>
                  <a:pt x="950868" y="511170"/>
                </a:lnTo>
                <a:lnTo>
                  <a:pt x="960415" y="503543"/>
                </a:lnTo>
              </a:path>
              <a:path w="4896484" h="4895850">
                <a:moveTo>
                  <a:pt x="1011913" y="464515"/>
                </a:moveTo>
                <a:lnTo>
                  <a:pt x="1011913" y="464515"/>
                </a:lnTo>
                <a:lnTo>
                  <a:pt x="1022401" y="457777"/>
                </a:lnTo>
              </a:path>
              <a:path w="4896484" h="4895850">
                <a:moveTo>
                  <a:pt x="1073900" y="420657"/>
                </a:moveTo>
                <a:lnTo>
                  <a:pt x="1073900" y="420657"/>
                </a:lnTo>
                <a:lnTo>
                  <a:pt x="1084400" y="413919"/>
                </a:lnTo>
              </a:path>
              <a:path w="4896484" h="4895850">
                <a:moveTo>
                  <a:pt x="1137806" y="379595"/>
                </a:moveTo>
                <a:lnTo>
                  <a:pt x="1137806" y="379595"/>
                </a:lnTo>
                <a:lnTo>
                  <a:pt x="1149247" y="372985"/>
                </a:lnTo>
              </a:path>
              <a:path w="4896484" h="4895850">
                <a:moveTo>
                  <a:pt x="1202665" y="339551"/>
                </a:moveTo>
                <a:lnTo>
                  <a:pt x="1202665" y="339551"/>
                </a:lnTo>
                <a:lnTo>
                  <a:pt x="1214106" y="332813"/>
                </a:lnTo>
              </a:path>
              <a:path w="4896484" h="4895850">
                <a:moveTo>
                  <a:pt x="1269469" y="301413"/>
                </a:moveTo>
                <a:lnTo>
                  <a:pt x="1275190" y="297600"/>
                </a:lnTo>
                <a:lnTo>
                  <a:pt x="1279893" y="294676"/>
                </a:lnTo>
              </a:path>
              <a:path w="4896484" h="4895850">
                <a:moveTo>
                  <a:pt x="1337100" y="266073"/>
                </a:moveTo>
                <a:lnTo>
                  <a:pt x="1337100" y="266073"/>
                </a:lnTo>
                <a:lnTo>
                  <a:pt x="1348541" y="260352"/>
                </a:lnTo>
              </a:path>
              <a:path w="4896484" h="4895850">
                <a:moveTo>
                  <a:pt x="1405747" y="231749"/>
                </a:moveTo>
                <a:lnTo>
                  <a:pt x="1405747" y="231749"/>
                </a:lnTo>
                <a:lnTo>
                  <a:pt x="1417189" y="227045"/>
                </a:lnTo>
              </a:path>
              <a:path w="4896484" h="4895850">
                <a:moveTo>
                  <a:pt x="1474522" y="200349"/>
                </a:moveTo>
                <a:lnTo>
                  <a:pt x="1474522" y="200349"/>
                </a:lnTo>
                <a:lnTo>
                  <a:pt x="1486853" y="195518"/>
                </a:lnTo>
              </a:path>
              <a:path w="4896484" h="4895850">
                <a:moveTo>
                  <a:pt x="1545077" y="171746"/>
                </a:moveTo>
                <a:lnTo>
                  <a:pt x="1545077" y="171746"/>
                </a:lnTo>
                <a:lnTo>
                  <a:pt x="1557408" y="166915"/>
                </a:lnTo>
              </a:path>
              <a:path w="4896484" h="4895850">
                <a:moveTo>
                  <a:pt x="1616521" y="144032"/>
                </a:moveTo>
                <a:lnTo>
                  <a:pt x="1616521" y="144032"/>
                </a:lnTo>
                <a:lnTo>
                  <a:pt x="1628979" y="140219"/>
                </a:lnTo>
              </a:path>
              <a:path w="4896484" h="4895850">
                <a:moveTo>
                  <a:pt x="1689110" y="119243"/>
                </a:moveTo>
                <a:lnTo>
                  <a:pt x="1689110" y="119243"/>
                </a:lnTo>
                <a:lnTo>
                  <a:pt x="1701441" y="115429"/>
                </a:lnTo>
              </a:path>
              <a:path w="4896484" h="4895850">
                <a:moveTo>
                  <a:pt x="1761571" y="97250"/>
                </a:moveTo>
                <a:lnTo>
                  <a:pt x="1761571" y="97250"/>
                </a:lnTo>
                <a:lnTo>
                  <a:pt x="1773902" y="93437"/>
                </a:lnTo>
              </a:path>
              <a:path w="4896484" h="4895850">
                <a:moveTo>
                  <a:pt x="1835939" y="77292"/>
                </a:moveTo>
                <a:lnTo>
                  <a:pt x="1835939" y="77292"/>
                </a:lnTo>
                <a:lnTo>
                  <a:pt x="1848398" y="73478"/>
                </a:lnTo>
              </a:path>
              <a:path w="4896484" h="4895850">
                <a:moveTo>
                  <a:pt x="1910308" y="59113"/>
                </a:moveTo>
                <a:lnTo>
                  <a:pt x="1910308" y="59113"/>
                </a:lnTo>
                <a:lnTo>
                  <a:pt x="1922766" y="56316"/>
                </a:lnTo>
              </a:path>
              <a:path w="4896484" h="4895850">
                <a:moveTo>
                  <a:pt x="1984676" y="42968"/>
                </a:moveTo>
                <a:lnTo>
                  <a:pt x="1995227" y="41061"/>
                </a:lnTo>
                <a:lnTo>
                  <a:pt x="1997134" y="41061"/>
                </a:lnTo>
              </a:path>
              <a:path w="4896484" h="4895850">
                <a:moveTo>
                  <a:pt x="2060061" y="30510"/>
                </a:moveTo>
                <a:lnTo>
                  <a:pt x="2060061" y="30510"/>
                </a:lnTo>
                <a:lnTo>
                  <a:pt x="2072519" y="28603"/>
                </a:lnTo>
              </a:path>
              <a:path w="4896484" h="4895850">
                <a:moveTo>
                  <a:pt x="2135446" y="19068"/>
                </a:moveTo>
                <a:lnTo>
                  <a:pt x="2135446" y="19068"/>
                </a:lnTo>
                <a:lnTo>
                  <a:pt x="2147778" y="18178"/>
                </a:lnTo>
              </a:path>
              <a:path w="4896484" h="4895850">
                <a:moveTo>
                  <a:pt x="2211722" y="10551"/>
                </a:moveTo>
                <a:lnTo>
                  <a:pt x="2218332" y="9534"/>
                </a:lnTo>
                <a:lnTo>
                  <a:pt x="2224053" y="9534"/>
                </a:lnTo>
              </a:path>
              <a:path w="4896484" h="4895850">
                <a:moveTo>
                  <a:pt x="2287107" y="4830"/>
                </a:moveTo>
                <a:lnTo>
                  <a:pt x="2287107" y="4830"/>
                </a:lnTo>
                <a:lnTo>
                  <a:pt x="2300455" y="3813"/>
                </a:lnTo>
              </a:path>
              <a:path w="4896484" h="4895850">
                <a:moveTo>
                  <a:pt x="2363382" y="1017"/>
                </a:moveTo>
                <a:lnTo>
                  <a:pt x="2363382" y="1017"/>
                </a:lnTo>
                <a:lnTo>
                  <a:pt x="2376730" y="1017"/>
                </a:lnTo>
              </a:path>
              <a:path w="4896484" h="4895850">
                <a:moveTo>
                  <a:pt x="2439657" y="0"/>
                </a:moveTo>
                <a:lnTo>
                  <a:pt x="2448302" y="0"/>
                </a:lnTo>
                <a:lnTo>
                  <a:pt x="2453005" y="0"/>
                </a:lnTo>
              </a:path>
              <a:path w="4896484" h="4895850">
                <a:moveTo>
                  <a:pt x="2515932" y="1017"/>
                </a:moveTo>
                <a:lnTo>
                  <a:pt x="2515932" y="1017"/>
                </a:lnTo>
                <a:lnTo>
                  <a:pt x="2529280" y="1017"/>
                </a:lnTo>
              </a:path>
              <a:path w="4896484" h="4895850">
                <a:moveTo>
                  <a:pt x="2592207" y="3813"/>
                </a:moveTo>
                <a:lnTo>
                  <a:pt x="2592207" y="3813"/>
                </a:lnTo>
                <a:lnTo>
                  <a:pt x="2605556" y="4830"/>
                </a:lnTo>
              </a:path>
              <a:path w="4896484" h="4895850">
                <a:moveTo>
                  <a:pt x="2668610" y="9534"/>
                </a:moveTo>
                <a:lnTo>
                  <a:pt x="2677127" y="9534"/>
                </a:lnTo>
                <a:lnTo>
                  <a:pt x="2681958" y="10551"/>
                </a:lnTo>
              </a:path>
              <a:path w="4896484" h="4895850">
                <a:moveTo>
                  <a:pt x="2744885" y="17161"/>
                </a:moveTo>
                <a:lnTo>
                  <a:pt x="2744885" y="17161"/>
                </a:lnTo>
                <a:lnTo>
                  <a:pt x="2757216" y="19068"/>
                </a:lnTo>
              </a:path>
              <a:path w="4896484" h="4895850">
                <a:moveTo>
                  <a:pt x="2820143" y="27713"/>
                </a:moveTo>
                <a:lnTo>
                  <a:pt x="2820143" y="27713"/>
                </a:lnTo>
                <a:lnTo>
                  <a:pt x="2832601" y="29620"/>
                </a:lnTo>
              </a:path>
              <a:path w="4896484" h="4895850">
                <a:moveTo>
                  <a:pt x="2895528" y="40044"/>
                </a:moveTo>
                <a:lnTo>
                  <a:pt x="2900359" y="41061"/>
                </a:lnTo>
                <a:lnTo>
                  <a:pt x="2907986" y="42968"/>
                </a:lnTo>
              </a:path>
              <a:path w="4896484" h="4895850">
                <a:moveTo>
                  <a:pt x="2970913" y="55299"/>
                </a:moveTo>
                <a:lnTo>
                  <a:pt x="2970913" y="55299"/>
                </a:lnTo>
                <a:lnTo>
                  <a:pt x="2983245" y="58223"/>
                </a:lnTo>
              </a:path>
              <a:path w="4896484" h="4895850">
                <a:moveTo>
                  <a:pt x="3045282" y="72461"/>
                </a:moveTo>
                <a:lnTo>
                  <a:pt x="3045282" y="72461"/>
                </a:lnTo>
                <a:lnTo>
                  <a:pt x="3056723" y="76275"/>
                </a:lnTo>
              </a:path>
              <a:path w="4896484" h="4895850">
                <a:moveTo>
                  <a:pt x="3118760" y="92547"/>
                </a:moveTo>
                <a:lnTo>
                  <a:pt x="3118760" y="92547"/>
                </a:lnTo>
                <a:lnTo>
                  <a:pt x="3131091" y="96360"/>
                </a:lnTo>
              </a:path>
              <a:path w="4896484" h="4895850">
                <a:moveTo>
                  <a:pt x="3192111" y="114412"/>
                </a:moveTo>
                <a:lnTo>
                  <a:pt x="3192111" y="114412"/>
                </a:lnTo>
                <a:lnTo>
                  <a:pt x="3203553" y="118226"/>
                </a:lnTo>
              </a:path>
              <a:path w="4896484" h="4895850">
                <a:moveTo>
                  <a:pt x="3263683" y="139202"/>
                </a:moveTo>
                <a:lnTo>
                  <a:pt x="3263683" y="139202"/>
                </a:lnTo>
                <a:lnTo>
                  <a:pt x="3276141" y="143015"/>
                </a:lnTo>
              </a:path>
              <a:path w="4896484" h="4895850">
                <a:moveTo>
                  <a:pt x="3336144" y="165008"/>
                </a:moveTo>
                <a:lnTo>
                  <a:pt x="3336144" y="165008"/>
                </a:lnTo>
                <a:lnTo>
                  <a:pt x="3347586" y="169839"/>
                </a:lnTo>
              </a:path>
              <a:path w="4896484" h="4895850">
                <a:moveTo>
                  <a:pt x="3406699" y="194628"/>
                </a:moveTo>
                <a:lnTo>
                  <a:pt x="3406699" y="194628"/>
                </a:lnTo>
                <a:lnTo>
                  <a:pt x="3418140" y="199332"/>
                </a:lnTo>
              </a:path>
              <a:path w="4896484" h="4895850">
                <a:moveTo>
                  <a:pt x="3476364" y="225138"/>
                </a:moveTo>
                <a:lnTo>
                  <a:pt x="3476364" y="225138"/>
                </a:lnTo>
                <a:lnTo>
                  <a:pt x="3487805" y="230859"/>
                </a:lnTo>
              </a:path>
              <a:path w="4896484" h="4895850">
                <a:moveTo>
                  <a:pt x="3545011" y="258445"/>
                </a:moveTo>
                <a:lnTo>
                  <a:pt x="3545011" y="258445"/>
                </a:lnTo>
                <a:lnTo>
                  <a:pt x="3556452" y="264166"/>
                </a:lnTo>
              </a:path>
              <a:path w="4896484" h="4895850">
                <a:moveTo>
                  <a:pt x="3612769" y="293786"/>
                </a:moveTo>
                <a:lnTo>
                  <a:pt x="3621286" y="297600"/>
                </a:lnTo>
                <a:lnTo>
                  <a:pt x="3624210" y="299507"/>
                </a:lnTo>
              </a:path>
              <a:path w="4896484" h="4895850">
                <a:moveTo>
                  <a:pt x="3679510" y="330907"/>
                </a:moveTo>
                <a:lnTo>
                  <a:pt x="3679510" y="330907"/>
                </a:lnTo>
                <a:lnTo>
                  <a:pt x="3690061" y="337644"/>
                </a:lnTo>
              </a:path>
              <a:path w="4896484" h="4895850">
                <a:moveTo>
                  <a:pt x="3744344" y="371078"/>
                </a:moveTo>
                <a:lnTo>
                  <a:pt x="3744344" y="371078"/>
                </a:lnTo>
                <a:lnTo>
                  <a:pt x="3754895" y="377689"/>
                </a:lnTo>
              </a:path>
              <a:path w="4896484" h="4895850">
                <a:moveTo>
                  <a:pt x="3809177" y="412012"/>
                </a:moveTo>
                <a:lnTo>
                  <a:pt x="3809177" y="412012"/>
                </a:lnTo>
                <a:lnTo>
                  <a:pt x="3819729" y="419640"/>
                </a:lnTo>
              </a:path>
              <a:path w="4896484" h="4895850">
                <a:moveTo>
                  <a:pt x="3871215" y="455871"/>
                </a:moveTo>
                <a:lnTo>
                  <a:pt x="3871215" y="455871"/>
                </a:lnTo>
                <a:lnTo>
                  <a:pt x="3881766" y="462608"/>
                </a:lnTo>
              </a:path>
              <a:path w="4896484" h="4895850">
                <a:moveTo>
                  <a:pt x="3932235" y="501636"/>
                </a:moveTo>
                <a:lnTo>
                  <a:pt x="3932235" y="501636"/>
                </a:lnTo>
                <a:lnTo>
                  <a:pt x="3942786" y="509263"/>
                </a:lnTo>
              </a:path>
              <a:path w="4896484" h="4895850">
                <a:moveTo>
                  <a:pt x="3992365" y="548418"/>
                </a:moveTo>
                <a:lnTo>
                  <a:pt x="3992365" y="548418"/>
                </a:lnTo>
                <a:lnTo>
                  <a:pt x="4002789" y="556045"/>
                </a:lnTo>
              </a:path>
              <a:path w="4896484" h="4895850">
                <a:moveTo>
                  <a:pt x="4051478" y="597107"/>
                </a:moveTo>
                <a:lnTo>
                  <a:pt x="4051478" y="597107"/>
                </a:lnTo>
                <a:lnTo>
                  <a:pt x="4061013" y="605624"/>
                </a:lnTo>
              </a:path>
              <a:path w="4896484" h="4895850">
                <a:moveTo>
                  <a:pt x="4107795" y="648593"/>
                </a:moveTo>
                <a:lnTo>
                  <a:pt x="4107795" y="648593"/>
                </a:lnTo>
                <a:lnTo>
                  <a:pt x="4117329" y="657110"/>
                </a:lnTo>
              </a:path>
              <a:path w="4896484" h="4895850">
                <a:moveTo>
                  <a:pt x="4163094" y="700968"/>
                </a:moveTo>
                <a:lnTo>
                  <a:pt x="4163094" y="700968"/>
                </a:lnTo>
                <a:lnTo>
                  <a:pt x="4172629" y="710503"/>
                </a:lnTo>
              </a:path>
              <a:path w="4896484" h="4895850">
                <a:moveTo>
                  <a:pt x="4217377" y="755378"/>
                </a:moveTo>
                <a:lnTo>
                  <a:pt x="4217377" y="755378"/>
                </a:lnTo>
                <a:lnTo>
                  <a:pt x="4226021" y="764912"/>
                </a:lnTo>
              </a:path>
              <a:path w="4896484" h="4895850">
                <a:moveTo>
                  <a:pt x="4268862" y="811694"/>
                </a:moveTo>
                <a:lnTo>
                  <a:pt x="4268862" y="811694"/>
                </a:lnTo>
                <a:lnTo>
                  <a:pt x="4277507" y="821229"/>
                </a:lnTo>
              </a:path>
              <a:path w="4896484" h="4895850">
                <a:moveTo>
                  <a:pt x="4318568" y="868901"/>
                </a:moveTo>
                <a:lnTo>
                  <a:pt x="4318568" y="868901"/>
                </a:lnTo>
                <a:lnTo>
                  <a:pt x="4327086" y="878435"/>
                </a:lnTo>
              </a:path>
              <a:path w="4896484" h="4895850">
                <a:moveTo>
                  <a:pt x="4367130" y="928014"/>
                </a:moveTo>
                <a:lnTo>
                  <a:pt x="4367130" y="928014"/>
                </a:lnTo>
                <a:lnTo>
                  <a:pt x="4375775" y="938438"/>
                </a:lnTo>
              </a:path>
              <a:path w="4896484" h="4895850">
                <a:moveTo>
                  <a:pt x="4413912" y="988144"/>
                </a:moveTo>
                <a:lnTo>
                  <a:pt x="4413912" y="988144"/>
                </a:lnTo>
                <a:lnTo>
                  <a:pt x="4421540" y="998568"/>
                </a:lnTo>
              </a:path>
              <a:path w="4896484" h="4895850">
                <a:moveTo>
                  <a:pt x="4458660" y="1051071"/>
                </a:moveTo>
                <a:lnTo>
                  <a:pt x="4458660" y="1051071"/>
                </a:lnTo>
                <a:lnTo>
                  <a:pt x="4465398" y="1061495"/>
                </a:lnTo>
              </a:path>
              <a:path w="4896484" h="4895850">
                <a:moveTo>
                  <a:pt x="4500739" y="1113998"/>
                </a:moveTo>
                <a:lnTo>
                  <a:pt x="4500739" y="1113998"/>
                </a:lnTo>
                <a:lnTo>
                  <a:pt x="4508366" y="1124422"/>
                </a:lnTo>
              </a:path>
              <a:path w="4896484" h="4895850">
                <a:moveTo>
                  <a:pt x="4541673" y="1178832"/>
                </a:moveTo>
                <a:lnTo>
                  <a:pt x="4543580" y="1180739"/>
                </a:lnTo>
                <a:lnTo>
                  <a:pt x="4548411" y="1189383"/>
                </a:lnTo>
              </a:path>
              <a:path w="4896484" h="4895850">
                <a:moveTo>
                  <a:pt x="4580828" y="1244683"/>
                </a:moveTo>
                <a:lnTo>
                  <a:pt x="4580828" y="1244683"/>
                </a:lnTo>
                <a:lnTo>
                  <a:pt x="4586548" y="1255107"/>
                </a:lnTo>
              </a:path>
              <a:path w="4896484" h="4895850">
                <a:moveTo>
                  <a:pt x="4617058" y="1311424"/>
                </a:moveTo>
                <a:lnTo>
                  <a:pt x="4617058" y="1311424"/>
                </a:lnTo>
                <a:lnTo>
                  <a:pt x="4622779" y="1322865"/>
                </a:lnTo>
              </a:path>
              <a:path w="4896484" h="4895850">
                <a:moveTo>
                  <a:pt x="4651382" y="1379054"/>
                </a:moveTo>
                <a:lnTo>
                  <a:pt x="4651382" y="1379054"/>
                </a:lnTo>
                <a:lnTo>
                  <a:pt x="4657103" y="1391513"/>
                </a:lnTo>
              </a:path>
              <a:path w="4896484" h="4895850">
                <a:moveTo>
                  <a:pt x="4683799" y="1448719"/>
                </a:moveTo>
                <a:lnTo>
                  <a:pt x="4683799" y="1448719"/>
                </a:lnTo>
                <a:lnTo>
                  <a:pt x="4688503" y="1460160"/>
                </a:lnTo>
              </a:path>
              <a:path w="4896484" h="4895850">
                <a:moveTo>
                  <a:pt x="4713419" y="1519273"/>
                </a:moveTo>
                <a:lnTo>
                  <a:pt x="4713419" y="1519273"/>
                </a:lnTo>
                <a:lnTo>
                  <a:pt x="4718123" y="1530715"/>
                </a:lnTo>
              </a:path>
              <a:path w="4896484" h="4895850">
                <a:moveTo>
                  <a:pt x="4742023" y="1589828"/>
                </a:moveTo>
                <a:lnTo>
                  <a:pt x="4742023" y="1589828"/>
                </a:lnTo>
                <a:lnTo>
                  <a:pt x="4745836" y="1602286"/>
                </a:lnTo>
              </a:path>
              <a:path w="4896484" h="4895850">
                <a:moveTo>
                  <a:pt x="4767702" y="1662416"/>
                </a:moveTo>
                <a:lnTo>
                  <a:pt x="4771516" y="1673858"/>
                </a:lnTo>
              </a:path>
              <a:path w="4896484" h="4895850">
                <a:moveTo>
                  <a:pt x="4790584" y="1734878"/>
                </a:moveTo>
                <a:lnTo>
                  <a:pt x="4790584" y="1734878"/>
                </a:lnTo>
                <a:lnTo>
                  <a:pt x="4794398" y="1747209"/>
                </a:lnTo>
              </a:path>
              <a:path w="4896484" h="4895850">
                <a:moveTo>
                  <a:pt x="4811560" y="1808356"/>
                </a:moveTo>
                <a:lnTo>
                  <a:pt x="4811560" y="1808356"/>
                </a:lnTo>
                <a:lnTo>
                  <a:pt x="4814484" y="1820687"/>
                </a:lnTo>
              </a:path>
              <a:path w="4896484" h="4895850">
                <a:moveTo>
                  <a:pt x="4830629" y="1881707"/>
                </a:moveTo>
                <a:lnTo>
                  <a:pt x="4831646" y="1886538"/>
                </a:lnTo>
                <a:lnTo>
                  <a:pt x="4833553" y="1894166"/>
                </a:lnTo>
              </a:path>
              <a:path w="4896484" h="4895850">
                <a:moveTo>
                  <a:pt x="4846901" y="1957093"/>
                </a:moveTo>
                <a:lnTo>
                  <a:pt x="4846901" y="1957093"/>
                </a:lnTo>
                <a:lnTo>
                  <a:pt x="4848808" y="1969424"/>
                </a:lnTo>
              </a:path>
              <a:path w="4896484" h="4895850">
                <a:moveTo>
                  <a:pt x="4860249" y="2031461"/>
                </a:moveTo>
                <a:lnTo>
                  <a:pt x="4860249" y="2031461"/>
                </a:lnTo>
                <a:lnTo>
                  <a:pt x="4863046" y="2043919"/>
                </a:lnTo>
              </a:path>
              <a:path w="4896484" h="4895850">
                <a:moveTo>
                  <a:pt x="4872580" y="2106846"/>
                </a:moveTo>
                <a:lnTo>
                  <a:pt x="4872580" y="2106846"/>
                </a:lnTo>
                <a:lnTo>
                  <a:pt x="4874487" y="2120194"/>
                </a:lnTo>
              </a:path>
              <a:path w="4896484" h="4895850">
                <a:moveTo>
                  <a:pt x="4882115" y="2183121"/>
                </a:moveTo>
                <a:lnTo>
                  <a:pt x="4882115" y="2183121"/>
                </a:lnTo>
                <a:lnTo>
                  <a:pt x="4883132" y="2195453"/>
                </a:lnTo>
              </a:path>
              <a:path w="4896484" h="4895850">
                <a:moveTo>
                  <a:pt x="4888852" y="2259397"/>
                </a:moveTo>
                <a:lnTo>
                  <a:pt x="4888852" y="2259397"/>
                </a:lnTo>
                <a:lnTo>
                  <a:pt x="4889742" y="2271855"/>
                </a:lnTo>
              </a:path>
              <a:path w="4896484" h="4895850">
                <a:moveTo>
                  <a:pt x="4893556" y="2334782"/>
                </a:moveTo>
                <a:lnTo>
                  <a:pt x="4893556" y="2334782"/>
                </a:lnTo>
                <a:lnTo>
                  <a:pt x="4894573" y="2348130"/>
                </a:lnTo>
              </a:path>
              <a:path w="4896484" h="4895850">
                <a:moveTo>
                  <a:pt x="4895463" y="2411947"/>
                </a:moveTo>
                <a:lnTo>
                  <a:pt x="4895463" y="2411947"/>
                </a:lnTo>
                <a:lnTo>
                  <a:pt x="4895463" y="2424405"/>
                </a:lnTo>
              </a:path>
            </a:pathLst>
          </a:custGeom>
          <a:ln w="19075">
            <a:solidFill>
              <a:srgbClr val="81D3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56884" y="2438526"/>
            <a:ext cx="3886834" cy="7092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25" dirty="0"/>
              <a:t>‹№›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5444442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25" dirty="0"/>
              <a:t>‹№›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656877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F19854CA-1536-E20F-AE51-F274E7CA2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4D83310-732D-006A-43B6-54E6BEBD7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B563E90-2058-43D3-3C14-70EC35AC4F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A762DD-E558-493B-AD22-CC388E99005A}" type="datetimeFigureOut">
              <a:rPr lang="uk-UA" smtClean="0"/>
              <a:t>03.11.2025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79856C5-B262-B542-F99F-04EF60BB14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0E500F6-75C9-CFA8-A056-E31A769D0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D86651-E46F-4712-9695-5B4151E23B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9307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jpg"/><Relationship Id="rId7" Type="http://schemas.openxmlformats.org/officeDocument/2006/relationships/image" Target="../media/image16.jpg"/><Relationship Id="rId12" Type="http://schemas.openxmlformats.org/officeDocument/2006/relationships/image" Target="../media/image2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11" Type="http://schemas.openxmlformats.org/officeDocument/2006/relationships/image" Target="../media/image20.jpg"/><Relationship Id="rId5" Type="http://schemas.openxmlformats.org/officeDocument/2006/relationships/image" Target="../media/image14.jpg"/><Relationship Id="rId10" Type="http://schemas.openxmlformats.org/officeDocument/2006/relationships/image" Target="../media/image19.jpg"/><Relationship Id="rId4" Type="http://schemas.openxmlformats.org/officeDocument/2006/relationships/image" Target="../media/image13.jpg"/><Relationship Id="rId9" Type="http://schemas.openxmlformats.org/officeDocument/2006/relationships/image" Target="../media/image18.png"/><Relationship Id="rId14" Type="http://schemas.openxmlformats.org/officeDocument/2006/relationships/image" Target="../media/image23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.jpg"/><Relationship Id="rId10" Type="http://schemas.openxmlformats.org/officeDocument/2006/relationships/image" Target="../media/image7.svg"/><Relationship Id="rId4" Type="http://schemas.openxmlformats.org/officeDocument/2006/relationships/image" Target="../media/image25.pn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0.png"/><Relationship Id="rId7" Type="http://schemas.openxmlformats.org/officeDocument/2006/relationships/image" Target="../media/image34.jp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3" Type="http://schemas.openxmlformats.org/officeDocument/2006/relationships/image" Target="../media/image48.png"/><Relationship Id="rId21" Type="http://schemas.openxmlformats.org/officeDocument/2006/relationships/image" Target="../media/image66.jp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19" Type="http://schemas.openxmlformats.org/officeDocument/2006/relationships/image" Target="../media/image64.jp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0.jp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3" Type="http://schemas.openxmlformats.org/officeDocument/2006/relationships/image" Target="../media/image70.jp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3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7" Type="http://schemas.openxmlformats.org/officeDocument/2006/relationships/image" Target="../media/image97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427726"/>
            <a:ext cx="12192000" cy="1430655"/>
            <a:chOff x="0" y="5427726"/>
            <a:chExt cx="12192000" cy="14306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6253" y="5991174"/>
              <a:ext cx="965886" cy="6574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5427726"/>
              <a:ext cx="12192000" cy="1430655"/>
            </a:xfrm>
            <a:custGeom>
              <a:avLst/>
              <a:gdLst/>
              <a:ahLst/>
              <a:cxnLst/>
              <a:rect l="l" t="t" r="r" b="b"/>
              <a:pathLst>
                <a:path w="12192000" h="1430654">
                  <a:moveTo>
                    <a:pt x="12192000" y="0"/>
                  </a:moveTo>
                  <a:lnTo>
                    <a:pt x="0" y="0"/>
                  </a:lnTo>
                  <a:lnTo>
                    <a:pt x="0" y="1430274"/>
                  </a:lnTo>
                  <a:lnTo>
                    <a:pt x="12192000" y="143027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3127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1171935" y="642711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58087" y="1503635"/>
            <a:ext cx="5134610" cy="2183130"/>
            <a:chOff x="416902" y="911097"/>
            <a:chExt cx="5134610" cy="2183130"/>
          </a:xfrm>
        </p:grpSpPr>
        <p:sp>
          <p:nvSpPr>
            <p:cNvPr id="7" name="object 7"/>
            <p:cNvSpPr/>
            <p:nvPr/>
          </p:nvSpPr>
          <p:spPr>
            <a:xfrm>
              <a:off x="416902" y="1952244"/>
              <a:ext cx="1090295" cy="0"/>
            </a:xfrm>
            <a:custGeom>
              <a:avLst/>
              <a:gdLst/>
              <a:ahLst/>
              <a:cxnLst/>
              <a:rect l="l" t="t" r="r" b="b"/>
              <a:pathLst>
                <a:path w="1090295">
                  <a:moveTo>
                    <a:pt x="0" y="0"/>
                  </a:moveTo>
                  <a:lnTo>
                    <a:pt x="1090206" y="0"/>
                  </a:lnTo>
                </a:path>
              </a:pathLst>
            </a:custGeom>
            <a:ln w="28575">
              <a:solidFill>
                <a:srgbClr val="A8B8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4812" y="911097"/>
              <a:ext cx="4126103" cy="2183003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96999" y="94594"/>
            <a:ext cx="1284841" cy="87814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5063490"/>
            <a:ext cx="4025900" cy="790549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5495869" y="1679466"/>
            <a:ext cx="6043550" cy="1831339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 algn="ctr">
              <a:lnSpc>
                <a:spcPct val="90000"/>
              </a:lnSpc>
              <a:spcBef>
                <a:spcPts val="490"/>
              </a:spcBef>
            </a:pPr>
            <a:r>
              <a:rPr sz="3200" i="1" dirty="0">
                <a:solidFill>
                  <a:srgbClr val="312783"/>
                </a:solidFill>
                <a:latin typeface="Calibri"/>
                <a:cs typeface="Calibri"/>
              </a:rPr>
              <a:t>ПЕРЕВОРОТ У ЯКОСТІ ЖИТТЯ </a:t>
            </a:r>
            <a:r>
              <a:rPr sz="3200" i="1" spc="-10" dirty="0">
                <a:solidFill>
                  <a:srgbClr val="312783"/>
                </a:solidFill>
                <a:latin typeface="Calibri"/>
                <a:cs typeface="Calibri"/>
              </a:rPr>
              <a:t>ПАЦІЄНТІВ</a:t>
            </a:r>
            <a:r>
              <a:rPr sz="3200" i="1" dirty="0">
                <a:solidFill>
                  <a:srgbClr val="312783"/>
                </a:solidFill>
                <a:latin typeface="Calibri"/>
                <a:cs typeface="Calibri"/>
              </a:rPr>
              <a:t>, ЯКІ СТРАЖДАЮТЬ НА </a:t>
            </a:r>
            <a:r>
              <a:rPr sz="3200" i="1" spc="-20" dirty="0">
                <a:solidFill>
                  <a:srgbClr val="312783"/>
                </a:solidFill>
                <a:latin typeface="Calibri"/>
                <a:cs typeface="Calibri"/>
              </a:rPr>
              <a:t>РЕФРАКТ</a:t>
            </a:r>
            <a:r>
              <a:rPr lang="uk-UA" sz="3200" i="1" spc="-20" dirty="0">
                <a:solidFill>
                  <a:srgbClr val="312783"/>
                </a:solidFill>
                <a:latin typeface="Calibri"/>
                <a:cs typeface="Calibri"/>
              </a:rPr>
              <a:t>Е</a:t>
            </a:r>
            <a:r>
              <a:rPr sz="3200" i="1" spc="-20" dirty="0">
                <a:solidFill>
                  <a:srgbClr val="312783"/>
                </a:solidFill>
                <a:latin typeface="Calibri"/>
                <a:cs typeface="Calibri"/>
              </a:rPr>
              <a:t>РНИЙ </a:t>
            </a:r>
            <a:r>
              <a:rPr sz="3200" i="1" spc="-10" dirty="0">
                <a:solidFill>
                  <a:srgbClr val="312783"/>
                </a:solidFill>
                <a:latin typeface="Calibri"/>
                <a:cs typeface="Calibri"/>
              </a:rPr>
              <a:t>ОСТЕОАРТРИТ </a:t>
            </a:r>
            <a:r>
              <a:rPr sz="3200" i="1" dirty="0">
                <a:solidFill>
                  <a:srgbClr val="312783"/>
                </a:solidFill>
                <a:latin typeface="Calibri"/>
                <a:cs typeface="Calibri"/>
              </a:rPr>
              <a:t>КОЛІННОГО СУГЛОБА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6101" y="6487438"/>
            <a:ext cx="263207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AEABAB"/>
                </a:solidFill>
                <a:latin typeface="Calibri"/>
                <a:cs typeface="Calibri"/>
              </a:rPr>
              <a:t>КОНФІДЕНЦІЙНО </a:t>
            </a:r>
            <a:r>
              <a:rPr sz="800" dirty="0">
                <a:solidFill>
                  <a:srgbClr val="AEABAB"/>
                </a:solidFill>
                <a:latin typeface="Calibri"/>
                <a:cs typeface="Calibri"/>
              </a:rPr>
              <a:t>© KIOMED PHARMA – </a:t>
            </a:r>
            <a:r>
              <a:rPr sz="800" spc="-20" dirty="0">
                <a:solidFill>
                  <a:srgbClr val="AEABAB"/>
                </a:solidFill>
                <a:latin typeface="Calibri"/>
                <a:cs typeface="Calibri"/>
              </a:rPr>
              <a:t>ТІЛЬКИ </a:t>
            </a:r>
            <a:r>
              <a:rPr sz="800" dirty="0">
                <a:solidFill>
                  <a:srgbClr val="AEABAB"/>
                </a:solidFill>
                <a:latin typeface="Calibri"/>
                <a:cs typeface="Calibri"/>
              </a:rPr>
              <a:t>ДЛЯ ВНУТРІШНЬОГО ВИКОРИСТАННЯ</a:t>
            </a:r>
            <a:endParaRPr sz="800" dirty="0">
              <a:latin typeface="Calibri"/>
              <a:cs typeface="Calibri"/>
            </a:endParaRPr>
          </a:p>
        </p:txBody>
      </p:sp>
      <p:pic>
        <p:nvPicPr>
          <p:cNvPr id="12" name="Графіка 11">
            <a:extLst>
              <a:ext uri="{FF2B5EF4-FFF2-40B4-BE49-F238E27FC236}">
                <a16:creationId xmlns:a16="http://schemas.microsoft.com/office/drawing/2014/main" id="{933E1973-80AB-643E-B7AA-72DF743FD0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 bwMode="auto">
          <a:xfrm>
            <a:off x="252325" y="154189"/>
            <a:ext cx="1992113" cy="9997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BBAA2A9-6817-4D5D-F019-201370F20919}"/>
              </a:ext>
            </a:extLst>
          </p:cNvPr>
          <p:cNvSpPr txBox="1"/>
          <p:nvPr/>
        </p:nvSpPr>
        <p:spPr bwMode="auto">
          <a:xfrm>
            <a:off x="19519" y="1159294"/>
            <a:ext cx="24577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400" b="1" dirty="0">
                <a:solidFill>
                  <a:srgbClr val="00B050"/>
                </a:solidFill>
              </a:rPr>
              <a:t>ЛАБОРАТОРІЯ В КИШЕНІ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933" y="581614"/>
            <a:ext cx="7594296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solidFill>
                  <a:srgbClr val="312B80"/>
                </a:solidFill>
              </a:rPr>
              <a:t>О</a:t>
            </a:r>
            <a:r>
              <a:rPr sz="2400" spc="-10" dirty="0">
                <a:solidFill>
                  <a:srgbClr val="312B80"/>
                </a:solidFill>
              </a:rPr>
              <a:t>СТЕОАРТРИТ: </a:t>
            </a:r>
            <a:r>
              <a:rPr sz="2400" dirty="0">
                <a:solidFill>
                  <a:srgbClr val="312B80"/>
                </a:solidFill>
              </a:rPr>
              <a:t>ХРОНІЧНЕ </a:t>
            </a:r>
            <a:r>
              <a:rPr sz="2400" spc="-35" dirty="0">
                <a:solidFill>
                  <a:srgbClr val="312B80"/>
                </a:solidFill>
              </a:rPr>
              <a:t>ЗАХВОРЮВАННЯ</a:t>
            </a:r>
            <a:endParaRPr sz="2400" dirty="0"/>
          </a:p>
        </p:txBody>
      </p:sp>
      <p:sp>
        <p:nvSpPr>
          <p:cNvPr id="3" name="object 3"/>
          <p:cNvSpPr/>
          <p:nvPr/>
        </p:nvSpPr>
        <p:spPr>
          <a:xfrm>
            <a:off x="0" y="774954"/>
            <a:ext cx="923925" cy="63500"/>
          </a:xfrm>
          <a:custGeom>
            <a:avLst/>
            <a:gdLst/>
            <a:ahLst/>
            <a:cxnLst/>
            <a:rect l="l" t="t" r="r" b="b"/>
            <a:pathLst>
              <a:path w="923925" h="63500">
                <a:moveTo>
                  <a:pt x="923315" y="0"/>
                </a:moveTo>
                <a:lnTo>
                  <a:pt x="0" y="0"/>
                </a:lnTo>
                <a:lnTo>
                  <a:pt x="0" y="63500"/>
                </a:lnTo>
                <a:lnTo>
                  <a:pt x="923315" y="63500"/>
                </a:lnTo>
                <a:lnTo>
                  <a:pt x="923315" y="0"/>
                </a:lnTo>
                <a:close/>
              </a:path>
            </a:pathLst>
          </a:custGeom>
          <a:solidFill>
            <a:srgbClr val="636A6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46159" y="5280698"/>
            <a:ext cx="2632518" cy="15772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4835917"/>
            <a:ext cx="3419094" cy="202208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28294" y="1273302"/>
            <a:ext cx="6358255" cy="36291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02235"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9ECCD2"/>
                </a:solidFill>
                <a:latin typeface="Calibri"/>
                <a:cs typeface="Calibri"/>
              </a:rPr>
              <a:t>ОСТЕОАРТРИТ </a:t>
            </a:r>
            <a:r>
              <a:rPr sz="1800" b="1" dirty="0">
                <a:solidFill>
                  <a:srgbClr val="9ECCD2"/>
                </a:solidFill>
                <a:latin typeface="Calibri"/>
                <a:cs typeface="Calibri"/>
              </a:rPr>
              <a:t>КОЛ</a:t>
            </a:r>
            <a:r>
              <a:rPr lang="uk-UA" b="1" dirty="0">
                <a:solidFill>
                  <a:srgbClr val="9ECCD2"/>
                </a:solidFill>
                <a:latin typeface="Calibri"/>
                <a:cs typeface="Calibri"/>
              </a:rPr>
              <a:t>І</a:t>
            </a:r>
            <a:r>
              <a:rPr sz="1800" b="1" dirty="0">
                <a:solidFill>
                  <a:srgbClr val="9ECCD2"/>
                </a:solidFill>
                <a:latin typeface="Calibri"/>
                <a:cs typeface="Calibri"/>
              </a:rPr>
              <a:t>НА – ХРОНІЧНЕ </a:t>
            </a:r>
            <a:r>
              <a:rPr sz="1800" b="1" spc="-10" dirty="0">
                <a:solidFill>
                  <a:srgbClr val="9ECCD2"/>
                </a:solidFill>
                <a:latin typeface="Calibri"/>
                <a:cs typeface="Calibri"/>
              </a:rPr>
              <a:t>ДЕГЕНЕРАТИВНЕ </a:t>
            </a:r>
            <a:r>
              <a:rPr lang="uk-UA" b="1" spc="-25" dirty="0">
                <a:solidFill>
                  <a:srgbClr val="9ECCD2"/>
                </a:solidFill>
                <a:latin typeface="Calibri"/>
                <a:cs typeface="Calibri"/>
              </a:rPr>
              <a:t>І</a:t>
            </a:r>
            <a:endParaRPr sz="1800" dirty="0">
              <a:latin typeface="Calibri"/>
              <a:cs typeface="Calibri"/>
            </a:endParaRPr>
          </a:p>
          <a:p>
            <a:pPr marR="97790" algn="ctr">
              <a:lnSpc>
                <a:spcPct val="100000"/>
              </a:lnSpc>
            </a:pPr>
            <a:r>
              <a:rPr sz="1800" b="1" dirty="0">
                <a:solidFill>
                  <a:srgbClr val="9ECCD2"/>
                </a:solidFill>
                <a:latin typeface="Calibri"/>
                <a:cs typeface="Calibri"/>
              </a:rPr>
              <a:t>ПРОГРЕСУЮЧЕ ЗАХВОРЮВАННЯ</a:t>
            </a:r>
            <a:r>
              <a:rPr sz="1800" b="1" spc="-25" dirty="0">
                <a:solidFill>
                  <a:srgbClr val="9ECCD2"/>
                </a:solidFill>
                <a:latin typeface="Calibri"/>
                <a:cs typeface="Calibri"/>
              </a:rPr>
              <a:t>, ЯКЕ </a:t>
            </a:r>
            <a:r>
              <a:rPr sz="1800" b="1" dirty="0">
                <a:solidFill>
                  <a:srgbClr val="9ECCD2"/>
                </a:solidFill>
                <a:latin typeface="Calibri"/>
                <a:cs typeface="Calibri"/>
              </a:rPr>
              <a:t>ХАРАКТЕРИЗУЄТЬСЯ</a:t>
            </a:r>
            <a:r>
              <a:rPr sz="1800" b="1" spc="-25" dirty="0">
                <a:solidFill>
                  <a:srgbClr val="9ECCD2"/>
                </a:solidFill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70"/>
              </a:spcBef>
            </a:pPr>
            <a:endParaRPr sz="1800" dirty="0">
              <a:latin typeface="Calibri"/>
              <a:cs typeface="Calibri"/>
            </a:endParaRPr>
          </a:p>
          <a:p>
            <a:pPr marL="201930" indent="-172085">
              <a:lnSpc>
                <a:spcPct val="100000"/>
              </a:lnSpc>
              <a:buFont typeface="Arial"/>
              <a:buChar char="•"/>
              <a:tabLst>
                <a:tab pos="201930" algn="l"/>
              </a:tabLst>
            </a:pPr>
            <a:r>
              <a:rPr sz="1800" dirty="0">
                <a:solidFill>
                  <a:srgbClr val="312B80"/>
                </a:solidFill>
                <a:latin typeface="Calibri"/>
                <a:cs typeface="Calibri"/>
              </a:rPr>
              <a:t>Зовнішні </a:t>
            </a:r>
            <a:r>
              <a:rPr sz="1800" spc="-10" dirty="0">
                <a:solidFill>
                  <a:srgbClr val="312B80"/>
                </a:solidFill>
                <a:latin typeface="Calibri"/>
                <a:cs typeface="Calibri"/>
              </a:rPr>
              <a:t>фактори, </a:t>
            </a:r>
            <a:r>
              <a:rPr sz="1800" dirty="0">
                <a:solidFill>
                  <a:srgbClr val="312B80"/>
                </a:solidFill>
                <a:latin typeface="Calibri"/>
                <a:cs typeface="Calibri"/>
              </a:rPr>
              <a:t>що впливають на суглоб: </a:t>
            </a:r>
            <a:r>
              <a:rPr sz="1800" b="1" dirty="0">
                <a:solidFill>
                  <a:srgbClr val="312B80"/>
                </a:solidFill>
                <a:latin typeface="Calibri"/>
                <a:cs typeface="Calibri"/>
              </a:rPr>
              <a:t>повторювані механічні </a:t>
            </a:r>
            <a:r>
              <a:rPr sz="1800" b="1" spc="-10" dirty="0">
                <a:solidFill>
                  <a:srgbClr val="312B80"/>
                </a:solidFill>
                <a:latin typeface="Calibri"/>
                <a:cs typeface="Calibri"/>
              </a:rPr>
              <a:t>навантаження</a:t>
            </a:r>
            <a:endParaRPr sz="1800" dirty="0">
              <a:latin typeface="Calibri"/>
              <a:cs typeface="Calibri"/>
            </a:endParaRPr>
          </a:p>
          <a:p>
            <a:pPr marL="201930" indent="-172085">
              <a:lnSpc>
                <a:spcPct val="100000"/>
              </a:lnSpc>
              <a:spcBef>
                <a:spcPts val="2160"/>
              </a:spcBef>
              <a:buFont typeface="Arial"/>
              <a:buChar char="•"/>
              <a:tabLst>
                <a:tab pos="201930" algn="l"/>
              </a:tabLst>
            </a:pPr>
            <a:r>
              <a:rPr sz="1800" spc="-10" dirty="0">
                <a:solidFill>
                  <a:srgbClr val="312B80"/>
                </a:solidFill>
                <a:latin typeface="Calibri"/>
                <a:cs typeface="Calibri"/>
              </a:rPr>
              <a:t>Системні </a:t>
            </a:r>
            <a:r>
              <a:rPr sz="1800" dirty="0">
                <a:solidFill>
                  <a:srgbClr val="312B80"/>
                </a:solidFill>
                <a:latin typeface="Calibri"/>
                <a:cs typeface="Calibri"/>
              </a:rPr>
              <a:t>фактори: </a:t>
            </a:r>
            <a:r>
              <a:rPr sz="1800" b="1" dirty="0">
                <a:solidFill>
                  <a:srgbClr val="312B80"/>
                </a:solidFill>
                <a:latin typeface="Calibri"/>
                <a:cs typeface="Calibri"/>
              </a:rPr>
              <a:t>окислювальне та </a:t>
            </a:r>
            <a:r>
              <a:rPr sz="1800" b="1" spc="-10" dirty="0">
                <a:solidFill>
                  <a:srgbClr val="312B80"/>
                </a:solidFill>
                <a:latin typeface="Calibri"/>
                <a:cs typeface="Calibri"/>
              </a:rPr>
              <a:t>запальне ураження</a:t>
            </a:r>
            <a:r>
              <a:rPr sz="1800" spc="-10" dirty="0">
                <a:solidFill>
                  <a:srgbClr val="312B80"/>
                </a:solidFill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201295" indent="-171450">
              <a:lnSpc>
                <a:spcPct val="100000"/>
              </a:lnSpc>
              <a:spcBef>
                <a:spcPts val="2160"/>
              </a:spcBef>
              <a:buFont typeface="Arial"/>
              <a:buChar char="•"/>
              <a:tabLst>
                <a:tab pos="201295" algn="l"/>
              </a:tabLst>
            </a:pPr>
            <a:r>
              <a:rPr sz="1800" spc="-10" dirty="0">
                <a:solidFill>
                  <a:srgbClr val="312B80"/>
                </a:solidFill>
                <a:latin typeface="Calibri"/>
                <a:cs typeface="Calibri"/>
              </a:rPr>
              <a:t>Ви</a:t>
            </a:r>
            <a:r>
              <a:rPr sz="1800" dirty="0">
                <a:solidFill>
                  <a:srgbClr val="312B80"/>
                </a:solidFill>
                <a:latin typeface="Calibri"/>
                <a:cs typeface="Calibri"/>
              </a:rPr>
              <a:t>роб</a:t>
            </a:r>
            <a:r>
              <a:rPr sz="1800" spc="-10" dirty="0">
                <a:solidFill>
                  <a:srgbClr val="312B80"/>
                </a:solidFill>
                <a:latin typeface="Calibri"/>
                <a:cs typeface="Calibri"/>
              </a:rPr>
              <a:t>лення </a:t>
            </a:r>
            <a:r>
              <a:rPr sz="1800" b="1" dirty="0">
                <a:solidFill>
                  <a:srgbClr val="312B80"/>
                </a:solidFill>
                <a:latin typeface="Calibri"/>
                <a:cs typeface="Calibri"/>
              </a:rPr>
              <a:t>активних форм </a:t>
            </a:r>
            <a:r>
              <a:rPr sz="1800" b="1" spc="-10" dirty="0">
                <a:solidFill>
                  <a:srgbClr val="312B80"/>
                </a:solidFill>
                <a:latin typeface="Calibri"/>
                <a:cs typeface="Calibri"/>
              </a:rPr>
              <a:t>кисню </a:t>
            </a:r>
            <a:r>
              <a:rPr sz="1800" spc="-10" dirty="0">
                <a:solidFill>
                  <a:srgbClr val="312B80"/>
                </a:solidFill>
                <a:latin typeface="Calibri"/>
                <a:cs typeface="Calibri"/>
              </a:rPr>
              <a:t>(АФК)</a:t>
            </a:r>
            <a:endParaRPr sz="1800" dirty="0">
              <a:latin typeface="Calibri"/>
              <a:cs typeface="Calibri"/>
            </a:endParaRPr>
          </a:p>
          <a:p>
            <a:pPr marL="659130" marR="5080" lvl="1" indent="-17272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659130" algn="l"/>
              </a:tabLst>
            </a:pPr>
            <a:r>
              <a:rPr sz="1800" dirty="0">
                <a:solidFill>
                  <a:srgbClr val="312B80"/>
                </a:solidFill>
                <a:latin typeface="Calibri"/>
                <a:cs typeface="Calibri"/>
              </a:rPr>
              <a:t>Зниження молекулярної маси та </a:t>
            </a:r>
            <a:r>
              <a:rPr sz="1800" spc="-10" dirty="0">
                <a:solidFill>
                  <a:srgbClr val="312B80"/>
                </a:solidFill>
                <a:latin typeface="Calibri"/>
                <a:cs typeface="Calibri"/>
              </a:rPr>
              <a:t>вмісту ендогенної </a:t>
            </a:r>
            <a:r>
              <a:rPr sz="1800" spc="-25" dirty="0">
                <a:solidFill>
                  <a:srgbClr val="312B80"/>
                </a:solidFill>
                <a:latin typeface="Calibri"/>
                <a:cs typeface="Calibri"/>
              </a:rPr>
              <a:t>ГК </a:t>
            </a:r>
            <a:r>
              <a:rPr sz="1800" dirty="0">
                <a:solidFill>
                  <a:srgbClr val="312B80"/>
                </a:solidFill>
                <a:latin typeface="Calibri"/>
                <a:cs typeface="Calibri"/>
              </a:rPr>
              <a:t>(основного </a:t>
            </a:r>
            <a:r>
              <a:rPr sz="1800" spc="-10" dirty="0">
                <a:solidFill>
                  <a:srgbClr val="312B80"/>
                </a:solidFill>
                <a:latin typeface="Calibri"/>
                <a:cs typeface="Calibri"/>
              </a:rPr>
              <a:t>компонента </a:t>
            </a:r>
            <a:r>
              <a:rPr sz="1800" dirty="0">
                <a:solidFill>
                  <a:srgbClr val="312B80"/>
                </a:solidFill>
                <a:latin typeface="Calibri"/>
                <a:cs typeface="Calibri"/>
              </a:rPr>
              <a:t>синовіальної рідини, що виконує функцію </a:t>
            </a:r>
            <a:r>
              <a:rPr sz="1800" spc="-10" dirty="0">
                <a:solidFill>
                  <a:srgbClr val="312B80"/>
                </a:solidFill>
                <a:latin typeface="Calibri"/>
                <a:cs typeface="Calibri"/>
              </a:rPr>
              <a:t>змащення)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6923" y="5500219"/>
            <a:ext cx="127402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312B80"/>
                </a:solidFill>
                <a:latin typeface="Calibri"/>
                <a:cs typeface="Calibri"/>
              </a:rPr>
              <a:t>ВТРА</a:t>
            </a:r>
            <a:r>
              <a:rPr sz="1400" b="1" spc="-25" dirty="0">
                <a:solidFill>
                  <a:srgbClr val="312B80"/>
                </a:solidFill>
                <a:latin typeface="Calibri"/>
                <a:cs typeface="Calibri"/>
              </a:rPr>
              <a:t>ТА</a:t>
            </a:r>
            <a:endParaRPr sz="14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b="1" spc="-10" dirty="0">
                <a:solidFill>
                  <a:srgbClr val="312B80"/>
                </a:solidFill>
                <a:latin typeface="Calibri"/>
                <a:cs typeface="Calibri"/>
              </a:rPr>
              <a:t>ЗМАЩУВАННЯ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60201" y="5500219"/>
            <a:ext cx="174790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312B80"/>
                </a:solidFill>
                <a:latin typeface="Calibri"/>
                <a:cs typeface="Calibri"/>
              </a:rPr>
              <a:t>ПОРУШЕННЯ </a:t>
            </a:r>
            <a:endParaRPr sz="1200" dirty="0">
              <a:latin typeface="Calibri"/>
              <a:cs typeface="Calibri"/>
            </a:endParaRPr>
          </a:p>
          <a:p>
            <a:pPr marL="24765" algn="ctr">
              <a:lnSpc>
                <a:spcPct val="100000"/>
              </a:lnSpc>
            </a:pPr>
            <a:r>
              <a:rPr sz="1200" b="1" dirty="0">
                <a:solidFill>
                  <a:srgbClr val="312B80"/>
                </a:solidFill>
                <a:latin typeface="Calibri"/>
                <a:cs typeface="Calibri"/>
              </a:rPr>
              <a:t>ТКАНИН</a:t>
            </a:r>
            <a:r>
              <a:rPr lang="uk-UA" sz="1200" b="1" dirty="0">
                <a:solidFill>
                  <a:srgbClr val="312B80"/>
                </a:solidFill>
                <a:latin typeface="Calibri"/>
                <a:cs typeface="Calibri"/>
              </a:rPr>
              <a:t>ИННОГО</a:t>
            </a:r>
            <a:r>
              <a:rPr sz="1200" b="1" dirty="0">
                <a:solidFill>
                  <a:srgbClr val="312B8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312B80"/>
                </a:solidFill>
                <a:latin typeface="Calibri"/>
                <a:cs typeface="Calibri"/>
              </a:rPr>
              <a:t>ГОМЕОСТАЗ</a:t>
            </a:r>
            <a:r>
              <a:rPr lang="uk-UA" sz="1200" b="1" spc="-10" dirty="0">
                <a:solidFill>
                  <a:srgbClr val="312B80"/>
                </a:solidFill>
                <a:latin typeface="Calibri"/>
                <a:cs typeface="Calibri"/>
              </a:rPr>
              <a:t>У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32330" y="5032755"/>
            <a:ext cx="283210" cy="398145"/>
          </a:xfrm>
          <a:custGeom>
            <a:avLst/>
            <a:gdLst/>
            <a:ahLst/>
            <a:cxnLst/>
            <a:rect l="l" t="t" r="r" b="b"/>
            <a:pathLst>
              <a:path w="283210" h="398145">
                <a:moveTo>
                  <a:pt x="212344" y="0"/>
                </a:moveTo>
                <a:lnTo>
                  <a:pt x="70738" y="0"/>
                </a:lnTo>
                <a:lnTo>
                  <a:pt x="70738" y="256032"/>
                </a:lnTo>
                <a:lnTo>
                  <a:pt x="0" y="256032"/>
                </a:lnTo>
                <a:lnTo>
                  <a:pt x="141605" y="397637"/>
                </a:lnTo>
                <a:lnTo>
                  <a:pt x="283082" y="256032"/>
                </a:lnTo>
                <a:lnTo>
                  <a:pt x="212344" y="256032"/>
                </a:lnTo>
                <a:lnTo>
                  <a:pt x="212344" y="0"/>
                </a:lnTo>
                <a:close/>
              </a:path>
            </a:pathLst>
          </a:custGeom>
          <a:solidFill>
            <a:srgbClr val="3E3E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92547" y="5027676"/>
            <a:ext cx="283210" cy="398145"/>
          </a:xfrm>
          <a:custGeom>
            <a:avLst/>
            <a:gdLst/>
            <a:ahLst/>
            <a:cxnLst/>
            <a:rect l="l" t="t" r="r" b="b"/>
            <a:pathLst>
              <a:path w="283210" h="398145">
                <a:moveTo>
                  <a:pt x="212343" y="0"/>
                </a:moveTo>
                <a:lnTo>
                  <a:pt x="70738" y="0"/>
                </a:lnTo>
                <a:lnTo>
                  <a:pt x="70738" y="256032"/>
                </a:lnTo>
                <a:lnTo>
                  <a:pt x="0" y="256032"/>
                </a:lnTo>
                <a:lnTo>
                  <a:pt x="141604" y="397637"/>
                </a:lnTo>
                <a:lnTo>
                  <a:pt x="283082" y="256032"/>
                </a:lnTo>
                <a:lnTo>
                  <a:pt x="212343" y="256032"/>
                </a:lnTo>
                <a:lnTo>
                  <a:pt x="212343" y="0"/>
                </a:lnTo>
                <a:close/>
              </a:path>
            </a:pathLst>
          </a:custGeom>
          <a:solidFill>
            <a:srgbClr val="3E3E8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34250" y="-4"/>
            <a:ext cx="4857750" cy="69342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566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312783"/>
                </a:solidFill>
              </a:rPr>
              <a:t>Остеоартрит колінного суглоба – </a:t>
            </a:r>
            <a:r>
              <a:rPr sz="3200" spc="-10" dirty="0">
                <a:solidFill>
                  <a:srgbClr val="312783"/>
                </a:solidFill>
              </a:rPr>
              <a:t>фактори </a:t>
            </a:r>
            <a:r>
              <a:rPr sz="3200" dirty="0">
                <a:solidFill>
                  <a:srgbClr val="312783"/>
                </a:solidFill>
              </a:rPr>
              <a:t>ризику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0" y="774954"/>
            <a:ext cx="923925" cy="63500"/>
          </a:xfrm>
          <a:custGeom>
            <a:avLst/>
            <a:gdLst/>
            <a:ahLst/>
            <a:cxnLst/>
            <a:rect l="l" t="t" r="r" b="b"/>
            <a:pathLst>
              <a:path w="923925" h="63500">
                <a:moveTo>
                  <a:pt x="923315" y="0"/>
                </a:moveTo>
                <a:lnTo>
                  <a:pt x="0" y="0"/>
                </a:lnTo>
                <a:lnTo>
                  <a:pt x="0" y="63500"/>
                </a:lnTo>
                <a:lnTo>
                  <a:pt x="923315" y="63500"/>
                </a:lnTo>
                <a:lnTo>
                  <a:pt x="923315" y="0"/>
                </a:lnTo>
                <a:close/>
              </a:path>
            </a:pathLst>
          </a:custGeom>
          <a:solidFill>
            <a:srgbClr val="636A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442338"/>
            <a:ext cx="12192000" cy="4653915"/>
          </a:xfrm>
          <a:custGeom>
            <a:avLst/>
            <a:gdLst/>
            <a:ahLst/>
            <a:cxnLst/>
            <a:rect l="l" t="t" r="r" b="b"/>
            <a:pathLst>
              <a:path w="12192000" h="4653915">
                <a:moveTo>
                  <a:pt x="12192000" y="0"/>
                </a:moveTo>
                <a:lnTo>
                  <a:pt x="0" y="0"/>
                </a:lnTo>
                <a:lnTo>
                  <a:pt x="0" y="4653661"/>
                </a:lnTo>
                <a:lnTo>
                  <a:pt x="12192000" y="4653661"/>
                </a:lnTo>
                <a:lnTo>
                  <a:pt x="12192000" y="0"/>
                </a:lnTo>
                <a:close/>
              </a:path>
            </a:pathLst>
          </a:custGeom>
          <a:solidFill>
            <a:srgbClr val="9ECC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7018" y="5315813"/>
            <a:ext cx="10218420" cy="608965"/>
          </a:xfrm>
          <a:prstGeom prst="rect">
            <a:avLst/>
          </a:prstGeom>
          <a:solidFill>
            <a:srgbClr val="2E2E81"/>
          </a:solidFill>
        </p:spPr>
        <p:txBody>
          <a:bodyPr vert="horz" wrap="square" lIns="0" tIns="1365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7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СХИЛЬНІСТЬ ДО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ОСТЕОАРТРИТУ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АБО ДО ЙОГО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ПРОГРЕСУВАННЯ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25855" y="1747139"/>
            <a:ext cx="8946515" cy="3353435"/>
            <a:chOff x="1025855" y="1747139"/>
            <a:chExt cx="8946515" cy="3353435"/>
          </a:xfrm>
        </p:grpSpPr>
        <p:sp>
          <p:nvSpPr>
            <p:cNvPr id="7" name="object 7"/>
            <p:cNvSpPr/>
            <p:nvPr/>
          </p:nvSpPr>
          <p:spPr>
            <a:xfrm>
              <a:off x="2390775" y="4679569"/>
              <a:ext cx="7581265" cy="421005"/>
            </a:xfrm>
            <a:custGeom>
              <a:avLst/>
              <a:gdLst/>
              <a:ahLst/>
              <a:cxnLst/>
              <a:rect l="l" t="t" r="r" b="b"/>
              <a:pathLst>
                <a:path w="7581265" h="421004">
                  <a:moveTo>
                    <a:pt x="351155" y="245237"/>
                  </a:moveTo>
                  <a:lnTo>
                    <a:pt x="263398" y="245237"/>
                  </a:lnTo>
                  <a:lnTo>
                    <a:pt x="263398" y="0"/>
                  </a:lnTo>
                  <a:lnTo>
                    <a:pt x="87884" y="0"/>
                  </a:lnTo>
                  <a:lnTo>
                    <a:pt x="87884" y="245237"/>
                  </a:lnTo>
                  <a:lnTo>
                    <a:pt x="0" y="245237"/>
                  </a:lnTo>
                  <a:lnTo>
                    <a:pt x="175641" y="420751"/>
                  </a:lnTo>
                  <a:lnTo>
                    <a:pt x="351155" y="245237"/>
                  </a:lnTo>
                  <a:close/>
                </a:path>
                <a:path w="7581265" h="421004">
                  <a:moveTo>
                    <a:pt x="3966083" y="245237"/>
                  </a:moveTo>
                  <a:lnTo>
                    <a:pt x="3878326" y="245237"/>
                  </a:lnTo>
                  <a:lnTo>
                    <a:pt x="3878326" y="0"/>
                  </a:lnTo>
                  <a:lnTo>
                    <a:pt x="3702812" y="0"/>
                  </a:lnTo>
                  <a:lnTo>
                    <a:pt x="3702812" y="245237"/>
                  </a:lnTo>
                  <a:lnTo>
                    <a:pt x="3615055" y="245237"/>
                  </a:lnTo>
                  <a:lnTo>
                    <a:pt x="3790569" y="420751"/>
                  </a:lnTo>
                  <a:lnTo>
                    <a:pt x="3966083" y="245237"/>
                  </a:lnTo>
                  <a:close/>
                </a:path>
                <a:path w="7581265" h="421004">
                  <a:moveTo>
                    <a:pt x="7581138" y="245237"/>
                  </a:moveTo>
                  <a:lnTo>
                    <a:pt x="7493381" y="245237"/>
                  </a:lnTo>
                  <a:lnTo>
                    <a:pt x="7493381" y="0"/>
                  </a:lnTo>
                  <a:lnTo>
                    <a:pt x="7317867" y="0"/>
                  </a:lnTo>
                  <a:lnTo>
                    <a:pt x="7317867" y="245237"/>
                  </a:lnTo>
                  <a:lnTo>
                    <a:pt x="7229983" y="245237"/>
                  </a:lnTo>
                  <a:lnTo>
                    <a:pt x="7405624" y="420751"/>
                  </a:lnTo>
                  <a:lnTo>
                    <a:pt x="7581138" y="245237"/>
                  </a:lnTo>
                  <a:close/>
                </a:path>
              </a:pathLst>
            </a:custGeom>
            <a:solidFill>
              <a:srgbClr val="2E2E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5855" y="1747139"/>
              <a:ext cx="2988310" cy="2844165"/>
            </a:xfrm>
            <a:custGeom>
              <a:avLst/>
              <a:gdLst/>
              <a:ahLst/>
              <a:cxnLst/>
              <a:rect l="l" t="t" r="r" b="b"/>
              <a:pathLst>
                <a:path w="2988310" h="2844165">
                  <a:moveTo>
                    <a:pt x="2988055" y="0"/>
                  </a:moveTo>
                  <a:lnTo>
                    <a:pt x="0" y="0"/>
                  </a:lnTo>
                  <a:lnTo>
                    <a:pt x="0" y="2844038"/>
                  </a:lnTo>
                  <a:lnTo>
                    <a:pt x="2988055" y="2844038"/>
                  </a:lnTo>
                  <a:lnTo>
                    <a:pt x="29880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25855" y="1747139"/>
            <a:ext cx="2988310" cy="2447465"/>
          </a:xfrm>
          <a:prstGeom prst="rect">
            <a:avLst/>
          </a:prstGeom>
          <a:ln w="12700">
            <a:solidFill>
              <a:srgbClr val="BEBEBE"/>
            </a:solidFill>
          </a:ln>
        </p:spPr>
        <p:txBody>
          <a:bodyPr vert="horz" wrap="square" lIns="0" tIns="107315" rIns="0" bIns="0" rtlCol="0">
            <a:spAutoFit/>
          </a:bodyPr>
          <a:lstStyle/>
          <a:p>
            <a:pPr marL="580390">
              <a:lnSpc>
                <a:spcPct val="100000"/>
              </a:lnSpc>
              <a:spcBef>
                <a:spcPts val="845"/>
              </a:spcBef>
            </a:pPr>
            <a:r>
              <a:rPr sz="1800" b="1" spc="-10" dirty="0">
                <a:solidFill>
                  <a:srgbClr val="2E2E81"/>
                </a:solidFill>
                <a:latin typeface="Calibri"/>
                <a:cs typeface="Calibri"/>
              </a:rPr>
              <a:t>СИСТЕМНІ ЧИННИКИ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800" dirty="0">
              <a:latin typeface="Calibri"/>
              <a:cs typeface="Calibri"/>
            </a:endParaRPr>
          </a:p>
          <a:p>
            <a:pPr marL="377825" indent="-286385">
              <a:lnSpc>
                <a:spcPct val="100000"/>
              </a:lnSpc>
              <a:buFont typeface="Arial"/>
              <a:buChar char="•"/>
              <a:tabLst>
                <a:tab pos="377825" algn="l"/>
              </a:tabLst>
            </a:pPr>
            <a:r>
              <a:rPr sz="1200" b="1" spc="-25" dirty="0">
                <a:solidFill>
                  <a:srgbClr val="2E2E81"/>
                </a:solidFill>
                <a:latin typeface="Calibri"/>
                <a:cs typeface="Calibri"/>
              </a:rPr>
              <a:t>Вік</a:t>
            </a:r>
            <a:endParaRPr sz="1200" dirty="0">
              <a:latin typeface="Calibri"/>
              <a:cs typeface="Calibri"/>
            </a:endParaRPr>
          </a:p>
          <a:p>
            <a:pPr marL="377825" indent="-28638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377825" algn="l"/>
              </a:tabLst>
            </a:pPr>
            <a:r>
              <a:rPr sz="1200" b="1" spc="-10" dirty="0">
                <a:solidFill>
                  <a:srgbClr val="2E2E81"/>
                </a:solidFill>
                <a:latin typeface="Calibri"/>
                <a:cs typeface="Calibri"/>
              </a:rPr>
              <a:t>Стать</a:t>
            </a:r>
            <a:endParaRPr sz="1200" dirty="0">
              <a:latin typeface="Calibri"/>
              <a:cs typeface="Calibri"/>
            </a:endParaRPr>
          </a:p>
          <a:p>
            <a:pPr marL="377825" indent="-28638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377825" algn="l"/>
              </a:tabLst>
            </a:pPr>
            <a:r>
              <a:rPr lang="uk-UA" sz="1200" spc="-10" dirty="0">
                <a:solidFill>
                  <a:srgbClr val="2E2E81"/>
                </a:solidFill>
                <a:latin typeface="Calibri"/>
                <a:cs typeface="Calibri"/>
              </a:rPr>
              <a:t>Етнічне походження</a:t>
            </a:r>
            <a:endParaRPr sz="1200" dirty="0">
              <a:latin typeface="Calibri"/>
              <a:cs typeface="Calibri"/>
            </a:endParaRPr>
          </a:p>
          <a:p>
            <a:pPr marL="377825" indent="-28638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377825" algn="l"/>
              </a:tabLst>
            </a:pPr>
            <a:r>
              <a:rPr sz="1200" dirty="0">
                <a:solidFill>
                  <a:srgbClr val="2E2E81"/>
                </a:solidFill>
                <a:latin typeface="Calibri"/>
                <a:cs typeface="Calibri"/>
              </a:rPr>
              <a:t>Генетичні </a:t>
            </a:r>
            <a:r>
              <a:rPr sz="1200" spc="-10" dirty="0">
                <a:solidFill>
                  <a:srgbClr val="2E2E81"/>
                </a:solidFill>
                <a:latin typeface="Calibri"/>
                <a:cs typeface="Calibri"/>
              </a:rPr>
              <a:t>фактори</a:t>
            </a:r>
            <a:endParaRPr sz="1200" dirty="0">
              <a:latin typeface="Calibri"/>
              <a:cs typeface="Calibri"/>
            </a:endParaRPr>
          </a:p>
          <a:p>
            <a:pPr marL="377825" indent="-28638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377825" algn="l"/>
              </a:tabLst>
            </a:pPr>
            <a:r>
              <a:rPr sz="1200" spc="-10" dirty="0">
                <a:solidFill>
                  <a:srgbClr val="2E2E81"/>
                </a:solidFill>
                <a:latin typeface="Calibri"/>
                <a:cs typeface="Calibri"/>
              </a:rPr>
              <a:t>Щільність </a:t>
            </a:r>
            <a:r>
              <a:rPr sz="1200" dirty="0">
                <a:solidFill>
                  <a:srgbClr val="2E2E81"/>
                </a:solidFill>
                <a:latin typeface="Calibri"/>
                <a:cs typeface="Calibri"/>
              </a:rPr>
              <a:t>кісток</a:t>
            </a:r>
            <a:endParaRPr sz="1200" dirty="0">
              <a:latin typeface="Calibri"/>
              <a:cs typeface="Calibri"/>
            </a:endParaRPr>
          </a:p>
          <a:p>
            <a:pPr marL="377825" indent="-28638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377825" algn="l"/>
              </a:tabLst>
            </a:pPr>
            <a:r>
              <a:rPr sz="1200" dirty="0">
                <a:solidFill>
                  <a:srgbClr val="2E2E81"/>
                </a:solidFill>
                <a:latin typeface="Calibri"/>
                <a:cs typeface="Calibri"/>
              </a:rPr>
              <a:t>Гормональний </a:t>
            </a:r>
            <a:r>
              <a:rPr sz="1200" spc="-10" dirty="0">
                <a:solidFill>
                  <a:srgbClr val="2E2E81"/>
                </a:solidFill>
                <a:latin typeface="Calibri"/>
                <a:cs typeface="Calibri"/>
              </a:rPr>
              <a:t>статус</a:t>
            </a:r>
            <a:endParaRPr sz="1200" dirty="0">
              <a:latin typeface="Calibri"/>
              <a:cs typeface="Calibri"/>
            </a:endParaRPr>
          </a:p>
          <a:p>
            <a:pPr marL="377825" indent="-28638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377825" algn="l"/>
              </a:tabLst>
            </a:pPr>
            <a:r>
              <a:rPr sz="1200" dirty="0">
                <a:solidFill>
                  <a:srgbClr val="2E2E81"/>
                </a:solidFill>
                <a:latin typeface="Calibri"/>
                <a:cs typeface="Calibri"/>
              </a:rPr>
              <a:t>Харчові </a:t>
            </a:r>
            <a:r>
              <a:rPr sz="1200" spc="-10" dirty="0">
                <a:solidFill>
                  <a:srgbClr val="2E2E81"/>
                </a:solidFill>
                <a:latin typeface="Calibri"/>
                <a:cs typeface="Calibri"/>
              </a:rPr>
              <a:t>фактори</a:t>
            </a:r>
            <a:endParaRPr sz="1200" dirty="0">
              <a:latin typeface="Calibri"/>
              <a:cs typeface="Calibri"/>
            </a:endParaRPr>
          </a:p>
          <a:p>
            <a:pPr marL="377825" indent="-28638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377825" algn="l"/>
              </a:tabLst>
            </a:pPr>
            <a:r>
              <a:rPr sz="1200" b="1" spc="-10" dirty="0">
                <a:solidFill>
                  <a:srgbClr val="2E2E81"/>
                </a:solidFill>
                <a:latin typeface="Calibri"/>
                <a:cs typeface="Calibri"/>
              </a:rPr>
              <a:t>Запалення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40834" y="1747139"/>
            <a:ext cx="2988310" cy="1937069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txBody>
          <a:bodyPr vert="horz" wrap="square" lIns="0" tIns="122555" rIns="0" bIns="0" rtlCol="0">
            <a:spAutoFit/>
          </a:bodyPr>
          <a:lstStyle/>
          <a:p>
            <a:pPr marL="440690">
              <a:lnSpc>
                <a:spcPct val="100000"/>
              </a:lnSpc>
              <a:spcBef>
                <a:spcPts val="965"/>
              </a:spcBef>
            </a:pPr>
            <a:r>
              <a:rPr lang="uk-UA" sz="1800" b="1" dirty="0">
                <a:solidFill>
                  <a:srgbClr val="2E2E81"/>
                </a:solidFill>
                <a:latin typeface="Calibri"/>
                <a:cs typeface="Calibri"/>
              </a:rPr>
              <a:t>ЛОКАЛЬНІ ПРИЧИНИ УРАЖЕННЯ СУГЛОБІВ</a:t>
            </a:r>
            <a:endParaRPr lang="uk-UA" b="1" dirty="0">
              <a:solidFill>
                <a:srgbClr val="2E2E81"/>
              </a:solidFill>
              <a:latin typeface="Calibri"/>
              <a:cs typeface="Calibri"/>
            </a:endParaRPr>
          </a:p>
          <a:p>
            <a:pPr marL="440690">
              <a:lnSpc>
                <a:spcPct val="100000"/>
              </a:lnSpc>
              <a:spcBef>
                <a:spcPts val="965"/>
              </a:spcBef>
            </a:pPr>
            <a:endParaRPr sz="1800" dirty="0">
              <a:latin typeface="Calibri"/>
              <a:cs typeface="Calibri"/>
            </a:endParaRPr>
          </a:p>
          <a:p>
            <a:pPr marL="379730" indent="-285115">
              <a:lnSpc>
                <a:spcPct val="100000"/>
              </a:lnSpc>
              <a:buFont typeface="Arial"/>
              <a:buChar char="•"/>
              <a:tabLst>
                <a:tab pos="379730" algn="l"/>
              </a:tabLst>
            </a:pPr>
            <a:r>
              <a:rPr sz="1200" spc="-10" dirty="0" err="1">
                <a:solidFill>
                  <a:srgbClr val="2E2E81"/>
                </a:solidFill>
                <a:latin typeface="Calibri"/>
                <a:cs typeface="Calibri"/>
              </a:rPr>
              <a:t>Деформація</a:t>
            </a:r>
            <a:r>
              <a:rPr lang="uk-UA" sz="1200" dirty="0">
                <a:solidFill>
                  <a:srgbClr val="2E2E81"/>
                </a:solidFill>
                <a:latin typeface="Calibri"/>
                <a:cs typeface="Calibri"/>
              </a:rPr>
              <a:t> суглоба</a:t>
            </a:r>
            <a:endParaRPr sz="1200" dirty="0">
              <a:latin typeface="Calibri"/>
              <a:cs typeface="Calibri"/>
            </a:endParaRPr>
          </a:p>
          <a:p>
            <a:pPr marL="379730" indent="-28511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379730" algn="l"/>
              </a:tabLst>
            </a:pPr>
            <a:r>
              <a:rPr sz="1200" spc="-10" dirty="0">
                <a:solidFill>
                  <a:srgbClr val="2E2E81"/>
                </a:solidFill>
                <a:latin typeface="Calibri"/>
                <a:cs typeface="Calibri"/>
              </a:rPr>
              <a:t>Розтягнення зв'язок</a:t>
            </a:r>
            <a:endParaRPr sz="1200" dirty="0">
              <a:latin typeface="Calibri"/>
              <a:cs typeface="Calibri"/>
            </a:endParaRPr>
          </a:p>
          <a:p>
            <a:pPr marL="379730" indent="-28511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379730" algn="l"/>
              </a:tabLst>
            </a:pPr>
            <a:r>
              <a:rPr sz="1200" dirty="0">
                <a:solidFill>
                  <a:srgbClr val="2E2E81"/>
                </a:solidFill>
                <a:latin typeface="Calibri"/>
                <a:cs typeface="Calibri"/>
              </a:rPr>
              <a:t>М'язова </a:t>
            </a:r>
            <a:r>
              <a:rPr sz="1200" spc="-10" dirty="0">
                <a:solidFill>
                  <a:srgbClr val="2E2E81"/>
                </a:solidFill>
                <a:latin typeface="Calibri"/>
                <a:cs typeface="Calibri"/>
              </a:rPr>
              <a:t>слабкість</a:t>
            </a:r>
            <a:endParaRPr sz="1200" dirty="0">
              <a:latin typeface="Calibri"/>
              <a:cs typeface="Calibri"/>
            </a:endParaRPr>
          </a:p>
          <a:p>
            <a:pPr marL="379730" indent="-28511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379730" algn="l"/>
              </a:tabLst>
            </a:pPr>
            <a:r>
              <a:rPr sz="1200" spc="-10" dirty="0" err="1">
                <a:solidFill>
                  <a:srgbClr val="2E2E81"/>
                </a:solidFill>
                <a:latin typeface="Calibri"/>
                <a:cs typeface="Calibri"/>
              </a:rPr>
              <a:t>Попередні</a:t>
            </a:r>
            <a:r>
              <a:rPr sz="1200" spc="-10" dirty="0">
                <a:solidFill>
                  <a:srgbClr val="2E2E81"/>
                </a:solidFill>
                <a:latin typeface="Calibri"/>
                <a:cs typeface="Calibri"/>
              </a:rPr>
              <a:t> </a:t>
            </a:r>
            <a:r>
              <a:rPr sz="1200" spc="-10" dirty="0" err="1">
                <a:solidFill>
                  <a:srgbClr val="2E2E81"/>
                </a:solidFill>
                <a:latin typeface="Calibri"/>
                <a:cs typeface="Calibri"/>
              </a:rPr>
              <a:t>ушкодження</a:t>
            </a:r>
            <a:r>
              <a:rPr lang="uk-UA" sz="1200" spc="-10" dirty="0">
                <a:solidFill>
                  <a:srgbClr val="2E2E81"/>
                </a:solidFill>
                <a:latin typeface="Calibri"/>
                <a:cs typeface="Calibri"/>
              </a:rPr>
              <a:t> суглоба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255761" y="1747139"/>
            <a:ext cx="2988310" cy="2844165"/>
          </a:xfrm>
          <a:custGeom>
            <a:avLst/>
            <a:gdLst/>
            <a:ahLst/>
            <a:cxnLst/>
            <a:rect l="l" t="t" r="r" b="b"/>
            <a:pathLst>
              <a:path w="2988309" h="2844165">
                <a:moveTo>
                  <a:pt x="2988055" y="0"/>
                </a:moveTo>
                <a:lnTo>
                  <a:pt x="0" y="0"/>
                </a:lnTo>
                <a:lnTo>
                  <a:pt x="0" y="2844038"/>
                </a:lnTo>
                <a:lnTo>
                  <a:pt x="2988055" y="2844038"/>
                </a:lnTo>
                <a:lnTo>
                  <a:pt x="29880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255761" y="1747139"/>
            <a:ext cx="2988310" cy="2385910"/>
          </a:xfrm>
          <a:prstGeom prst="rect">
            <a:avLst/>
          </a:prstGeom>
          <a:ln w="12700">
            <a:solidFill>
              <a:srgbClr val="BEBEBE"/>
            </a:solidFill>
          </a:ln>
        </p:spPr>
        <p:txBody>
          <a:bodyPr vert="horz" wrap="square" lIns="0" tIns="122555" rIns="0" bIns="0" rtlCol="0">
            <a:spAutoFit/>
          </a:bodyPr>
          <a:lstStyle/>
          <a:p>
            <a:pPr marL="595630" marR="547370" indent="-38100">
              <a:lnSpc>
                <a:spcPct val="100000"/>
              </a:lnSpc>
              <a:spcBef>
                <a:spcPts val="965"/>
              </a:spcBef>
            </a:pPr>
            <a:r>
              <a:rPr lang="uk-UA" sz="1600" b="1" dirty="0">
                <a:solidFill>
                  <a:srgbClr val="2E2E81"/>
                </a:solidFill>
                <a:latin typeface="Calibri"/>
                <a:cs typeface="Calibri"/>
              </a:rPr>
              <a:t>ЗОВНІШНІ ЧИННИКИ, ЩО ВПЛИВАЮТЬ НА СУГЛОБ</a:t>
            </a:r>
            <a:endParaRPr sz="1600" dirty="0">
              <a:latin typeface="Calibri"/>
              <a:cs typeface="Calibri"/>
            </a:endParaRPr>
          </a:p>
          <a:p>
            <a:pPr marL="379095" indent="-287020">
              <a:lnSpc>
                <a:spcPct val="100000"/>
              </a:lnSpc>
              <a:spcBef>
                <a:spcPts val="944"/>
              </a:spcBef>
              <a:buFont typeface="Arial"/>
              <a:buChar char="•"/>
              <a:tabLst>
                <a:tab pos="379095" algn="l"/>
              </a:tabLst>
            </a:pPr>
            <a:r>
              <a:rPr sz="1200" b="1" spc="-10" dirty="0">
                <a:solidFill>
                  <a:srgbClr val="2E2E81"/>
                </a:solidFill>
                <a:latin typeface="Calibri"/>
                <a:cs typeface="Calibri"/>
              </a:rPr>
              <a:t>Ожиріння</a:t>
            </a:r>
            <a:endParaRPr sz="1200" dirty="0">
              <a:latin typeface="Calibri"/>
              <a:cs typeface="Calibri"/>
            </a:endParaRPr>
          </a:p>
          <a:p>
            <a:pPr marL="379095" indent="-28702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379095" algn="l"/>
              </a:tabLst>
            </a:pPr>
            <a:r>
              <a:rPr sz="1200" dirty="0">
                <a:solidFill>
                  <a:srgbClr val="2E2E81"/>
                </a:solidFill>
                <a:latin typeface="Calibri"/>
                <a:cs typeface="Calibri"/>
              </a:rPr>
              <a:t>Специфічні травматичні </a:t>
            </a:r>
            <a:r>
              <a:rPr sz="1200" spc="-10" dirty="0">
                <a:solidFill>
                  <a:srgbClr val="2E2E81"/>
                </a:solidFill>
                <a:latin typeface="Calibri"/>
                <a:cs typeface="Calibri"/>
              </a:rPr>
              <a:t>дії</a:t>
            </a:r>
            <a:endParaRPr sz="1200" dirty="0">
              <a:latin typeface="Calibri"/>
              <a:cs typeface="Calibri"/>
            </a:endParaRPr>
          </a:p>
          <a:p>
            <a:pPr marL="417195">
              <a:lnSpc>
                <a:spcPct val="100000"/>
              </a:lnSpc>
              <a:spcBef>
                <a:spcPts val="300"/>
              </a:spcBef>
              <a:tabLst>
                <a:tab pos="630555" algn="l"/>
              </a:tabLst>
            </a:pPr>
            <a:r>
              <a:rPr sz="1200" spc="-50" dirty="0">
                <a:solidFill>
                  <a:srgbClr val="2E2E81"/>
                </a:solidFill>
                <a:latin typeface="Calibri"/>
                <a:cs typeface="Calibri"/>
              </a:rPr>
              <a:t>‒ </a:t>
            </a:r>
            <a:r>
              <a:rPr sz="1200" dirty="0">
                <a:solidFill>
                  <a:srgbClr val="2E2E81"/>
                </a:solidFill>
                <a:latin typeface="Calibri"/>
                <a:cs typeface="Calibri"/>
              </a:rPr>
              <a:t>   Спорт та фізичні навантаження </a:t>
            </a:r>
            <a:r>
              <a:rPr sz="1200" spc="-10" dirty="0">
                <a:solidFill>
                  <a:srgbClr val="2E2E81"/>
                </a:solidFill>
                <a:latin typeface="Calibri"/>
                <a:cs typeface="Calibri"/>
              </a:rPr>
              <a:t>(</a:t>
            </a:r>
            <a:r>
              <a:rPr sz="1200" spc="-10" dirty="0" err="1">
                <a:solidFill>
                  <a:srgbClr val="2E2E81"/>
                </a:solidFill>
                <a:latin typeface="Calibri"/>
                <a:cs typeface="Calibri"/>
              </a:rPr>
              <a:t>надмірн</a:t>
            </a:r>
            <a:r>
              <a:rPr lang="uk-UA" sz="1200" spc="-10" dirty="0">
                <a:solidFill>
                  <a:srgbClr val="2E2E81"/>
                </a:solidFill>
                <a:latin typeface="Calibri"/>
                <a:cs typeface="Calibri"/>
              </a:rPr>
              <a:t>і</a:t>
            </a:r>
            <a:r>
              <a:rPr sz="1200" spc="-10" dirty="0">
                <a:solidFill>
                  <a:srgbClr val="2E2E81"/>
                </a:solidFill>
                <a:latin typeface="Calibri"/>
                <a:cs typeface="Calibri"/>
              </a:rPr>
              <a:t>)</a:t>
            </a:r>
            <a:endParaRPr sz="1200" dirty="0">
              <a:latin typeface="Calibri"/>
              <a:cs typeface="Calibri"/>
            </a:endParaRPr>
          </a:p>
          <a:p>
            <a:pPr marL="630555" marR="1076960" indent="-213360">
              <a:lnSpc>
                <a:spcPct val="100000"/>
              </a:lnSpc>
              <a:spcBef>
                <a:spcPts val="305"/>
              </a:spcBef>
              <a:tabLst>
                <a:tab pos="630555" algn="l"/>
              </a:tabLst>
            </a:pPr>
            <a:r>
              <a:rPr sz="1200" spc="-50" dirty="0">
                <a:solidFill>
                  <a:srgbClr val="2E2E81"/>
                </a:solidFill>
                <a:latin typeface="Calibri"/>
                <a:cs typeface="Calibri"/>
              </a:rPr>
              <a:t>‒ </a:t>
            </a:r>
            <a:r>
              <a:rPr sz="1200" spc="-10" dirty="0">
                <a:solidFill>
                  <a:srgbClr val="2E2E81"/>
                </a:solidFill>
                <a:latin typeface="Calibri"/>
                <a:cs typeface="Calibri"/>
              </a:rPr>
              <a:t>   Професійні фактори </a:t>
            </a:r>
            <a:r>
              <a:rPr sz="1200" dirty="0">
                <a:solidFill>
                  <a:srgbClr val="2E2E81"/>
                </a:solidFill>
                <a:latin typeface="Calibri"/>
                <a:cs typeface="Calibri"/>
              </a:rPr>
              <a:t>(</a:t>
            </a:r>
            <a:r>
              <a:rPr sz="1200" i="1" dirty="0">
                <a:solidFill>
                  <a:srgbClr val="2E2E81"/>
                </a:solidFill>
                <a:latin typeface="Calibri"/>
                <a:cs typeface="Calibri"/>
              </a:rPr>
              <a:t>наприклад, </a:t>
            </a:r>
            <a:r>
              <a:rPr sz="1200" dirty="0" err="1">
                <a:solidFill>
                  <a:srgbClr val="2E2E81"/>
                </a:solidFill>
                <a:latin typeface="Calibri"/>
                <a:cs typeface="Calibri"/>
              </a:rPr>
              <a:t>важка</a:t>
            </a:r>
            <a:r>
              <a:rPr lang="uk-UA" sz="1200" dirty="0">
                <a:solidFill>
                  <a:srgbClr val="2E2E81"/>
                </a:solidFill>
                <a:latin typeface="Calibri"/>
                <a:cs typeface="Calibri"/>
              </a:rPr>
              <a:t> фізична</a:t>
            </a:r>
            <a:r>
              <a:rPr sz="1200" dirty="0">
                <a:solidFill>
                  <a:srgbClr val="2E2E81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E2E81"/>
                </a:solidFill>
                <a:latin typeface="Calibri"/>
                <a:cs typeface="Calibri"/>
              </a:rPr>
              <a:t>робота)</a:t>
            </a:r>
            <a:endParaRPr sz="1200" dirty="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06805" y="3108832"/>
            <a:ext cx="3530600" cy="1195705"/>
            <a:chOff x="1006805" y="3108832"/>
            <a:chExt cx="3530600" cy="1195705"/>
          </a:xfrm>
        </p:grpSpPr>
        <p:sp>
          <p:nvSpPr>
            <p:cNvPr id="14" name="object 14"/>
            <p:cNvSpPr/>
            <p:nvPr/>
          </p:nvSpPr>
          <p:spPr>
            <a:xfrm>
              <a:off x="4117467" y="3108832"/>
              <a:ext cx="419734" cy="320675"/>
            </a:xfrm>
            <a:custGeom>
              <a:avLst/>
              <a:gdLst/>
              <a:ahLst/>
              <a:cxnLst/>
              <a:rect l="l" t="t" r="r" b="b"/>
              <a:pathLst>
                <a:path w="419735" h="320675">
                  <a:moveTo>
                    <a:pt x="259587" y="0"/>
                  </a:moveTo>
                  <a:lnTo>
                    <a:pt x="259587" y="80009"/>
                  </a:lnTo>
                  <a:lnTo>
                    <a:pt x="0" y="80009"/>
                  </a:lnTo>
                  <a:lnTo>
                    <a:pt x="0" y="240156"/>
                  </a:lnTo>
                  <a:lnTo>
                    <a:pt x="259587" y="240156"/>
                  </a:lnTo>
                  <a:lnTo>
                    <a:pt x="259587" y="320166"/>
                  </a:lnTo>
                  <a:lnTo>
                    <a:pt x="419735" y="160146"/>
                  </a:lnTo>
                  <a:lnTo>
                    <a:pt x="259587" y="0"/>
                  </a:lnTo>
                  <a:close/>
                </a:path>
              </a:pathLst>
            </a:custGeom>
            <a:solidFill>
              <a:srgbClr val="2E2E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25855" y="3923410"/>
              <a:ext cx="1600835" cy="361950"/>
            </a:xfrm>
            <a:custGeom>
              <a:avLst/>
              <a:gdLst/>
              <a:ahLst/>
              <a:cxnLst/>
              <a:rect l="l" t="t" r="r" b="b"/>
              <a:pathLst>
                <a:path w="1600835" h="361950">
                  <a:moveTo>
                    <a:pt x="0" y="180720"/>
                  </a:moveTo>
                  <a:lnTo>
                    <a:pt x="28587" y="132673"/>
                  </a:lnTo>
                  <a:lnTo>
                    <a:pt x="77053" y="103244"/>
                  </a:lnTo>
                  <a:lnTo>
                    <a:pt x="146408" y="76492"/>
                  </a:lnTo>
                  <a:lnTo>
                    <a:pt x="188211" y="64279"/>
                  </a:lnTo>
                  <a:lnTo>
                    <a:pt x="234388" y="52927"/>
                  </a:lnTo>
                  <a:lnTo>
                    <a:pt x="284655" y="42499"/>
                  </a:lnTo>
                  <a:lnTo>
                    <a:pt x="338732" y="33059"/>
                  </a:lnTo>
                  <a:lnTo>
                    <a:pt x="396334" y="24670"/>
                  </a:lnTo>
                  <a:lnTo>
                    <a:pt x="457178" y="17398"/>
                  </a:lnTo>
                  <a:lnTo>
                    <a:pt x="520983" y="11304"/>
                  </a:lnTo>
                  <a:lnTo>
                    <a:pt x="587466" y="6454"/>
                  </a:lnTo>
                  <a:lnTo>
                    <a:pt x="656343" y="2911"/>
                  </a:lnTo>
                  <a:lnTo>
                    <a:pt x="727332" y="738"/>
                  </a:lnTo>
                  <a:lnTo>
                    <a:pt x="800150" y="0"/>
                  </a:lnTo>
                  <a:lnTo>
                    <a:pt x="872988" y="738"/>
                  </a:lnTo>
                  <a:lnTo>
                    <a:pt x="943994" y="2911"/>
                  </a:lnTo>
                  <a:lnTo>
                    <a:pt x="1012885" y="6454"/>
                  </a:lnTo>
                  <a:lnTo>
                    <a:pt x="1079378" y="11304"/>
                  </a:lnTo>
                  <a:lnTo>
                    <a:pt x="1143192" y="17398"/>
                  </a:lnTo>
                  <a:lnTo>
                    <a:pt x="1204043" y="24670"/>
                  </a:lnTo>
                  <a:lnTo>
                    <a:pt x="1261650" y="33059"/>
                  </a:lnTo>
                  <a:lnTo>
                    <a:pt x="1315729" y="42499"/>
                  </a:lnTo>
                  <a:lnTo>
                    <a:pt x="1365999" y="52927"/>
                  </a:lnTo>
                  <a:lnTo>
                    <a:pt x="1412176" y="64279"/>
                  </a:lnTo>
                  <a:lnTo>
                    <a:pt x="1453979" y="76492"/>
                  </a:lnTo>
                  <a:lnTo>
                    <a:pt x="1491124" y="89502"/>
                  </a:lnTo>
                  <a:lnTo>
                    <a:pt x="1550314" y="117656"/>
                  </a:lnTo>
                  <a:lnTo>
                    <a:pt x="1587485" y="148232"/>
                  </a:lnTo>
                  <a:lnTo>
                    <a:pt x="1600377" y="180720"/>
                  </a:lnTo>
                  <a:lnTo>
                    <a:pt x="1597107" y="197173"/>
                  </a:lnTo>
                  <a:lnTo>
                    <a:pt x="1571793" y="228777"/>
                  </a:lnTo>
                  <a:lnTo>
                    <a:pt x="1523330" y="258221"/>
                  </a:lnTo>
                  <a:lnTo>
                    <a:pt x="1453979" y="284992"/>
                  </a:lnTo>
                  <a:lnTo>
                    <a:pt x="1412176" y="297215"/>
                  </a:lnTo>
                  <a:lnTo>
                    <a:pt x="1365999" y="308578"/>
                  </a:lnTo>
                  <a:lnTo>
                    <a:pt x="1315729" y="319016"/>
                  </a:lnTo>
                  <a:lnTo>
                    <a:pt x="1261650" y="328467"/>
                  </a:lnTo>
                  <a:lnTo>
                    <a:pt x="1204043" y="336865"/>
                  </a:lnTo>
                  <a:lnTo>
                    <a:pt x="1143192" y="344146"/>
                  </a:lnTo>
                  <a:lnTo>
                    <a:pt x="1079378" y="350248"/>
                  </a:lnTo>
                  <a:lnTo>
                    <a:pt x="1012885" y="355104"/>
                  </a:lnTo>
                  <a:lnTo>
                    <a:pt x="943994" y="358653"/>
                  </a:lnTo>
                  <a:lnTo>
                    <a:pt x="872988" y="360829"/>
                  </a:lnTo>
                  <a:lnTo>
                    <a:pt x="800150" y="361569"/>
                  </a:lnTo>
                  <a:lnTo>
                    <a:pt x="727332" y="360829"/>
                  </a:lnTo>
                  <a:lnTo>
                    <a:pt x="656343" y="358653"/>
                  </a:lnTo>
                  <a:lnTo>
                    <a:pt x="587466" y="355104"/>
                  </a:lnTo>
                  <a:lnTo>
                    <a:pt x="520983" y="350248"/>
                  </a:lnTo>
                  <a:lnTo>
                    <a:pt x="457178" y="344146"/>
                  </a:lnTo>
                  <a:lnTo>
                    <a:pt x="396334" y="336865"/>
                  </a:lnTo>
                  <a:lnTo>
                    <a:pt x="338732" y="328467"/>
                  </a:lnTo>
                  <a:lnTo>
                    <a:pt x="284655" y="319016"/>
                  </a:lnTo>
                  <a:lnTo>
                    <a:pt x="234388" y="308578"/>
                  </a:lnTo>
                  <a:lnTo>
                    <a:pt x="188211" y="297215"/>
                  </a:lnTo>
                  <a:lnTo>
                    <a:pt x="146408" y="284992"/>
                  </a:lnTo>
                  <a:lnTo>
                    <a:pt x="109261" y="271972"/>
                  </a:lnTo>
                  <a:lnTo>
                    <a:pt x="50068" y="243801"/>
                  </a:lnTo>
                  <a:lnTo>
                    <a:pt x="12894" y="213213"/>
                  </a:lnTo>
                  <a:lnTo>
                    <a:pt x="0" y="180720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070762" y="6319520"/>
            <a:ext cx="8439785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solidFill>
                  <a:srgbClr val="767070"/>
                </a:solidFill>
                <a:latin typeface="Calibri"/>
                <a:cs typeface="Calibri"/>
              </a:rPr>
              <a:t>Адаптовано з Arden N, Blanco FJ, Bruyère O, Cooper C, Guermazi A, Hayashi D, </a:t>
            </a:r>
            <a:r>
              <a:rPr sz="800" spc="-10" dirty="0">
                <a:solidFill>
                  <a:srgbClr val="767070"/>
                </a:solidFill>
                <a:latin typeface="Calibri"/>
                <a:cs typeface="Calibri"/>
              </a:rPr>
              <a:t>Hunter </a:t>
            </a:r>
            <a:r>
              <a:rPr sz="800" dirty="0">
                <a:solidFill>
                  <a:srgbClr val="767070"/>
                </a:solidFill>
                <a:latin typeface="Calibri"/>
                <a:cs typeface="Calibri"/>
              </a:rPr>
              <a:t>D, Javaid K, Rannou F, </a:t>
            </a:r>
            <a:r>
              <a:rPr sz="800" spc="-10" dirty="0">
                <a:solidFill>
                  <a:srgbClr val="767070"/>
                </a:solidFill>
                <a:latin typeface="Calibri"/>
                <a:cs typeface="Calibri"/>
              </a:rPr>
              <a:t>Reginster </a:t>
            </a:r>
            <a:r>
              <a:rPr sz="800" dirty="0">
                <a:solidFill>
                  <a:srgbClr val="767070"/>
                </a:solidFill>
                <a:latin typeface="Calibri"/>
                <a:cs typeface="Calibri"/>
              </a:rPr>
              <a:t>JY, Roemer FW (2018). Атлас </a:t>
            </a:r>
            <a:r>
              <a:rPr sz="800" spc="-10" dirty="0">
                <a:solidFill>
                  <a:srgbClr val="767070"/>
                </a:solidFill>
                <a:latin typeface="Calibri"/>
                <a:cs typeface="Calibri"/>
              </a:rPr>
              <a:t>остеоартриту </a:t>
            </a:r>
            <a:r>
              <a:rPr sz="800" dirty="0">
                <a:solidFill>
                  <a:srgbClr val="767070"/>
                </a:solidFill>
                <a:latin typeface="Calibri"/>
                <a:cs typeface="Calibri"/>
              </a:rPr>
              <a:t>(2-е </a:t>
            </a:r>
            <a:r>
              <a:rPr sz="800" spc="-10" dirty="0">
                <a:solidFill>
                  <a:srgbClr val="767070"/>
                </a:solidFill>
                <a:latin typeface="Calibri"/>
                <a:cs typeface="Calibri"/>
              </a:rPr>
              <a:t>видання</a:t>
            </a:r>
            <a:r>
              <a:rPr sz="750" baseline="27777" dirty="0">
                <a:solidFill>
                  <a:srgbClr val="767070"/>
                </a:solidFill>
                <a:latin typeface="Calibri"/>
                <a:cs typeface="Calibri"/>
              </a:rPr>
              <a:t>nd</a:t>
            </a:r>
            <a:r>
              <a:rPr sz="750" spc="52" baseline="27777" dirty="0">
                <a:solidFill>
                  <a:srgbClr val="767070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767070"/>
                </a:solidFill>
                <a:latin typeface="Calibri"/>
                <a:cs typeface="Calibri"/>
              </a:rPr>
              <a:t> ). </a:t>
            </a:r>
            <a:r>
              <a:rPr sz="800" dirty="0">
                <a:solidFill>
                  <a:srgbClr val="767070"/>
                </a:solidFill>
                <a:latin typeface="Calibri"/>
                <a:cs typeface="Calibri"/>
              </a:rPr>
              <a:t>ISBN</a:t>
            </a:r>
            <a:r>
              <a:rPr sz="800" spc="-50" dirty="0">
                <a:solidFill>
                  <a:srgbClr val="767070"/>
                </a:solidFill>
                <a:latin typeface="Calibri"/>
                <a:cs typeface="Calibri"/>
              </a:rPr>
              <a:t> 978-1-910315-68-2</a:t>
            </a:r>
            <a:endParaRPr sz="800" dirty="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23186" y="1605569"/>
            <a:ext cx="3053460" cy="1160526"/>
          </a:xfrm>
          <a:prstGeom prst="rect">
            <a:avLst/>
          </a:prstGeom>
        </p:spPr>
      </p:pic>
      <p:sp>
        <p:nvSpPr>
          <p:cNvPr id="18" name="object 14">
            <a:extLst>
              <a:ext uri="{FF2B5EF4-FFF2-40B4-BE49-F238E27FC236}">
                <a16:creationId xmlns:a16="http://schemas.microsoft.com/office/drawing/2014/main" id="{79FB67BD-E05E-511A-4316-8F1950EA17E2}"/>
              </a:ext>
            </a:extLst>
          </p:cNvPr>
          <p:cNvSpPr/>
          <p:nvPr/>
        </p:nvSpPr>
        <p:spPr>
          <a:xfrm rot="5400000">
            <a:off x="413648" y="3130252"/>
            <a:ext cx="1456595" cy="232182"/>
          </a:xfrm>
          <a:custGeom>
            <a:avLst/>
            <a:gdLst/>
            <a:ahLst/>
            <a:cxnLst/>
            <a:rect l="l" t="t" r="r" b="b"/>
            <a:pathLst>
              <a:path w="419735" h="320675">
                <a:moveTo>
                  <a:pt x="259587" y="0"/>
                </a:moveTo>
                <a:lnTo>
                  <a:pt x="259587" y="80009"/>
                </a:lnTo>
                <a:lnTo>
                  <a:pt x="0" y="80009"/>
                </a:lnTo>
                <a:lnTo>
                  <a:pt x="0" y="240156"/>
                </a:lnTo>
                <a:lnTo>
                  <a:pt x="259587" y="240156"/>
                </a:lnTo>
                <a:lnTo>
                  <a:pt x="259587" y="320166"/>
                </a:lnTo>
                <a:lnTo>
                  <a:pt x="419735" y="160146"/>
                </a:lnTo>
                <a:lnTo>
                  <a:pt x="259587" y="0"/>
                </a:lnTo>
                <a:close/>
              </a:path>
            </a:pathLst>
          </a:custGeom>
          <a:solidFill>
            <a:srgbClr val="2E2E8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2283" y="534670"/>
            <a:ext cx="10838562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312783"/>
                </a:solidFill>
              </a:rPr>
              <a:t>ВЕГАНСЬКИЙ </a:t>
            </a:r>
            <a:r>
              <a:rPr sz="3200" spc="-10" dirty="0">
                <a:solidFill>
                  <a:srgbClr val="312783"/>
                </a:solidFill>
              </a:rPr>
              <a:t>ХІТОЗАН, </a:t>
            </a:r>
            <a:r>
              <a:rPr sz="3200" dirty="0">
                <a:solidFill>
                  <a:srgbClr val="312783"/>
                </a:solidFill>
              </a:rPr>
              <a:t>ОТРИМАНИЙ З ГРИБІВ – </a:t>
            </a:r>
            <a:r>
              <a:rPr sz="3200" spc="-10" dirty="0">
                <a:solidFill>
                  <a:srgbClr val="312783"/>
                </a:solidFill>
              </a:rPr>
              <a:t>KIOMEDINE®</a:t>
            </a:r>
            <a:endParaRPr sz="3200" dirty="0"/>
          </a:p>
        </p:txBody>
      </p:sp>
      <p:sp>
        <p:nvSpPr>
          <p:cNvPr id="4" name="object 4"/>
          <p:cNvSpPr txBox="1"/>
          <p:nvPr/>
        </p:nvSpPr>
        <p:spPr>
          <a:xfrm>
            <a:off x="1002283" y="1147317"/>
            <a:ext cx="8504047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312783"/>
                </a:solidFill>
                <a:latin typeface="Century Gothic"/>
                <a:cs typeface="Century Gothic"/>
              </a:rPr>
              <a:t>ЕКСКЛЮЗИВНА СВІТОВА ІННОВАЦІЙНА </a:t>
            </a:r>
            <a:r>
              <a:rPr sz="1600" b="1" spc="-10" dirty="0">
                <a:solidFill>
                  <a:srgbClr val="312783"/>
                </a:solidFill>
                <a:latin typeface="Century Gothic"/>
                <a:cs typeface="Century Gothic"/>
              </a:rPr>
              <a:t>ТЕХНОЛОГІЯ</a:t>
            </a:r>
            <a:r>
              <a:rPr lang="uk-UA" sz="1600" b="1" spc="-10" dirty="0">
                <a:solidFill>
                  <a:srgbClr val="312783"/>
                </a:solidFill>
                <a:latin typeface="Century Gothic"/>
                <a:cs typeface="Century Gothic"/>
              </a:rPr>
              <a:t> ВИРОБНИЦТВА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525" y="1840317"/>
            <a:ext cx="6526605" cy="30598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uk-UA" b="1" dirty="0">
                <a:solidFill>
                  <a:srgbClr val="002060"/>
                </a:solidFill>
              </a:rPr>
              <a:t>Чому саме </a:t>
            </a:r>
            <a:r>
              <a:rPr lang="uk-UA" b="1" dirty="0" err="1">
                <a:solidFill>
                  <a:srgbClr val="002060"/>
                </a:solidFill>
              </a:rPr>
              <a:t>хітозан</a:t>
            </a:r>
            <a:r>
              <a:rPr lang="uk-UA" b="1" dirty="0">
                <a:solidFill>
                  <a:srgbClr val="002060"/>
                </a:solidFill>
              </a:rPr>
              <a:t>? </a:t>
            </a:r>
            <a:r>
              <a:rPr lang="uk-UA" dirty="0">
                <a:solidFill>
                  <a:srgbClr val="002060"/>
                </a:solidFill>
              </a:rPr>
              <a:t>Натуральний полісахарид з потужними внутрішніми властивостями, такими як </a:t>
            </a:r>
            <a:r>
              <a:rPr lang="uk-UA" b="1" dirty="0">
                <a:solidFill>
                  <a:srgbClr val="002060"/>
                </a:solidFill>
              </a:rPr>
              <a:t>захоплення вільних радикалів, змащування</a:t>
            </a:r>
            <a:r>
              <a:rPr lang="uk-UA" dirty="0">
                <a:solidFill>
                  <a:srgbClr val="002060"/>
                </a:solidFill>
              </a:rPr>
              <a:t> </a:t>
            </a:r>
            <a:r>
              <a:rPr lang="uk-UA" b="1" dirty="0">
                <a:solidFill>
                  <a:srgbClr val="002060"/>
                </a:solidFill>
              </a:rPr>
              <a:t>та</a:t>
            </a:r>
            <a:r>
              <a:rPr lang="uk-UA" dirty="0">
                <a:solidFill>
                  <a:srgbClr val="002060"/>
                </a:solidFill>
              </a:rPr>
              <a:t> </a:t>
            </a:r>
            <a:r>
              <a:rPr lang="uk-UA" b="1" dirty="0">
                <a:solidFill>
                  <a:srgbClr val="002060"/>
                </a:solidFill>
              </a:rPr>
              <a:t>гідратація</a:t>
            </a:r>
            <a:r>
              <a:rPr lang="uk-UA" dirty="0">
                <a:solidFill>
                  <a:srgbClr val="002060"/>
                </a:solidFill>
              </a:rPr>
              <a:t>; </a:t>
            </a:r>
            <a:r>
              <a:rPr lang="uk-UA" dirty="0" err="1">
                <a:solidFill>
                  <a:srgbClr val="002060"/>
                </a:solidFill>
              </a:rPr>
              <a:t>біорозкладний</a:t>
            </a:r>
            <a:r>
              <a:rPr lang="uk-UA" dirty="0">
                <a:solidFill>
                  <a:srgbClr val="002060"/>
                </a:solidFill>
              </a:rPr>
              <a:t>, нетоксичний та хімічно модифікований.</a:t>
            </a:r>
          </a:p>
          <a:p>
            <a:endParaRPr lang="uk-UA" dirty="0">
              <a:solidFill>
                <a:srgbClr val="002060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uk-UA" sz="1800" b="1" dirty="0">
                <a:solidFill>
                  <a:srgbClr val="002060"/>
                </a:solidFill>
                <a:latin typeface="Calibri"/>
                <a:cs typeface="Calibri"/>
              </a:rPr>
              <a:t>Чому саме рослинний </a:t>
            </a:r>
            <a:r>
              <a:rPr lang="uk-UA" sz="1800" b="1" dirty="0" err="1">
                <a:solidFill>
                  <a:srgbClr val="002060"/>
                </a:solidFill>
                <a:latin typeface="Calibri"/>
                <a:cs typeface="Calibri"/>
              </a:rPr>
              <a:t>хітозан</a:t>
            </a:r>
            <a:r>
              <a:rPr lang="uk-UA" sz="1800" b="1" dirty="0">
                <a:solidFill>
                  <a:srgbClr val="002060"/>
                </a:solidFill>
                <a:latin typeface="Calibri"/>
                <a:cs typeface="Calibri"/>
              </a:rPr>
              <a:t>? </a:t>
            </a:r>
            <a:r>
              <a:rPr lang="uk-UA" sz="1800" dirty="0">
                <a:solidFill>
                  <a:srgbClr val="002060"/>
                </a:solidFill>
                <a:latin typeface="Calibri"/>
                <a:cs typeface="Calibri"/>
              </a:rPr>
              <a:t>Він перевершує </a:t>
            </a:r>
            <a:r>
              <a:rPr lang="uk-UA" sz="1800" dirty="0" err="1">
                <a:solidFill>
                  <a:srgbClr val="002060"/>
                </a:solidFill>
                <a:latin typeface="Calibri"/>
                <a:cs typeface="Calibri"/>
              </a:rPr>
              <a:t>хітозан</a:t>
            </a:r>
            <a:r>
              <a:rPr lang="uk-UA" sz="180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lang="uk-UA" sz="1800" spc="-10" dirty="0">
                <a:solidFill>
                  <a:srgbClr val="002060"/>
                </a:solidFill>
                <a:latin typeface="Calibri"/>
                <a:cs typeface="Calibri"/>
              </a:rPr>
              <a:t>традиційного </a:t>
            </a:r>
            <a:r>
              <a:rPr lang="uk-UA" sz="1800" dirty="0">
                <a:solidFill>
                  <a:srgbClr val="002060"/>
                </a:solidFill>
                <a:latin typeface="Calibri"/>
                <a:cs typeface="Calibri"/>
              </a:rPr>
              <a:t>тваринного походження, який викликає проблеми з переносимістю, </a:t>
            </a:r>
            <a:r>
              <a:rPr lang="uk-UA" sz="1800" spc="-10" dirty="0">
                <a:solidFill>
                  <a:srgbClr val="002060"/>
                </a:solidFill>
                <a:latin typeface="Calibri"/>
                <a:cs typeface="Calibri"/>
              </a:rPr>
              <a:t>алергією </a:t>
            </a:r>
            <a:r>
              <a:rPr lang="uk-UA" sz="1800" dirty="0">
                <a:solidFill>
                  <a:srgbClr val="002060"/>
                </a:solidFill>
                <a:latin typeface="Calibri"/>
                <a:cs typeface="Calibri"/>
              </a:rPr>
              <a:t>та сприйняттям продукту і не є </a:t>
            </a:r>
            <a:r>
              <a:rPr lang="uk-UA" sz="1800" spc="-10" dirty="0">
                <a:solidFill>
                  <a:srgbClr val="002060"/>
                </a:solidFill>
                <a:latin typeface="Calibri"/>
                <a:cs typeface="Calibri"/>
              </a:rPr>
              <a:t>надійним </a:t>
            </a:r>
            <a:r>
              <a:rPr lang="uk-UA" sz="1800" dirty="0">
                <a:solidFill>
                  <a:srgbClr val="002060"/>
                </a:solidFill>
                <a:latin typeface="Calibri"/>
                <a:cs typeface="Calibri"/>
              </a:rPr>
              <a:t>для промислового використання.</a:t>
            </a:r>
            <a:endParaRPr lang="uk-UA" dirty="0"/>
          </a:p>
          <a:p>
            <a:pPr marR="5080" algn="r"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8464" y="1546785"/>
            <a:ext cx="600198" cy="66277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8704268" y="1406969"/>
            <a:ext cx="1025525" cy="970915"/>
            <a:chOff x="8704268" y="1406969"/>
            <a:chExt cx="1025525" cy="97091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04268" y="1406969"/>
              <a:ext cx="1025074" cy="8529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904501" y="2176227"/>
              <a:ext cx="525780" cy="201930"/>
            </a:xfrm>
            <a:custGeom>
              <a:avLst/>
              <a:gdLst/>
              <a:ahLst/>
              <a:cxnLst/>
              <a:rect l="l" t="t" r="r" b="b"/>
              <a:pathLst>
                <a:path w="525779" h="201930">
                  <a:moveTo>
                    <a:pt x="525600" y="0"/>
                  </a:moveTo>
                  <a:lnTo>
                    <a:pt x="0" y="0"/>
                  </a:lnTo>
                  <a:lnTo>
                    <a:pt x="0" y="201464"/>
                  </a:lnTo>
                  <a:lnTo>
                    <a:pt x="525600" y="201464"/>
                  </a:lnTo>
                  <a:lnTo>
                    <a:pt x="525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427567" y="1739965"/>
            <a:ext cx="1171575" cy="151765"/>
          </a:xfrm>
          <a:custGeom>
            <a:avLst/>
            <a:gdLst/>
            <a:ahLst/>
            <a:cxnLst/>
            <a:rect l="l" t="t" r="r" b="b"/>
            <a:pathLst>
              <a:path w="1171575" h="151764">
                <a:moveTo>
                  <a:pt x="1121871" y="50311"/>
                </a:moveTo>
                <a:lnTo>
                  <a:pt x="1046246" y="50311"/>
                </a:lnTo>
                <a:lnTo>
                  <a:pt x="1046246" y="100831"/>
                </a:lnTo>
                <a:lnTo>
                  <a:pt x="1020993" y="100966"/>
                </a:lnTo>
                <a:lnTo>
                  <a:pt x="1021186" y="151150"/>
                </a:lnTo>
                <a:lnTo>
                  <a:pt x="1171465" y="74949"/>
                </a:lnTo>
                <a:lnTo>
                  <a:pt x="1121871" y="50311"/>
                </a:lnTo>
                <a:close/>
              </a:path>
              <a:path w="1171575" h="151764">
                <a:moveTo>
                  <a:pt x="1020798" y="50452"/>
                </a:moveTo>
                <a:lnTo>
                  <a:pt x="0" y="56107"/>
                </a:lnTo>
                <a:lnTo>
                  <a:pt x="0" y="106427"/>
                </a:lnTo>
                <a:lnTo>
                  <a:pt x="1020993" y="100966"/>
                </a:lnTo>
                <a:lnTo>
                  <a:pt x="1020892" y="74949"/>
                </a:lnTo>
                <a:lnTo>
                  <a:pt x="1020798" y="50452"/>
                </a:lnTo>
                <a:close/>
              </a:path>
              <a:path w="1171575" h="151764">
                <a:moveTo>
                  <a:pt x="1046246" y="50311"/>
                </a:moveTo>
                <a:lnTo>
                  <a:pt x="1020798" y="50452"/>
                </a:lnTo>
                <a:lnTo>
                  <a:pt x="1020892" y="74949"/>
                </a:lnTo>
                <a:lnTo>
                  <a:pt x="1020993" y="100966"/>
                </a:lnTo>
                <a:lnTo>
                  <a:pt x="1046246" y="100831"/>
                </a:lnTo>
                <a:lnTo>
                  <a:pt x="1046246" y="50311"/>
                </a:lnTo>
                <a:close/>
              </a:path>
              <a:path w="1171575" h="151764">
                <a:moveTo>
                  <a:pt x="1020603" y="0"/>
                </a:moveTo>
                <a:lnTo>
                  <a:pt x="1020797" y="50311"/>
                </a:lnTo>
                <a:lnTo>
                  <a:pt x="1020798" y="50452"/>
                </a:lnTo>
                <a:lnTo>
                  <a:pt x="1121871" y="50311"/>
                </a:lnTo>
                <a:lnTo>
                  <a:pt x="1020603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948666" y="2197690"/>
            <a:ext cx="34925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spc="-10" dirty="0">
                <a:solidFill>
                  <a:srgbClr val="312783"/>
                </a:solidFill>
                <a:latin typeface="Century Gothic"/>
                <a:cs typeface="Century Gothic"/>
              </a:rPr>
              <a:t>Хітин</a:t>
            </a:r>
            <a:endParaRPr sz="900" dirty="0">
              <a:latin typeface="Century Gothic"/>
              <a:cs typeface="Century Gothic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10857" y="1521521"/>
            <a:ext cx="592555" cy="16750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743989" y="1922917"/>
            <a:ext cx="138874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939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12783"/>
                </a:solidFill>
                <a:latin typeface="Century Gothic"/>
                <a:cs typeface="Century Gothic"/>
              </a:rPr>
              <a:t>Деацетилювання </a:t>
            </a:r>
            <a:r>
              <a:rPr sz="1000" spc="-50" dirty="0">
                <a:solidFill>
                  <a:srgbClr val="312783"/>
                </a:solidFill>
                <a:latin typeface="Century Gothic"/>
                <a:cs typeface="Century Gothic"/>
              </a:rPr>
              <a:t>та </a:t>
            </a:r>
            <a:r>
              <a:rPr sz="1000" spc="-10" dirty="0">
                <a:solidFill>
                  <a:srgbClr val="312783"/>
                </a:solidFill>
                <a:latin typeface="Century Gothic"/>
                <a:cs typeface="Century Gothic"/>
              </a:rPr>
              <a:t>очищення, сушіння</a:t>
            </a:r>
            <a:endParaRPr sz="1000" dirty="0">
              <a:latin typeface="Century Gothic"/>
              <a:cs typeface="Century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1211418" y="1443191"/>
            <a:ext cx="925194" cy="789305"/>
            <a:chOff x="11211418" y="1443191"/>
            <a:chExt cx="925194" cy="789305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24001" y="1443191"/>
              <a:ext cx="910086" cy="72153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1211418" y="2079597"/>
              <a:ext cx="925194" cy="153035"/>
            </a:xfrm>
            <a:custGeom>
              <a:avLst/>
              <a:gdLst/>
              <a:ahLst/>
              <a:cxnLst/>
              <a:rect l="l" t="t" r="r" b="b"/>
              <a:pathLst>
                <a:path w="925195" h="153035">
                  <a:moveTo>
                    <a:pt x="925148" y="0"/>
                  </a:moveTo>
                  <a:lnTo>
                    <a:pt x="0" y="0"/>
                  </a:lnTo>
                  <a:lnTo>
                    <a:pt x="0" y="152634"/>
                  </a:lnTo>
                  <a:lnTo>
                    <a:pt x="925148" y="152634"/>
                  </a:lnTo>
                  <a:lnTo>
                    <a:pt x="9251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1257931" y="2114324"/>
            <a:ext cx="832168" cy="1519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solidFill>
                  <a:srgbClr val="312783"/>
                </a:solidFill>
                <a:latin typeface="Century Gothic"/>
                <a:cs typeface="Century Gothic"/>
              </a:rPr>
              <a:t>Чистий </a:t>
            </a:r>
            <a:r>
              <a:rPr sz="900" spc="-10" dirty="0">
                <a:solidFill>
                  <a:srgbClr val="312783"/>
                </a:solidFill>
                <a:latin typeface="Century Gothic"/>
                <a:cs typeface="Century Gothic"/>
              </a:rPr>
              <a:t>хітозан</a:t>
            </a:r>
            <a:endParaRPr sz="900" dirty="0">
              <a:latin typeface="Century Gothic"/>
              <a:cs typeface="Century Gothic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777733" y="1427163"/>
            <a:ext cx="1343660" cy="508000"/>
            <a:chOff x="9777733" y="1427163"/>
            <a:chExt cx="1343660" cy="508000"/>
          </a:xfrm>
        </p:grpSpPr>
        <p:sp>
          <p:nvSpPr>
            <p:cNvPr id="23" name="object 23"/>
            <p:cNvSpPr/>
            <p:nvPr/>
          </p:nvSpPr>
          <p:spPr>
            <a:xfrm>
              <a:off x="9777733" y="1798020"/>
              <a:ext cx="1343660" cy="137160"/>
            </a:xfrm>
            <a:custGeom>
              <a:avLst/>
              <a:gdLst/>
              <a:ahLst/>
              <a:cxnLst/>
              <a:rect l="l" t="t" r="r" b="b"/>
              <a:pathLst>
                <a:path w="1343659" h="137160">
                  <a:moveTo>
                    <a:pt x="1206748" y="0"/>
                  </a:moveTo>
                  <a:lnTo>
                    <a:pt x="1206749" y="137029"/>
                  </a:lnTo>
                  <a:lnTo>
                    <a:pt x="1297675" y="91355"/>
                  </a:lnTo>
                  <a:lnTo>
                    <a:pt x="1229450" y="91355"/>
                  </a:lnTo>
                  <a:lnTo>
                    <a:pt x="1229450" y="45681"/>
                  </a:lnTo>
                  <a:lnTo>
                    <a:pt x="1297941" y="45681"/>
                  </a:lnTo>
                  <a:lnTo>
                    <a:pt x="1206748" y="0"/>
                  </a:lnTo>
                  <a:close/>
                </a:path>
                <a:path w="1343659" h="137160">
                  <a:moveTo>
                    <a:pt x="1206749" y="45681"/>
                  </a:moveTo>
                  <a:lnTo>
                    <a:pt x="0" y="45681"/>
                  </a:lnTo>
                  <a:lnTo>
                    <a:pt x="0" y="91355"/>
                  </a:lnTo>
                  <a:lnTo>
                    <a:pt x="1206749" y="91355"/>
                  </a:lnTo>
                  <a:lnTo>
                    <a:pt x="1206749" y="45681"/>
                  </a:lnTo>
                  <a:close/>
                </a:path>
                <a:path w="1343659" h="137160">
                  <a:moveTo>
                    <a:pt x="1297941" y="45681"/>
                  </a:moveTo>
                  <a:lnTo>
                    <a:pt x="1229450" y="45681"/>
                  </a:lnTo>
                  <a:lnTo>
                    <a:pt x="1229450" y="91355"/>
                  </a:lnTo>
                  <a:lnTo>
                    <a:pt x="1297675" y="91355"/>
                  </a:lnTo>
                  <a:lnTo>
                    <a:pt x="1343334" y="68419"/>
                  </a:lnTo>
                  <a:lnTo>
                    <a:pt x="1297941" y="45681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28134" y="1427163"/>
              <a:ext cx="637184" cy="413154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0963815" y="4242306"/>
            <a:ext cx="65405" cy="12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55"/>
              </a:lnSpc>
            </a:pPr>
            <a:r>
              <a:rPr sz="1000" spc="-50" dirty="0">
                <a:solidFill>
                  <a:srgbClr val="888888"/>
                </a:solidFill>
                <a:latin typeface="Calibri"/>
                <a:cs typeface="Calibri"/>
              </a:rPr>
              <a:t>8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606642" y="2588260"/>
            <a:ext cx="191770" cy="461009"/>
          </a:xfrm>
          <a:custGeom>
            <a:avLst/>
            <a:gdLst/>
            <a:ahLst/>
            <a:cxnLst/>
            <a:rect l="l" t="t" r="r" b="b"/>
            <a:pathLst>
              <a:path w="191770" h="461010">
                <a:moveTo>
                  <a:pt x="63772" y="269231"/>
                </a:moveTo>
                <a:lnTo>
                  <a:pt x="0" y="269231"/>
                </a:lnTo>
                <a:lnTo>
                  <a:pt x="95606" y="460917"/>
                </a:lnTo>
                <a:lnTo>
                  <a:pt x="175561" y="301143"/>
                </a:lnTo>
                <a:lnTo>
                  <a:pt x="63772" y="301143"/>
                </a:lnTo>
                <a:lnTo>
                  <a:pt x="63772" y="269231"/>
                </a:lnTo>
                <a:close/>
              </a:path>
              <a:path w="191770" h="461010">
                <a:moveTo>
                  <a:pt x="127545" y="0"/>
                </a:moveTo>
                <a:lnTo>
                  <a:pt x="63772" y="0"/>
                </a:lnTo>
                <a:lnTo>
                  <a:pt x="63772" y="301143"/>
                </a:lnTo>
                <a:lnTo>
                  <a:pt x="127545" y="301143"/>
                </a:lnTo>
                <a:lnTo>
                  <a:pt x="127545" y="0"/>
                </a:lnTo>
                <a:close/>
              </a:path>
              <a:path w="191770" h="461010">
                <a:moveTo>
                  <a:pt x="191531" y="269231"/>
                </a:moveTo>
                <a:lnTo>
                  <a:pt x="127545" y="269231"/>
                </a:lnTo>
                <a:lnTo>
                  <a:pt x="127545" y="301143"/>
                </a:lnTo>
                <a:lnTo>
                  <a:pt x="175561" y="301143"/>
                </a:lnTo>
                <a:lnTo>
                  <a:pt x="191531" y="26923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990242" y="4061104"/>
            <a:ext cx="1363980" cy="320040"/>
          </a:xfrm>
          <a:custGeom>
            <a:avLst/>
            <a:gdLst/>
            <a:ahLst/>
            <a:cxnLst/>
            <a:rect l="l" t="t" r="r" b="b"/>
            <a:pathLst>
              <a:path w="1363979" h="320039">
                <a:moveTo>
                  <a:pt x="1363557" y="0"/>
                </a:moveTo>
                <a:lnTo>
                  <a:pt x="0" y="0"/>
                </a:lnTo>
                <a:lnTo>
                  <a:pt x="0" y="319517"/>
                </a:lnTo>
                <a:lnTo>
                  <a:pt x="1363557" y="319517"/>
                </a:lnTo>
                <a:lnTo>
                  <a:pt x="13635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0146684" y="4091575"/>
            <a:ext cx="1164590" cy="255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="1" spc="-10" dirty="0">
                <a:solidFill>
                  <a:srgbClr val="312783"/>
                </a:solidFill>
                <a:latin typeface="Century Gothic"/>
                <a:cs typeface="Century Gothic"/>
              </a:rPr>
              <a:t>Kiomedine®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542054" y="3183302"/>
            <a:ext cx="76835" cy="10413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50" dirty="0">
                <a:latin typeface="Arial"/>
                <a:cs typeface="Arial"/>
              </a:rPr>
              <a:t>O</a:t>
            </a:r>
            <a:endParaRPr sz="5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715122" y="3290383"/>
            <a:ext cx="76835" cy="10413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50" dirty="0">
                <a:latin typeface="Arial"/>
                <a:cs typeface="Arial"/>
              </a:rPr>
              <a:t>O</a:t>
            </a:r>
            <a:endParaRPr sz="5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101050" y="3263347"/>
            <a:ext cx="76835" cy="10413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50" dirty="0">
                <a:latin typeface="Arial"/>
                <a:cs typeface="Arial"/>
              </a:rPr>
              <a:t>O</a:t>
            </a:r>
            <a:endParaRPr sz="5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085239" y="3462804"/>
            <a:ext cx="120014" cy="10413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Arial"/>
                <a:cs typeface="Arial"/>
              </a:rPr>
              <a:t>NH</a:t>
            </a:r>
            <a:endParaRPr sz="5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845215" y="3611509"/>
            <a:ext cx="76835" cy="10413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50" dirty="0">
                <a:latin typeface="Arial"/>
                <a:cs typeface="Arial"/>
              </a:rPr>
              <a:t>O</a:t>
            </a:r>
            <a:endParaRPr sz="5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071724" y="3743102"/>
            <a:ext cx="207010" cy="10413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Arial"/>
                <a:cs typeface="Arial"/>
              </a:rPr>
              <a:t>CH</a:t>
            </a:r>
            <a:r>
              <a:rPr sz="750" spc="-37" baseline="-16666" dirty="0">
                <a:latin typeface="Arial"/>
                <a:cs typeface="Arial"/>
              </a:rPr>
              <a:t>3</a:t>
            </a:r>
            <a:endParaRPr sz="750" baseline="-16666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0036089" y="3126882"/>
            <a:ext cx="688340" cy="317500"/>
            <a:chOff x="10036089" y="3126882"/>
            <a:chExt cx="688340" cy="317500"/>
          </a:xfrm>
        </p:grpSpPr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22727" y="3126882"/>
              <a:ext cx="501492" cy="317177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0038947" y="3267050"/>
              <a:ext cx="123825" cy="1905"/>
            </a:xfrm>
            <a:custGeom>
              <a:avLst/>
              <a:gdLst/>
              <a:ahLst/>
              <a:cxnLst/>
              <a:rect l="l" t="t" r="r" b="b"/>
              <a:pathLst>
                <a:path w="123825" h="1904">
                  <a:moveTo>
                    <a:pt x="123619" y="1590"/>
                  </a:moveTo>
                  <a:lnTo>
                    <a:pt x="123619" y="1590"/>
                  </a:lnTo>
                  <a:lnTo>
                    <a:pt x="0" y="0"/>
                  </a:lnTo>
                </a:path>
              </a:pathLst>
            </a:custGeom>
            <a:ln w="55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8" name="object 3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911815" y="3551961"/>
            <a:ext cx="199924" cy="214762"/>
          </a:xfrm>
          <a:prstGeom prst="rect">
            <a:avLst/>
          </a:prstGeom>
        </p:spPr>
      </p:pic>
      <p:grpSp>
        <p:nvGrpSpPr>
          <p:cNvPr id="39" name="object 39"/>
          <p:cNvGrpSpPr/>
          <p:nvPr/>
        </p:nvGrpSpPr>
        <p:grpSpPr>
          <a:xfrm>
            <a:off x="10781628" y="3206835"/>
            <a:ext cx="575310" cy="280670"/>
            <a:chOff x="10781628" y="3206835"/>
            <a:chExt cx="575310" cy="280670"/>
          </a:xfrm>
        </p:grpSpPr>
        <p:sp>
          <p:nvSpPr>
            <p:cNvPr id="40" name="object 40"/>
            <p:cNvSpPr/>
            <p:nvPr/>
          </p:nvSpPr>
          <p:spPr>
            <a:xfrm>
              <a:off x="10837966" y="3319954"/>
              <a:ext cx="393065" cy="139065"/>
            </a:xfrm>
            <a:custGeom>
              <a:avLst/>
              <a:gdLst/>
              <a:ahLst/>
              <a:cxnLst/>
              <a:rect l="l" t="t" r="r" b="b"/>
              <a:pathLst>
                <a:path w="393065" h="139064">
                  <a:moveTo>
                    <a:pt x="162456" y="23218"/>
                  </a:moveTo>
                  <a:lnTo>
                    <a:pt x="162456" y="23218"/>
                  </a:lnTo>
                  <a:lnTo>
                    <a:pt x="0" y="0"/>
                  </a:lnTo>
                </a:path>
                <a:path w="393065" h="139064">
                  <a:moveTo>
                    <a:pt x="269416" y="5513"/>
                  </a:moveTo>
                  <a:lnTo>
                    <a:pt x="269416" y="5513"/>
                  </a:lnTo>
                  <a:lnTo>
                    <a:pt x="162456" y="23218"/>
                  </a:lnTo>
                </a:path>
                <a:path w="393065" h="139064">
                  <a:moveTo>
                    <a:pt x="393036" y="138972"/>
                  </a:moveTo>
                  <a:lnTo>
                    <a:pt x="393036" y="138972"/>
                  </a:lnTo>
                  <a:lnTo>
                    <a:pt x="324488" y="34986"/>
                  </a:lnTo>
                </a:path>
              </a:pathLst>
            </a:custGeom>
            <a:ln w="55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1070032" y="3421289"/>
              <a:ext cx="161290" cy="38100"/>
            </a:xfrm>
            <a:custGeom>
              <a:avLst/>
              <a:gdLst/>
              <a:ahLst/>
              <a:cxnLst/>
              <a:rect l="l" t="t" r="r" b="b"/>
              <a:pathLst>
                <a:path w="161290" h="38100">
                  <a:moveTo>
                    <a:pt x="0" y="0"/>
                  </a:moveTo>
                  <a:lnTo>
                    <a:pt x="0" y="27109"/>
                  </a:lnTo>
                  <a:lnTo>
                    <a:pt x="160971" y="376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1070032" y="3421289"/>
              <a:ext cx="161290" cy="38100"/>
            </a:xfrm>
            <a:custGeom>
              <a:avLst/>
              <a:gdLst/>
              <a:ahLst/>
              <a:cxnLst/>
              <a:rect l="l" t="t" r="r" b="b"/>
              <a:pathLst>
                <a:path w="161290" h="38100">
                  <a:moveTo>
                    <a:pt x="160971" y="37637"/>
                  </a:moveTo>
                  <a:lnTo>
                    <a:pt x="0" y="0"/>
                  </a:lnTo>
                  <a:lnTo>
                    <a:pt x="0" y="13687"/>
                  </a:lnTo>
                  <a:lnTo>
                    <a:pt x="0" y="27109"/>
                  </a:lnTo>
                  <a:lnTo>
                    <a:pt x="160971" y="3763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0924022" y="3421289"/>
              <a:ext cx="146050" cy="52705"/>
            </a:xfrm>
            <a:custGeom>
              <a:avLst/>
              <a:gdLst/>
              <a:ahLst/>
              <a:cxnLst/>
              <a:rect l="l" t="t" r="r" b="b"/>
              <a:pathLst>
                <a:path w="146050" h="52704">
                  <a:moveTo>
                    <a:pt x="146009" y="0"/>
                  </a:moveTo>
                  <a:lnTo>
                    <a:pt x="4032" y="23950"/>
                  </a:lnTo>
                  <a:lnTo>
                    <a:pt x="6366" y="37637"/>
                  </a:lnTo>
                  <a:lnTo>
                    <a:pt x="0" y="52639"/>
                  </a:lnTo>
                  <a:lnTo>
                    <a:pt x="146009" y="27109"/>
                  </a:lnTo>
                  <a:lnTo>
                    <a:pt x="146009" y="13687"/>
                  </a:lnTo>
                  <a:lnTo>
                    <a:pt x="1460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0924022" y="3421289"/>
              <a:ext cx="146050" cy="52705"/>
            </a:xfrm>
            <a:custGeom>
              <a:avLst/>
              <a:gdLst/>
              <a:ahLst/>
              <a:cxnLst/>
              <a:rect l="l" t="t" r="r" b="b"/>
              <a:pathLst>
                <a:path w="146050" h="52704">
                  <a:moveTo>
                    <a:pt x="146009" y="13687"/>
                  </a:moveTo>
                  <a:lnTo>
                    <a:pt x="146009" y="0"/>
                  </a:lnTo>
                  <a:lnTo>
                    <a:pt x="4032" y="23950"/>
                  </a:lnTo>
                  <a:lnTo>
                    <a:pt x="6366" y="37637"/>
                  </a:lnTo>
                  <a:lnTo>
                    <a:pt x="0" y="52639"/>
                  </a:lnTo>
                  <a:lnTo>
                    <a:pt x="146009" y="27109"/>
                  </a:lnTo>
                  <a:lnTo>
                    <a:pt x="146009" y="1368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0837966" y="3319954"/>
              <a:ext cx="92710" cy="154305"/>
            </a:xfrm>
            <a:custGeom>
              <a:avLst/>
              <a:gdLst/>
              <a:ahLst/>
              <a:cxnLst/>
              <a:rect l="l" t="t" r="r" b="b"/>
              <a:pathLst>
                <a:path w="92709" h="154304">
                  <a:moveTo>
                    <a:pt x="0" y="0"/>
                  </a:moveTo>
                  <a:lnTo>
                    <a:pt x="86056" y="153974"/>
                  </a:lnTo>
                  <a:lnTo>
                    <a:pt x="92423" y="138972"/>
                  </a:lnTo>
                  <a:lnTo>
                    <a:pt x="90088" y="125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0837966" y="3319954"/>
              <a:ext cx="92710" cy="154305"/>
            </a:xfrm>
            <a:custGeom>
              <a:avLst/>
              <a:gdLst/>
              <a:ahLst/>
              <a:cxnLst/>
              <a:rect l="l" t="t" r="r" b="b"/>
              <a:pathLst>
                <a:path w="92709" h="154304">
                  <a:moveTo>
                    <a:pt x="0" y="0"/>
                  </a:moveTo>
                  <a:lnTo>
                    <a:pt x="86056" y="153974"/>
                  </a:lnTo>
                  <a:lnTo>
                    <a:pt x="92423" y="138972"/>
                  </a:lnTo>
                  <a:lnTo>
                    <a:pt x="90088" y="12528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0784486" y="3209692"/>
              <a:ext cx="569595" cy="274955"/>
            </a:xfrm>
            <a:custGeom>
              <a:avLst/>
              <a:gdLst/>
              <a:ahLst/>
              <a:cxnLst/>
              <a:rect l="l" t="t" r="r" b="b"/>
              <a:pathLst>
                <a:path w="569595" h="274954">
                  <a:moveTo>
                    <a:pt x="316636" y="274763"/>
                  </a:moveTo>
                  <a:lnTo>
                    <a:pt x="316636" y="274763"/>
                  </a:lnTo>
                  <a:lnTo>
                    <a:pt x="285545" y="225283"/>
                  </a:lnTo>
                </a:path>
                <a:path w="569595" h="274954">
                  <a:moveTo>
                    <a:pt x="38942" y="206072"/>
                  </a:moveTo>
                  <a:lnTo>
                    <a:pt x="38942" y="206072"/>
                  </a:lnTo>
                  <a:lnTo>
                    <a:pt x="145903" y="249233"/>
                  </a:lnTo>
                </a:path>
                <a:path w="569595" h="274954">
                  <a:moveTo>
                    <a:pt x="0" y="129451"/>
                  </a:moveTo>
                  <a:lnTo>
                    <a:pt x="0" y="129451"/>
                  </a:lnTo>
                  <a:lnTo>
                    <a:pt x="53480" y="110261"/>
                  </a:lnTo>
                </a:path>
                <a:path w="569595" h="274954">
                  <a:moveTo>
                    <a:pt x="156938" y="49511"/>
                  </a:moveTo>
                  <a:lnTo>
                    <a:pt x="156938" y="49511"/>
                  </a:lnTo>
                  <a:lnTo>
                    <a:pt x="215936" y="133480"/>
                  </a:lnTo>
                </a:path>
                <a:path w="569595" h="274954">
                  <a:moveTo>
                    <a:pt x="230473" y="0"/>
                  </a:moveTo>
                  <a:lnTo>
                    <a:pt x="230473" y="0"/>
                  </a:lnTo>
                  <a:lnTo>
                    <a:pt x="156938" y="49511"/>
                  </a:lnTo>
                </a:path>
                <a:path w="569595" h="274954">
                  <a:moveTo>
                    <a:pt x="446516" y="249233"/>
                  </a:moveTo>
                  <a:lnTo>
                    <a:pt x="569312" y="179556"/>
                  </a:lnTo>
                </a:path>
              </a:pathLst>
            </a:custGeom>
            <a:ln w="55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0992816" y="3126687"/>
            <a:ext cx="135890" cy="10413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Arial"/>
                <a:cs typeface="Arial"/>
              </a:rPr>
              <a:t>OR'</a:t>
            </a:r>
            <a:endParaRPr sz="5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118776" y="3212033"/>
            <a:ext cx="135890" cy="17462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indent="36830">
              <a:lnSpc>
                <a:spcPts val="550"/>
              </a:lnSpc>
              <a:spcBef>
                <a:spcPts val="175"/>
              </a:spcBef>
            </a:pPr>
            <a:r>
              <a:rPr sz="500" spc="-50" dirty="0">
                <a:latin typeface="Arial"/>
                <a:cs typeface="Arial"/>
              </a:rPr>
              <a:t>O </a:t>
            </a:r>
            <a:r>
              <a:rPr sz="500" spc="-25" dirty="0">
                <a:latin typeface="Arial"/>
                <a:cs typeface="Arial"/>
              </a:rPr>
              <a:t>R'O</a:t>
            </a:r>
            <a:endParaRPr sz="5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0553409" y="3355161"/>
            <a:ext cx="254635" cy="17145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 indent="118745">
              <a:lnSpc>
                <a:spcPts val="530"/>
              </a:lnSpc>
              <a:spcBef>
                <a:spcPts val="190"/>
              </a:spcBef>
            </a:pPr>
            <a:r>
              <a:rPr sz="500" spc="-25" dirty="0">
                <a:latin typeface="Arial"/>
                <a:cs typeface="Arial"/>
              </a:rPr>
              <a:t>R'O </a:t>
            </a:r>
            <a:r>
              <a:rPr sz="500" spc="-20" dirty="0">
                <a:latin typeface="Arial"/>
                <a:cs typeface="Arial"/>
              </a:rPr>
              <a:t>NHR'</a:t>
            </a:r>
            <a:endParaRPr sz="5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164086" y="3889443"/>
            <a:ext cx="586740" cy="10413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dirty="0">
                <a:latin typeface="Arial"/>
                <a:cs typeface="Arial"/>
              </a:rPr>
              <a:t>R'= -H або </a:t>
            </a:r>
            <a:r>
              <a:rPr sz="500" spc="-20" dirty="0">
                <a:latin typeface="Arial"/>
                <a:cs typeface="Arial"/>
              </a:rPr>
              <a:t>-R-COOH</a:t>
            </a:r>
            <a:endParaRPr sz="5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441673" y="3044308"/>
            <a:ext cx="136525" cy="10413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Arial"/>
                <a:cs typeface="Arial"/>
              </a:rPr>
              <a:t>OR'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11233337" y="3030071"/>
            <a:ext cx="70485" cy="853440"/>
            <a:chOff x="11233337" y="3030071"/>
            <a:chExt cx="70485" cy="853440"/>
          </a:xfrm>
        </p:grpSpPr>
        <p:sp>
          <p:nvSpPr>
            <p:cNvPr id="54" name="object 54"/>
            <p:cNvSpPr/>
            <p:nvPr/>
          </p:nvSpPr>
          <p:spPr>
            <a:xfrm>
              <a:off x="11233328" y="3030080"/>
              <a:ext cx="66675" cy="849630"/>
            </a:xfrm>
            <a:custGeom>
              <a:avLst/>
              <a:gdLst/>
              <a:ahLst/>
              <a:cxnLst/>
              <a:rect l="l" t="t" r="r" b="b"/>
              <a:pathLst>
                <a:path w="66675" h="849629">
                  <a:moveTo>
                    <a:pt x="66319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60591" y="1270"/>
                  </a:lnTo>
                  <a:lnTo>
                    <a:pt x="60591" y="846721"/>
                  </a:lnTo>
                  <a:lnTo>
                    <a:pt x="0" y="846721"/>
                  </a:lnTo>
                  <a:lnTo>
                    <a:pt x="0" y="849261"/>
                  </a:lnTo>
                  <a:lnTo>
                    <a:pt x="66319" y="849261"/>
                  </a:lnTo>
                  <a:lnTo>
                    <a:pt x="66319" y="846721"/>
                  </a:lnTo>
                  <a:lnTo>
                    <a:pt x="66319" y="1270"/>
                  </a:lnTo>
                  <a:lnTo>
                    <a:pt x="663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1235672" y="3033061"/>
              <a:ext cx="67310" cy="849630"/>
            </a:xfrm>
            <a:custGeom>
              <a:avLst/>
              <a:gdLst/>
              <a:ahLst/>
              <a:cxnLst/>
              <a:rect l="l" t="t" r="r" b="b"/>
              <a:pathLst>
                <a:path w="67309" h="849629">
                  <a:moveTo>
                    <a:pt x="67168" y="849078"/>
                  </a:moveTo>
                  <a:lnTo>
                    <a:pt x="0" y="849078"/>
                  </a:lnTo>
                  <a:lnTo>
                    <a:pt x="0" y="847499"/>
                  </a:lnTo>
                  <a:lnTo>
                    <a:pt x="61651" y="847499"/>
                  </a:lnTo>
                  <a:lnTo>
                    <a:pt x="61650" y="1590"/>
                  </a:lnTo>
                  <a:lnTo>
                    <a:pt x="0" y="1590"/>
                  </a:lnTo>
                  <a:lnTo>
                    <a:pt x="0" y="0"/>
                  </a:lnTo>
                  <a:lnTo>
                    <a:pt x="67168" y="0"/>
                  </a:lnTo>
                  <a:lnTo>
                    <a:pt x="67168" y="84907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11299690" y="3832593"/>
            <a:ext cx="71120" cy="125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50" i="1" spc="-50" dirty="0">
                <a:latin typeface="Arial"/>
                <a:cs typeface="Arial"/>
              </a:rPr>
              <a:t>n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0116939" y="3040226"/>
            <a:ext cx="71755" cy="829310"/>
            <a:chOff x="10116939" y="3040226"/>
            <a:chExt cx="71755" cy="829310"/>
          </a:xfrm>
        </p:grpSpPr>
        <p:sp>
          <p:nvSpPr>
            <p:cNvPr id="58" name="object 58"/>
            <p:cNvSpPr/>
            <p:nvPr/>
          </p:nvSpPr>
          <p:spPr>
            <a:xfrm>
              <a:off x="10116934" y="3040227"/>
              <a:ext cx="67310" cy="825500"/>
            </a:xfrm>
            <a:custGeom>
              <a:avLst/>
              <a:gdLst/>
              <a:ahLst/>
              <a:cxnLst/>
              <a:rect l="l" t="t" r="r" b="b"/>
              <a:pathLst>
                <a:path w="67309" h="825500">
                  <a:moveTo>
                    <a:pt x="67170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823887"/>
                  </a:lnTo>
                  <a:lnTo>
                    <a:pt x="0" y="825157"/>
                  </a:lnTo>
                  <a:lnTo>
                    <a:pt x="67170" y="825157"/>
                  </a:lnTo>
                  <a:lnTo>
                    <a:pt x="67170" y="823887"/>
                  </a:lnTo>
                  <a:lnTo>
                    <a:pt x="6578" y="823887"/>
                  </a:lnTo>
                  <a:lnTo>
                    <a:pt x="6578" y="1270"/>
                  </a:lnTo>
                  <a:lnTo>
                    <a:pt x="67170" y="1270"/>
                  </a:lnTo>
                  <a:lnTo>
                    <a:pt x="671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0120122" y="3042815"/>
              <a:ext cx="67310" cy="826135"/>
            </a:xfrm>
            <a:custGeom>
              <a:avLst/>
              <a:gdLst/>
              <a:ahLst/>
              <a:cxnLst/>
              <a:rect l="l" t="t" r="r" b="b"/>
              <a:pathLst>
                <a:path w="67309" h="826135">
                  <a:moveTo>
                    <a:pt x="0" y="0"/>
                  </a:moveTo>
                  <a:lnTo>
                    <a:pt x="67168" y="0"/>
                  </a:lnTo>
                  <a:lnTo>
                    <a:pt x="67168" y="1590"/>
                  </a:lnTo>
                  <a:lnTo>
                    <a:pt x="5836" y="1590"/>
                  </a:lnTo>
                  <a:lnTo>
                    <a:pt x="5836" y="824057"/>
                  </a:lnTo>
                  <a:lnTo>
                    <a:pt x="67168" y="824057"/>
                  </a:lnTo>
                  <a:lnTo>
                    <a:pt x="67168" y="825637"/>
                  </a:lnTo>
                  <a:lnTo>
                    <a:pt x="0" y="82563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0" name="object 6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006548" y="3466369"/>
            <a:ext cx="748707" cy="504171"/>
          </a:xfrm>
          <a:prstGeom prst="rect">
            <a:avLst/>
          </a:prstGeom>
        </p:spPr>
      </p:pic>
      <p:sp>
        <p:nvSpPr>
          <p:cNvPr id="61" name="object 61"/>
          <p:cNvSpPr txBox="1"/>
          <p:nvPr/>
        </p:nvSpPr>
        <p:spPr>
          <a:xfrm>
            <a:off x="7830585" y="3839553"/>
            <a:ext cx="2626871" cy="1384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800" b="1" spc="-10" dirty="0" err="1">
                <a:solidFill>
                  <a:srgbClr val="312783"/>
                </a:solidFill>
                <a:latin typeface="Calibri"/>
                <a:cs typeface="Calibri"/>
              </a:rPr>
              <a:t>Карбоксиметилхітозан</a:t>
            </a:r>
            <a:endParaRPr sz="800" dirty="0">
              <a:latin typeface="Calibri"/>
              <a:cs typeface="Calibri"/>
            </a:endParaRPr>
          </a:p>
        </p:txBody>
      </p:sp>
      <p:pic>
        <p:nvPicPr>
          <p:cNvPr id="62" name="object 6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651492" y="5138699"/>
            <a:ext cx="2189353" cy="1476502"/>
          </a:xfrm>
          <a:prstGeom prst="rect">
            <a:avLst/>
          </a:prstGeom>
        </p:spPr>
      </p:pic>
      <p:grpSp>
        <p:nvGrpSpPr>
          <p:cNvPr id="63" name="object 63"/>
          <p:cNvGrpSpPr/>
          <p:nvPr/>
        </p:nvGrpSpPr>
        <p:grpSpPr>
          <a:xfrm>
            <a:off x="9404731" y="4308640"/>
            <a:ext cx="1715770" cy="734695"/>
            <a:chOff x="9404731" y="4308640"/>
            <a:chExt cx="1715770" cy="734695"/>
          </a:xfrm>
        </p:grpSpPr>
        <p:pic>
          <p:nvPicPr>
            <p:cNvPr id="64" name="object 6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04731" y="4308640"/>
              <a:ext cx="649160" cy="734656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193400" y="4331677"/>
              <a:ext cx="926757" cy="688505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10195914" y="4343517"/>
              <a:ext cx="890269" cy="676910"/>
            </a:xfrm>
            <a:custGeom>
              <a:avLst/>
              <a:gdLst/>
              <a:ahLst/>
              <a:cxnLst/>
              <a:rect l="l" t="t" r="r" b="b"/>
              <a:pathLst>
                <a:path w="890270" h="676910">
                  <a:moveTo>
                    <a:pt x="14378" y="676665"/>
                  </a:moveTo>
                  <a:lnTo>
                    <a:pt x="5533" y="663440"/>
                  </a:lnTo>
                  <a:lnTo>
                    <a:pt x="0" y="635892"/>
                  </a:lnTo>
                  <a:lnTo>
                    <a:pt x="0" y="70702"/>
                  </a:lnTo>
                  <a:lnTo>
                    <a:pt x="5532" y="43152"/>
                  </a:lnTo>
                  <a:lnTo>
                    <a:pt x="20559" y="20682"/>
                  </a:lnTo>
                  <a:lnTo>
                    <a:pt x="42722" y="5546"/>
                  </a:lnTo>
                  <a:lnTo>
                    <a:pt x="69667" y="0"/>
                  </a:lnTo>
                  <a:lnTo>
                    <a:pt x="819492" y="0"/>
                  </a:lnTo>
                  <a:lnTo>
                    <a:pt x="869548" y="20682"/>
                  </a:lnTo>
                  <a:lnTo>
                    <a:pt x="890246" y="70702"/>
                  </a:lnTo>
                  <a:lnTo>
                    <a:pt x="890246" y="635892"/>
                  </a:lnTo>
                  <a:lnTo>
                    <a:pt x="884696" y="663440"/>
                  </a:lnTo>
                  <a:lnTo>
                    <a:pt x="875780" y="676665"/>
                  </a:lnTo>
                </a:path>
              </a:pathLst>
            </a:custGeom>
            <a:ln w="150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/>
          <p:nvPr/>
        </p:nvSpPr>
        <p:spPr>
          <a:xfrm>
            <a:off x="0" y="774954"/>
            <a:ext cx="923925" cy="63500"/>
          </a:xfrm>
          <a:custGeom>
            <a:avLst/>
            <a:gdLst/>
            <a:ahLst/>
            <a:cxnLst/>
            <a:rect l="l" t="t" r="r" b="b"/>
            <a:pathLst>
              <a:path w="923925" h="63500">
                <a:moveTo>
                  <a:pt x="923315" y="0"/>
                </a:moveTo>
                <a:lnTo>
                  <a:pt x="0" y="0"/>
                </a:lnTo>
                <a:lnTo>
                  <a:pt x="0" y="63500"/>
                </a:lnTo>
                <a:lnTo>
                  <a:pt x="923315" y="63500"/>
                </a:lnTo>
                <a:lnTo>
                  <a:pt x="923315" y="0"/>
                </a:lnTo>
                <a:close/>
              </a:path>
            </a:pathLst>
          </a:custGeom>
          <a:solidFill>
            <a:srgbClr val="636A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6439040" y="2509989"/>
            <a:ext cx="1244600" cy="49821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050" b="1" i="1" dirty="0">
                <a:solidFill>
                  <a:srgbClr val="312783"/>
                </a:solidFill>
                <a:latin typeface="Calibri"/>
                <a:cs typeface="Calibri"/>
              </a:rPr>
              <a:t>Agaricus </a:t>
            </a:r>
            <a:r>
              <a:rPr sz="1050" b="1" i="1" spc="-10" dirty="0">
                <a:solidFill>
                  <a:srgbClr val="312783"/>
                </a:solidFill>
                <a:latin typeface="Calibri"/>
                <a:cs typeface="Calibri"/>
              </a:rPr>
              <a:t>bisporus</a:t>
            </a:r>
            <a:endParaRPr sz="105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050" b="1" spc="-50" dirty="0">
                <a:solidFill>
                  <a:srgbClr val="312783"/>
                </a:solidFill>
                <a:latin typeface="Calibri"/>
                <a:cs typeface="Calibri"/>
              </a:rPr>
              <a:t>«</a:t>
            </a:r>
            <a:r>
              <a:rPr sz="1050" b="1" dirty="0" err="1">
                <a:solidFill>
                  <a:srgbClr val="312783"/>
                </a:solidFill>
                <a:latin typeface="Calibri"/>
                <a:cs typeface="Calibri"/>
              </a:rPr>
              <a:t>Печериця</a:t>
            </a:r>
            <a:r>
              <a:rPr sz="1050" b="1" dirty="0">
                <a:solidFill>
                  <a:srgbClr val="312783"/>
                </a:solidFill>
                <a:latin typeface="Calibri"/>
                <a:cs typeface="Calibri"/>
              </a:rPr>
              <a:t> </a:t>
            </a:r>
            <a:r>
              <a:rPr sz="1050" b="1" dirty="0" err="1">
                <a:solidFill>
                  <a:srgbClr val="312783"/>
                </a:solidFill>
                <a:latin typeface="Calibri"/>
                <a:cs typeface="Calibri"/>
              </a:rPr>
              <a:t>дво</a:t>
            </a:r>
            <a:r>
              <a:rPr lang="uk-UA" sz="1050" b="1" dirty="0">
                <a:solidFill>
                  <a:srgbClr val="312783"/>
                </a:solidFill>
                <a:latin typeface="Calibri"/>
                <a:cs typeface="Calibri"/>
              </a:rPr>
              <a:t>спорова</a:t>
            </a:r>
            <a:r>
              <a:rPr sz="1050" b="1" spc="-50" dirty="0">
                <a:solidFill>
                  <a:srgbClr val="312783"/>
                </a:solidFill>
                <a:latin typeface="Calibri"/>
                <a:cs typeface="Calibri"/>
              </a:rPr>
              <a:t>»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8857995" y="5471159"/>
            <a:ext cx="648335" cy="377190"/>
          </a:xfrm>
          <a:custGeom>
            <a:avLst/>
            <a:gdLst/>
            <a:ahLst/>
            <a:cxnLst/>
            <a:rect l="l" t="t" r="r" b="b"/>
            <a:pathLst>
              <a:path w="648334" h="377189">
                <a:moveTo>
                  <a:pt x="163800" y="58202"/>
                </a:moveTo>
                <a:lnTo>
                  <a:pt x="136054" y="108204"/>
                </a:lnTo>
                <a:lnTo>
                  <a:pt x="620395" y="377151"/>
                </a:lnTo>
                <a:lnTo>
                  <a:pt x="648080" y="327190"/>
                </a:lnTo>
                <a:lnTo>
                  <a:pt x="163800" y="58202"/>
                </a:lnTo>
                <a:close/>
              </a:path>
              <a:path w="648334" h="377189">
                <a:moveTo>
                  <a:pt x="0" y="0"/>
                </a:moveTo>
                <a:lnTo>
                  <a:pt x="108330" y="158165"/>
                </a:lnTo>
                <a:lnTo>
                  <a:pt x="136054" y="108204"/>
                </a:lnTo>
                <a:lnTo>
                  <a:pt x="111125" y="94360"/>
                </a:lnTo>
                <a:lnTo>
                  <a:pt x="138810" y="44322"/>
                </a:lnTo>
                <a:lnTo>
                  <a:pt x="171501" y="44322"/>
                </a:lnTo>
                <a:lnTo>
                  <a:pt x="191515" y="8254"/>
                </a:lnTo>
                <a:lnTo>
                  <a:pt x="0" y="0"/>
                </a:lnTo>
                <a:close/>
              </a:path>
              <a:path w="648334" h="377189">
                <a:moveTo>
                  <a:pt x="138810" y="44322"/>
                </a:moveTo>
                <a:lnTo>
                  <a:pt x="111125" y="94360"/>
                </a:lnTo>
                <a:lnTo>
                  <a:pt x="136054" y="108204"/>
                </a:lnTo>
                <a:lnTo>
                  <a:pt x="163800" y="58202"/>
                </a:lnTo>
                <a:lnTo>
                  <a:pt x="138810" y="44322"/>
                </a:lnTo>
                <a:close/>
              </a:path>
              <a:path w="648334" h="377189">
                <a:moveTo>
                  <a:pt x="171501" y="44322"/>
                </a:moveTo>
                <a:lnTo>
                  <a:pt x="138810" y="44322"/>
                </a:lnTo>
                <a:lnTo>
                  <a:pt x="163800" y="58202"/>
                </a:lnTo>
                <a:lnTo>
                  <a:pt x="171501" y="4432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1" name="object 7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178420" y="4738204"/>
            <a:ext cx="1590675" cy="1181100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351155" y="4816254"/>
            <a:ext cx="6557673" cy="1687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uk-UA" sz="1800" b="1" u="sng" spc="-10" dirty="0">
                <a:solidFill>
                  <a:srgbClr val="2E2E81"/>
                </a:solidFill>
                <a:uFill>
                  <a:solidFill>
                    <a:srgbClr val="2E2E81"/>
                  </a:solidFill>
                </a:uFill>
                <a:latin typeface="Calibri"/>
                <a:cs typeface="Calibri"/>
              </a:rPr>
              <a:t>Ексклюзивна позиція</a:t>
            </a:r>
          </a:p>
          <a:p>
            <a:pPr algn="just">
              <a:lnSpc>
                <a:spcPct val="100000"/>
              </a:lnSpc>
              <a:spcBef>
                <a:spcPts val="105"/>
              </a:spcBef>
            </a:pPr>
            <a:r>
              <a:rPr lang="en-US" sz="1800" b="1" spc="-10" dirty="0" err="1">
                <a:solidFill>
                  <a:srgbClr val="2E2E81"/>
                </a:solidFill>
                <a:uFill>
                  <a:solidFill>
                    <a:srgbClr val="2E2E81"/>
                  </a:solidFill>
                </a:uFill>
                <a:latin typeface="Calibri"/>
                <a:cs typeface="Calibri"/>
              </a:rPr>
              <a:t>KiOmed</a:t>
            </a:r>
            <a:r>
              <a:rPr lang="en-US" sz="1800" b="1" spc="-10" dirty="0">
                <a:solidFill>
                  <a:srgbClr val="2E2E81"/>
                </a:solidFill>
                <a:uFill>
                  <a:solidFill>
                    <a:srgbClr val="2E2E81"/>
                  </a:solidFill>
                </a:uFill>
                <a:latin typeface="Calibri"/>
                <a:cs typeface="Calibri"/>
              </a:rPr>
              <a:t> Pharma </a:t>
            </a:r>
            <a:r>
              <a:rPr lang="uk-UA" sz="1800" b="1" spc="-10" dirty="0">
                <a:solidFill>
                  <a:srgbClr val="2E2E81"/>
                </a:solidFill>
                <a:uFill>
                  <a:solidFill>
                    <a:srgbClr val="2E2E81"/>
                  </a:solidFill>
                </a:uFill>
                <a:latin typeface="Calibri"/>
                <a:cs typeface="Calibri"/>
              </a:rPr>
              <a:t>є єдиною компанією в світі, яка здатна видобувати </a:t>
            </a:r>
            <a:r>
              <a:rPr lang="uk-UA" sz="1800" b="1" spc="-10" dirty="0" err="1">
                <a:solidFill>
                  <a:srgbClr val="2E2E81"/>
                </a:solidFill>
                <a:uFill>
                  <a:solidFill>
                    <a:srgbClr val="2E2E81"/>
                  </a:solidFill>
                </a:uFill>
                <a:latin typeface="Calibri"/>
                <a:cs typeface="Calibri"/>
              </a:rPr>
              <a:t>ультрачистий</a:t>
            </a:r>
            <a:r>
              <a:rPr lang="uk-UA" sz="1800" b="1" spc="-10" dirty="0">
                <a:solidFill>
                  <a:srgbClr val="2E2E81"/>
                </a:solidFill>
                <a:uFill>
                  <a:solidFill>
                    <a:srgbClr val="2E2E81"/>
                  </a:solidFill>
                </a:uFill>
                <a:latin typeface="Calibri"/>
                <a:cs typeface="Calibri"/>
              </a:rPr>
              <a:t> </a:t>
            </a:r>
            <a:r>
              <a:rPr lang="uk-UA" sz="1800" b="1" spc="-10" dirty="0" err="1">
                <a:solidFill>
                  <a:srgbClr val="2E2E81"/>
                </a:solidFill>
                <a:uFill>
                  <a:solidFill>
                    <a:srgbClr val="2E2E81"/>
                  </a:solidFill>
                </a:uFill>
                <a:latin typeface="Calibri"/>
                <a:cs typeface="Calibri"/>
              </a:rPr>
              <a:t>хітозан</a:t>
            </a:r>
            <a:r>
              <a:rPr lang="uk-UA" sz="1800" b="1" spc="-10" dirty="0">
                <a:solidFill>
                  <a:srgbClr val="2E2E81"/>
                </a:solidFill>
                <a:uFill>
                  <a:solidFill>
                    <a:srgbClr val="2E2E81"/>
                  </a:solidFill>
                </a:uFill>
                <a:latin typeface="Calibri"/>
                <a:cs typeface="Calibri"/>
              </a:rPr>
              <a:t> рослинного походження (з їстівних грибів </a:t>
            </a:r>
            <a:r>
              <a:rPr lang="en-US" sz="1800" b="1" i="1" dirty="0">
                <a:solidFill>
                  <a:srgbClr val="312783"/>
                </a:solidFill>
                <a:latin typeface="Calibri"/>
                <a:cs typeface="Calibri"/>
              </a:rPr>
              <a:t>Agaricus </a:t>
            </a:r>
            <a:r>
              <a:rPr lang="en-US" sz="1800" b="1" i="1" spc="-10" dirty="0">
                <a:solidFill>
                  <a:srgbClr val="312783"/>
                </a:solidFill>
                <a:latin typeface="Calibri"/>
                <a:cs typeface="Calibri"/>
              </a:rPr>
              <a:t>bisporus</a:t>
            </a:r>
            <a:r>
              <a:rPr lang="uk-UA" i="1" dirty="0">
                <a:latin typeface="Calibri"/>
                <a:cs typeface="Calibri"/>
              </a:rPr>
              <a:t> </a:t>
            </a:r>
            <a:r>
              <a:rPr lang="en-US" sz="1800" b="1" spc="-50" dirty="0">
                <a:solidFill>
                  <a:srgbClr val="312783"/>
                </a:solidFill>
                <a:latin typeface="Calibri"/>
                <a:cs typeface="Calibri"/>
              </a:rPr>
              <a:t>«</a:t>
            </a:r>
            <a:r>
              <a:rPr lang="uk-UA" sz="1800" b="1" dirty="0">
                <a:solidFill>
                  <a:srgbClr val="312783"/>
                </a:solidFill>
                <a:latin typeface="Calibri"/>
                <a:cs typeface="Calibri"/>
              </a:rPr>
              <a:t>Печериця </a:t>
            </a:r>
            <a:r>
              <a:rPr lang="uk-UA" sz="1800" b="1" dirty="0" err="1">
                <a:solidFill>
                  <a:srgbClr val="312783"/>
                </a:solidFill>
                <a:latin typeface="Calibri"/>
                <a:cs typeface="Calibri"/>
              </a:rPr>
              <a:t>двоспорова</a:t>
            </a:r>
            <a:r>
              <a:rPr lang="uk-UA" sz="1800" b="1" spc="-50" dirty="0">
                <a:solidFill>
                  <a:srgbClr val="312783"/>
                </a:solidFill>
                <a:latin typeface="Calibri"/>
                <a:cs typeface="Calibri"/>
              </a:rPr>
              <a:t>»</a:t>
            </a:r>
            <a:r>
              <a:rPr lang="uk-UA" sz="1800" b="1" spc="-10" dirty="0">
                <a:solidFill>
                  <a:srgbClr val="2E2E81"/>
                </a:solidFill>
                <a:uFill>
                  <a:solidFill>
                    <a:srgbClr val="2E2E81"/>
                  </a:solidFill>
                </a:uFill>
                <a:latin typeface="Calibri"/>
                <a:cs typeface="Calibri"/>
              </a:rPr>
              <a:t>) та виробляти його за стандартами </a:t>
            </a:r>
            <a:r>
              <a:rPr lang="en-US" sz="1800" b="1" spc="-10" dirty="0">
                <a:solidFill>
                  <a:srgbClr val="2E2E81"/>
                </a:solidFill>
                <a:uFill>
                  <a:solidFill>
                    <a:srgbClr val="2E2E81"/>
                  </a:solidFill>
                </a:uFill>
                <a:latin typeface="Calibri"/>
                <a:cs typeface="Calibri"/>
              </a:rPr>
              <a:t>GMP </a:t>
            </a:r>
            <a:r>
              <a:rPr lang="uk-UA" sz="1800" b="1" spc="-10" dirty="0">
                <a:solidFill>
                  <a:srgbClr val="2E2E81"/>
                </a:solidFill>
                <a:uFill>
                  <a:solidFill>
                    <a:srgbClr val="2E2E81"/>
                  </a:solidFill>
                </a:uFill>
                <a:latin typeface="Calibri"/>
                <a:cs typeface="Calibri"/>
              </a:rPr>
              <a:t>на заводі, сертифікованому за </a:t>
            </a:r>
            <a:r>
              <a:rPr lang="en-US" sz="1800" b="1" spc="-10" dirty="0">
                <a:solidFill>
                  <a:srgbClr val="2E2E81"/>
                </a:solidFill>
                <a:uFill>
                  <a:solidFill>
                    <a:srgbClr val="2E2E81"/>
                  </a:solidFill>
                </a:uFill>
                <a:latin typeface="Calibri"/>
                <a:cs typeface="Calibri"/>
              </a:rPr>
              <a:t>ISO13485, </a:t>
            </a:r>
            <a:r>
              <a:rPr lang="uk-UA" sz="1800" b="1" spc="-10" dirty="0">
                <a:solidFill>
                  <a:srgbClr val="2E2E81"/>
                </a:solidFill>
                <a:uFill>
                  <a:solidFill>
                    <a:srgbClr val="2E2E81"/>
                  </a:solidFill>
                </a:uFill>
                <a:latin typeface="Calibri"/>
                <a:cs typeface="Calibri"/>
              </a:rPr>
              <a:t>для клінічного та комерційного застосування.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871841" y="5678220"/>
            <a:ext cx="14039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312783"/>
                </a:solidFill>
                <a:latin typeface="Calibri"/>
                <a:cs typeface="Calibri"/>
              </a:rPr>
              <a:t>Попередньо заповнений </a:t>
            </a:r>
            <a:r>
              <a:rPr sz="1600" spc="-10" dirty="0">
                <a:solidFill>
                  <a:srgbClr val="312783"/>
                </a:solidFill>
                <a:latin typeface="Calibri"/>
                <a:cs typeface="Calibri"/>
              </a:rPr>
              <a:t>шприц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734339" y="3704511"/>
            <a:ext cx="115062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312783"/>
                </a:solidFill>
                <a:latin typeface="Calibri"/>
                <a:cs typeface="Calibri"/>
              </a:rPr>
              <a:t>(KiOmedine® </a:t>
            </a:r>
            <a:r>
              <a:rPr sz="800" spc="-10" dirty="0">
                <a:solidFill>
                  <a:srgbClr val="312783"/>
                </a:solidFill>
                <a:latin typeface="Calibri"/>
                <a:cs typeface="Calibri"/>
              </a:rPr>
              <a:t>CM-Chitosan)</a:t>
            </a:r>
            <a:endParaRPr sz="800" dirty="0">
              <a:latin typeface="Calibri"/>
              <a:cs typeface="Calibri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E4A9800-0F65-AF3F-323C-9338E8CE1C34}"/>
              </a:ext>
            </a:extLst>
          </p:cNvPr>
          <p:cNvSpPr txBox="1"/>
          <p:nvPr/>
        </p:nvSpPr>
        <p:spPr>
          <a:xfrm>
            <a:off x="479820" y="4409366"/>
            <a:ext cx="89960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985634">
              <a:lnSpc>
                <a:spcPct val="100000"/>
              </a:lnSpc>
              <a:spcBef>
                <a:spcPts val="95"/>
              </a:spcBef>
            </a:pPr>
            <a:r>
              <a:rPr lang="uk-UA" sz="1400" b="1" spc="-10" dirty="0" err="1">
                <a:solidFill>
                  <a:srgbClr val="312783"/>
                </a:solidFill>
                <a:latin typeface="Calibri"/>
                <a:cs typeface="Calibri"/>
              </a:rPr>
              <a:t>Остеоартрит</a:t>
            </a:r>
            <a:endParaRPr lang="uk-UA" sz="1400" dirty="0">
              <a:latin typeface="Calibri"/>
              <a:cs typeface="Calibri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0CA6F40-4DE0-D33F-A35D-9891F6925F85}"/>
              </a:ext>
            </a:extLst>
          </p:cNvPr>
          <p:cNvSpPr txBox="1"/>
          <p:nvPr/>
        </p:nvSpPr>
        <p:spPr>
          <a:xfrm>
            <a:off x="6660363" y="2295766"/>
            <a:ext cx="13508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lang="uk-UA" sz="1100" b="1" spc="-10" dirty="0">
                <a:solidFill>
                  <a:srgbClr val="312783"/>
                </a:solidFill>
                <a:latin typeface="Calibri"/>
                <a:cs typeface="Calibri"/>
              </a:rPr>
              <a:t>ДЖЕРЕЛО</a:t>
            </a:r>
            <a:endParaRPr lang="uk-UA" sz="1100" dirty="0">
              <a:latin typeface="Calibri"/>
              <a:cs typeface="Calibri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043E8BA-A888-AF3C-6165-59DF46965ED5}"/>
              </a:ext>
            </a:extLst>
          </p:cNvPr>
          <p:cNvSpPr txBox="1"/>
          <p:nvPr/>
        </p:nvSpPr>
        <p:spPr>
          <a:xfrm>
            <a:off x="6368655" y="1834665"/>
            <a:ext cx="2565364" cy="39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42340" marR="5080" indent="133350" algn="l">
              <a:lnSpc>
                <a:spcPct val="101699"/>
              </a:lnSpc>
              <a:spcBef>
                <a:spcPts val="90"/>
              </a:spcBef>
            </a:pPr>
            <a:r>
              <a:rPr lang="uk-UA" sz="1000" spc="-30" dirty="0">
                <a:solidFill>
                  <a:srgbClr val="312783"/>
                </a:solidFill>
                <a:latin typeface="Century Gothic"/>
                <a:cs typeface="Century Gothic"/>
              </a:rPr>
              <a:t>Додаткова </a:t>
            </a:r>
            <a:r>
              <a:rPr lang="uk-UA" sz="1000" spc="-10" dirty="0">
                <a:solidFill>
                  <a:srgbClr val="312783"/>
                </a:solidFill>
                <a:latin typeface="Century Gothic"/>
                <a:cs typeface="Century Gothic"/>
              </a:rPr>
              <a:t>очистка </a:t>
            </a:r>
            <a:r>
              <a:rPr lang="uk-UA" sz="1000" spc="60" dirty="0">
                <a:solidFill>
                  <a:srgbClr val="312783"/>
                </a:solidFill>
                <a:latin typeface="Century Gothic"/>
                <a:cs typeface="Century Gothic"/>
              </a:rPr>
              <a:t>та </a:t>
            </a:r>
            <a:r>
              <a:rPr lang="uk-UA" sz="1000" spc="-10" dirty="0">
                <a:solidFill>
                  <a:srgbClr val="312783"/>
                </a:solidFill>
                <a:latin typeface="Century Gothic"/>
                <a:cs typeface="Century Gothic"/>
              </a:rPr>
              <a:t>очищення</a:t>
            </a:r>
            <a:endParaRPr lang="uk-UA" sz="1000" dirty="0">
              <a:latin typeface="Century Gothic"/>
              <a:cs typeface="Century Gothic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27480E2-EEBC-2D68-8029-5DDD844B84E0}"/>
              </a:ext>
            </a:extLst>
          </p:cNvPr>
          <p:cNvSpPr txBox="1"/>
          <p:nvPr/>
        </p:nvSpPr>
        <p:spPr>
          <a:xfrm>
            <a:off x="7335769" y="3422516"/>
            <a:ext cx="6105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0979">
              <a:lnSpc>
                <a:spcPct val="100000"/>
              </a:lnSpc>
              <a:spcBef>
                <a:spcPts val="120"/>
              </a:spcBef>
            </a:pPr>
            <a:r>
              <a:rPr lang="uk-UA" sz="1400" b="1" spc="-20" dirty="0">
                <a:solidFill>
                  <a:srgbClr val="312783"/>
                </a:solidFill>
                <a:latin typeface="Century Gothic"/>
                <a:cs typeface="Century Gothic"/>
              </a:rPr>
              <a:t>Функціональна </a:t>
            </a:r>
            <a:r>
              <a:rPr lang="uk-UA" sz="1400" b="1" spc="-50" dirty="0">
                <a:solidFill>
                  <a:srgbClr val="312783"/>
                </a:solidFill>
                <a:latin typeface="Century Gothic"/>
                <a:cs typeface="Century Gothic"/>
              </a:rPr>
              <a:t>група</a:t>
            </a:r>
            <a:endParaRPr lang="uk-UA" sz="14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13"/>
          <p:cNvGrpSpPr/>
          <p:nvPr/>
        </p:nvGrpSpPr>
        <p:grpSpPr>
          <a:xfrm>
            <a:off x="2634360" y="4655538"/>
            <a:ext cx="3484245" cy="2414905"/>
            <a:chOff x="1446275" y="4158360"/>
            <a:chExt cx="3484245" cy="2414905"/>
          </a:xfrm>
        </p:grpSpPr>
        <p:sp>
          <p:nvSpPr>
            <p:cNvPr id="14" name="object 14"/>
            <p:cNvSpPr/>
            <p:nvPr/>
          </p:nvSpPr>
          <p:spPr>
            <a:xfrm>
              <a:off x="1872487" y="4702301"/>
              <a:ext cx="2459355" cy="1306830"/>
            </a:xfrm>
            <a:custGeom>
              <a:avLst/>
              <a:gdLst/>
              <a:ahLst/>
              <a:cxnLst/>
              <a:rect l="l" t="t" r="r" b="b"/>
              <a:pathLst>
                <a:path w="2459354" h="1306829">
                  <a:moveTo>
                    <a:pt x="2143887" y="0"/>
                  </a:moveTo>
                  <a:lnTo>
                    <a:pt x="58166" y="0"/>
                  </a:lnTo>
                  <a:lnTo>
                    <a:pt x="0" y="100075"/>
                  </a:lnTo>
                  <a:lnTo>
                    <a:pt x="4063" y="1000175"/>
                  </a:lnTo>
                  <a:lnTo>
                    <a:pt x="1644523" y="990879"/>
                  </a:lnTo>
                  <a:lnTo>
                    <a:pt x="1648333" y="1081265"/>
                  </a:lnTo>
                  <a:lnTo>
                    <a:pt x="1598040" y="1083310"/>
                  </a:lnTo>
                  <a:lnTo>
                    <a:pt x="1590166" y="1068730"/>
                  </a:lnTo>
                  <a:lnTo>
                    <a:pt x="856869" y="1129093"/>
                  </a:lnTo>
                  <a:lnTo>
                    <a:pt x="841375" y="1166698"/>
                  </a:lnTo>
                  <a:lnTo>
                    <a:pt x="829691" y="1129093"/>
                  </a:lnTo>
                  <a:lnTo>
                    <a:pt x="647826" y="1139583"/>
                  </a:lnTo>
                  <a:lnTo>
                    <a:pt x="624459" y="1162596"/>
                  </a:lnTo>
                  <a:lnTo>
                    <a:pt x="628269" y="1262608"/>
                  </a:lnTo>
                  <a:lnTo>
                    <a:pt x="665099" y="1285633"/>
                  </a:lnTo>
                  <a:lnTo>
                    <a:pt x="835406" y="1269009"/>
                  </a:lnTo>
                  <a:lnTo>
                    <a:pt x="839216" y="1216825"/>
                  </a:lnTo>
                  <a:lnTo>
                    <a:pt x="866267" y="1262608"/>
                  </a:lnTo>
                  <a:lnTo>
                    <a:pt x="1613153" y="1198156"/>
                  </a:lnTo>
                  <a:lnTo>
                    <a:pt x="1615059" y="1173086"/>
                  </a:lnTo>
                  <a:lnTo>
                    <a:pt x="1644014" y="1171041"/>
                  </a:lnTo>
                  <a:lnTo>
                    <a:pt x="1649729" y="1208646"/>
                  </a:lnTo>
                  <a:lnTo>
                    <a:pt x="1684654" y="1266964"/>
                  </a:lnTo>
                  <a:lnTo>
                    <a:pt x="1731010" y="1306614"/>
                  </a:lnTo>
                  <a:lnTo>
                    <a:pt x="1769745" y="1306614"/>
                  </a:lnTo>
                  <a:lnTo>
                    <a:pt x="1767839" y="1154417"/>
                  </a:lnTo>
                  <a:lnTo>
                    <a:pt x="2423667" y="1096098"/>
                  </a:lnTo>
                  <a:lnTo>
                    <a:pt x="2429383" y="1116812"/>
                  </a:lnTo>
                  <a:lnTo>
                    <a:pt x="2452751" y="1116812"/>
                  </a:lnTo>
                  <a:lnTo>
                    <a:pt x="2455922" y="1103676"/>
                  </a:lnTo>
                  <a:lnTo>
                    <a:pt x="2459259" y="1069462"/>
                  </a:lnTo>
                  <a:lnTo>
                    <a:pt x="2453501" y="1021963"/>
                  </a:lnTo>
                  <a:lnTo>
                    <a:pt x="2429383" y="968971"/>
                  </a:lnTo>
                  <a:lnTo>
                    <a:pt x="2410206" y="962837"/>
                  </a:lnTo>
                  <a:lnTo>
                    <a:pt x="2408301" y="985850"/>
                  </a:lnTo>
                  <a:lnTo>
                    <a:pt x="1773809" y="1058748"/>
                  </a:lnTo>
                  <a:lnTo>
                    <a:pt x="1754632" y="990257"/>
                  </a:lnTo>
                  <a:lnTo>
                    <a:pt x="2217292" y="987640"/>
                  </a:lnTo>
                  <a:lnTo>
                    <a:pt x="2213483" y="91821"/>
                  </a:lnTo>
                  <a:lnTo>
                    <a:pt x="2143887" y="0"/>
                  </a:lnTo>
                  <a:close/>
                </a:path>
              </a:pathLst>
            </a:custGeom>
            <a:solidFill>
              <a:srgbClr val="79C3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72487" y="4702301"/>
              <a:ext cx="2459355" cy="1306830"/>
            </a:xfrm>
            <a:custGeom>
              <a:avLst/>
              <a:gdLst/>
              <a:ahLst/>
              <a:cxnLst/>
              <a:rect l="l" t="t" r="r" b="b"/>
              <a:pathLst>
                <a:path w="2459354" h="1306829">
                  <a:moveTo>
                    <a:pt x="58166" y="0"/>
                  </a:moveTo>
                  <a:lnTo>
                    <a:pt x="2143887" y="0"/>
                  </a:lnTo>
                  <a:lnTo>
                    <a:pt x="2213483" y="91821"/>
                  </a:lnTo>
                  <a:lnTo>
                    <a:pt x="2217292" y="987640"/>
                  </a:lnTo>
                  <a:lnTo>
                    <a:pt x="1754632" y="990257"/>
                  </a:lnTo>
                  <a:lnTo>
                    <a:pt x="1773809" y="1058748"/>
                  </a:lnTo>
                  <a:lnTo>
                    <a:pt x="2408301" y="985850"/>
                  </a:lnTo>
                  <a:lnTo>
                    <a:pt x="2410206" y="962837"/>
                  </a:lnTo>
                  <a:lnTo>
                    <a:pt x="2429383" y="968971"/>
                  </a:lnTo>
                  <a:lnTo>
                    <a:pt x="2453501" y="1021963"/>
                  </a:lnTo>
                  <a:lnTo>
                    <a:pt x="2459259" y="1069462"/>
                  </a:lnTo>
                  <a:lnTo>
                    <a:pt x="2455922" y="1103676"/>
                  </a:lnTo>
                  <a:lnTo>
                    <a:pt x="2452751" y="1116812"/>
                  </a:lnTo>
                  <a:lnTo>
                    <a:pt x="2429383" y="1116812"/>
                  </a:lnTo>
                  <a:lnTo>
                    <a:pt x="2423667" y="1096098"/>
                  </a:lnTo>
                  <a:lnTo>
                    <a:pt x="1767839" y="1154417"/>
                  </a:lnTo>
                  <a:lnTo>
                    <a:pt x="1769745" y="1306614"/>
                  </a:lnTo>
                  <a:lnTo>
                    <a:pt x="1731010" y="1306614"/>
                  </a:lnTo>
                  <a:lnTo>
                    <a:pt x="1684654" y="1266964"/>
                  </a:lnTo>
                  <a:lnTo>
                    <a:pt x="1649729" y="1208646"/>
                  </a:lnTo>
                  <a:lnTo>
                    <a:pt x="1644014" y="1171041"/>
                  </a:lnTo>
                  <a:lnTo>
                    <a:pt x="1615059" y="1173086"/>
                  </a:lnTo>
                  <a:lnTo>
                    <a:pt x="1613153" y="1198156"/>
                  </a:lnTo>
                  <a:lnTo>
                    <a:pt x="866267" y="1262608"/>
                  </a:lnTo>
                  <a:lnTo>
                    <a:pt x="839216" y="1216825"/>
                  </a:lnTo>
                  <a:lnTo>
                    <a:pt x="835406" y="1269009"/>
                  </a:lnTo>
                  <a:lnTo>
                    <a:pt x="665099" y="1285633"/>
                  </a:lnTo>
                  <a:lnTo>
                    <a:pt x="628269" y="1262608"/>
                  </a:lnTo>
                  <a:lnTo>
                    <a:pt x="624459" y="1162596"/>
                  </a:lnTo>
                  <a:lnTo>
                    <a:pt x="647826" y="1139583"/>
                  </a:lnTo>
                  <a:lnTo>
                    <a:pt x="829691" y="1129093"/>
                  </a:lnTo>
                  <a:lnTo>
                    <a:pt x="841375" y="1166698"/>
                  </a:lnTo>
                  <a:lnTo>
                    <a:pt x="856869" y="1129093"/>
                  </a:lnTo>
                  <a:lnTo>
                    <a:pt x="1590166" y="1068730"/>
                  </a:lnTo>
                  <a:lnTo>
                    <a:pt x="1598040" y="1083310"/>
                  </a:lnTo>
                  <a:lnTo>
                    <a:pt x="1648333" y="1081265"/>
                  </a:lnTo>
                  <a:lnTo>
                    <a:pt x="1644523" y="990879"/>
                  </a:lnTo>
                  <a:lnTo>
                    <a:pt x="4063" y="1000175"/>
                  </a:lnTo>
                  <a:lnTo>
                    <a:pt x="0" y="100075"/>
                  </a:lnTo>
                  <a:lnTo>
                    <a:pt x="58166" y="0"/>
                  </a:lnTo>
                  <a:close/>
                </a:path>
              </a:pathLst>
            </a:custGeom>
            <a:ln w="444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6275" y="4373867"/>
              <a:ext cx="3483864" cy="219925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41728" y="4568863"/>
              <a:ext cx="2914396" cy="162890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541398" y="4158360"/>
              <a:ext cx="1026794" cy="424815"/>
            </a:xfrm>
            <a:custGeom>
              <a:avLst/>
              <a:gdLst/>
              <a:ahLst/>
              <a:cxnLst/>
              <a:rect l="l" t="t" r="r" b="b"/>
              <a:pathLst>
                <a:path w="1026794" h="424814">
                  <a:moveTo>
                    <a:pt x="0" y="0"/>
                  </a:moveTo>
                  <a:lnTo>
                    <a:pt x="76200" y="424306"/>
                  </a:lnTo>
                  <a:lnTo>
                    <a:pt x="1026668" y="2376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" name="object 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6253" y="5991173"/>
            <a:ext cx="965886" cy="65741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789241"/>
            <a:ext cx="785495" cy="28575"/>
          </a:xfrm>
          <a:custGeom>
            <a:avLst/>
            <a:gdLst/>
            <a:ahLst/>
            <a:cxnLst/>
            <a:rect l="l" t="t" r="r" b="b"/>
            <a:pathLst>
              <a:path w="785494" h="28575">
                <a:moveTo>
                  <a:pt x="785444" y="0"/>
                </a:moveTo>
                <a:lnTo>
                  <a:pt x="0" y="0"/>
                </a:lnTo>
                <a:lnTo>
                  <a:pt x="0" y="28575"/>
                </a:lnTo>
                <a:lnTo>
                  <a:pt x="785444" y="28575"/>
                </a:lnTo>
                <a:lnTo>
                  <a:pt x="785444" y="0"/>
                </a:lnTo>
                <a:close/>
              </a:path>
            </a:pathLst>
          </a:custGeom>
          <a:solidFill>
            <a:srgbClr val="A8B8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106657" y="6487972"/>
            <a:ext cx="1555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113526" y="0"/>
            <a:ext cx="6078855" cy="6858000"/>
            <a:chOff x="6113526" y="0"/>
            <a:chExt cx="6078855" cy="6858000"/>
          </a:xfrm>
        </p:grpSpPr>
        <p:sp>
          <p:nvSpPr>
            <p:cNvPr id="6" name="object 6"/>
            <p:cNvSpPr/>
            <p:nvPr/>
          </p:nvSpPr>
          <p:spPr>
            <a:xfrm>
              <a:off x="6113526" y="0"/>
              <a:ext cx="6078855" cy="6858000"/>
            </a:xfrm>
            <a:custGeom>
              <a:avLst/>
              <a:gdLst/>
              <a:ahLst/>
              <a:cxnLst/>
              <a:rect l="l" t="t" r="r" b="b"/>
              <a:pathLst>
                <a:path w="6078855" h="6858000">
                  <a:moveTo>
                    <a:pt x="0" y="0"/>
                  </a:moveTo>
                  <a:lnTo>
                    <a:pt x="0" y="6858000"/>
                  </a:lnTo>
                  <a:lnTo>
                    <a:pt x="6078474" y="6858000"/>
                  </a:lnTo>
                  <a:lnTo>
                    <a:pt x="60784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49262" y="3200780"/>
              <a:ext cx="927100" cy="935355"/>
            </a:xfrm>
            <a:custGeom>
              <a:avLst/>
              <a:gdLst/>
              <a:ahLst/>
              <a:cxnLst/>
              <a:rect l="l" t="t" r="r" b="b"/>
              <a:pathLst>
                <a:path w="927100" h="935354">
                  <a:moveTo>
                    <a:pt x="0" y="467614"/>
                  </a:moveTo>
                  <a:lnTo>
                    <a:pt x="2393" y="419792"/>
                  </a:lnTo>
                  <a:lnTo>
                    <a:pt x="9416" y="373355"/>
                  </a:lnTo>
                  <a:lnTo>
                    <a:pt x="20837" y="328536"/>
                  </a:lnTo>
                  <a:lnTo>
                    <a:pt x="36423" y="285571"/>
                  </a:lnTo>
                  <a:lnTo>
                    <a:pt x="55939" y="244693"/>
                  </a:lnTo>
                  <a:lnTo>
                    <a:pt x="79154" y="206139"/>
                  </a:lnTo>
                  <a:lnTo>
                    <a:pt x="105835" y="170142"/>
                  </a:lnTo>
                  <a:lnTo>
                    <a:pt x="135747" y="136937"/>
                  </a:lnTo>
                  <a:lnTo>
                    <a:pt x="168658" y="106760"/>
                  </a:lnTo>
                  <a:lnTo>
                    <a:pt x="204334" y="79844"/>
                  </a:lnTo>
                  <a:lnTo>
                    <a:pt x="242544" y="56426"/>
                  </a:lnTo>
                  <a:lnTo>
                    <a:pt x="283053" y="36738"/>
                  </a:lnTo>
                  <a:lnTo>
                    <a:pt x="325628" y="21017"/>
                  </a:lnTo>
                  <a:lnTo>
                    <a:pt x="370037" y="9497"/>
                  </a:lnTo>
                  <a:lnTo>
                    <a:pt x="416046" y="2413"/>
                  </a:lnTo>
                  <a:lnTo>
                    <a:pt x="463423" y="0"/>
                  </a:lnTo>
                  <a:lnTo>
                    <a:pt x="510821" y="2413"/>
                  </a:lnTo>
                  <a:lnTo>
                    <a:pt x="556850" y="9497"/>
                  </a:lnTo>
                  <a:lnTo>
                    <a:pt x="601276" y="21017"/>
                  </a:lnTo>
                  <a:lnTo>
                    <a:pt x="643866" y="36738"/>
                  </a:lnTo>
                  <a:lnTo>
                    <a:pt x="684387" y="56426"/>
                  </a:lnTo>
                  <a:lnTo>
                    <a:pt x="722607" y="79844"/>
                  </a:lnTo>
                  <a:lnTo>
                    <a:pt x="758292" y="106760"/>
                  </a:lnTo>
                  <a:lnTo>
                    <a:pt x="791210" y="136937"/>
                  </a:lnTo>
                  <a:lnTo>
                    <a:pt x="821127" y="170142"/>
                  </a:lnTo>
                  <a:lnTo>
                    <a:pt x="847811" y="206139"/>
                  </a:lnTo>
                  <a:lnTo>
                    <a:pt x="871029" y="244693"/>
                  </a:lnTo>
                  <a:lnTo>
                    <a:pt x="890547" y="285571"/>
                  </a:lnTo>
                  <a:lnTo>
                    <a:pt x="906134" y="328536"/>
                  </a:lnTo>
                  <a:lnTo>
                    <a:pt x="917556" y="373355"/>
                  </a:lnTo>
                  <a:lnTo>
                    <a:pt x="924579" y="419792"/>
                  </a:lnTo>
                  <a:lnTo>
                    <a:pt x="926973" y="467614"/>
                  </a:lnTo>
                  <a:lnTo>
                    <a:pt x="924579" y="515435"/>
                  </a:lnTo>
                  <a:lnTo>
                    <a:pt x="917556" y="561872"/>
                  </a:lnTo>
                  <a:lnTo>
                    <a:pt x="906134" y="606691"/>
                  </a:lnTo>
                  <a:lnTo>
                    <a:pt x="890547" y="649656"/>
                  </a:lnTo>
                  <a:lnTo>
                    <a:pt x="871029" y="690534"/>
                  </a:lnTo>
                  <a:lnTo>
                    <a:pt x="847811" y="729088"/>
                  </a:lnTo>
                  <a:lnTo>
                    <a:pt x="821127" y="765085"/>
                  </a:lnTo>
                  <a:lnTo>
                    <a:pt x="791209" y="798290"/>
                  </a:lnTo>
                  <a:lnTo>
                    <a:pt x="758292" y="828467"/>
                  </a:lnTo>
                  <a:lnTo>
                    <a:pt x="722607" y="855383"/>
                  </a:lnTo>
                  <a:lnTo>
                    <a:pt x="684387" y="878801"/>
                  </a:lnTo>
                  <a:lnTo>
                    <a:pt x="643866" y="898489"/>
                  </a:lnTo>
                  <a:lnTo>
                    <a:pt x="601276" y="914210"/>
                  </a:lnTo>
                  <a:lnTo>
                    <a:pt x="556850" y="925730"/>
                  </a:lnTo>
                  <a:lnTo>
                    <a:pt x="510821" y="932814"/>
                  </a:lnTo>
                  <a:lnTo>
                    <a:pt x="463423" y="935228"/>
                  </a:lnTo>
                  <a:lnTo>
                    <a:pt x="416046" y="932814"/>
                  </a:lnTo>
                  <a:lnTo>
                    <a:pt x="370037" y="925730"/>
                  </a:lnTo>
                  <a:lnTo>
                    <a:pt x="325628" y="914210"/>
                  </a:lnTo>
                  <a:lnTo>
                    <a:pt x="283053" y="898489"/>
                  </a:lnTo>
                  <a:lnTo>
                    <a:pt x="242544" y="878801"/>
                  </a:lnTo>
                  <a:lnTo>
                    <a:pt x="204334" y="855383"/>
                  </a:lnTo>
                  <a:lnTo>
                    <a:pt x="168658" y="828467"/>
                  </a:lnTo>
                  <a:lnTo>
                    <a:pt x="135747" y="798290"/>
                  </a:lnTo>
                  <a:lnTo>
                    <a:pt x="105835" y="765085"/>
                  </a:lnTo>
                  <a:lnTo>
                    <a:pt x="79154" y="729088"/>
                  </a:lnTo>
                  <a:lnTo>
                    <a:pt x="55939" y="690534"/>
                  </a:lnTo>
                  <a:lnTo>
                    <a:pt x="36423" y="649656"/>
                  </a:lnTo>
                  <a:lnTo>
                    <a:pt x="20837" y="606691"/>
                  </a:lnTo>
                  <a:lnTo>
                    <a:pt x="9416" y="561872"/>
                  </a:lnTo>
                  <a:lnTo>
                    <a:pt x="2393" y="515435"/>
                  </a:lnTo>
                  <a:lnTo>
                    <a:pt x="0" y="467614"/>
                  </a:lnTo>
                  <a:close/>
                </a:path>
              </a:pathLst>
            </a:custGeom>
            <a:ln w="28575">
              <a:solidFill>
                <a:srgbClr val="2E54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55891" y="4837519"/>
              <a:ext cx="481952" cy="63275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28332" y="1841207"/>
              <a:ext cx="587921" cy="63275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77608" y="3300933"/>
              <a:ext cx="470192" cy="71950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018655" y="1708785"/>
              <a:ext cx="942340" cy="3916045"/>
            </a:xfrm>
            <a:custGeom>
              <a:avLst/>
              <a:gdLst/>
              <a:ahLst/>
              <a:cxnLst/>
              <a:rect l="l" t="t" r="r" b="b"/>
              <a:pathLst>
                <a:path w="942340" h="3916045">
                  <a:moveTo>
                    <a:pt x="0" y="467613"/>
                  </a:moveTo>
                  <a:lnTo>
                    <a:pt x="2393" y="419792"/>
                  </a:lnTo>
                  <a:lnTo>
                    <a:pt x="9416" y="373355"/>
                  </a:lnTo>
                  <a:lnTo>
                    <a:pt x="20837" y="328536"/>
                  </a:lnTo>
                  <a:lnTo>
                    <a:pt x="36423" y="285571"/>
                  </a:lnTo>
                  <a:lnTo>
                    <a:pt x="55939" y="244693"/>
                  </a:lnTo>
                  <a:lnTo>
                    <a:pt x="79154" y="206139"/>
                  </a:lnTo>
                  <a:lnTo>
                    <a:pt x="105835" y="170142"/>
                  </a:lnTo>
                  <a:lnTo>
                    <a:pt x="135747" y="136937"/>
                  </a:lnTo>
                  <a:lnTo>
                    <a:pt x="168658" y="106760"/>
                  </a:lnTo>
                  <a:lnTo>
                    <a:pt x="204334" y="79844"/>
                  </a:lnTo>
                  <a:lnTo>
                    <a:pt x="242544" y="56426"/>
                  </a:lnTo>
                  <a:lnTo>
                    <a:pt x="283053" y="36738"/>
                  </a:lnTo>
                  <a:lnTo>
                    <a:pt x="325628" y="21017"/>
                  </a:lnTo>
                  <a:lnTo>
                    <a:pt x="370037" y="9497"/>
                  </a:lnTo>
                  <a:lnTo>
                    <a:pt x="416046" y="2413"/>
                  </a:lnTo>
                  <a:lnTo>
                    <a:pt x="463423" y="0"/>
                  </a:lnTo>
                  <a:lnTo>
                    <a:pt x="510821" y="2413"/>
                  </a:lnTo>
                  <a:lnTo>
                    <a:pt x="556850" y="9497"/>
                  </a:lnTo>
                  <a:lnTo>
                    <a:pt x="601276" y="21017"/>
                  </a:lnTo>
                  <a:lnTo>
                    <a:pt x="643866" y="36738"/>
                  </a:lnTo>
                  <a:lnTo>
                    <a:pt x="684387" y="56426"/>
                  </a:lnTo>
                  <a:lnTo>
                    <a:pt x="722607" y="79844"/>
                  </a:lnTo>
                  <a:lnTo>
                    <a:pt x="758292" y="106760"/>
                  </a:lnTo>
                  <a:lnTo>
                    <a:pt x="791210" y="136937"/>
                  </a:lnTo>
                  <a:lnTo>
                    <a:pt x="821127" y="170142"/>
                  </a:lnTo>
                  <a:lnTo>
                    <a:pt x="847811" y="206139"/>
                  </a:lnTo>
                  <a:lnTo>
                    <a:pt x="871029" y="244693"/>
                  </a:lnTo>
                  <a:lnTo>
                    <a:pt x="890547" y="285571"/>
                  </a:lnTo>
                  <a:lnTo>
                    <a:pt x="906134" y="328536"/>
                  </a:lnTo>
                  <a:lnTo>
                    <a:pt x="917556" y="373355"/>
                  </a:lnTo>
                  <a:lnTo>
                    <a:pt x="924579" y="419792"/>
                  </a:lnTo>
                  <a:lnTo>
                    <a:pt x="926973" y="467613"/>
                  </a:lnTo>
                  <a:lnTo>
                    <a:pt x="924579" y="515435"/>
                  </a:lnTo>
                  <a:lnTo>
                    <a:pt x="917556" y="561872"/>
                  </a:lnTo>
                  <a:lnTo>
                    <a:pt x="906134" y="606691"/>
                  </a:lnTo>
                  <a:lnTo>
                    <a:pt x="890547" y="649656"/>
                  </a:lnTo>
                  <a:lnTo>
                    <a:pt x="871029" y="690534"/>
                  </a:lnTo>
                  <a:lnTo>
                    <a:pt x="847811" y="729088"/>
                  </a:lnTo>
                  <a:lnTo>
                    <a:pt x="821127" y="765085"/>
                  </a:lnTo>
                  <a:lnTo>
                    <a:pt x="791209" y="798290"/>
                  </a:lnTo>
                  <a:lnTo>
                    <a:pt x="758292" y="828467"/>
                  </a:lnTo>
                  <a:lnTo>
                    <a:pt x="722607" y="855383"/>
                  </a:lnTo>
                  <a:lnTo>
                    <a:pt x="684387" y="878801"/>
                  </a:lnTo>
                  <a:lnTo>
                    <a:pt x="643866" y="898489"/>
                  </a:lnTo>
                  <a:lnTo>
                    <a:pt x="601276" y="914210"/>
                  </a:lnTo>
                  <a:lnTo>
                    <a:pt x="556850" y="925730"/>
                  </a:lnTo>
                  <a:lnTo>
                    <a:pt x="510821" y="932814"/>
                  </a:lnTo>
                  <a:lnTo>
                    <a:pt x="463423" y="935227"/>
                  </a:lnTo>
                  <a:lnTo>
                    <a:pt x="416046" y="932814"/>
                  </a:lnTo>
                  <a:lnTo>
                    <a:pt x="370037" y="925730"/>
                  </a:lnTo>
                  <a:lnTo>
                    <a:pt x="325628" y="914210"/>
                  </a:lnTo>
                  <a:lnTo>
                    <a:pt x="283053" y="898489"/>
                  </a:lnTo>
                  <a:lnTo>
                    <a:pt x="242544" y="878801"/>
                  </a:lnTo>
                  <a:lnTo>
                    <a:pt x="204334" y="855383"/>
                  </a:lnTo>
                  <a:lnTo>
                    <a:pt x="168658" y="828467"/>
                  </a:lnTo>
                  <a:lnTo>
                    <a:pt x="135747" y="798290"/>
                  </a:lnTo>
                  <a:lnTo>
                    <a:pt x="105835" y="765085"/>
                  </a:lnTo>
                  <a:lnTo>
                    <a:pt x="79154" y="729088"/>
                  </a:lnTo>
                  <a:lnTo>
                    <a:pt x="55939" y="690534"/>
                  </a:lnTo>
                  <a:lnTo>
                    <a:pt x="36423" y="649656"/>
                  </a:lnTo>
                  <a:lnTo>
                    <a:pt x="20837" y="606691"/>
                  </a:lnTo>
                  <a:lnTo>
                    <a:pt x="9416" y="561872"/>
                  </a:lnTo>
                  <a:lnTo>
                    <a:pt x="2393" y="515435"/>
                  </a:lnTo>
                  <a:lnTo>
                    <a:pt x="0" y="467613"/>
                  </a:lnTo>
                  <a:close/>
                </a:path>
                <a:path w="942340" h="3916045">
                  <a:moveTo>
                    <a:pt x="15240" y="3448304"/>
                  </a:moveTo>
                  <a:lnTo>
                    <a:pt x="17633" y="3400503"/>
                  </a:lnTo>
                  <a:lnTo>
                    <a:pt x="24656" y="3354082"/>
                  </a:lnTo>
                  <a:lnTo>
                    <a:pt x="36077" y="3309274"/>
                  </a:lnTo>
                  <a:lnTo>
                    <a:pt x="51663" y="3266314"/>
                  </a:lnTo>
                  <a:lnTo>
                    <a:pt x="71179" y="3225440"/>
                  </a:lnTo>
                  <a:lnTo>
                    <a:pt x="94394" y="3186885"/>
                  </a:lnTo>
                  <a:lnTo>
                    <a:pt x="121075" y="3150885"/>
                  </a:lnTo>
                  <a:lnTo>
                    <a:pt x="150987" y="3117675"/>
                  </a:lnTo>
                  <a:lnTo>
                    <a:pt x="183898" y="3087491"/>
                  </a:lnTo>
                  <a:lnTo>
                    <a:pt x="219574" y="3060568"/>
                  </a:lnTo>
                  <a:lnTo>
                    <a:pt x="257784" y="3037141"/>
                  </a:lnTo>
                  <a:lnTo>
                    <a:pt x="298293" y="3017446"/>
                  </a:lnTo>
                  <a:lnTo>
                    <a:pt x="340868" y="3001718"/>
                  </a:lnTo>
                  <a:lnTo>
                    <a:pt x="385277" y="2990192"/>
                  </a:lnTo>
                  <a:lnTo>
                    <a:pt x="431286" y="2983104"/>
                  </a:lnTo>
                  <a:lnTo>
                    <a:pt x="478663" y="2980690"/>
                  </a:lnTo>
                  <a:lnTo>
                    <a:pt x="526060" y="2983104"/>
                  </a:lnTo>
                  <a:lnTo>
                    <a:pt x="572084" y="2990192"/>
                  </a:lnTo>
                  <a:lnTo>
                    <a:pt x="616504" y="3001718"/>
                  </a:lnTo>
                  <a:lnTo>
                    <a:pt x="659086" y="3017446"/>
                  </a:lnTo>
                  <a:lnTo>
                    <a:pt x="699598" y="3037141"/>
                  </a:lnTo>
                  <a:lnTo>
                    <a:pt x="737806" y="3060568"/>
                  </a:lnTo>
                  <a:lnTo>
                    <a:pt x="773480" y="3087491"/>
                  </a:lnTo>
                  <a:lnTo>
                    <a:pt x="806386" y="3117675"/>
                  </a:lnTo>
                  <a:lnTo>
                    <a:pt x="836291" y="3150885"/>
                  </a:lnTo>
                  <a:lnTo>
                    <a:pt x="862964" y="3186885"/>
                  </a:lnTo>
                  <a:lnTo>
                    <a:pt x="886171" y="3225440"/>
                  </a:lnTo>
                  <a:lnTo>
                    <a:pt x="905680" y="3266314"/>
                  </a:lnTo>
                  <a:lnTo>
                    <a:pt x="921259" y="3309274"/>
                  </a:lnTo>
                  <a:lnTo>
                    <a:pt x="932674" y="3354082"/>
                  </a:lnTo>
                  <a:lnTo>
                    <a:pt x="939694" y="3400503"/>
                  </a:lnTo>
                  <a:lnTo>
                    <a:pt x="942086" y="3448304"/>
                  </a:lnTo>
                  <a:lnTo>
                    <a:pt x="939694" y="3496125"/>
                  </a:lnTo>
                  <a:lnTo>
                    <a:pt x="932674" y="3542565"/>
                  </a:lnTo>
                  <a:lnTo>
                    <a:pt x="921259" y="3587388"/>
                  </a:lnTo>
                  <a:lnTo>
                    <a:pt x="905680" y="3630358"/>
                  </a:lnTo>
                  <a:lnTo>
                    <a:pt x="886171" y="3671241"/>
                  </a:lnTo>
                  <a:lnTo>
                    <a:pt x="862964" y="3709802"/>
                  </a:lnTo>
                  <a:lnTo>
                    <a:pt x="836291" y="3745806"/>
                  </a:lnTo>
                  <a:lnTo>
                    <a:pt x="806386" y="3779018"/>
                  </a:lnTo>
                  <a:lnTo>
                    <a:pt x="773480" y="3809202"/>
                  </a:lnTo>
                  <a:lnTo>
                    <a:pt x="737806" y="3836125"/>
                  </a:lnTo>
                  <a:lnTo>
                    <a:pt x="699598" y="3859550"/>
                  </a:lnTo>
                  <a:lnTo>
                    <a:pt x="659086" y="3879243"/>
                  </a:lnTo>
                  <a:lnTo>
                    <a:pt x="616504" y="3894969"/>
                  </a:lnTo>
                  <a:lnTo>
                    <a:pt x="572084" y="3906493"/>
                  </a:lnTo>
                  <a:lnTo>
                    <a:pt x="526060" y="3913579"/>
                  </a:lnTo>
                  <a:lnTo>
                    <a:pt x="478663" y="3915994"/>
                  </a:lnTo>
                  <a:lnTo>
                    <a:pt x="431286" y="3913579"/>
                  </a:lnTo>
                  <a:lnTo>
                    <a:pt x="385277" y="3906493"/>
                  </a:lnTo>
                  <a:lnTo>
                    <a:pt x="340868" y="3894969"/>
                  </a:lnTo>
                  <a:lnTo>
                    <a:pt x="298293" y="3879243"/>
                  </a:lnTo>
                  <a:lnTo>
                    <a:pt x="257784" y="3859550"/>
                  </a:lnTo>
                  <a:lnTo>
                    <a:pt x="219574" y="3836125"/>
                  </a:lnTo>
                  <a:lnTo>
                    <a:pt x="183898" y="3809202"/>
                  </a:lnTo>
                  <a:lnTo>
                    <a:pt x="150987" y="3779018"/>
                  </a:lnTo>
                  <a:lnTo>
                    <a:pt x="121075" y="3745806"/>
                  </a:lnTo>
                  <a:lnTo>
                    <a:pt x="94394" y="3709802"/>
                  </a:lnTo>
                  <a:lnTo>
                    <a:pt x="71179" y="3671241"/>
                  </a:lnTo>
                  <a:lnTo>
                    <a:pt x="51663" y="3630358"/>
                  </a:lnTo>
                  <a:lnTo>
                    <a:pt x="36077" y="3587388"/>
                  </a:lnTo>
                  <a:lnTo>
                    <a:pt x="24656" y="3542565"/>
                  </a:lnTo>
                  <a:lnTo>
                    <a:pt x="17633" y="3496125"/>
                  </a:lnTo>
                  <a:lnTo>
                    <a:pt x="15240" y="3448304"/>
                  </a:lnTo>
                  <a:close/>
                </a:path>
              </a:pathLst>
            </a:custGeom>
            <a:ln w="28575">
              <a:solidFill>
                <a:srgbClr val="2E54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12165" y="1620982"/>
            <a:ext cx="5380355" cy="2221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50100"/>
              </a:lnSpc>
              <a:spcBef>
                <a:spcPts val="100"/>
              </a:spcBef>
            </a:pPr>
            <a:r>
              <a:rPr sz="2400" i="1" dirty="0">
                <a:solidFill>
                  <a:srgbClr val="312783"/>
                </a:solidFill>
                <a:latin typeface="Calibri"/>
                <a:cs typeface="Calibri"/>
              </a:rPr>
              <a:t>Кіомедін є препаратом вибору </a:t>
            </a:r>
            <a:r>
              <a:rPr sz="2400" i="1" spc="-25" dirty="0">
                <a:solidFill>
                  <a:srgbClr val="312783"/>
                </a:solidFill>
                <a:latin typeface="Calibri"/>
                <a:cs typeface="Calibri"/>
              </a:rPr>
              <a:t>для лікування </a:t>
            </a:r>
            <a:r>
              <a:rPr sz="2400" b="1" i="1" dirty="0">
                <a:solidFill>
                  <a:srgbClr val="312783"/>
                </a:solidFill>
                <a:latin typeface="Calibri"/>
                <a:cs typeface="Calibri"/>
              </a:rPr>
              <a:t>рефрактерних пацієнтів з ОА колінного суглоба</a:t>
            </a:r>
            <a:r>
              <a:rPr sz="2400" i="1" dirty="0">
                <a:solidFill>
                  <a:srgbClr val="312783"/>
                </a:solidFill>
                <a:latin typeface="Calibri"/>
                <a:cs typeface="Calibri"/>
              </a:rPr>
              <a:t>, </a:t>
            </a:r>
            <a:r>
              <a:rPr sz="2400" i="1" spc="-20" dirty="0">
                <a:solidFill>
                  <a:srgbClr val="312783"/>
                </a:solidFill>
                <a:latin typeface="Calibri"/>
                <a:cs typeface="Calibri"/>
              </a:rPr>
              <a:t>що дозволяє </a:t>
            </a:r>
            <a:r>
              <a:rPr sz="2400" b="1" i="1" dirty="0">
                <a:solidFill>
                  <a:srgbClr val="312783"/>
                </a:solidFill>
                <a:latin typeface="Calibri"/>
                <a:cs typeface="Calibri"/>
              </a:rPr>
              <a:t>зменшити фізичне та соціальне навантаження </a:t>
            </a:r>
            <a:r>
              <a:rPr sz="2400" i="1" dirty="0">
                <a:solidFill>
                  <a:srgbClr val="312783"/>
                </a:solidFill>
                <a:latin typeface="Calibri"/>
                <a:cs typeface="Calibri"/>
              </a:rPr>
              <a:t>та </a:t>
            </a:r>
            <a:r>
              <a:rPr sz="2400" b="1" i="1" dirty="0">
                <a:solidFill>
                  <a:srgbClr val="312783"/>
                </a:solidFill>
                <a:latin typeface="Calibri"/>
                <a:cs typeface="Calibri"/>
              </a:rPr>
              <a:t>досягти </a:t>
            </a:r>
            <a:r>
              <a:rPr sz="2400" b="1" i="1" spc="-10" dirty="0">
                <a:solidFill>
                  <a:srgbClr val="312783"/>
                </a:solidFill>
                <a:latin typeface="Calibri"/>
                <a:cs typeface="Calibri"/>
              </a:rPr>
              <a:t>очікуваних результатів</a:t>
            </a:r>
            <a:r>
              <a:rPr sz="2400" b="1" i="1" dirty="0">
                <a:solidFill>
                  <a:srgbClr val="312783"/>
                </a:solidFill>
                <a:latin typeface="Calibri"/>
                <a:cs typeface="Calibri"/>
              </a:rPr>
              <a:t> у повсякденному житті</a:t>
            </a:r>
            <a:r>
              <a:rPr sz="2400" i="1" dirty="0">
                <a:solidFill>
                  <a:srgbClr val="312783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83624" y="1827961"/>
            <a:ext cx="3011795" cy="6775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83515" marR="5080" indent="-171450">
              <a:lnSpc>
                <a:spcPct val="101899"/>
              </a:lnSpc>
              <a:spcBef>
                <a:spcPts val="85"/>
              </a:spcBef>
            </a:pPr>
            <a:r>
              <a:rPr sz="2100" b="1" spc="-10" dirty="0">
                <a:solidFill>
                  <a:srgbClr val="79C3C4"/>
                </a:solidFill>
                <a:latin typeface="Calibri"/>
                <a:cs typeface="Calibri"/>
              </a:rPr>
              <a:t>Ураження пателло-феморального суглоба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81669" y="3556697"/>
            <a:ext cx="1543050" cy="351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b="1" spc="-10" dirty="0">
                <a:solidFill>
                  <a:srgbClr val="79C3C4"/>
                </a:solidFill>
                <a:latin typeface="Calibri"/>
                <a:cs typeface="Calibri"/>
              </a:rPr>
              <a:t>Ожиріння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58849" y="4883009"/>
            <a:ext cx="2629535" cy="78418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2100" b="1" spc="-10" dirty="0">
                <a:solidFill>
                  <a:srgbClr val="79C3C4"/>
                </a:solidFill>
                <a:latin typeface="Calibri"/>
                <a:cs typeface="Calibri"/>
              </a:rPr>
              <a:t>Показання </a:t>
            </a:r>
            <a:r>
              <a:rPr sz="2100" b="1" spc="-10" dirty="0" err="1">
                <a:solidFill>
                  <a:srgbClr val="79C3C4"/>
                </a:solidFill>
                <a:latin typeface="Calibri"/>
                <a:cs typeface="Calibri"/>
              </a:rPr>
              <a:t>до</a:t>
            </a:r>
            <a:r>
              <a:rPr sz="2100" b="1" spc="-10" dirty="0">
                <a:solidFill>
                  <a:srgbClr val="79C3C4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79C3C4"/>
                </a:solidFill>
                <a:latin typeface="Calibri"/>
                <a:cs typeface="Calibri"/>
              </a:rPr>
              <a:t>Т</a:t>
            </a:r>
            <a:r>
              <a:rPr lang="uk-UA" sz="2100" b="1" dirty="0">
                <a:solidFill>
                  <a:srgbClr val="79C3C4"/>
                </a:solidFill>
                <a:latin typeface="Calibri"/>
                <a:cs typeface="Calibri"/>
              </a:rPr>
              <a:t>ЕП</a:t>
            </a:r>
            <a:r>
              <a:rPr sz="2100" b="1" dirty="0">
                <a:solidFill>
                  <a:srgbClr val="79C3C4"/>
                </a:solidFill>
                <a:latin typeface="Calibri"/>
                <a:cs typeface="Calibri"/>
              </a:rPr>
              <a:t>К</a:t>
            </a:r>
            <a:r>
              <a:rPr lang="uk-UA" sz="2100" b="1" dirty="0">
                <a:solidFill>
                  <a:srgbClr val="79C3C4"/>
                </a:solidFill>
                <a:latin typeface="Calibri"/>
                <a:cs typeface="Calibri"/>
              </a:rPr>
              <a:t>С</a:t>
            </a:r>
            <a:endParaRPr sz="21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sz="1400" b="1" dirty="0">
                <a:solidFill>
                  <a:srgbClr val="79C3C4"/>
                </a:solidFill>
                <a:latin typeface="Calibri"/>
                <a:cs typeface="Calibri"/>
              </a:rPr>
              <a:t>(відповідні / не бажають / </a:t>
            </a:r>
            <a:r>
              <a:rPr sz="1400" b="1" spc="-10" dirty="0">
                <a:solidFill>
                  <a:srgbClr val="79C3C4"/>
                </a:solidFill>
                <a:latin typeface="Calibri"/>
                <a:cs typeface="Calibri"/>
              </a:rPr>
              <a:t>невідповідні)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70407" y="343741"/>
            <a:ext cx="6078855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spc="-10" dirty="0">
                <a:solidFill>
                  <a:srgbClr val="312783"/>
                </a:solidFill>
                <a:latin typeface="Calibri"/>
                <a:cs typeface="Calibri"/>
              </a:rPr>
              <a:t>ФОКУС НА </a:t>
            </a:r>
            <a:r>
              <a:rPr sz="2800" b="1" dirty="0">
                <a:solidFill>
                  <a:srgbClr val="312783"/>
                </a:solidFill>
                <a:latin typeface="Calibri"/>
                <a:cs typeface="Calibri"/>
              </a:rPr>
              <a:t>ПАЦІЄНТАХ З РЕФРАКТ</a:t>
            </a:r>
            <a:r>
              <a:rPr lang="uk-UA" sz="2800" b="1" dirty="0">
                <a:solidFill>
                  <a:srgbClr val="312783"/>
                </a:solidFill>
                <a:latin typeface="Calibri"/>
                <a:cs typeface="Calibri"/>
              </a:rPr>
              <a:t>Е</a:t>
            </a:r>
            <a:r>
              <a:rPr sz="2800" b="1" dirty="0">
                <a:solidFill>
                  <a:srgbClr val="312783"/>
                </a:solidFill>
                <a:latin typeface="Calibri"/>
                <a:cs typeface="Calibri"/>
              </a:rPr>
              <a:t>РНИМ ОСТЕОАРТРОМ*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65746" y="6285991"/>
            <a:ext cx="26295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solidFill>
                  <a:srgbClr val="312783"/>
                </a:solidFill>
                <a:latin typeface="Calibri"/>
                <a:cs typeface="Calibri"/>
              </a:rPr>
              <a:t>* </a:t>
            </a:r>
            <a:r>
              <a:rPr sz="1400" i="1" spc="-10" dirty="0">
                <a:solidFill>
                  <a:srgbClr val="312783"/>
                </a:solidFill>
                <a:latin typeface="Calibri"/>
                <a:cs typeface="Calibri"/>
              </a:rPr>
              <a:t>Не пов'язано з </a:t>
            </a:r>
            <a:r>
              <a:rPr lang="uk-UA" sz="1400" i="1" spc="-10" dirty="0">
                <a:solidFill>
                  <a:srgbClr val="312783"/>
                </a:solidFill>
                <a:latin typeface="Calibri"/>
                <a:cs typeface="Calibri"/>
              </a:rPr>
              <a:t>стадією ОА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25" name="Графіка 24">
            <a:extLst>
              <a:ext uri="{FF2B5EF4-FFF2-40B4-BE49-F238E27FC236}">
                <a16:creationId xmlns:a16="http://schemas.microsoft.com/office/drawing/2014/main" id="{33E6BCAF-C43F-1DC0-55A8-80AA1F64A4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 bwMode="auto">
          <a:xfrm>
            <a:off x="9932263" y="90083"/>
            <a:ext cx="1992113" cy="9997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438202" y="2286000"/>
            <a:ext cx="4120516" cy="1256753"/>
          </a:xfrm>
          <a:prstGeom prst="rect">
            <a:avLst/>
          </a:prstGeom>
        </p:spPr>
        <p:txBody>
          <a:bodyPr vert="horz" wrap="square" lIns="0" tIns="1777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 err="1">
                <a:solidFill>
                  <a:srgbClr val="FFFFFF"/>
                </a:solidFill>
              </a:rPr>
              <a:t>Як</a:t>
            </a:r>
            <a:r>
              <a:rPr lang="uk-UA" sz="3400" dirty="0">
                <a:solidFill>
                  <a:srgbClr val="FFFFFF"/>
                </a:solidFill>
              </a:rPr>
              <a:t> працює</a:t>
            </a:r>
            <a:r>
              <a:rPr sz="3400" dirty="0">
                <a:solidFill>
                  <a:srgbClr val="FFFFFF"/>
                </a:solidFill>
              </a:rPr>
              <a:t> </a:t>
            </a:r>
            <a:r>
              <a:rPr lang="uk-UA" sz="3400" dirty="0">
                <a:solidFill>
                  <a:srgbClr val="FFFFFF"/>
                </a:solidFill>
              </a:rPr>
              <a:t>    </a:t>
            </a:r>
            <a:br>
              <a:rPr lang="uk-UA" sz="3400" dirty="0">
                <a:solidFill>
                  <a:srgbClr val="FFFFFF"/>
                </a:solidFill>
              </a:rPr>
            </a:br>
            <a:r>
              <a:rPr lang="uk-UA" sz="3400" dirty="0">
                <a:solidFill>
                  <a:srgbClr val="FFFFFF"/>
                </a:solidFill>
              </a:rPr>
              <a:t>      </a:t>
            </a:r>
            <a:r>
              <a:rPr lang="en-US" sz="3600" spc="-10" dirty="0" err="1">
                <a:solidFill>
                  <a:schemeClr val="bg1"/>
                </a:solidFill>
              </a:rPr>
              <a:t>KioMedine</a:t>
            </a:r>
            <a:r>
              <a:rPr lang="en-US" sz="3600" spc="-15" baseline="26455" dirty="0" err="1">
                <a:solidFill>
                  <a:schemeClr val="bg1"/>
                </a:solidFill>
              </a:rPr>
              <a:t>vs</a:t>
            </a:r>
            <a:r>
              <a:rPr lang="en-US" sz="3600" spc="-10" dirty="0" err="1">
                <a:solidFill>
                  <a:schemeClr val="bg1"/>
                </a:solidFill>
              </a:rPr>
              <a:t>one</a:t>
            </a:r>
            <a:r>
              <a:rPr sz="3400" spc="-10" dirty="0">
                <a:solidFill>
                  <a:srgbClr val="FFFFFF"/>
                </a:solidFill>
              </a:rPr>
              <a:t>?</a:t>
            </a:r>
            <a:endParaRPr sz="3400" dirty="0"/>
          </a:p>
        </p:txBody>
      </p:sp>
      <p:sp>
        <p:nvSpPr>
          <p:cNvPr id="3" name="object 3"/>
          <p:cNvSpPr txBox="1"/>
          <p:nvPr/>
        </p:nvSpPr>
        <p:spPr>
          <a:xfrm>
            <a:off x="6800278" y="3523703"/>
            <a:ext cx="275844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uk-UA" sz="3400" b="1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400" b="1" dirty="0" err="1">
                <a:solidFill>
                  <a:srgbClr val="FFFFFF"/>
                </a:solidFill>
                <a:latin typeface="Calibri"/>
                <a:cs typeface="Calibri"/>
              </a:rPr>
              <a:t>Механізм</a:t>
            </a:r>
            <a:r>
              <a:rPr sz="34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Calibri"/>
                <a:cs typeface="Calibri"/>
              </a:rPr>
              <a:t>дії</a:t>
            </a:r>
            <a:endParaRPr sz="3400" dirty="0">
              <a:latin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A0DE83-D732-E4E1-DFB8-A038B0B5EF3D}"/>
              </a:ext>
            </a:extLst>
          </p:cNvPr>
          <p:cNvSpPr txBox="1"/>
          <p:nvPr/>
        </p:nvSpPr>
        <p:spPr>
          <a:xfrm>
            <a:off x="3581400" y="1929"/>
            <a:ext cx="8610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spc="-10" dirty="0" err="1">
                <a:solidFill>
                  <a:schemeClr val="bg1"/>
                </a:solidFill>
                <a:latin typeface="Calibri"/>
                <a:cs typeface="Calibri"/>
              </a:rPr>
              <a:t>KioMedine</a:t>
            </a:r>
            <a:r>
              <a:rPr lang="en-US" sz="2800" b="1" spc="-15" baseline="26455" dirty="0" err="1">
                <a:solidFill>
                  <a:schemeClr val="bg1"/>
                </a:solidFill>
                <a:latin typeface="Calibri"/>
                <a:cs typeface="Calibri"/>
              </a:rPr>
              <a:t>vs</a:t>
            </a:r>
            <a:r>
              <a:rPr lang="en-US" sz="2800" b="1" spc="-10" dirty="0" err="1">
                <a:solidFill>
                  <a:schemeClr val="bg1"/>
                </a:solidFill>
                <a:latin typeface="Calibri"/>
                <a:cs typeface="Calibri"/>
              </a:rPr>
              <a:t>one</a:t>
            </a:r>
            <a:r>
              <a:rPr lang="uk-UA" sz="2800" b="1" spc="-10" dirty="0">
                <a:solidFill>
                  <a:schemeClr val="bg1"/>
                </a:solidFill>
                <a:latin typeface="Calibri"/>
                <a:cs typeface="Calibri"/>
              </a:rPr>
              <a:t> - унікальний рідкий імплантат для лікування </a:t>
            </a:r>
            <a:r>
              <a:rPr lang="uk-UA" sz="2800" b="1" spc="-10" dirty="0" err="1">
                <a:solidFill>
                  <a:schemeClr val="bg1"/>
                </a:solidFill>
                <a:latin typeface="Calibri"/>
                <a:cs typeface="Calibri"/>
              </a:rPr>
              <a:t>остеоартриту</a:t>
            </a:r>
            <a:endParaRPr lang="uk-UA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3C406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Групувати 11">
            <a:extLst>
              <a:ext uri="{FF2B5EF4-FFF2-40B4-BE49-F238E27FC236}">
                <a16:creationId xmlns:a16="http://schemas.microsoft.com/office/drawing/2014/main" id="{C2244128-1B24-66DC-9126-08D3BACD7C3E}"/>
              </a:ext>
            </a:extLst>
          </p:cNvPr>
          <p:cNvGrpSpPr/>
          <p:nvPr/>
        </p:nvGrpSpPr>
        <p:grpSpPr>
          <a:xfrm>
            <a:off x="477012" y="480059"/>
            <a:ext cx="11238230" cy="5897880"/>
            <a:chOff x="477012" y="480059"/>
            <a:chExt cx="11238230" cy="5897880"/>
          </a:xfrm>
        </p:grpSpPr>
        <p:sp>
          <p:nvSpPr>
            <p:cNvPr id="4" name="object 4"/>
            <p:cNvSpPr/>
            <p:nvPr/>
          </p:nvSpPr>
          <p:spPr>
            <a:xfrm>
              <a:off x="477012" y="480059"/>
              <a:ext cx="11238230" cy="5897880"/>
            </a:xfrm>
            <a:custGeom>
              <a:avLst/>
              <a:gdLst/>
              <a:ahLst/>
              <a:cxnLst/>
              <a:rect l="l" t="t" r="r" b="b"/>
              <a:pathLst>
                <a:path w="11238230" h="5897880">
                  <a:moveTo>
                    <a:pt x="11237976" y="0"/>
                  </a:moveTo>
                  <a:lnTo>
                    <a:pt x="0" y="0"/>
                  </a:lnTo>
                  <a:lnTo>
                    <a:pt x="0" y="5897880"/>
                  </a:lnTo>
                  <a:lnTo>
                    <a:pt x="11237976" y="5897880"/>
                  </a:lnTo>
                  <a:lnTo>
                    <a:pt x="112379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3470" y="1329690"/>
              <a:ext cx="10905109" cy="4198493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675871F-999D-9D39-CEC3-09BB5238EC98}"/>
              </a:ext>
            </a:extLst>
          </p:cNvPr>
          <p:cNvSpPr txBox="1"/>
          <p:nvPr/>
        </p:nvSpPr>
        <p:spPr>
          <a:xfrm>
            <a:off x="643421" y="720329"/>
            <a:ext cx="106341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spc="-10" dirty="0" err="1">
                <a:solidFill>
                  <a:schemeClr val="tx1"/>
                </a:solidFill>
                <a:latin typeface="Calibri"/>
                <a:cs typeface="Calibri"/>
              </a:rPr>
              <a:t>KioMedine</a:t>
            </a:r>
            <a:r>
              <a:rPr lang="en-US" sz="2400" b="1" spc="-15" baseline="26455" dirty="0" err="1">
                <a:solidFill>
                  <a:schemeClr val="tx1"/>
                </a:solidFill>
                <a:latin typeface="Calibri"/>
                <a:cs typeface="Calibri"/>
              </a:rPr>
              <a:t>vs</a:t>
            </a:r>
            <a:r>
              <a:rPr lang="en-US" sz="2400" b="1" spc="-10" dirty="0" err="1">
                <a:solidFill>
                  <a:schemeClr val="tx1"/>
                </a:solidFill>
                <a:latin typeface="Calibri"/>
                <a:cs typeface="Calibri"/>
              </a:rPr>
              <a:t>one</a:t>
            </a:r>
            <a:r>
              <a:rPr lang="en-US" sz="2400" b="1" spc="-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uk-UA" sz="2400" b="1" spc="-10" dirty="0">
                <a:solidFill>
                  <a:schemeClr val="tx1"/>
                </a:solidFill>
                <a:latin typeface="Calibri"/>
                <a:cs typeface="Calibri"/>
              </a:rPr>
              <a:t> - ВОЛОДІЄ </a:t>
            </a:r>
            <a:r>
              <a:rPr lang="uk-UA" sz="2400" b="1" u="sng" dirty="0"/>
              <a:t>УНІКАЛЬНИМ ПОДВІЙНИМ МЕХАНІЗМОМ ДІЇ</a:t>
            </a:r>
          </a:p>
        </p:txBody>
      </p:sp>
      <p:sp>
        <p:nvSpPr>
          <p:cNvPr id="9" name="Прямокутник: округлені кути 8">
            <a:extLst>
              <a:ext uri="{FF2B5EF4-FFF2-40B4-BE49-F238E27FC236}">
                <a16:creationId xmlns:a16="http://schemas.microsoft.com/office/drawing/2014/main" id="{AEB2C68D-0DBA-8033-47CB-4CAF60FE59E3}"/>
              </a:ext>
            </a:extLst>
          </p:cNvPr>
          <p:cNvSpPr/>
          <p:nvPr/>
        </p:nvSpPr>
        <p:spPr>
          <a:xfrm>
            <a:off x="838200" y="2895600"/>
            <a:ext cx="3124200" cy="1295400"/>
          </a:xfrm>
          <a:prstGeom prst="roundRect">
            <a:avLst/>
          </a:prstGeom>
          <a:solidFill>
            <a:srgbClr val="2E36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uk-UA" sz="2800" b="1" dirty="0"/>
          </a:p>
          <a:p>
            <a:pPr algn="r"/>
            <a:r>
              <a:rPr lang="uk-UA" sz="2800" b="1" dirty="0"/>
              <a:t>Унікальний подвійний механізм дії</a:t>
            </a:r>
          </a:p>
          <a:p>
            <a:pPr algn="r"/>
            <a:endParaRPr lang="uk-UA" sz="2800" b="1" dirty="0"/>
          </a:p>
        </p:txBody>
      </p:sp>
      <p:sp>
        <p:nvSpPr>
          <p:cNvPr id="10" name="Прямокутник 9">
            <a:extLst>
              <a:ext uri="{FF2B5EF4-FFF2-40B4-BE49-F238E27FC236}">
                <a16:creationId xmlns:a16="http://schemas.microsoft.com/office/drawing/2014/main" id="{B4FFEFF5-FBFF-6523-4852-40D5321BF416}"/>
              </a:ext>
            </a:extLst>
          </p:cNvPr>
          <p:cNvSpPr/>
          <p:nvPr/>
        </p:nvSpPr>
        <p:spPr>
          <a:xfrm>
            <a:off x="8382000" y="2133600"/>
            <a:ext cx="1600200" cy="609600"/>
          </a:xfrm>
          <a:prstGeom prst="rect">
            <a:avLst/>
          </a:prstGeom>
          <a:solidFill>
            <a:srgbClr val="E6E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000" b="1" dirty="0">
                <a:solidFill>
                  <a:srgbClr val="6ACCC7"/>
                </a:solidFill>
              </a:rPr>
              <a:t>Покращене змащення</a:t>
            </a:r>
          </a:p>
        </p:txBody>
      </p:sp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A6136CE9-6071-BC58-E250-51AEB89AED84}"/>
              </a:ext>
            </a:extLst>
          </p:cNvPr>
          <p:cNvSpPr/>
          <p:nvPr/>
        </p:nvSpPr>
        <p:spPr>
          <a:xfrm>
            <a:off x="8365101" y="2754565"/>
            <a:ext cx="2281238" cy="674435"/>
          </a:xfrm>
          <a:prstGeom prst="rect">
            <a:avLst/>
          </a:prstGeom>
          <a:solidFill>
            <a:srgbClr val="E6E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000" b="1" dirty="0">
                <a:solidFill>
                  <a:srgbClr val="354389"/>
                </a:solidFill>
              </a:rPr>
              <a:t>ЗАХИСТ СУГЛОБІВ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0528" y="5853962"/>
            <a:ext cx="9584373" cy="307777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ct val="100000"/>
              </a:lnSpc>
            </a:pPr>
            <a:r>
              <a:rPr sz="2000" b="1" dirty="0">
                <a:solidFill>
                  <a:srgbClr val="312783"/>
                </a:solidFill>
                <a:latin typeface="Calibri"/>
                <a:cs typeface="Calibri"/>
              </a:rPr>
              <a:t>ПОКРАЩЕННЯ </a:t>
            </a:r>
            <a:r>
              <a:rPr lang="uk-UA" sz="2000" b="1" spc="-20" dirty="0">
                <a:solidFill>
                  <a:srgbClr val="312783"/>
                </a:solidFill>
                <a:latin typeface="Calibri"/>
                <a:cs typeface="Calibri"/>
              </a:rPr>
              <a:t>ЗМАЩУВАЛЬНИХ</a:t>
            </a:r>
            <a:r>
              <a:rPr sz="2000" b="1" spc="-20" dirty="0">
                <a:solidFill>
                  <a:srgbClr val="312783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12783"/>
                </a:solidFill>
                <a:latin typeface="Calibri"/>
                <a:cs typeface="Calibri"/>
              </a:rPr>
              <a:t>ВЛАСТИВОСТЕЙ ЗА ДОПОМОГОЮ </a:t>
            </a:r>
            <a:r>
              <a:rPr lang="en-US" sz="2000" spc="-10" dirty="0" err="1">
                <a:solidFill>
                  <a:srgbClr val="432874"/>
                </a:solidFill>
                <a:latin typeface="Calibri"/>
                <a:cs typeface="Calibri"/>
              </a:rPr>
              <a:t>KioMedineVS</a:t>
            </a:r>
            <a:r>
              <a:rPr lang="uk-UA" sz="2000" spc="-10" dirty="0">
                <a:solidFill>
                  <a:srgbClr val="432874"/>
                </a:solidFill>
                <a:latin typeface="Calibri"/>
                <a:cs typeface="Calibri"/>
              </a:rPr>
              <a:t>о</a:t>
            </a:r>
            <a:r>
              <a:rPr lang="en-US" sz="2000" spc="-10" dirty="0">
                <a:solidFill>
                  <a:srgbClr val="432874"/>
                </a:solidFill>
                <a:latin typeface="Calibri"/>
                <a:cs typeface="Calibri"/>
              </a:rPr>
              <a:t>ne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774954"/>
            <a:ext cx="923925" cy="63500"/>
          </a:xfrm>
          <a:custGeom>
            <a:avLst/>
            <a:gdLst/>
            <a:ahLst/>
            <a:cxnLst/>
            <a:rect l="l" t="t" r="r" b="b"/>
            <a:pathLst>
              <a:path w="923925" h="63500">
                <a:moveTo>
                  <a:pt x="923315" y="0"/>
                </a:moveTo>
                <a:lnTo>
                  <a:pt x="0" y="0"/>
                </a:lnTo>
                <a:lnTo>
                  <a:pt x="0" y="63500"/>
                </a:lnTo>
                <a:lnTo>
                  <a:pt x="923315" y="63500"/>
                </a:lnTo>
                <a:lnTo>
                  <a:pt x="923315" y="0"/>
                </a:lnTo>
                <a:close/>
              </a:path>
            </a:pathLst>
          </a:custGeom>
          <a:solidFill>
            <a:srgbClr val="636A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7146" y="6296964"/>
            <a:ext cx="11367135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12783"/>
                </a:solidFill>
                <a:latin typeface="Calibri"/>
                <a:cs typeface="Calibri"/>
              </a:rPr>
              <a:t>Vandeweerd J-M, Innocenti B, Rocasalbas G, Gautier SE, Douette P, Hermitte L, et al. (2021) Неклінічна оцінка змащувальних властивостей та знешкодження вільних радикалів інноваційного біоматеріалу на основі </a:t>
            </a:r>
            <a:r>
              <a:rPr sz="1000" spc="-10" dirty="0">
                <a:solidFill>
                  <a:srgbClr val="312783"/>
                </a:solidFill>
                <a:latin typeface="Calibri"/>
                <a:cs typeface="Calibri"/>
              </a:rPr>
              <a:t>карбоксиметилхітозану </a:t>
            </a:r>
            <a:r>
              <a:rPr sz="1000" dirty="0">
                <a:solidFill>
                  <a:srgbClr val="312783"/>
                </a:solidFill>
                <a:latin typeface="Calibri"/>
                <a:cs typeface="Calibri"/>
              </a:rPr>
              <a:t>не тваринного походження для </a:t>
            </a:r>
            <a:r>
              <a:rPr sz="1000" spc="-10" dirty="0">
                <a:solidFill>
                  <a:srgbClr val="312783"/>
                </a:solidFill>
                <a:latin typeface="Calibri"/>
                <a:cs typeface="Calibri"/>
              </a:rPr>
              <a:t>віскозуплментації: </a:t>
            </a:r>
            <a:r>
              <a:rPr sz="1000" dirty="0">
                <a:solidFill>
                  <a:srgbClr val="312783"/>
                </a:solidFill>
                <a:latin typeface="Calibri"/>
                <a:cs typeface="Calibri"/>
              </a:rPr>
              <a:t>дослідження in vitro та ex vivo. PLoS ONE 16(10): </a:t>
            </a:r>
            <a:r>
              <a:rPr sz="1000" spc="-10" dirty="0">
                <a:solidFill>
                  <a:srgbClr val="312783"/>
                </a:solidFill>
                <a:latin typeface="Calibri"/>
                <a:cs typeface="Calibri"/>
              </a:rPr>
              <a:t>e0256770.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0248" y="4905721"/>
            <a:ext cx="4265930" cy="850900"/>
            <a:chOff x="620248" y="4905721"/>
            <a:chExt cx="4265930" cy="8509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0248" y="4905721"/>
              <a:ext cx="4265705" cy="7848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7759" y="4960620"/>
              <a:ext cx="3276600" cy="79555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33564" y="4918811"/>
            <a:ext cx="4180840" cy="701040"/>
          </a:xfrm>
          <a:prstGeom prst="rect">
            <a:avLst/>
          </a:prstGeom>
          <a:solidFill>
            <a:srgbClr val="9ECCD2"/>
          </a:solidFill>
          <a:ln w="9525">
            <a:solidFill>
              <a:srgbClr val="432874"/>
            </a:solidFill>
          </a:ln>
        </p:spPr>
        <p:txBody>
          <a:bodyPr vert="horz" wrap="square" lIns="0" tIns="1111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75"/>
              </a:spcBef>
            </a:pPr>
            <a:r>
              <a:rPr sz="1400" dirty="0">
                <a:solidFill>
                  <a:srgbClr val="432874"/>
                </a:solidFill>
                <a:latin typeface="Calibri"/>
                <a:cs typeface="Calibri"/>
              </a:rPr>
              <a:t>In vitro - KioMedine</a:t>
            </a:r>
            <a:r>
              <a:rPr sz="1350" baseline="24691" dirty="0">
                <a:solidFill>
                  <a:srgbClr val="432874"/>
                </a:solidFill>
                <a:latin typeface="Calibri"/>
                <a:cs typeface="Calibri"/>
              </a:rPr>
              <a:t>vs</a:t>
            </a:r>
            <a:r>
              <a:rPr sz="1400" dirty="0">
                <a:solidFill>
                  <a:srgbClr val="432874"/>
                </a:solidFill>
                <a:latin typeface="Calibri"/>
                <a:cs typeface="Calibri"/>
              </a:rPr>
              <a:t> показує тенденцію </a:t>
            </a:r>
            <a:r>
              <a:rPr sz="1400" spc="-25" dirty="0">
                <a:solidFill>
                  <a:srgbClr val="432874"/>
                </a:solidFill>
                <a:latin typeface="Calibri"/>
                <a:cs typeface="Calibri"/>
              </a:rPr>
              <a:t>до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sz="1400" b="1" dirty="0">
                <a:solidFill>
                  <a:srgbClr val="432874"/>
                </a:solidFill>
                <a:latin typeface="Calibri"/>
                <a:cs typeface="Calibri"/>
              </a:rPr>
              <a:t>високої </a:t>
            </a:r>
            <a:r>
              <a:rPr sz="1400" b="1" spc="-10" dirty="0">
                <a:solidFill>
                  <a:srgbClr val="432874"/>
                </a:solidFill>
                <a:latin typeface="Calibri"/>
                <a:cs typeface="Calibri"/>
              </a:rPr>
              <a:t>мастильної здатності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98767" y="1282890"/>
            <a:ext cx="2135505" cy="2404110"/>
            <a:chOff x="498767" y="1282890"/>
            <a:chExt cx="2135505" cy="240411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292" y="1292478"/>
              <a:ext cx="2116201" cy="238506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03529" y="1287652"/>
              <a:ext cx="2125980" cy="2394585"/>
            </a:xfrm>
            <a:custGeom>
              <a:avLst/>
              <a:gdLst/>
              <a:ahLst/>
              <a:cxnLst/>
              <a:rect l="l" t="t" r="r" b="b"/>
              <a:pathLst>
                <a:path w="2125980" h="2394585">
                  <a:moveTo>
                    <a:pt x="0" y="2394585"/>
                  </a:moveTo>
                  <a:lnTo>
                    <a:pt x="2125726" y="2394585"/>
                  </a:lnTo>
                  <a:lnTo>
                    <a:pt x="2125726" y="0"/>
                  </a:lnTo>
                  <a:lnTo>
                    <a:pt x="0" y="0"/>
                  </a:lnTo>
                  <a:lnTo>
                    <a:pt x="0" y="2394585"/>
                  </a:lnTo>
                  <a:close/>
                </a:path>
              </a:pathLst>
            </a:custGeom>
            <a:ln w="9525">
              <a:solidFill>
                <a:srgbClr val="4328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5784024" y="1190752"/>
            <a:ext cx="4224020" cy="3039745"/>
            <a:chOff x="5784024" y="1190752"/>
            <a:chExt cx="4224020" cy="303974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93612" y="1269238"/>
              <a:ext cx="1896237" cy="243116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788786" y="1264539"/>
              <a:ext cx="1906270" cy="2440940"/>
            </a:xfrm>
            <a:custGeom>
              <a:avLst/>
              <a:gdLst/>
              <a:ahLst/>
              <a:cxnLst/>
              <a:rect l="l" t="t" r="r" b="b"/>
              <a:pathLst>
                <a:path w="1906270" h="2440940">
                  <a:moveTo>
                    <a:pt x="0" y="2440686"/>
                  </a:moveTo>
                  <a:lnTo>
                    <a:pt x="1905762" y="2440686"/>
                  </a:lnTo>
                  <a:lnTo>
                    <a:pt x="1905762" y="0"/>
                  </a:lnTo>
                  <a:lnTo>
                    <a:pt x="0" y="0"/>
                  </a:lnTo>
                  <a:lnTo>
                    <a:pt x="0" y="2440686"/>
                  </a:lnTo>
                  <a:close/>
                </a:path>
              </a:pathLst>
            </a:custGeom>
            <a:ln w="9525">
              <a:solidFill>
                <a:srgbClr val="4328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22666" y="1190752"/>
              <a:ext cx="2385313" cy="303923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10063670" y="1211643"/>
            <a:ext cx="1942464" cy="2531110"/>
            <a:chOff x="10063670" y="1211643"/>
            <a:chExt cx="1942464" cy="2531110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073258" y="1221104"/>
              <a:ext cx="1923414" cy="251155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0068432" y="1216405"/>
              <a:ext cx="1932939" cy="2521585"/>
            </a:xfrm>
            <a:custGeom>
              <a:avLst/>
              <a:gdLst/>
              <a:ahLst/>
              <a:cxnLst/>
              <a:rect l="l" t="t" r="r" b="b"/>
              <a:pathLst>
                <a:path w="1932940" h="2521585">
                  <a:moveTo>
                    <a:pt x="0" y="2521077"/>
                  </a:moveTo>
                  <a:lnTo>
                    <a:pt x="1932940" y="2521077"/>
                  </a:lnTo>
                  <a:lnTo>
                    <a:pt x="1932940" y="0"/>
                  </a:lnTo>
                  <a:lnTo>
                    <a:pt x="0" y="0"/>
                  </a:lnTo>
                  <a:lnTo>
                    <a:pt x="0" y="2521077"/>
                  </a:lnTo>
                  <a:close/>
                </a:path>
              </a:pathLst>
            </a:custGeom>
            <a:ln w="9525">
              <a:solidFill>
                <a:srgbClr val="4328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6074658" y="4905620"/>
            <a:ext cx="4788535" cy="852169"/>
            <a:chOff x="6074658" y="4905620"/>
            <a:chExt cx="4788535" cy="852169"/>
          </a:xfrm>
        </p:grpSpPr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74658" y="4905620"/>
              <a:ext cx="4788419" cy="78964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16980" y="4962143"/>
              <a:ext cx="4344924" cy="795553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096000" y="4918824"/>
            <a:ext cx="4696460" cy="647613"/>
          </a:xfrm>
          <a:prstGeom prst="rect">
            <a:avLst/>
          </a:prstGeom>
          <a:solidFill>
            <a:srgbClr val="9ECCD2"/>
          </a:solidFill>
          <a:ln w="9525">
            <a:solidFill>
              <a:srgbClr val="432874"/>
            </a:solidFill>
          </a:ln>
        </p:spPr>
        <p:txBody>
          <a:bodyPr vert="horz" wrap="square" lIns="0" tIns="11303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890"/>
              </a:spcBef>
            </a:pPr>
            <a:r>
              <a:rPr sz="1400" dirty="0">
                <a:solidFill>
                  <a:srgbClr val="432874"/>
                </a:solidFill>
                <a:latin typeface="Calibri"/>
                <a:cs typeface="Calibri"/>
              </a:rPr>
              <a:t>Ex vivo - Завдяки </a:t>
            </a:r>
            <a:r>
              <a:rPr sz="1400" spc="-10" dirty="0">
                <a:solidFill>
                  <a:srgbClr val="432874"/>
                </a:solidFill>
                <a:latin typeface="Calibri"/>
                <a:cs typeface="Calibri"/>
              </a:rPr>
              <a:t>змащувальній </a:t>
            </a:r>
            <a:r>
              <a:rPr sz="1400" spc="-10" dirty="0" err="1">
                <a:solidFill>
                  <a:srgbClr val="432874"/>
                </a:solidFill>
                <a:latin typeface="Calibri"/>
                <a:cs typeface="Calibri"/>
              </a:rPr>
              <a:t>здатності</a:t>
            </a:r>
            <a:r>
              <a:rPr sz="1400" spc="-10" dirty="0">
                <a:solidFill>
                  <a:srgbClr val="432874"/>
                </a:solidFill>
                <a:latin typeface="Calibri"/>
                <a:cs typeface="Calibri"/>
              </a:rPr>
              <a:t> </a:t>
            </a:r>
            <a:r>
              <a:rPr sz="1400" spc="-10" dirty="0" err="1">
                <a:solidFill>
                  <a:srgbClr val="432874"/>
                </a:solidFill>
                <a:latin typeface="Calibri"/>
                <a:cs typeface="Calibri"/>
              </a:rPr>
              <a:t>KioMedineVS</a:t>
            </a:r>
            <a:r>
              <a:rPr lang="uk-UA" sz="1400" spc="-10" dirty="0">
                <a:solidFill>
                  <a:srgbClr val="432874"/>
                </a:solidFill>
                <a:latin typeface="Calibri"/>
                <a:cs typeface="Calibri"/>
              </a:rPr>
              <a:t>о</a:t>
            </a:r>
            <a:r>
              <a:rPr sz="1400" spc="-10" dirty="0">
                <a:solidFill>
                  <a:srgbClr val="432874"/>
                </a:solidFill>
                <a:latin typeface="Calibri"/>
                <a:cs typeface="Calibri"/>
              </a:rPr>
              <a:t>ne®</a:t>
            </a:r>
            <a:endParaRPr sz="14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sz="1400" b="1" dirty="0">
                <a:solidFill>
                  <a:srgbClr val="432874"/>
                </a:solidFill>
                <a:latin typeface="Calibri"/>
                <a:cs typeface="Calibri"/>
              </a:rPr>
              <a:t>під</a:t>
            </a:r>
            <a:r>
              <a:rPr sz="1400" b="1" spc="-10" dirty="0">
                <a:solidFill>
                  <a:srgbClr val="432874"/>
                </a:solidFill>
                <a:latin typeface="Calibri"/>
                <a:cs typeface="Calibri"/>
              </a:rPr>
              <a:t>вищення </a:t>
            </a:r>
            <a:r>
              <a:rPr sz="1400" b="1" dirty="0">
                <a:solidFill>
                  <a:srgbClr val="432874"/>
                </a:solidFill>
                <a:latin typeface="Calibri"/>
                <a:cs typeface="Calibri"/>
              </a:rPr>
              <a:t>рухливості </a:t>
            </a:r>
            <a:r>
              <a:rPr sz="1400" b="1" spc="-20" dirty="0">
                <a:solidFill>
                  <a:srgbClr val="432874"/>
                </a:solidFill>
                <a:latin typeface="Calibri"/>
                <a:cs typeface="Calibri"/>
              </a:rPr>
              <a:t>коліна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832012" y="1583889"/>
            <a:ext cx="2182495" cy="2172335"/>
            <a:chOff x="2832012" y="1583889"/>
            <a:chExt cx="2182495" cy="2172335"/>
          </a:xfrm>
        </p:grpSpPr>
        <p:sp>
          <p:nvSpPr>
            <p:cNvPr id="24" name="object 24"/>
            <p:cNvSpPr/>
            <p:nvPr/>
          </p:nvSpPr>
          <p:spPr>
            <a:xfrm>
              <a:off x="2993021" y="1628419"/>
              <a:ext cx="2021839" cy="1748789"/>
            </a:xfrm>
            <a:custGeom>
              <a:avLst/>
              <a:gdLst/>
              <a:ahLst/>
              <a:cxnLst/>
              <a:rect l="l" t="t" r="r" b="b"/>
              <a:pathLst>
                <a:path w="2021839" h="1748789">
                  <a:moveTo>
                    <a:pt x="2021243" y="1396136"/>
                  </a:moveTo>
                  <a:lnTo>
                    <a:pt x="0" y="1396136"/>
                  </a:lnTo>
                  <a:lnTo>
                    <a:pt x="0" y="1748701"/>
                  </a:lnTo>
                  <a:lnTo>
                    <a:pt x="2021243" y="1748701"/>
                  </a:lnTo>
                  <a:lnTo>
                    <a:pt x="2021243" y="1396136"/>
                  </a:lnTo>
                  <a:close/>
                </a:path>
                <a:path w="2021839" h="1748789">
                  <a:moveTo>
                    <a:pt x="2021243" y="697776"/>
                  </a:moveTo>
                  <a:lnTo>
                    <a:pt x="0" y="697776"/>
                  </a:lnTo>
                  <a:lnTo>
                    <a:pt x="0" y="1050340"/>
                  </a:lnTo>
                  <a:lnTo>
                    <a:pt x="2021243" y="1050340"/>
                  </a:lnTo>
                  <a:lnTo>
                    <a:pt x="2021243" y="697776"/>
                  </a:lnTo>
                  <a:close/>
                </a:path>
                <a:path w="2021839" h="1748789">
                  <a:moveTo>
                    <a:pt x="2021243" y="0"/>
                  </a:moveTo>
                  <a:lnTo>
                    <a:pt x="0" y="0"/>
                  </a:lnTo>
                  <a:lnTo>
                    <a:pt x="0" y="352564"/>
                  </a:lnTo>
                  <a:lnTo>
                    <a:pt x="2021243" y="352564"/>
                  </a:lnTo>
                  <a:lnTo>
                    <a:pt x="2021243" y="0"/>
                  </a:lnTo>
                  <a:close/>
                </a:path>
              </a:pathLst>
            </a:custGeom>
            <a:solidFill>
              <a:srgbClr val="E6E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33200" y="1583889"/>
              <a:ext cx="117638" cy="7420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36171" y="1970500"/>
              <a:ext cx="114668" cy="7420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32012" y="2299561"/>
              <a:ext cx="118826" cy="7420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33795" y="2642226"/>
              <a:ext cx="117044" cy="7428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836765" y="2993631"/>
              <a:ext cx="114074" cy="7420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849833" y="3262091"/>
              <a:ext cx="101005" cy="7420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895580" y="3681477"/>
              <a:ext cx="55880" cy="74295"/>
            </a:xfrm>
            <a:custGeom>
              <a:avLst/>
              <a:gdLst/>
              <a:ahLst/>
              <a:cxnLst/>
              <a:rect l="l" t="t" r="r" b="b"/>
              <a:pathLst>
                <a:path w="55880" h="74295">
                  <a:moveTo>
                    <a:pt x="33272" y="0"/>
                  </a:moveTo>
                  <a:lnTo>
                    <a:pt x="503" y="28453"/>
                  </a:lnTo>
                  <a:lnTo>
                    <a:pt x="0" y="37111"/>
                  </a:lnTo>
                  <a:lnTo>
                    <a:pt x="108" y="45158"/>
                  </a:lnTo>
                  <a:lnTo>
                    <a:pt x="36242" y="74230"/>
                  </a:lnTo>
                  <a:lnTo>
                    <a:pt x="43370" y="71138"/>
                  </a:lnTo>
                  <a:lnTo>
                    <a:pt x="48130" y="64328"/>
                  </a:lnTo>
                  <a:lnTo>
                    <a:pt x="49541" y="61854"/>
                  </a:lnTo>
                  <a:lnTo>
                    <a:pt x="23768" y="61854"/>
                  </a:lnTo>
                  <a:lnTo>
                    <a:pt x="20798" y="59381"/>
                  </a:lnTo>
                  <a:lnTo>
                    <a:pt x="18422" y="55670"/>
                  </a:lnTo>
                  <a:lnTo>
                    <a:pt x="16046" y="51342"/>
                  </a:lnTo>
                  <a:lnTo>
                    <a:pt x="14898" y="45367"/>
                  </a:lnTo>
                  <a:lnTo>
                    <a:pt x="14858" y="28453"/>
                  </a:lnTo>
                  <a:lnTo>
                    <a:pt x="16046" y="22888"/>
                  </a:lnTo>
                  <a:lnTo>
                    <a:pt x="20798" y="14222"/>
                  </a:lnTo>
                  <a:lnTo>
                    <a:pt x="23768" y="12367"/>
                  </a:lnTo>
                  <a:lnTo>
                    <a:pt x="50209" y="12367"/>
                  </a:lnTo>
                  <a:lnTo>
                    <a:pt x="49912" y="11749"/>
                  </a:lnTo>
                  <a:lnTo>
                    <a:pt x="46942" y="7420"/>
                  </a:lnTo>
                  <a:lnTo>
                    <a:pt x="38618" y="1236"/>
                  </a:lnTo>
                  <a:lnTo>
                    <a:pt x="33272" y="0"/>
                  </a:lnTo>
                  <a:close/>
                </a:path>
                <a:path w="55880" h="74295">
                  <a:moveTo>
                    <a:pt x="50209" y="12367"/>
                  </a:moveTo>
                  <a:lnTo>
                    <a:pt x="31490" y="12367"/>
                  </a:lnTo>
                  <a:lnTo>
                    <a:pt x="34460" y="14222"/>
                  </a:lnTo>
                  <a:lnTo>
                    <a:pt x="39212" y="22888"/>
                  </a:lnTo>
                  <a:lnTo>
                    <a:pt x="40400" y="28453"/>
                  </a:lnTo>
                  <a:lnTo>
                    <a:pt x="40360" y="45367"/>
                  </a:lnTo>
                  <a:lnTo>
                    <a:pt x="39212" y="51342"/>
                  </a:lnTo>
                  <a:lnTo>
                    <a:pt x="36836" y="55670"/>
                  </a:lnTo>
                  <a:lnTo>
                    <a:pt x="35054" y="59381"/>
                  </a:lnTo>
                  <a:lnTo>
                    <a:pt x="31490" y="61854"/>
                  </a:lnTo>
                  <a:lnTo>
                    <a:pt x="49541" y="61854"/>
                  </a:lnTo>
                  <a:lnTo>
                    <a:pt x="51249" y="58859"/>
                  </a:lnTo>
                  <a:lnTo>
                    <a:pt x="53476" y="52577"/>
                  </a:lnTo>
                  <a:lnTo>
                    <a:pt x="54813" y="45367"/>
                  </a:lnTo>
                  <a:lnTo>
                    <a:pt x="55258" y="37111"/>
                  </a:lnTo>
                  <a:lnTo>
                    <a:pt x="55150" y="28453"/>
                  </a:lnTo>
                  <a:lnTo>
                    <a:pt x="54178" y="22888"/>
                  </a:lnTo>
                  <a:lnTo>
                    <a:pt x="54070" y="22269"/>
                  </a:lnTo>
                  <a:lnTo>
                    <a:pt x="52288" y="16704"/>
                  </a:lnTo>
                  <a:lnTo>
                    <a:pt x="50209" y="12367"/>
                  </a:lnTo>
                  <a:close/>
                </a:path>
              </a:pathLst>
            </a:custGeom>
            <a:solidFill>
              <a:srgbClr val="2D30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993021" y="1623465"/>
              <a:ext cx="2000250" cy="2104390"/>
            </a:xfrm>
            <a:custGeom>
              <a:avLst/>
              <a:gdLst/>
              <a:ahLst/>
              <a:cxnLst/>
              <a:rect l="l" t="t" r="r" b="b"/>
              <a:pathLst>
                <a:path w="2000250" h="2104390">
                  <a:moveTo>
                    <a:pt x="0" y="0"/>
                  </a:moveTo>
                  <a:lnTo>
                    <a:pt x="0" y="2103788"/>
                  </a:lnTo>
                  <a:lnTo>
                    <a:pt x="1999863" y="2103788"/>
                  </a:lnTo>
                </a:path>
              </a:pathLst>
            </a:custGeom>
            <a:ln w="7875">
              <a:solidFill>
                <a:srgbClr val="2D30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680355" y="2193777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17820" y="0"/>
                  </a:moveTo>
                  <a:lnTo>
                    <a:pt x="11026" y="1426"/>
                  </a:lnTo>
                  <a:lnTo>
                    <a:pt x="5346" y="5348"/>
                  </a:lnTo>
                  <a:lnTo>
                    <a:pt x="1447" y="11235"/>
                  </a:lnTo>
                  <a:lnTo>
                    <a:pt x="0" y="18551"/>
                  </a:lnTo>
                  <a:lnTo>
                    <a:pt x="0" y="28445"/>
                  </a:lnTo>
                  <a:lnTo>
                    <a:pt x="8316" y="36525"/>
                  </a:lnTo>
                  <a:lnTo>
                    <a:pt x="27324" y="36525"/>
                  </a:lnTo>
                  <a:lnTo>
                    <a:pt x="35640" y="28445"/>
                  </a:lnTo>
                  <a:lnTo>
                    <a:pt x="17820" y="0"/>
                  </a:lnTo>
                  <a:close/>
                </a:path>
              </a:pathLst>
            </a:custGeom>
            <a:solidFill>
              <a:srgbClr val="2D30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698175" y="2212328"/>
              <a:ext cx="0" cy="210185"/>
            </a:xfrm>
            <a:custGeom>
              <a:avLst/>
              <a:gdLst/>
              <a:ahLst/>
              <a:cxnLst/>
              <a:rect l="l" t="t" r="r" b="b"/>
              <a:pathLst>
                <a:path h="210185">
                  <a:moveTo>
                    <a:pt x="0" y="0"/>
                  </a:moveTo>
                  <a:lnTo>
                    <a:pt x="0" y="209754"/>
                  </a:lnTo>
                </a:path>
              </a:pathLst>
            </a:custGeom>
            <a:ln w="7724">
              <a:solidFill>
                <a:srgbClr val="2D30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679721" y="2939214"/>
              <a:ext cx="35560" cy="36830"/>
            </a:xfrm>
            <a:custGeom>
              <a:avLst/>
              <a:gdLst/>
              <a:ahLst/>
              <a:cxnLst/>
              <a:rect l="l" t="t" r="r" b="b"/>
              <a:pathLst>
                <a:path w="35560" h="36830">
                  <a:moveTo>
                    <a:pt x="27324" y="0"/>
                  </a:moveTo>
                  <a:lnTo>
                    <a:pt x="7761" y="0"/>
                  </a:lnTo>
                  <a:lnTo>
                    <a:pt x="0" y="7997"/>
                  </a:lnTo>
                  <a:lnTo>
                    <a:pt x="0" y="17891"/>
                  </a:lnTo>
                  <a:lnTo>
                    <a:pt x="27324" y="36443"/>
                  </a:lnTo>
                  <a:lnTo>
                    <a:pt x="35086" y="27785"/>
                  </a:lnTo>
                  <a:lnTo>
                    <a:pt x="35086" y="7997"/>
                  </a:lnTo>
                  <a:lnTo>
                    <a:pt x="27324" y="0"/>
                  </a:lnTo>
                  <a:close/>
                </a:path>
              </a:pathLst>
            </a:custGeom>
            <a:solidFill>
              <a:srgbClr val="2D30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697542" y="2766562"/>
              <a:ext cx="0" cy="191135"/>
            </a:xfrm>
            <a:custGeom>
              <a:avLst/>
              <a:gdLst/>
              <a:ahLst/>
              <a:cxnLst/>
              <a:rect l="l" t="t" r="r" b="b"/>
              <a:pathLst>
                <a:path h="191135">
                  <a:moveTo>
                    <a:pt x="0" y="0"/>
                  </a:moveTo>
                  <a:lnTo>
                    <a:pt x="0" y="190543"/>
                  </a:lnTo>
                </a:path>
              </a:pathLst>
            </a:custGeom>
            <a:ln w="7724">
              <a:solidFill>
                <a:srgbClr val="2D30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471817" y="2602073"/>
              <a:ext cx="449580" cy="165100"/>
            </a:xfrm>
            <a:custGeom>
              <a:avLst/>
              <a:gdLst/>
              <a:ahLst/>
              <a:cxnLst/>
              <a:rect l="l" t="t" r="r" b="b"/>
              <a:pathLst>
                <a:path w="449579" h="165100">
                  <a:moveTo>
                    <a:pt x="449152" y="0"/>
                  </a:moveTo>
                  <a:lnTo>
                    <a:pt x="0" y="0"/>
                  </a:lnTo>
                  <a:lnTo>
                    <a:pt x="0" y="164489"/>
                  </a:lnTo>
                  <a:lnTo>
                    <a:pt x="449152" y="164489"/>
                  </a:lnTo>
                  <a:lnTo>
                    <a:pt x="449152" y="0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471817" y="2422083"/>
              <a:ext cx="449580" cy="180340"/>
            </a:xfrm>
            <a:custGeom>
              <a:avLst/>
              <a:gdLst/>
              <a:ahLst/>
              <a:cxnLst/>
              <a:rect l="l" t="t" r="r" b="b"/>
              <a:pathLst>
                <a:path w="449579" h="180339">
                  <a:moveTo>
                    <a:pt x="449152" y="0"/>
                  </a:moveTo>
                  <a:lnTo>
                    <a:pt x="0" y="0"/>
                  </a:lnTo>
                  <a:lnTo>
                    <a:pt x="0" y="179989"/>
                  </a:lnTo>
                  <a:lnTo>
                    <a:pt x="449152" y="179989"/>
                  </a:lnTo>
                  <a:lnTo>
                    <a:pt x="449152" y="0"/>
                  </a:lnTo>
                  <a:close/>
                </a:path>
              </a:pathLst>
            </a:custGeom>
            <a:solidFill>
              <a:srgbClr val="8B8B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979896" y="2519127"/>
              <a:ext cx="35560" cy="36830"/>
            </a:xfrm>
            <a:custGeom>
              <a:avLst/>
              <a:gdLst/>
              <a:ahLst/>
              <a:cxnLst/>
              <a:rect l="l" t="t" r="r" b="b"/>
              <a:pathLst>
                <a:path w="35560" h="36830">
                  <a:moveTo>
                    <a:pt x="17186" y="0"/>
                  </a:moveTo>
                  <a:lnTo>
                    <a:pt x="7682" y="0"/>
                  </a:lnTo>
                  <a:lnTo>
                    <a:pt x="0" y="8080"/>
                  </a:lnTo>
                  <a:lnTo>
                    <a:pt x="0" y="28445"/>
                  </a:lnTo>
                  <a:lnTo>
                    <a:pt x="7682" y="36525"/>
                  </a:lnTo>
                  <a:lnTo>
                    <a:pt x="27324" y="36525"/>
                  </a:lnTo>
                  <a:lnTo>
                    <a:pt x="35007" y="28445"/>
                  </a:lnTo>
                  <a:lnTo>
                    <a:pt x="17186" y="0"/>
                  </a:lnTo>
                  <a:close/>
                </a:path>
              </a:pathLst>
            </a:custGeom>
            <a:solidFill>
              <a:srgbClr val="2D30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997083" y="2537679"/>
              <a:ext cx="0" cy="283845"/>
            </a:xfrm>
            <a:custGeom>
              <a:avLst/>
              <a:gdLst/>
              <a:ahLst/>
              <a:cxnLst/>
              <a:rect l="l" t="t" r="r" b="b"/>
              <a:pathLst>
                <a:path h="283844">
                  <a:moveTo>
                    <a:pt x="0" y="0"/>
                  </a:moveTo>
                  <a:lnTo>
                    <a:pt x="0" y="283383"/>
                  </a:lnTo>
                </a:path>
              </a:pathLst>
            </a:custGeom>
            <a:ln w="7724">
              <a:solidFill>
                <a:srgbClr val="2D30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978708" y="3152596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17820" y="0"/>
                  </a:moveTo>
                  <a:lnTo>
                    <a:pt x="11026" y="1507"/>
                  </a:lnTo>
                  <a:lnTo>
                    <a:pt x="5346" y="5565"/>
                  </a:lnTo>
                  <a:lnTo>
                    <a:pt x="1447" y="11478"/>
                  </a:lnTo>
                  <a:lnTo>
                    <a:pt x="0" y="18551"/>
                  </a:lnTo>
                  <a:lnTo>
                    <a:pt x="0" y="28445"/>
                  </a:lnTo>
                  <a:lnTo>
                    <a:pt x="8316" y="36525"/>
                  </a:lnTo>
                  <a:lnTo>
                    <a:pt x="27324" y="36525"/>
                  </a:lnTo>
                  <a:lnTo>
                    <a:pt x="35640" y="28445"/>
                  </a:lnTo>
                  <a:lnTo>
                    <a:pt x="17820" y="0"/>
                  </a:lnTo>
                  <a:close/>
                </a:path>
              </a:pathLst>
            </a:custGeom>
            <a:solidFill>
              <a:srgbClr val="2D30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996529" y="3045575"/>
              <a:ext cx="0" cy="125730"/>
            </a:xfrm>
            <a:custGeom>
              <a:avLst/>
              <a:gdLst/>
              <a:ahLst/>
              <a:cxnLst/>
              <a:rect l="l" t="t" r="r" b="b"/>
              <a:pathLst>
                <a:path h="125730">
                  <a:moveTo>
                    <a:pt x="0" y="0"/>
                  </a:moveTo>
                  <a:lnTo>
                    <a:pt x="0" y="125572"/>
                  </a:lnTo>
                </a:path>
              </a:pathLst>
            </a:custGeom>
            <a:ln w="7724">
              <a:solidFill>
                <a:srgbClr val="2D30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773101" y="2928083"/>
              <a:ext cx="449580" cy="118110"/>
            </a:xfrm>
            <a:custGeom>
              <a:avLst/>
              <a:gdLst/>
              <a:ahLst/>
              <a:cxnLst/>
              <a:rect l="l" t="t" r="r" b="b"/>
              <a:pathLst>
                <a:path w="449579" h="118110">
                  <a:moveTo>
                    <a:pt x="449152" y="0"/>
                  </a:moveTo>
                  <a:lnTo>
                    <a:pt x="0" y="0"/>
                  </a:lnTo>
                  <a:lnTo>
                    <a:pt x="0" y="117492"/>
                  </a:lnTo>
                  <a:lnTo>
                    <a:pt x="449152" y="117492"/>
                  </a:lnTo>
                  <a:lnTo>
                    <a:pt x="449152" y="0"/>
                  </a:lnTo>
                  <a:close/>
                </a:path>
              </a:pathLst>
            </a:custGeom>
            <a:solidFill>
              <a:srgbClr val="8B8B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773101" y="2821062"/>
              <a:ext cx="449580" cy="107314"/>
            </a:xfrm>
            <a:custGeom>
              <a:avLst/>
              <a:gdLst/>
              <a:ahLst/>
              <a:cxnLst/>
              <a:rect l="l" t="t" r="r" b="b"/>
              <a:pathLst>
                <a:path w="449579" h="107314">
                  <a:moveTo>
                    <a:pt x="449152" y="0"/>
                  </a:moveTo>
                  <a:lnTo>
                    <a:pt x="0" y="0"/>
                  </a:lnTo>
                  <a:lnTo>
                    <a:pt x="0" y="107021"/>
                  </a:lnTo>
                  <a:lnTo>
                    <a:pt x="449152" y="107021"/>
                  </a:lnTo>
                  <a:lnTo>
                    <a:pt x="449152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81766" y="2654594"/>
              <a:ext cx="35560" cy="36830"/>
            </a:xfrm>
            <a:custGeom>
              <a:avLst/>
              <a:gdLst/>
              <a:ahLst/>
              <a:cxnLst/>
              <a:rect l="l" t="t" r="r" b="b"/>
              <a:pathLst>
                <a:path w="35560" h="36830">
                  <a:moveTo>
                    <a:pt x="27324" y="0"/>
                  </a:moveTo>
                  <a:lnTo>
                    <a:pt x="7722" y="0"/>
                  </a:lnTo>
                  <a:lnTo>
                    <a:pt x="0" y="8080"/>
                  </a:lnTo>
                  <a:lnTo>
                    <a:pt x="0" y="28527"/>
                  </a:lnTo>
                  <a:lnTo>
                    <a:pt x="7722" y="36525"/>
                  </a:lnTo>
                  <a:lnTo>
                    <a:pt x="17226" y="36525"/>
                  </a:lnTo>
                  <a:lnTo>
                    <a:pt x="24272" y="35111"/>
                  </a:lnTo>
                  <a:lnTo>
                    <a:pt x="29927" y="31207"/>
                  </a:lnTo>
                  <a:lnTo>
                    <a:pt x="33689" y="25325"/>
                  </a:lnTo>
                  <a:lnTo>
                    <a:pt x="35054" y="17974"/>
                  </a:lnTo>
                  <a:lnTo>
                    <a:pt x="35054" y="8080"/>
                  </a:lnTo>
                  <a:lnTo>
                    <a:pt x="27324" y="0"/>
                  </a:lnTo>
                  <a:close/>
                </a:path>
              </a:pathLst>
            </a:custGeom>
            <a:solidFill>
              <a:srgbClr val="2D30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298993" y="2672568"/>
              <a:ext cx="0" cy="142875"/>
            </a:xfrm>
            <a:custGeom>
              <a:avLst/>
              <a:gdLst/>
              <a:ahLst/>
              <a:cxnLst/>
              <a:rect l="l" t="t" r="r" b="b"/>
              <a:pathLst>
                <a:path h="142875">
                  <a:moveTo>
                    <a:pt x="0" y="0"/>
                  </a:moveTo>
                  <a:lnTo>
                    <a:pt x="0" y="142309"/>
                  </a:lnTo>
                </a:path>
              </a:pathLst>
            </a:custGeom>
            <a:ln w="7724">
              <a:solidFill>
                <a:srgbClr val="2D30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281766" y="3287403"/>
              <a:ext cx="35560" cy="36830"/>
            </a:xfrm>
            <a:custGeom>
              <a:avLst/>
              <a:gdLst/>
              <a:ahLst/>
              <a:cxnLst/>
              <a:rect l="l" t="t" r="r" b="b"/>
              <a:pathLst>
                <a:path w="35560" h="36829">
                  <a:moveTo>
                    <a:pt x="27324" y="0"/>
                  </a:moveTo>
                  <a:lnTo>
                    <a:pt x="7722" y="0"/>
                  </a:lnTo>
                  <a:lnTo>
                    <a:pt x="0" y="8080"/>
                  </a:lnTo>
                  <a:lnTo>
                    <a:pt x="0" y="17974"/>
                  </a:lnTo>
                  <a:lnTo>
                    <a:pt x="0" y="28527"/>
                  </a:lnTo>
                  <a:lnTo>
                    <a:pt x="7722" y="36525"/>
                  </a:lnTo>
                  <a:lnTo>
                    <a:pt x="17226" y="36525"/>
                  </a:lnTo>
                  <a:lnTo>
                    <a:pt x="24272" y="35111"/>
                  </a:lnTo>
                  <a:lnTo>
                    <a:pt x="29927" y="31207"/>
                  </a:lnTo>
                  <a:lnTo>
                    <a:pt x="33689" y="25325"/>
                  </a:lnTo>
                  <a:lnTo>
                    <a:pt x="35054" y="17974"/>
                  </a:lnTo>
                  <a:lnTo>
                    <a:pt x="35054" y="8080"/>
                  </a:lnTo>
                  <a:lnTo>
                    <a:pt x="27324" y="0"/>
                  </a:lnTo>
                  <a:close/>
                </a:path>
              </a:pathLst>
            </a:custGeom>
            <a:solidFill>
              <a:srgbClr val="2D30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298993" y="3174198"/>
              <a:ext cx="0" cy="131445"/>
            </a:xfrm>
            <a:custGeom>
              <a:avLst/>
              <a:gdLst/>
              <a:ahLst/>
              <a:cxnLst/>
              <a:rect l="l" t="t" r="r" b="b"/>
              <a:pathLst>
                <a:path h="131445">
                  <a:moveTo>
                    <a:pt x="0" y="0"/>
                  </a:moveTo>
                  <a:lnTo>
                    <a:pt x="0" y="131179"/>
                  </a:lnTo>
                </a:path>
              </a:pathLst>
            </a:custGeom>
            <a:ln w="7724">
              <a:solidFill>
                <a:srgbClr val="2D30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075011" y="2955292"/>
              <a:ext cx="449580" cy="219075"/>
            </a:xfrm>
            <a:custGeom>
              <a:avLst/>
              <a:gdLst/>
              <a:ahLst/>
              <a:cxnLst/>
              <a:rect l="l" t="t" r="r" b="b"/>
              <a:pathLst>
                <a:path w="449579" h="219075">
                  <a:moveTo>
                    <a:pt x="449159" y="0"/>
                  </a:moveTo>
                  <a:lnTo>
                    <a:pt x="0" y="0"/>
                  </a:lnTo>
                  <a:lnTo>
                    <a:pt x="0" y="218906"/>
                  </a:lnTo>
                  <a:lnTo>
                    <a:pt x="449159" y="218906"/>
                  </a:lnTo>
                  <a:lnTo>
                    <a:pt x="449159" y="0"/>
                  </a:lnTo>
                  <a:close/>
                </a:path>
              </a:pathLst>
            </a:custGeom>
            <a:solidFill>
              <a:srgbClr val="7ED3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075011" y="2814878"/>
              <a:ext cx="449580" cy="140970"/>
            </a:xfrm>
            <a:custGeom>
              <a:avLst/>
              <a:gdLst/>
              <a:ahLst/>
              <a:cxnLst/>
              <a:rect l="l" t="t" r="r" b="b"/>
              <a:pathLst>
                <a:path w="449579" h="140969">
                  <a:moveTo>
                    <a:pt x="449159" y="0"/>
                  </a:moveTo>
                  <a:lnTo>
                    <a:pt x="0" y="0"/>
                  </a:lnTo>
                  <a:lnTo>
                    <a:pt x="0" y="140413"/>
                  </a:lnTo>
                  <a:lnTo>
                    <a:pt x="449159" y="140413"/>
                  </a:lnTo>
                  <a:lnTo>
                    <a:pt x="449159" y="0"/>
                  </a:lnTo>
                  <a:close/>
                </a:path>
              </a:pathLst>
            </a:custGeom>
            <a:solidFill>
              <a:srgbClr val="BEE7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/>
          <p:nvPr/>
        </p:nvSpPr>
        <p:spPr>
          <a:xfrm>
            <a:off x="3044113" y="3786022"/>
            <a:ext cx="514350" cy="71755"/>
          </a:xfrm>
          <a:custGeom>
            <a:avLst/>
            <a:gdLst/>
            <a:ahLst/>
            <a:cxnLst/>
            <a:rect l="l" t="t" r="r" b="b"/>
            <a:pathLst>
              <a:path w="514350" h="71754">
                <a:moveTo>
                  <a:pt x="41579" y="71132"/>
                </a:moveTo>
                <a:lnTo>
                  <a:pt x="26136" y="30314"/>
                </a:lnTo>
                <a:lnTo>
                  <a:pt x="39801" y="1231"/>
                </a:lnTo>
                <a:lnTo>
                  <a:pt x="26136" y="1231"/>
                </a:lnTo>
                <a:lnTo>
                  <a:pt x="13652" y="30924"/>
                </a:lnTo>
                <a:lnTo>
                  <a:pt x="13652" y="1231"/>
                </a:lnTo>
                <a:lnTo>
                  <a:pt x="0" y="1231"/>
                </a:lnTo>
                <a:lnTo>
                  <a:pt x="0" y="71132"/>
                </a:lnTo>
                <a:lnTo>
                  <a:pt x="13652" y="71132"/>
                </a:lnTo>
                <a:lnTo>
                  <a:pt x="13652" y="55054"/>
                </a:lnTo>
                <a:lnTo>
                  <a:pt x="17818" y="45770"/>
                </a:lnTo>
                <a:lnTo>
                  <a:pt x="27330" y="71132"/>
                </a:lnTo>
                <a:lnTo>
                  <a:pt x="41579" y="71132"/>
                </a:lnTo>
                <a:close/>
              </a:path>
              <a:path w="514350" h="71754">
                <a:moveTo>
                  <a:pt x="58813" y="20408"/>
                </a:moveTo>
                <a:lnTo>
                  <a:pt x="46329" y="20408"/>
                </a:lnTo>
                <a:lnTo>
                  <a:pt x="46329" y="71132"/>
                </a:lnTo>
                <a:lnTo>
                  <a:pt x="58813" y="71132"/>
                </a:lnTo>
                <a:lnTo>
                  <a:pt x="58813" y="20408"/>
                </a:lnTo>
                <a:close/>
              </a:path>
              <a:path w="514350" h="71754">
                <a:moveTo>
                  <a:pt x="59397" y="622"/>
                </a:moveTo>
                <a:lnTo>
                  <a:pt x="45745" y="622"/>
                </a:lnTo>
                <a:lnTo>
                  <a:pt x="45745" y="14236"/>
                </a:lnTo>
                <a:lnTo>
                  <a:pt x="59397" y="14236"/>
                </a:lnTo>
                <a:lnTo>
                  <a:pt x="59397" y="622"/>
                </a:lnTo>
                <a:close/>
              </a:path>
              <a:path w="514350" h="71754">
                <a:moveTo>
                  <a:pt x="99212" y="37731"/>
                </a:moveTo>
                <a:lnTo>
                  <a:pt x="98780" y="30924"/>
                </a:lnTo>
                <a:lnTo>
                  <a:pt x="98653" y="29070"/>
                </a:lnTo>
                <a:lnTo>
                  <a:pt x="98615" y="28448"/>
                </a:lnTo>
                <a:lnTo>
                  <a:pt x="95643" y="23507"/>
                </a:lnTo>
                <a:lnTo>
                  <a:pt x="92087" y="18554"/>
                </a:lnTo>
                <a:lnTo>
                  <a:pt x="87325" y="17322"/>
                </a:lnTo>
                <a:lnTo>
                  <a:pt x="86144" y="17322"/>
                </a:lnTo>
                <a:lnTo>
                  <a:pt x="86144" y="33401"/>
                </a:lnTo>
                <a:lnTo>
                  <a:pt x="86144" y="55676"/>
                </a:lnTo>
                <a:lnTo>
                  <a:pt x="85547" y="58140"/>
                </a:lnTo>
                <a:lnTo>
                  <a:pt x="84950" y="59385"/>
                </a:lnTo>
                <a:lnTo>
                  <a:pt x="83172" y="59994"/>
                </a:lnTo>
                <a:lnTo>
                  <a:pt x="80797" y="59994"/>
                </a:lnTo>
                <a:lnTo>
                  <a:pt x="79603" y="59385"/>
                </a:lnTo>
                <a:lnTo>
                  <a:pt x="77825" y="55676"/>
                </a:lnTo>
                <a:lnTo>
                  <a:pt x="77825" y="33401"/>
                </a:lnTo>
                <a:lnTo>
                  <a:pt x="79603" y="29692"/>
                </a:lnTo>
                <a:lnTo>
                  <a:pt x="80797" y="29070"/>
                </a:lnTo>
                <a:lnTo>
                  <a:pt x="83172" y="29070"/>
                </a:lnTo>
                <a:lnTo>
                  <a:pt x="84950" y="29692"/>
                </a:lnTo>
                <a:lnTo>
                  <a:pt x="85547" y="30924"/>
                </a:lnTo>
                <a:lnTo>
                  <a:pt x="86144" y="33401"/>
                </a:lnTo>
                <a:lnTo>
                  <a:pt x="86144" y="17322"/>
                </a:lnTo>
                <a:lnTo>
                  <a:pt x="76631" y="17322"/>
                </a:lnTo>
                <a:lnTo>
                  <a:pt x="71882" y="18554"/>
                </a:lnTo>
                <a:lnTo>
                  <a:pt x="68910" y="23507"/>
                </a:lnTo>
                <a:lnTo>
                  <a:pt x="65354" y="28448"/>
                </a:lnTo>
                <a:lnTo>
                  <a:pt x="65354" y="60617"/>
                </a:lnTo>
                <a:lnTo>
                  <a:pt x="68910" y="65570"/>
                </a:lnTo>
                <a:lnTo>
                  <a:pt x="71882" y="70523"/>
                </a:lnTo>
                <a:lnTo>
                  <a:pt x="76631" y="71755"/>
                </a:lnTo>
                <a:lnTo>
                  <a:pt x="87325" y="71755"/>
                </a:lnTo>
                <a:lnTo>
                  <a:pt x="92087" y="70523"/>
                </a:lnTo>
                <a:lnTo>
                  <a:pt x="95643" y="65570"/>
                </a:lnTo>
                <a:lnTo>
                  <a:pt x="98615" y="60617"/>
                </a:lnTo>
                <a:lnTo>
                  <a:pt x="98653" y="59994"/>
                </a:lnTo>
                <a:lnTo>
                  <a:pt x="99212" y="51955"/>
                </a:lnTo>
                <a:lnTo>
                  <a:pt x="99212" y="37731"/>
                </a:lnTo>
                <a:close/>
              </a:path>
              <a:path w="514350" h="71754">
                <a:moveTo>
                  <a:pt x="154470" y="1231"/>
                </a:moveTo>
                <a:lnTo>
                  <a:pt x="142582" y="1231"/>
                </a:lnTo>
                <a:lnTo>
                  <a:pt x="130695" y="35255"/>
                </a:lnTo>
                <a:lnTo>
                  <a:pt x="118224" y="1231"/>
                </a:lnTo>
                <a:lnTo>
                  <a:pt x="106349" y="1231"/>
                </a:lnTo>
                <a:lnTo>
                  <a:pt x="106349" y="71132"/>
                </a:lnTo>
                <a:lnTo>
                  <a:pt x="120015" y="71132"/>
                </a:lnTo>
                <a:lnTo>
                  <a:pt x="120015" y="34632"/>
                </a:lnTo>
                <a:lnTo>
                  <a:pt x="127139" y="58762"/>
                </a:lnTo>
                <a:lnTo>
                  <a:pt x="133667" y="58762"/>
                </a:lnTo>
                <a:lnTo>
                  <a:pt x="141389" y="34632"/>
                </a:lnTo>
                <a:lnTo>
                  <a:pt x="141389" y="71132"/>
                </a:lnTo>
                <a:lnTo>
                  <a:pt x="154470" y="71132"/>
                </a:lnTo>
                <a:lnTo>
                  <a:pt x="154470" y="1231"/>
                </a:lnTo>
                <a:close/>
              </a:path>
              <a:path w="514350" h="71754">
                <a:moveTo>
                  <a:pt x="196062" y="41833"/>
                </a:moveTo>
                <a:lnTo>
                  <a:pt x="195922" y="39598"/>
                </a:lnTo>
                <a:lnTo>
                  <a:pt x="195707" y="35877"/>
                </a:lnTo>
                <a:lnTo>
                  <a:pt x="195618" y="34328"/>
                </a:lnTo>
                <a:lnTo>
                  <a:pt x="194449" y="29070"/>
                </a:lnTo>
                <a:lnTo>
                  <a:pt x="194056" y="27292"/>
                </a:lnTo>
                <a:lnTo>
                  <a:pt x="190715" y="21653"/>
                </a:lnTo>
                <a:lnTo>
                  <a:pt x="187744" y="17945"/>
                </a:lnTo>
                <a:lnTo>
                  <a:pt x="183578" y="17322"/>
                </a:lnTo>
                <a:lnTo>
                  <a:pt x="183578" y="35877"/>
                </a:lnTo>
                <a:lnTo>
                  <a:pt x="183578" y="39598"/>
                </a:lnTo>
                <a:lnTo>
                  <a:pt x="174663" y="39598"/>
                </a:lnTo>
                <a:lnTo>
                  <a:pt x="174663" y="35877"/>
                </a:lnTo>
                <a:lnTo>
                  <a:pt x="175260" y="32169"/>
                </a:lnTo>
                <a:lnTo>
                  <a:pt x="175856" y="30924"/>
                </a:lnTo>
                <a:lnTo>
                  <a:pt x="177634" y="29070"/>
                </a:lnTo>
                <a:lnTo>
                  <a:pt x="180606" y="29070"/>
                </a:lnTo>
                <a:lnTo>
                  <a:pt x="182384" y="30924"/>
                </a:lnTo>
                <a:lnTo>
                  <a:pt x="182981" y="32169"/>
                </a:lnTo>
                <a:lnTo>
                  <a:pt x="183578" y="35877"/>
                </a:lnTo>
                <a:lnTo>
                  <a:pt x="183578" y="17322"/>
                </a:lnTo>
                <a:lnTo>
                  <a:pt x="174663" y="17322"/>
                </a:lnTo>
                <a:lnTo>
                  <a:pt x="171107" y="17945"/>
                </a:lnTo>
                <a:lnTo>
                  <a:pt x="167538" y="21653"/>
                </a:lnTo>
                <a:lnTo>
                  <a:pt x="162191" y="26593"/>
                </a:lnTo>
                <a:lnTo>
                  <a:pt x="162191" y="62471"/>
                </a:lnTo>
                <a:lnTo>
                  <a:pt x="167538" y="67424"/>
                </a:lnTo>
                <a:lnTo>
                  <a:pt x="171107" y="71132"/>
                </a:lnTo>
                <a:lnTo>
                  <a:pt x="174066" y="71755"/>
                </a:lnTo>
                <a:lnTo>
                  <a:pt x="184175" y="71755"/>
                </a:lnTo>
                <a:lnTo>
                  <a:pt x="188341" y="70523"/>
                </a:lnTo>
                <a:lnTo>
                  <a:pt x="191300" y="67424"/>
                </a:lnTo>
                <a:lnTo>
                  <a:pt x="194271" y="63715"/>
                </a:lnTo>
                <a:lnTo>
                  <a:pt x="195160" y="59994"/>
                </a:lnTo>
                <a:lnTo>
                  <a:pt x="195465" y="58762"/>
                </a:lnTo>
                <a:lnTo>
                  <a:pt x="195465" y="54432"/>
                </a:lnTo>
                <a:lnTo>
                  <a:pt x="182981" y="54432"/>
                </a:lnTo>
                <a:lnTo>
                  <a:pt x="182981" y="57531"/>
                </a:lnTo>
                <a:lnTo>
                  <a:pt x="182384" y="58140"/>
                </a:lnTo>
                <a:lnTo>
                  <a:pt x="181787" y="59385"/>
                </a:lnTo>
                <a:lnTo>
                  <a:pt x="180606" y="59994"/>
                </a:lnTo>
                <a:lnTo>
                  <a:pt x="177634" y="59994"/>
                </a:lnTo>
                <a:lnTo>
                  <a:pt x="176453" y="59385"/>
                </a:lnTo>
                <a:lnTo>
                  <a:pt x="175856" y="58140"/>
                </a:lnTo>
                <a:lnTo>
                  <a:pt x="175260" y="56286"/>
                </a:lnTo>
                <a:lnTo>
                  <a:pt x="174663" y="52578"/>
                </a:lnTo>
                <a:lnTo>
                  <a:pt x="174663" y="48869"/>
                </a:lnTo>
                <a:lnTo>
                  <a:pt x="196062" y="48869"/>
                </a:lnTo>
                <a:lnTo>
                  <a:pt x="196062" y="41833"/>
                </a:lnTo>
                <a:close/>
              </a:path>
              <a:path w="514350" h="71754">
                <a:moveTo>
                  <a:pt x="234670" y="1231"/>
                </a:moveTo>
                <a:lnTo>
                  <a:pt x="222199" y="1231"/>
                </a:lnTo>
                <a:lnTo>
                  <a:pt x="222199" y="21031"/>
                </a:lnTo>
                <a:lnTo>
                  <a:pt x="222199" y="32169"/>
                </a:lnTo>
                <a:lnTo>
                  <a:pt x="222199" y="56908"/>
                </a:lnTo>
                <a:lnTo>
                  <a:pt x="221602" y="58140"/>
                </a:lnTo>
                <a:lnTo>
                  <a:pt x="221005" y="58762"/>
                </a:lnTo>
                <a:lnTo>
                  <a:pt x="219824" y="59385"/>
                </a:lnTo>
                <a:lnTo>
                  <a:pt x="219227" y="59994"/>
                </a:lnTo>
                <a:lnTo>
                  <a:pt x="216852" y="59994"/>
                </a:lnTo>
                <a:lnTo>
                  <a:pt x="215658" y="59385"/>
                </a:lnTo>
                <a:lnTo>
                  <a:pt x="214477" y="58140"/>
                </a:lnTo>
                <a:lnTo>
                  <a:pt x="213880" y="55676"/>
                </a:lnTo>
                <a:lnTo>
                  <a:pt x="213880" y="33401"/>
                </a:lnTo>
                <a:lnTo>
                  <a:pt x="214477" y="30924"/>
                </a:lnTo>
                <a:lnTo>
                  <a:pt x="215658" y="29692"/>
                </a:lnTo>
                <a:lnTo>
                  <a:pt x="216852" y="29070"/>
                </a:lnTo>
                <a:lnTo>
                  <a:pt x="219227" y="29070"/>
                </a:lnTo>
                <a:lnTo>
                  <a:pt x="219824" y="29692"/>
                </a:lnTo>
                <a:lnTo>
                  <a:pt x="221005" y="30314"/>
                </a:lnTo>
                <a:lnTo>
                  <a:pt x="221602" y="30924"/>
                </a:lnTo>
                <a:lnTo>
                  <a:pt x="222199" y="32169"/>
                </a:lnTo>
                <a:lnTo>
                  <a:pt x="222199" y="21031"/>
                </a:lnTo>
                <a:lnTo>
                  <a:pt x="221005" y="20408"/>
                </a:lnTo>
                <a:lnTo>
                  <a:pt x="219824" y="19177"/>
                </a:lnTo>
                <a:lnTo>
                  <a:pt x="217436" y="17945"/>
                </a:lnTo>
                <a:lnTo>
                  <a:pt x="215658" y="17322"/>
                </a:lnTo>
                <a:lnTo>
                  <a:pt x="209715" y="17322"/>
                </a:lnTo>
                <a:lnTo>
                  <a:pt x="207340" y="18554"/>
                </a:lnTo>
                <a:lnTo>
                  <a:pt x="204368" y="21653"/>
                </a:lnTo>
                <a:lnTo>
                  <a:pt x="201409" y="25984"/>
                </a:lnTo>
                <a:lnTo>
                  <a:pt x="201409" y="63093"/>
                </a:lnTo>
                <a:lnTo>
                  <a:pt x="204368" y="67424"/>
                </a:lnTo>
                <a:lnTo>
                  <a:pt x="207340" y="70523"/>
                </a:lnTo>
                <a:lnTo>
                  <a:pt x="209715" y="71755"/>
                </a:lnTo>
                <a:lnTo>
                  <a:pt x="215658" y="71755"/>
                </a:lnTo>
                <a:lnTo>
                  <a:pt x="217436" y="71132"/>
                </a:lnTo>
                <a:lnTo>
                  <a:pt x="219824" y="69900"/>
                </a:lnTo>
                <a:lnTo>
                  <a:pt x="222199" y="68046"/>
                </a:lnTo>
                <a:lnTo>
                  <a:pt x="222783" y="67424"/>
                </a:lnTo>
                <a:lnTo>
                  <a:pt x="222783" y="71132"/>
                </a:lnTo>
                <a:lnTo>
                  <a:pt x="234670" y="71132"/>
                </a:lnTo>
                <a:lnTo>
                  <a:pt x="234670" y="67424"/>
                </a:lnTo>
                <a:lnTo>
                  <a:pt x="234670" y="59994"/>
                </a:lnTo>
                <a:lnTo>
                  <a:pt x="234670" y="29070"/>
                </a:lnTo>
                <a:lnTo>
                  <a:pt x="234670" y="21031"/>
                </a:lnTo>
                <a:lnTo>
                  <a:pt x="234670" y="1231"/>
                </a:lnTo>
                <a:close/>
              </a:path>
              <a:path w="514350" h="71754">
                <a:moveTo>
                  <a:pt x="255473" y="20408"/>
                </a:moveTo>
                <a:lnTo>
                  <a:pt x="242989" y="20408"/>
                </a:lnTo>
                <a:lnTo>
                  <a:pt x="242989" y="71132"/>
                </a:lnTo>
                <a:lnTo>
                  <a:pt x="255473" y="71132"/>
                </a:lnTo>
                <a:lnTo>
                  <a:pt x="255473" y="20408"/>
                </a:lnTo>
                <a:close/>
              </a:path>
              <a:path w="514350" h="71754">
                <a:moveTo>
                  <a:pt x="255473" y="622"/>
                </a:moveTo>
                <a:lnTo>
                  <a:pt x="242404" y="622"/>
                </a:lnTo>
                <a:lnTo>
                  <a:pt x="242404" y="14236"/>
                </a:lnTo>
                <a:lnTo>
                  <a:pt x="255473" y="14236"/>
                </a:lnTo>
                <a:lnTo>
                  <a:pt x="255473" y="622"/>
                </a:lnTo>
                <a:close/>
              </a:path>
              <a:path w="514350" h="71754">
                <a:moveTo>
                  <a:pt x="296456" y="27216"/>
                </a:moveTo>
                <a:lnTo>
                  <a:pt x="295871" y="24130"/>
                </a:lnTo>
                <a:lnTo>
                  <a:pt x="293497" y="21653"/>
                </a:lnTo>
                <a:lnTo>
                  <a:pt x="291122" y="18554"/>
                </a:lnTo>
                <a:lnTo>
                  <a:pt x="288734" y="17322"/>
                </a:lnTo>
                <a:lnTo>
                  <a:pt x="282206" y="17322"/>
                </a:lnTo>
                <a:lnTo>
                  <a:pt x="280428" y="17945"/>
                </a:lnTo>
                <a:lnTo>
                  <a:pt x="279234" y="18554"/>
                </a:lnTo>
                <a:lnTo>
                  <a:pt x="277456" y="19177"/>
                </a:lnTo>
                <a:lnTo>
                  <a:pt x="276263" y="20408"/>
                </a:lnTo>
                <a:lnTo>
                  <a:pt x="275082" y="22275"/>
                </a:lnTo>
                <a:lnTo>
                  <a:pt x="275082" y="17945"/>
                </a:lnTo>
                <a:lnTo>
                  <a:pt x="263194" y="17945"/>
                </a:lnTo>
                <a:lnTo>
                  <a:pt x="263194" y="71132"/>
                </a:lnTo>
                <a:lnTo>
                  <a:pt x="275666" y="71132"/>
                </a:lnTo>
                <a:lnTo>
                  <a:pt x="275666" y="30924"/>
                </a:lnTo>
                <a:lnTo>
                  <a:pt x="277456" y="29070"/>
                </a:lnTo>
                <a:lnTo>
                  <a:pt x="282206" y="29070"/>
                </a:lnTo>
                <a:lnTo>
                  <a:pt x="283984" y="30924"/>
                </a:lnTo>
                <a:lnTo>
                  <a:pt x="283984" y="71132"/>
                </a:lnTo>
                <a:lnTo>
                  <a:pt x="296456" y="71132"/>
                </a:lnTo>
                <a:lnTo>
                  <a:pt x="296456" y="27216"/>
                </a:lnTo>
                <a:close/>
              </a:path>
              <a:path w="514350" h="71754">
                <a:moveTo>
                  <a:pt x="336867" y="48869"/>
                </a:moveTo>
                <a:lnTo>
                  <a:pt x="336613" y="41833"/>
                </a:lnTo>
                <a:lnTo>
                  <a:pt x="336486" y="39598"/>
                </a:lnTo>
                <a:lnTo>
                  <a:pt x="336283" y="35877"/>
                </a:lnTo>
                <a:lnTo>
                  <a:pt x="336194" y="34328"/>
                </a:lnTo>
                <a:lnTo>
                  <a:pt x="335127" y="29070"/>
                </a:lnTo>
                <a:lnTo>
                  <a:pt x="334772" y="27292"/>
                </a:lnTo>
                <a:lnTo>
                  <a:pt x="331520" y="21653"/>
                </a:lnTo>
                <a:lnTo>
                  <a:pt x="327952" y="17945"/>
                </a:lnTo>
                <a:lnTo>
                  <a:pt x="324383" y="17322"/>
                </a:lnTo>
                <a:lnTo>
                  <a:pt x="323799" y="17322"/>
                </a:lnTo>
                <a:lnTo>
                  <a:pt x="323799" y="32169"/>
                </a:lnTo>
                <a:lnTo>
                  <a:pt x="323799" y="39598"/>
                </a:lnTo>
                <a:lnTo>
                  <a:pt x="315480" y="39598"/>
                </a:lnTo>
                <a:lnTo>
                  <a:pt x="315480" y="35877"/>
                </a:lnTo>
                <a:lnTo>
                  <a:pt x="316077" y="32169"/>
                </a:lnTo>
                <a:lnTo>
                  <a:pt x="316661" y="30924"/>
                </a:lnTo>
                <a:lnTo>
                  <a:pt x="318452" y="29070"/>
                </a:lnTo>
                <a:lnTo>
                  <a:pt x="321424" y="29070"/>
                </a:lnTo>
                <a:lnTo>
                  <a:pt x="323202" y="30924"/>
                </a:lnTo>
                <a:lnTo>
                  <a:pt x="323799" y="32169"/>
                </a:lnTo>
                <a:lnTo>
                  <a:pt x="323799" y="17322"/>
                </a:lnTo>
                <a:lnTo>
                  <a:pt x="315480" y="17322"/>
                </a:lnTo>
                <a:lnTo>
                  <a:pt x="311315" y="17945"/>
                </a:lnTo>
                <a:lnTo>
                  <a:pt x="302996" y="26593"/>
                </a:lnTo>
                <a:lnTo>
                  <a:pt x="302996" y="62471"/>
                </a:lnTo>
                <a:lnTo>
                  <a:pt x="311315" y="71132"/>
                </a:lnTo>
                <a:lnTo>
                  <a:pt x="314883" y="71755"/>
                </a:lnTo>
                <a:lnTo>
                  <a:pt x="324980" y="71755"/>
                </a:lnTo>
                <a:lnTo>
                  <a:pt x="329145" y="70523"/>
                </a:lnTo>
                <a:lnTo>
                  <a:pt x="331520" y="67424"/>
                </a:lnTo>
                <a:lnTo>
                  <a:pt x="335076" y="63715"/>
                </a:lnTo>
                <a:lnTo>
                  <a:pt x="335965" y="59994"/>
                </a:lnTo>
                <a:lnTo>
                  <a:pt x="336270" y="58762"/>
                </a:lnTo>
                <a:lnTo>
                  <a:pt x="336270" y="54432"/>
                </a:lnTo>
                <a:lnTo>
                  <a:pt x="323799" y="54432"/>
                </a:lnTo>
                <a:lnTo>
                  <a:pt x="323799" y="55676"/>
                </a:lnTo>
                <a:lnTo>
                  <a:pt x="323202" y="57531"/>
                </a:lnTo>
                <a:lnTo>
                  <a:pt x="323202" y="58140"/>
                </a:lnTo>
                <a:lnTo>
                  <a:pt x="321424" y="59994"/>
                </a:lnTo>
                <a:lnTo>
                  <a:pt x="318452" y="59994"/>
                </a:lnTo>
                <a:lnTo>
                  <a:pt x="317258" y="59385"/>
                </a:lnTo>
                <a:lnTo>
                  <a:pt x="316661" y="58140"/>
                </a:lnTo>
                <a:lnTo>
                  <a:pt x="315480" y="56286"/>
                </a:lnTo>
                <a:lnTo>
                  <a:pt x="315480" y="48869"/>
                </a:lnTo>
                <a:lnTo>
                  <a:pt x="336867" y="48869"/>
                </a:lnTo>
                <a:close/>
              </a:path>
              <a:path w="514350" h="71754">
                <a:moveTo>
                  <a:pt x="361823" y="7416"/>
                </a:moveTo>
                <a:lnTo>
                  <a:pt x="354101" y="7416"/>
                </a:lnTo>
                <a:lnTo>
                  <a:pt x="350532" y="25984"/>
                </a:lnTo>
                <a:lnTo>
                  <a:pt x="346964" y="7416"/>
                </a:lnTo>
                <a:lnTo>
                  <a:pt x="339242" y="7416"/>
                </a:lnTo>
                <a:lnTo>
                  <a:pt x="346367" y="38354"/>
                </a:lnTo>
                <a:lnTo>
                  <a:pt x="354685" y="38354"/>
                </a:lnTo>
                <a:lnTo>
                  <a:pt x="361823" y="7416"/>
                </a:lnTo>
                <a:close/>
              </a:path>
              <a:path w="514350" h="71754">
                <a:moveTo>
                  <a:pt x="382612" y="26593"/>
                </a:moveTo>
                <a:lnTo>
                  <a:pt x="382016" y="24739"/>
                </a:lnTo>
                <a:lnTo>
                  <a:pt x="381419" y="23507"/>
                </a:lnTo>
                <a:lnTo>
                  <a:pt x="379044" y="21031"/>
                </a:lnTo>
                <a:lnTo>
                  <a:pt x="376669" y="20408"/>
                </a:lnTo>
                <a:lnTo>
                  <a:pt x="372516" y="18554"/>
                </a:lnTo>
                <a:lnTo>
                  <a:pt x="371919" y="18554"/>
                </a:lnTo>
                <a:lnTo>
                  <a:pt x="370725" y="17322"/>
                </a:lnTo>
                <a:lnTo>
                  <a:pt x="370725" y="16700"/>
                </a:lnTo>
                <a:lnTo>
                  <a:pt x="370141" y="16700"/>
                </a:lnTo>
                <a:lnTo>
                  <a:pt x="370141" y="14846"/>
                </a:lnTo>
                <a:lnTo>
                  <a:pt x="370725" y="14846"/>
                </a:lnTo>
                <a:lnTo>
                  <a:pt x="370725" y="14236"/>
                </a:lnTo>
                <a:lnTo>
                  <a:pt x="371322" y="13601"/>
                </a:lnTo>
                <a:lnTo>
                  <a:pt x="373697" y="13601"/>
                </a:lnTo>
                <a:lnTo>
                  <a:pt x="374891" y="14846"/>
                </a:lnTo>
                <a:lnTo>
                  <a:pt x="374891" y="16090"/>
                </a:lnTo>
                <a:lnTo>
                  <a:pt x="382016" y="16090"/>
                </a:lnTo>
                <a:lnTo>
                  <a:pt x="382016" y="13601"/>
                </a:lnTo>
                <a:lnTo>
                  <a:pt x="382016" y="12992"/>
                </a:lnTo>
                <a:lnTo>
                  <a:pt x="379641" y="9271"/>
                </a:lnTo>
                <a:lnTo>
                  <a:pt x="377863" y="7416"/>
                </a:lnTo>
                <a:lnTo>
                  <a:pt x="375475" y="6807"/>
                </a:lnTo>
                <a:lnTo>
                  <a:pt x="370141" y="6807"/>
                </a:lnTo>
                <a:lnTo>
                  <a:pt x="367169" y="7416"/>
                </a:lnTo>
                <a:lnTo>
                  <a:pt x="365379" y="9271"/>
                </a:lnTo>
                <a:lnTo>
                  <a:pt x="364197" y="11125"/>
                </a:lnTo>
                <a:lnTo>
                  <a:pt x="363004" y="13601"/>
                </a:lnTo>
                <a:lnTo>
                  <a:pt x="363004" y="19799"/>
                </a:lnTo>
                <a:lnTo>
                  <a:pt x="364197" y="21031"/>
                </a:lnTo>
                <a:lnTo>
                  <a:pt x="364794" y="22275"/>
                </a:lnTo>
                <a:lnTo>
                  <a:pt x="368350" y="24739"/>
                </a:lnTo>
                <a:lnTo>
                  <a:pt x="372516" y="25984"/>
                </a:lnTo>
                <a:lnTo>
                  <a:pt x="373697" y="26593"/>
                </a:lnTo>
                <a:lnTo>
                  <a:pt x="374891" y="27838"/>
                </a:lnTo>
                <a:lnTo>
                  <a:pt x="374891" y="30314"/>
                </a:lnTo>
                <a:lnTo>
                  <a:pt x="373697" y="31546"/>
                </a:lnTo>
                <a:lnTo>
                  <a:pt x="371322" y="31546"/>
                </a:lnTo>
                <a:lnTo>
                  <a:pt x="370725" y="30924"/>
                </a:lnTo>
                <a:lnTo>
                  <a:pt x="370725" y="30314"/>
                </a:lnTo>
                <a:lnTo>
                  <a:pt x="370141" y="29692"/>
                </a:lnTo>
                <a:lnTo>
                  <a:pt x="370141" y="29070"/>
                </a:lnTo>
                <a:lnTo>
                  <a:pt x="363004" y="29070"/>
                </a:lnTo>
                <a:lnTo>
                  <a:pt x="363004" y="32169"/>
                </a:lnTo>
                <a:lnTo>
                  <a:pt x="365379" y="35877"/>
                </a:lnTo>
                <a:lnTo>
                  <a:pt x="367169" y="37731"/>
                </a:lnTo>
                <a:lnTo>
                  <a:pt x="370141" y="38354"/>
                </a:lnTo>
                <a:lnTo>
                  <a:pt x="375475" y="38354"/>
                </a:lnTo>
                <a:lnTo>
                  <a:pt x="377863" y="37731"/>
                </a:lnTo>
                <a:lnTo>
                  <a:pt x="381419" y="34023"/>
                </a:lnTo>
                <a:lnTo>
                  <a:pt x="382612" y="32169"/>
                </a:lnTo>
                <a:lnTo>
                  <a:pt x="382612" y="31546"/>
                </a:lnTo>
                <a:lnTo>
                  <a:pt x="382612" y="26593"/>
                </a:lnTo>
                <a:close/>
              </a:path>
              <a:path w="514350" h="71754">
                <a:moveTo>
                  <a:pt x="425958" y="27838"/>
                </a:moveTo>
                <a:lnTo>
                  <a:pt x="425615" y="20485"/>
                </a:lnTo>
                <a:lnTo>
                  <a:pt x="424230" y="13169"/>
                </a:lnTo>
                <a:lnTo>
                  <a:pt x="424129" y="12992"/>
                </a:lnTo>
                <a:lnTo>
                  <a:pt x="421233" y="7416"/>
                </a:lnTo>
                <a:lnTo>
                  <a:pt x="418261" y="3086"/>
                </a:lnTo>
                <a:lnTo>
                  <a:pt x="414096" y="0"/>
                </a:lnTo>
                <a:lnTo>
                  <a:pt x="412915" y="0"/>
                </a:lnTo>
                <a:lnTo>
                  <a:pt x="412915" y="27838"/>
                </a:lnTo>
                <a:lnTo>
                  <a:pt x="412915" y="44538"/>
                </a:lnTo>
                <a:lnTo>
                  <a:pt x="408749" y="59385"/>
                </a:lnTo>
                <a:lnTo>
                  <a:pt x="403999" y="59385"/>
                </a:lnTo>
                <a:lnTo>
                  <a:pt x="402818" y="58140"/>
                </a:lnTo>
                <a:lnTo>
                  <a:pt x="401624" y="56286"/>
                </a:lnTo>
                <a:lnTo>
                  <a:pt x="400443" y="53200"/>
                </a:lnTo>
                <a:lnTo>
                  <a:pt x="399846" y="44538"/>
                </a:lnTo>
                <a:lnTo>
                  <a:pt x="399846" y="27838"/>
                </a:lnTo>
                <a:lnTo>
                  <a:pt x="400316" y="20485"/>
                </a:lnTo>
                <a:lnTo>
                  <a:pt x="400443" y="18554"/>
                </a:lnTo>
                <a:lnTo>
                  <a:pt x="401624" y="15468"/>
                </a:lnTo>
                <a:lnTo>
                  <a:pt x="403999" y="12992"/>
                </a:lnTo>
                <a:lnTo>
                  <a:pt x="408749" y="12992"/>
                </a:lnTo>
                <a:lnTo>
                  <a:pt x="411124" y="15468"/>
                </a:lnTo>
                <a:lnTo>
                  <a:pt x="412318" y="18554"/>
                </a:lnTo>
                <a:lnTo>
                  <a:pt x="412915" y="27838"/>
                </a:lnTo>
                <a:lnTo>
                  <a:pt x="412915" y="0"/>
                </a:lnTo>
                <a:lnTo>
                  <a:pt x="398653" y="0"/>
                </a:lnTo>
                <a:lnTo>
                  <a:pt x="394500" y="3086"/>
                </a:lnTo>
                <a:lnTo>
                  <a:pt x="386791" y="27838"/>
                </a:lnTo>
                <a:lnTo>
                  <a:pt x="386803" y="44538"/>
                </a:lnTo>
                <a:lnTo>
                  <a:pt x="398653" y="71755"/>
                </a:lnTo>
                <a:lnTo>
                  <a:pt x="414096" y="71755"/>
                </a:lnTo>
                <a:lnTo>
                  <a:pt x="418261" y="68668"/>
                </a:lnTo>
                <a:lnTo>
                  <a:pt x="421233" y="64960"/>
                </a:lnTo>
                <a:lnTo>
                  <a:pt x="424002" y="59385"/>
                </a:lnTo>
                <a:lnTo>
                  <a:pt x="424230" y="58928"/>
                </a:lnTo>
                <a:lnTo>
                  <a:pt x="425615" y="51574"/>
                </a:lnTo>
                <a:lnTo>
                  <a:pt x="425945" y="44538"/>
                </a:lnTo>
                <a:lnTo>
                  <a:pt x="425958" y="27838"/>
                </a:lnTo>
                <a:close/>
              </a:path>
              <a:path w="514350" h="71754">
                <a:moveTo>
                  <a:pt x="472922" y="1231"/>
                </a:moveTo>
                <a:lnTo>
                  <a:pt x="459841" y="1231"/>
                </a:lnTo>
                <a:lnTo>
                  <a:pt x="459841" y="35255"/>
                </a:lnTo>
                <a:lnTo>
                  <a:pt x="445592" y="1231"/>
                </a:lnTo>
                <a:lnTo>
                  <a:pt x="433705" y="1231"/>
                </a:lnTo>
                <a:lnTo>
                  <a:pt x="433705" y="71132"/>
                </a:lnTo>
                <a:lnTo>
                  <a:pt x="447370" y="71132"/>
                </a:lnTo>
                <a:lnTo>
                  <a:pt x="447370" y="37109"/>
                </a:lnTo>
                <a:lnTo>
                  <a:pt x="461594" y="71132"/>
                </a:lnTo>
                <a:lnTo>
                  <a:pt x="472922" y="71132"/>
                </a:lnTo>
                <a:lnTo>
                  <a:pt x="472922" y="1231"/>
                </a:lnTo>
                <a:close/>
              </a:path>
              <a:path w="514350" h="71754">
                <a:moveTo>
                  <a:pt x="513943" y="1231"/>
                </a:moveTo>
                <a:lnTo>
                  <a:pt x="482981" y="1231"/>
                </a:lnTo>
                <a:lnTo>
                  <a:pt x="482981" y="71132"/>
                </a:lnTo>
                <a:lnTo>
                  <a:pt x="513943" y="71132"/>
                </a:lnTo>
                <a:lnTo>
                  <a:pt x="513943" y="58762"/>
                </a:lnTo>
                <a:lnTo>
                  <a:pt x="496125" y="58762"/>
                </a:lnTo>
                <a:lnTo>
                  <a:pt x="496125" y="42062"/>
                </a:lnTo>
                <a:lnTo>
                  <a:pt x="511568" y="42062"/>
                </a:lnTo>
                <a:lnTo>
                  <a:pt x="511568" y="29692"/>
                </a:lnTo>
                <a:lnTo>
                  <a:pt x="496125" y="29692"/>
                </a:lnTo>
                <a:lnTo>
                  <a:pt x="496125" y="13601"/>
                </a:lnTo>
                <a:lnTo>
                  <a:pt x="513943" y="13601"/>
                </a:lnTo>
                <a:lnTo>
                  <a:pt x="513943" y="1231"/>
                </a:lnTo>
                <a:close/>
              </a:path>
            </a:pathLst>
          </a:custGeom>
          <a:solidFill>
            <a:srgbClr val="7ED3C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2" name="object 5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774923" y="3786634"/>
            <a:ext cx="451528" cy="199184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389210" y="3786634"/>
            <a:ext cx="614366" cy="199184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998367" y="1298692"/>
            <a:ext cx="1428859" cy="85996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587146" y="4147185"/>
            <a:ext cx="4571365" cy="5435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99085" algn="l"/>
              </a:tabLst>
            </a:pPr>
            <a:r>
              <a:rPr sz="1200" spc="-10" dirty="0">
                <a:solidFill>
                  <a:srgbClr val="3E3E8A"/>
                </a:solidFill>
                <a:latin typeface="Calibri"/>
                <a:cs typeface="Calibri"/>
              </a:rPr>
              <a:t>Трибологічна модель </a:t>
            </a:r>
            <a:r>
              <a:rPr sz="1200" dirty="0">
                <a:solidFill>
                  <a:srgbClr val="3E3E8A"/>
                </a:solidFill>
                <a:latin typeface="Calibri"/>
                <a:cs typeface="Calibri"/>
              </a:rPr>
              <a:t>in vitro</a:t>
            </a:r>
            <a:endParaRPr sz="12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99085" algn="l"/>
              </a:tabLst>
            </a:pPr>
            <a:r>
              <a:rPr sz="1200" dirty="0">
                <a:solidFill>
                  <a:srgbClr val="3E3E8A"/>
                </a:solidFill>
                <a:latin typeface="Calibri"/>
                <a:cs typeface="Calibri"/>
              </a:rPr>
              <a:t>Вимірювання </a:t>
            </a:r>
            <a:r>
              <a:rPr sz="1200" spc="-10" dirty="0">
                <a:solidFill>
                  <a:srgbClr val="3E3E8A"/>
                </a:solidFill>
                <a:latin typeface="Calibri"/>
                <a:cs typeface="Calibri"/>
              </a:rPr>
              <a:t>коефіцієнта </a:t>
            </a:r>
            <a:r>
              <a:rPr sz="1200" dirty="0">
                <a:solidFill>
                  <a:srgbClr val="3E3E8A"/>
                </a:solidFill>
                <a:latin typeface="Calibri"/>
                <a:cs typeface="Calibri"/>
              </a:rPr>
              <a:t>тертя (COF) між двома </a:t>
            </a:r>
            <a:r>
              <a:rPr sz="1200" spc="-20" dirty="0">
                <a:solidFill>
                  <a:srgbClr val="3E3E8A"/>
                </a:solidFill>
                <a:latin typeface="Calibri"/>
                <a:cs typeface="Calibri"/>
              </a:rPr>
              <a:t>гідратованими </a:t>
            </a:r>
            <a:r>
              <a:rPr sz="1200" spc="-10" dirty="0">
                <a:solidFill>
                  <a:srgbClr val="3E3E8A"/>
                </a:solidFill>
                <a:latin typeface="Calibri"/>
                <a:cs typeface="Calibri"/>
              </a:rPr>
              <a:t>дисками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055614" y="4147185"/>
            <a:ext cx="5750560" cy="53604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99085" algn="l"/>
              </a:tabLst>
            </a:pPr>
            <a:r>
              <a:rPr lang="en-US" sz="1200" dirty="0">
                <a:solidFill>
                  <a:srgbClr val="432874"/>
                </a:solidFill>
                <a:latin typeface="Calibri"/>
                <a:cs typeface="Calibri"/>
              </a:rPr>
              <a:t>Ex vivo </a:t>
            </a:r>
            <a:r>
              <a:rPr lang="uk-UA" sz="1200" dirty="0">
                <a:solidFill>
                  <a:srgbClr val="432874"/>
                </a:solidFill>
                <a:latin typeface="Calibri"/>
                <a:cs typeface="Calibri"/>
              </a:rPr>
              <a:t> </a:t>
            </a:r>
            <a:r>
              <a:rPr sz="1200" dirty="0" err="1">
                <a:solidFill>
                  <a:srgbClr val="001F5F"/>
                </a:solidFill>
                <a:latin typeface="Calibri"/>
                <a:cs typeface="Calibri"/>
              </a:rPr>
              <a:t>модель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 овечої кістки, що відтворює природні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дефекти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хряща</a:t>
            </a:r>
            <a:endParaRPr sz="1200" dirty="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99085" algn="l"/>
              </a:tabLst>
            </a:pPr>
            <a:r>
              <a:rPr lang="uk-UA" sz="1200" dirty="0">
                <a:solidFill>
                  <a:srgbClr val="001F5F"/>
                </a:solidFill>
                <a:latin typeface="Calibri"/>
                <a:cs typeface="Calibri"/>
              </a:rPr>
              <a:t>Оцінюється змащувальна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 здатність на основі поліпшення руху суглоба та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тертя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title"/>
          </p:nvPr>
        </p:nvSpPr>
        <p:spPr>
          <a:xfrm>
            <a:off x="1016304" y="558495"/>
            <a:ext cx="9956496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3E3E8A"/>
                </a:solidFill>
              </a:rPr>
              <a:t>МЕХАНІЗМ ДІЇ </a:t>
            </a:r>
            <a:r>
              <a:rPr lang="uk-UA" sz="2800" dirty="0">
                <a:solidFill>
                  <a:srgbClr val="3E3E8A"/>
                </a:solidFill>
              </a:rPr>
              <a:t>–</a:t>
            </a:r>
            <a:r>
              <a:rPr sz="2800" dirty="0">
                <a:solidFill>
                  <a:srgbClr val="3E3E8A"/>
                </a:solidFill>
              </a:rPr>
              <a:t> </a:t>
            </a:r>
            <a:r>
              <a:rPr lang="uk-UA" sz="2800" dirty="0">
                <a:solidFill>
                  <a:srgbClr val="3E3E8A"/>
                </a:solidFill>
              </a:rPr>
              <a:t>К</a:t>
            </a:r>
            <a:r>
              <a:rPr sz="2800" dirty="0">
                <a:solidFill>
                  <a:srgbClr val="3E3E8A"/>
                </a:solidFill>
              </a:rPr>
              <a:t>M</a:t>
            </a:r>
            <a:r>
              <a:rPr lang="uk-UA" sz="2800" dirty="0">
                <a:solidFill>
                  <a:srgbClr val="3E3E8A"/>
                </a:solidFill>
              </a:rPr>
              <a:t>-х</a:t>
            </a:r>
            <a:r>
              <a:rPr sz="2800" dirty="0" err="1">
                <a:solidFill>
                  <a:srgbClr val="3E3E8A"/>
                </a:solidFill>
              </a:rPr>
              <a:t>ітозан</a:t>
            </a:r>
            <a:r>
              <a:rPr sz="2800" dirty="0">
                <a:solidFill>
                  <a:srgbClr val="3E3E8A"/>
                </a:solidFill>
              </a:rPr>
              <a:t> </a:t>
            </a:r>
            <a:r>
              <a:rPr lang="uk-UA" sz="2800" dirty="0">
                <a:solidFill>
                  <a:srgbClr val="3E3E8A"/>
                </a:solidFill>
              </a:rPr>
              <a:t>при</a:t>
            </a:r>
            <a:r>
              <a:rPr sz="2800" dirty="0">
                <a:solidFill>
                  <a:srgbClr val="3E3E8A"/>
                </a:solidFill>
              </a:rPr>
              <a:t> </a:t>
            </a:r>
            <a:r>
              <a:rPr sz="2800" spc="-10" dirty="0" err="1">
                <a:solidFill>
                  <a:srgbClr val="3E3E8A"/>
                </a:solidFill>
              </a:rPr>
              <a:t>рефрактерн</a:t>
            </a:r>
            <a:r>
              <a:rPr lang="uk-UA" sz="2800" spc="-10" dirty="0" err="1">
                <a:solidFill>
                  <a:srgbClr val="3E3E8A"/>
                </a:solidFill>
              </a:rPr>
              <a:t>ому</a:t>
            </a:r>
            <a:r>
              <a:rPr sz="2800" spc="-10" dirty="0">
                <a:solidFill>
                  <a:srgbClr val="3E3E8A"/>
                </a:solidFill>
              </a:rPr>
              <a:t> </a:t>
            </a:r>
            <a:r>
              <a:rPr sz="2800" spc="-10" dirty="0" err="1">
                <a:solidFill>
                  <a:srgbClr val="3E3E8A"/>
                </a:solidFill>
              </a:rPr>
              <a:t>остеоартрит</a:t>
            </a:r>
            <a:r>
              <a:rPr lang="uk-UA" sz="2800" spc="-10" dirty="0">
                <a:solidFill>
                  <a:srgbClr val="3E3E8A"/>
                </a:solidFill>
              </a:rPr>
              <a:t>і</a:t>
            </a:r>
            <a:endParaRPr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939228"/>
            <a:ext cx="785495" cy="28575"/>
          </a:xfrm>
          <a:custGeom>
            <a:avLst/>
            <a:gdLst/>
            <a:ahLst/>
            <a:cxnLst/>
            <a:rect l="l" t="t" r="r" b="b"/>
            <a:pathLst>
              <a:path w="785494" h="28575">
                <a:moveTo>
                  <a:pt x="785444" y="0"/>
                </a:moveTo>
                <a:lnTo>
                  <a:pt x="0" y="0"/>
                </a:lnTo>
                <a:lnTo>
                  <a:pt x="0" y="28575"/>
                </a:lnTo>
                <a:lnTo>
                  <a:pt x="785444" y="28575"/>
                </a:lnTo>
                <a:lnTo>
                  <a:pt x="785444" y="0"/>
                </a:lnTo>
                <a:close/>
              </a:path>
            </a:pathLst>
          </a:custGeom>
          <a:solidFill>
            <a:srgbClr val="A8B8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0263" y="370744"/>
            <a:ext cx="10718496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40" dirty="0">
                <a:solidFill>
                  <a:srgbClr val="312783"/>
                </a:solidFill>
              </a:rPr>
              <a:t>ОКСИДАТИВНИЙ </a:t>
            </a:r>
            <a:r>
              <a:rPr sz="2800" dirty="0">
                <a:solidFill>
                  <a:srgbClr val="312783"/>
                </a:solidFill>
              </a:rPr>
              <a:t>СТРЕС ПРИ </a:t>
            </a:r>
            <a:r>
              <a:rPr sz="2800" spc="-10" dirty="0">
                <a:solidFill>
                  <a:srgbClr val="312783"/>
                </a:solidFill>
              </a:rPr>
              <a:t>ОСТЕОАРТРИТІ</a:t>
            </a:r>
            <a:endParaRPr sz="2800" dirty="0"/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312783"/>
                </a:solidFill>
              </a:rPr>
              <a:t>НЕОБХІДНІСТЬ ЗАХИСТУ </a:t>
            </a:r>
            <a:r>
              <a:rPr sz="2800" spc="-10" dirty="0">
                <a:solidFill>
                  <a:srgbClr val="312783"/>
                </a:solidFill>
              </a:rPr>
              <a:t>КОМПОНЕНТІВ </a:t>
            </a:r>
            <a:r>
              <a:rPr sz="2800" spc="-20" dirty="0">
                <a:solidFill>
                  <a:srgbClr val="312783"/>
                </a:solidFill>
              </a:rPr>
              <a:t>СИНОВІАЛЬНОЇ МЕМБРАНИ</a:t>
            </a:r>
            <a:endParaRPr sz="2800" dirty="0"/>
          </a:p>
        </p:txBody>
      </p:sp>
      <p:sp>
        <p:nvSpPr>
          <p:cNvPr id="5" name="object 5"/>
          <p:cNvSpPr txBox="1"/>
          <p:nvPr/>
        </p:nvSpPr>
        <p:spPr>
          <a:xfrm>
            <a:off x="421322" y="1590800"/>
            <a:ext cx="6049264" cy="44755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Механічний стрес, </a:t>
            </a:r>
            <a:r>
              <a:rPr sz="2000" spc="-10" dirty="0">
                <a:solidFill>
                  <a:srgbClr val="001F5F"/>
                </a:solidFill>
                <a:latin typeface="Calibri"/>
                <a:cs typeface="Calibri"/>
              </a:rPr>
              <a:t>прозапальні </a:t>
            </a: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цитокіни або старіння можуть спричинити порушення функції</a:t>
            </a:r>
            <a:r>
              <a:rPr sz="2000" spc="-10" dirty="0">
                <a:solidFill>
                  <a:srgbClr val="001F5F"/>
                </a:solidFill>
                <a:latin typeface="Calibri"/>
                <a:cs typeface="Calibri"/>
              </a:rPr>
              <a:t> мітохондрій, </a:t>
            </a: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що призводить до збільшення кількості </a:t>
            </a:r>
            <a:r>
              <a:rPr sz="2000" spc="-10" dirty="0">
                <a:solidFill>
                  <a:srgbClr val="001F5F"/>
                </a:solidFill>
                <a:latin typeface="Calibri"/>
                <a:cs typeface="Calibri"/>
              </a:rPr>
              <a:t>активних форм </a:t>
            </a: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кисню</a:t>
            </a:r>
            <a:endParaRPr sz="2000" dirty="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299085" algn="l"/>
              </a:tabLst>
            </a:pP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Підвищений рівень АФК може </a:t>
            </a:r>
            <a:r>
              <a:rPr sz="2000" spc="-10" dirty="0">
                <a:solidFill>
                  <a:srgbClr val="001F5F"/>
                </a:solidFill>
                <a:latin typeface="Calibri"/>
                <a:cs typeface="Calibri"/>
              </a:rPr>
              <a:t>спричинити:</a:t>
            </a:r>
            <a:endParaRPr sz="2000" dirty="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600"/>
              </a:spcBef>
              <a:buChar char="-"/>
              <a:tabLst>
                <a:tab pos="812165" algn="l"/>
              </a:tabLst>
            </a:pPr>
            <a:r>
              <a:rPr sz="2000" spc="-10" dirty="0">
                <a:solidFill>
                  <a:srgbClr val="001F5F"/>
                </a:solidFill>
                <a:latin typeface="Calibri"/>
                <a:cs typeface="Calibri"/>
              </a:rPr>
              <a:t>Старіння/апоптоз </a:t>
            </a: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хондроцитів</a:t>
            </a:r>
            <a:endParaRPr sz="2000" dirty="0">
              <a:latin typeface="Calibri"/>
              <a:cs typeface="Calibri"/>
            </a:endParaRPr>
          </a:p>
          <a:p>
            <a:pPr marL="812800" marR="141605" lvl="1" indent="-342900">
              <a:lnSpc>
                <a:spcPct val="100000"/>
              </a:lnSpc>
              <a:spcBef>
                <a:spcPts val="600"/>
              </a:spcBef>
              <a:buChar char="-"/>
              <a:tabLst>
                <a:tab pos="812800" algn="l"/>
              </a:tabLst>
            </a:pP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Зниження вироблення позаклітинного матриксу </a:t>
            </a:r>
            <a:r>
              <a:rPr sz="2000" spc="-25" dirty="0">
                <a:solidFill>
                  <a:srgbClr val="001F5F"/>
                </a:solidFill>
                <a:latin typeface="Calibri"/>
                <a:cs typeface="Calibri"/>
              </a:rPr>
              <a:t>та </a:t>
            </a: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збільшення ферментів, що руйнують позаклітинний матрикс, </a:t>
            </a:r>
            <a:r>
              <a:rPr sz="2000" spc="-10" dirty="0">
                <a:solidFill>
                  <a:srgbClr val="001F5F"/>
                </a:solidFill>
                <a:latin typeface="Calibri"/>
                <a:cs typeface="Calibri"/>
              </a:rPr>
              <a:t>хондроцитами</a:t>
            </a:r>
            <a:endParaRPr sz="2000" dirty="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605"/>
              </a:spcBef>
              <a:buChar char="-"/>
              <a:tabLst>
                <a:tab pos="812165" algn="l"/>
              </a:tabLst>
            </a:pP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Посилення синовіального </a:t>
            </a:r>
            <a:r>
              <a:rPr sz="2000" spc="-10" dirty="0">
                <a:solidFill>
                  <a:srgbClr val="001F5F"/>
                </a:solidFill>
                <a:latin typeface="Calibri"/>
                <a:cs typeface="Calibri"/>
              </a:rPr>
              <a:t>запалення</a:t>
            </a:r>
            <a:endParaRPr sz="2000" dirty="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600"/>
              </a:spcBef>
              <a:buChar char="-"/>
              <a:tabLst>
                <a:tab pos="812165" algn="l"/>
              </a:tabLst>
            </a:pPr>
            <a:r>
              <a:rPr sz="2000" spc="-10" dirty="0">
                <a:solidFill>
                  <a:srgbClr val="001F5F"/>
                </a:solidFill>
                <a:latin typeface="Calibri"/>
                <a:cs typeface="Calibri"/>
              </a:rPr>
              <a:t>Дисфункція </a:t>
            </a: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субхондральної кістки</a:t>
            </a:r>
            <a:endParaRPr sz="2000" dirty="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600"/>
              </a:spcBef>
              <a:buChar char="-"/>
              <a:tabLst>
                <a:tab pos="812165" algn="l"/>
              </a:tabLst>
            </a:pP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Зниження молекулярної </a:t>
            </a:r>
            <a:r>
              <a:rPr sz="2000" spc="-10" dirty="0">
                <a:solidFill>
                  <a:srgbClr val="001F5F"/>
                </a:solidFill>
                <a:latin typeface="Calibri"/>
                <a:cs typeface="Calibri"/>
              </a:rPr>
              <a:t>маси ендогенної </a:t>
            </a:r>
            <a:r>
              <a:rPr sz="2000" dirty="0">
                <a:solidFill>
                  <a:srgbClr val="001F5F"/>
                </a:solidFill>
                <a:latin typeface="Calibri"/>
                <a:cs typeface="Calibri"/>
              </a:rPr>
              <a:t>ГК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5476" y="1694814"/>
            <a:ext cx="5598414" cy="371462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26212" y="6412484"/>
            <a:ext cx="46253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312783"/>
                </a:solidFill>
                <a:latin typeface="Calibri"/>
                <a:cs typeface="Calibri"/>
              </a:rPr>
              <a:t>He Y., Wu Z., Xu L., Xu K., Chen Z., Ran J., Wu L. (2020) Роль </a:t>
            </a:r>
            <a:r>
              <a:rPr sz="800" spc="-10" dirty="0">
                <a:solidFill>
                  <a:srgbClr val="312783"/>
                </a:solidFill>
                <a:latin typeface="Calibri"/>
                <a:cs typeface="Calibri"/>
              </a:rPr>
              <a:t>SIRT3-опосередкованої мітохондріальної гомеостази </a:t>
            </a:r>
            <a:r>
              <a:rPr sz="800" spc="-25" dirty="0">
                <a:solidFill>
                  <a:srgbClr val="312783"/>
                </a:solidFill>
                <a:latin typeface="Calibri"/>
                <a:cs typeface="Calibri"/>
              </a:rPr>
              <a:t>в </a:t>
            </a:r>
            <a:r>
              <a:rPr sz="800" spc="-10" dirty="0">
                <a:solidFill>
                  <a:srgbClr val="312783"/>
                </a:solidFill>
                <a:latin typeface="Calibri"/>
                <a:cs typeface="Calibri"/>
              </a:rPr>
              <a:t>остеоартриті. </a:t>
            </a:r>
            <a:r>
              <a:rPr sz="800" dirty="0">
                <a:solidFill>
                  <a:srgbClr val="312783"/>
                </a:solidFill>
                <a:latin typeface="Calibri"/>
                <a:cs typeface="Calibri"/>
              </a:rPr>
              <a:t>Cellular and Molecular Life Science 77,</a:t>
            </a:r>
            <a:r>
              <a:rPr sz="800" spc="-10" dirty="0">
                <a:solidFill>
                  <a:srgbClr val="312783"/>
                </a:solidFill>
                <a:latin typeface="Calibri"/>
                <a:cs typeface="Calibri"/>
              </a:rPr>
              <a:t> 3729–3743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87839" y="937640"/>
            <a:ext cx="1652270" cy="745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b="1" spc="-10" dirty="0">
                <a:solidFill>
                  <a:srgbClr val="312B80"/>
                </a:solidFill>
                <a:latin typeface="Calibri"/>
                <a:cs typeface="Calibri"/>
              </a:rPr>
              <a:t>ЗАХИСТ</a:t>
            </a:r>
            <a:endParaRPr lang="uk-UA" sz="2400" b="1" spc="-10" dirty="0">
              <a:solidFill>
                <a:srgbClr val="312B80"/>
              </a:solidFill>
              <a:latin typeface="Calibri"/>
              <a:cs typeface="Calibri"/>
            </a:endParaRPr>
          </a:p>
          <a:p>
            <a:pPr marL="12700">
              <a:lnSpc>
                <a:spcPts val="2865"/>
              </a:lnSpc>
            </a:pPr>
            <a:r>
              <a:rPr lang="uk-UA" sz="2400" b="1" spc="-10" dirty="0">
                <a:solidFill>
                  <a:srgbClr val="312B80"/>
                </a:solidFill>
                <a:latin typeface="Calibri"/>
                <a:cs typeface="Calibri"/>
              </a:rPr>
              <a:t>СУГЛОБІВ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956660" y="667407"/>
            <a:ext cx="3399154" cy="2023110"/>
            <a:chOff x="5956660" y="667407"/>
            <a:chExt cx="3399154" cy="2023110"/>
          </a:xfrm>
        </p:grpSpPr>
        <p:sp>
          <p:nvSpPr>
            <p:cNvPr id="4" name="object 4"/>
            <p:cNvSpPr/>
            <p:nvPr/>
          </p:nvSpPr>
          <p:spPr>
            <a:xfrm>
              <a:off x="6297663" y="671804"/>
              <a:ext cx="3048635" cy="2011680"/>
            </a:xfrm>
            <a:custGeom>
              <a:avLst/>
              <a:gdLst/>
              <a:ahLst/>
              <a:cxnLst/>
              <a:rect l="l" t="t" r="r" b="b"/>
              <a:pathLst>
                <a:path w="3048634" h="2011680">
                  <a:moveTo>
                    <a:pt x="341833" y="1931314"/>
                  </a:moveTo>
                  <a:lnTo>
                    <a:pt x="0" y="1931314"/>
                  </a:lnTo>
                  <a:lnTo>
                    <a:pt x="0" y="2011311"/>
                  </a:lnTo>
                  <a:lnTo>
                    <a:pt x="341833" y="2011311"/>
                  </a:lnTo>
                  <a:lnTo>
                    <a:pt x="341833" y="1931314"/>
                  </a:lnTo>
                  <a:close/>
                </a:path>
                <a:path w="3048634" h="2011680">
                  <a:moveTo>
                    <a:pt x="341833" y="963015"/>
                  </a:moveTo>
                  <a:lnTo>
                    <a:pt x="0" y="963015"/>
                  </a:lnTo>
                  <a:lnTo>
                    <a:pt x="0" y="1539621"/>
                  </a:lnTo>
                  <a:lnTo>
                    <a:pt x="341833" y="1539621"/>
                  </a:lnTo>
                  <a:lnTo>
                    <a:pt x="341833" y="963015"/>
                  </a:lnTo>
                  <a:close/>
                </a:path>
                <a:path w="3048634" h="2011680">
                  <a:moveTo>
                    <a:pt x="341833" y="0"/>
                  </a:moveTo>
                  <a:lnTo>
                    <a:pt x="0" y="0"/>
                  </a:lnTo>
                  <a:lnTo>
                    <a:pt x="0" y="570687"/>
                  </a:lnTo>
                  <a:lnTo>
                    <a:pt x="341833" y="570687"/>
                  </a:lnTo>
                  <a:lnTo>
                    <a:pt x="341833" y="0"/>
                  </a:lnTo>
                  <a:close/>
                </a:path>
                <a:path w="3048634" h="2011680">
                  <a:moveTo>
                    <a:pt x="1018425" y="1931314"/>
                  </a:moveTo>
                  <a:lnTo>
                    <a:pt x="676592" y="1931314"/>
                  </a:lnTo>
                  <a:lnTo>
                    <a:pt x="676592" y="2011311"/>
                  </a:lnTo>
                  <a:lnTo>
                    <a:pt x="1018425" y="2011311"/>
                  </a:lnTo>
                  <a:lnTo>
                    <a:pt x="1018425" y="1931314"/>
                  </a:lnTo>
                  <a:close/>
                </a:path>
                <a:path w="3048634" h="2011680">
                  <a:moveTo>
                    <a:pt x="1018425" y="0"/>
                  </a:moveTo>
                  <a:lnTo>
                    <a:pt x="676592" y="0"/>
                  </a:lnTo>
                  <a:lnTo>
                    <a:pt x="676592" y="1539621"/>
                  </a:lnTo>
                  <a:lnTo>
                    <a:pt x="1018425" y="1539621"/>
                  </a:lnTo>
                  <a:lnTo>
                    <a:pt x="1018425" y="0"/>
                  </a:lnTo>
                  <a:close/>
                </a:path>
                <a:path w="3048634" h="2011680">
                  <a:moveTo>
                    <a:pt x="1695018" y="1931314"/>
                  </a:moveTo>
                  <a:lnTo>
                    <a:pt x="1353261" y="1931314"/>
                  </a:lnTo>
                  <a:lnTo>
                    <a:pt x="1353261" y="2011311"/>
                  </a:lnTo>
                  <a:lnTo>
                    <a:pt x="1695018" y="2011311"/>
                  </a:lnTo>
                  <a:lnTo>
                    <a:pt x="1695018" y="1931314"/>
                  </a:lnTo>
                  <a:close/>
                </a:path>
                <a:path w="3048634" h="2011680">
                  <a:moveTo>
                    <a:pt x="1695018" y="0"/>
                  </a:moveTo>
                  <a:lnTo>
                    <a:pt x="1353261" y="0"/>
                  </a:lnTo>
                  <a:lnTo>
                    <a:pt x="1353261" y="1539621"/>
                  </a:lnTo>
                  <a:lnTo>
                    <a:pt x="1695018" y="1539621"/>
                  </a:lnTo>
                  <a:lnTo>
                    <a:pt x="1695018" y="0"/>
                  </a:lnTo>
                  <a:close/>
                </a:path>
                <a:path w="3048634" h="2011680">
                  <a:moveTo>
                    <a:pt x="2371687" y="1931314"/>
                  </a:moveTo>
                  <a:lnTo>
                    <a:pt x="2029853" y="1931314"/>
                  </a:lnTo>
                  <a:lnTo>
                    <a:pt x="2029853" y="2011311"/>
                  </a:lnTo>
                  <a:lnTo>
                    <a:pt x="2371687" y="2011311"/>
                  </a:lnTo>
                  <a:lnTo>
                    <a:pt x="2371687" y="1931314"/>
                  </a:lnTo>
                  <a:close/>
                </a:path>
                <a:path w="3048634" h="2011680">
                  <a:moveTo>
                    <a:pt x="2371687" y="0"/>
                  </a:moveTo>
                  <a:lnTo>
                    <a:pt x="2029853" y="0"/>
                  </a:lnTo>
                  <a:lnTo>
                    <a:pt x="2029853" y="1539621"/>
                  </a:lnTo>
                  <a:lnTo>
                    <a:pt x="2371687" y="1539621"/>
                  </a:lnTo>
                  <a:lnTo>
                    <a:pt x="2371687" y="0"/>
                  </a:lnTo>
                  <a:close/>
                </a:path>
                <a:path w="3048634" h="2011680">
                  <a:moveTo>
                    <a:pt x="3048279" y="0"/>
                  </a:moveTo>
                  <a:lnTo>
                    <a:pt x="2707068" y="0"/>
                  </a:lnTo>
                  <a:lnTo>
                    <a:pt x="2707068" y="2011311"/>
                  </a:lnTo>
                  <a:lnTo>
                    <a:pt x="3048279" y="2011311"/>
                  </a:lnTo>
                  <a:lnTo>
                    <a:pt x="3048279" y="0"/>
                  </a:lnTo>
                  <a:close/>
                </a:path>
              </a:pathLst>
            </a:custGeom>
            <a:solidFill>
              <a:srgbClr val="E6E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60496" y="2211424"/>
              <a:ext cx="3075305" cy="391795"/>
            </a:xfrm>
            <a:custGeom>
              <a:avLst/>
              <a:gdLst/>
              <a:ahLst/>
              <a:cxnLst/>
              <a:rect l="l" t="t" r="r" b="b"/>
              <a:pathLst>
                <a:path w="3075304" h="391794">
                  <a:moveTo>
                    <a:pt x="3075113" y="0"/>
                  </a:moveTo>
                  <a:lnTo>
                    <a:pt x="0" y="0"/>
                  </a:lnTo>
                  <a:lnTo>
                    <a:pt x="0" y="391684"/>
                  </a:lnTo>
                  <a:lnTo>
                    <a:pt x="3075113" y="391684"/>
                  </a:lnTo>
                  <a:lnTo>
                    <a:pt x="3075113" y="0"/>
                  </a:lnTo>
                  <a:close/>
                </a:path>
              </a:pathLst>
            </a:custGeom>
            <a:solidFill>
              <a:srgbClr val="7ED3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60496" y="1727230"/>
              <a:ext cx="574040" cy="391795"/>
            </a:xfrm>
            <a:custGeom>
              <a:avLst/>
              <a:gdLst/>
              <a:ahLst/>
              <a:cxnLst/>
              <a:rect l="l" t="t" r="r" b="b"/>
              <a:pathLst>
                <a:path w="574040" h="391794">
                  <a:moveTo>
                    <a:pt x="573949" y="0"/>
                  </a:moveTo>
                  <a:lnTo>
                    <a:pt x="0" y="0"/>
                  </a:lnTo>
                  <a:lnTo>
                    <a:pt x="0" y="391699"/>
                  </a:lnTo>
                  <a:lnTo>
                    <a:pt x="573949" y="391699"/>
                  </a:lnTo>
                  <a:lnTo>
                    <a:pt x="573949" y="0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60496" y="1242482"/>
              <a:ext cx="733425" cy="392430"/>
            </a:xfrm>
            <a:custGeom>
              <a:avLst/>
              <a:gdLst/>
              <a:ahLst/>
              <a:cxnLst/>
              <a:rect l="l" t="t" r="r" b="b"/>
              <a:pathLst>
                <a:path w="733425" h="392430">
                  <a:moveTo>
                    <a:pt x="733202" y="0"/>
                  </a:moveTo>
                  <a:lnTo>
                    <a:pt x="0" y="0"/>
                  </a:lnTo>
                  <a:lnTo>
                    <a:pt x="0" y="392331"/>
                  </a:lnTo>
                  <a:lnTo>
                    <a:pt x="733203" y="392331"/>
                  </a:lnTo>
                  <a:lnTo>
                    <a:pt x="733202" y="0"/>
                  </a:lnTo>
                  <a:close/>
                </a:path>
              </a:pathLst>
            </a:custGeom>
            <a:solidFill>
              <a:srgbClr val="8B8B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60496" y="758367"/>
              <a:ext cx="276860" cy="391795"/>
            </a:xfrm>
            <a:custGeom>
              <a:avLst/>
              <a:gdLst/>
              <a:ahLst/>
              <a:cxnLst/>
              <a:rect l="l" t="t" r="r" b="b"/>
              <a:pathLst>
                <a:path w="276860" h="391794">
                  <a:moveTo>
                    <a:pt x="276516" y="0"/>
                  </a:moveTo>
                  <a:lnTo>
                    <a:pt x="0" y="0"/>
                  </a:lnTo>
                  <a:lnTo>
                    <a:pt x="0" y="391699"/>
                  </a:lnTo>
                  <a:lnTo>
                    <a:pt x="276516" y="391699"/>
                  </a:lnTo>
                  <a:lnTo>
                    <a:pt x="276516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993619" y="2389771"/>
              <a:ext cx="94615" cy="35560"/>
            </a:xfrm>
            <a:custGeom>
              <a:avLst/>
              <a:gdLst/>
              <a:ahLst/>
              <a:cxnLst/>
              <a:rect l="l" t="t" r="r" b="b"/>
              <a:pathLst>
                <a:path w="94615" h="35560">
                  <a:moveTo>
                    <a:pt x="34442" y="7708"/>
                  </a:moveTo>
                  <a:lnTo>
                    <a:pt x="26822" y="0"/>
                  </a:lnTo>
                  <a:lnTo>
                    <a:pt x="17487" y="0"/>
                  </a:lnTo>
                  <a:lnTo>
                    <a:pt x="7620" y="0"/>
                  </a:lnTo>
                  <a:lnTo>
                    <a:pt x="0" y="7708"/>
                  </a:lnTo>
                  <a:lnTo>
                    <a:pt x="0" y="27266"/>
                  </a:lnTo>
                  <a:lnTo>
                    <a:pt x="7620" y="34975"/>
                  </a:lnTo>
                  <a:lnTo>
                    <a:pt x="26822" y="34975"/>
                  </a:lnTo>
                  <a:lnTo>
                    <a:pt x="34442" y="27266"/>
                  </a:lnTo>
                  <a:lnTo>
                    <a:pt x="34442" y="7708"/>
                  </a:lnTo>
                  <a:close/>
                </a:path>
                <a:path w="94615" h="35560">
                  <a:moveTo>
                    <a:pt x="94551" y="7708"/>
                  </a:moveTo>
                  <a:lnTo>
                    <a:pt x="86931" y="0"/>
                  </a:lnTo>
                  <a:lnTo>
                    <a:pt x="77597" y="0"/>
                  </a:lnTo>
                  <a:lnTo>
                    <a:pt x="67640" y="0"/>
                  </a:lnTo>
                  <a:lnTo>
                    <a:pt x="60109" y="7708"/>
                  </a:lnTo>
                  <a:lnTo>
                    <a:pt x="60109" y="27266"/>
                  </a:lnTo>
                  <a:lnTo>
                    <a:pt x="67640" y="34975"/>
                  </a:lnTo>
                  <a:lnTo>
                    <a:pt x="86931" y="34975"/>
                  </a:lnTo>
                  <a:lnTo>
                    <a:pt x="94551" y="27266"/>
                  </a:lnTo>
                  <a:lnTo>
                    <a:pt x="94551" y="7708"/>
                  </a:lnTo>
                  <a:close/>
                </a:path>
              </a:pathLst>
            </a:custGeom>
            <a:solidFill>
              <a:srgbClr val="2D30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60496" y="671244"/>
              <a:ext cx="3391535" cy="2015489"/>
            </a:xfrm>
            <a:custGeom>
              <a:avLst/>
              <a:gdLst/>
              <a:ahLst/>
              <a:cxnLst/>
              <a:rect l="l" t="t" r="r" b="b"/>
              <a:pathLst>
                <a:path w="3391534" h="2015489">
                  <a:moveTo>
                    <a:pt x="3050619" y="1736307"/>
                  </a:moveTo>
                  <a:lnTo>
                    <a:pt x="3050619" y="1736307"/>
                  </a:lnTo>
                  <a:lnTo>
                    <a:pt x="3113605" y="1736307"/>
                  </a:lnTo>
                </a:path>
                <a:path w="3391534" h="2015489">
                  <a:moveTo>
                    <a:pt x="0" y="0"/>
                  </a:moveTo>
                  <a:lnTo>
                    <a:pt x="0" y="2015425"/>
                  </a:lnTo>
                  <a:lnTo>
                    <a:pt x="3391287" y="2015426"/>
                  </a:lnTo>
                </a:path>
              </a:pathLst>
            </a:custGeom>
            <a:ln w="7643">
              <a:solidFill>
                <a:srgbClr val="2D30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45326" y="1420837"/>
              <a:ext cx="94615" cy="36195"/>
            </a:xfrm>
            <a:custGeom>
              <a:avLst/>
              <a:gdLst/>
              <a:ahLst/>
              <a:cxnLst/>
              <a:rect l="l" t="t" r="r" b="b"/>
              <a:pathLst>
                <a:path w="94615" h="36194">
                  <a:moveTo>
                    <a:pt x="34366" y="8293"/>
                  </a:moveTo>
                  <a:lnTo>
                    <a:pt x="26822" y="0"/>
                  </a:lnTo>
                  <a:lnTo>
                    <a:pt x="17500" y="0"/>
                  </a:lnTo>
                  <a:lnTo>
                    <a:pt x="7543" y="0"/>
                  </a:lnTo>
                  <a:lnTo>
                    <a:pt x="0" y="8293"/>
                  </a:lnTo>
                  <a:lnTo>
                    <a:pt x="0" y="27330"/>
                  </a:lnTo>
                  <a:lnTo>
                    <a:pt x="7543" y="35623"/>
                  </a:lnTo>
                  <a:lnTo>
                    <a:pt x="26822" y="35623"/>
                  </a:lnTo>
                  <a:lnTo>
                    <a:pt x="34366" y="27330"/>
                  </a:lnTo>
                  <a:lnTo>
                    <a:pt x="34366" y="8293"/>
                  </a:lnTo>
                  <a:close/>
                </a:path>
                <a:path w="94615" h="36194">
                  <a:moveTo>
                    <a:pt x="94475" y="8293"/>
                  </a:moveTo>
                  <a:lnTo>
                    <a:pt x="86855" y="0"/>
                  </a:lnTo>
                  <a:lnTo>
                    <a:pt x="77533" y="0"/>
                  </a:lnTo>
                  <a:lnTo>
                    <a:pt x="67652" y="0"/>
                  </a:lnTo>
                  <a:lnTo>
                    <a:pt x="60032" y="8293"/>
                  </a:lnTo>
                  <a:lnTo>
                    <a:pt x="60032" y="27330"/>
                  </a:lnTo>
                  <a:lnTo>
                    <a:pt x="67652" y="35623"/>
                  </a:lnTo>
                  <a:lnTo>
                    <a:pt x="86855" y="35623"/>
                  </a:lnTo>
                  <a:lnTo>
                    <a:pt x="94475" y="27330"/>
                  </a:lnTo>
                  <a:lnTo>
                    <a:pt x="94475" y="8293"/>
                  </a:lnTo>
                  <a:close/>
                </a:path>
              </a:pathLst>
            </a:custGeom>
            <a:solidFill>
              <a:srgbClr val="2D30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662828" y="1438688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0" y="0"/>
                  </a:lnTo>
                  <a:lnTo>
                    <a:pt x="62985" y="0"/>
                  </a:lnTo>
                </a:path>
              </a:pathLst>
            </a:custGeom>
            <a:ln w="7703">
              <a:solidFill>
                <a:srgbClr val="2D30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58077" y="1905596"/>
              <a:ext cx="234950" cy="35560"/>
            </a:xfrm>
            <a:custGeom>
              <a:avLst/>
              <a:gdLst/>
              <a:ahLst/>
              <a:cxnLst/>
              <a:rect l="l" t="t" r="r" b="b"/>
              <a:pathLst>
                <a:path w="234950" h="35560">
                  <a:moveTo>
                    <a:pt x="34988" y="7734"/>
                  </a:moveTo>
                  <a:lnTo>
                    <a:pt x="26835" y="0"/>
                  </a:lnTo>
                  <a:lnTo>
                    <a:pt x="17500" y="0"/>
                  </a:lnTo>
                  <a:lnTo>
                    <a:pt x="8166" y="0"/>
                  </a:lnTo>
                  <a:lnTo>
                    <a:pt x="0" y="7734"/>
                  </a:lnTo>
                  <a:lnTo>
                    <a:pt x="0" y="27317"/>
                  </a:lnTo>
                  <a:lnTo>
                    <a:pt x="8166" y="34988"/>
                  </a:lnTo>
                  <a:lnTo>
                    <a:pt x="26835" y="34988"/>
                  </a:lnTo>
                  <a:lnTo>
                    <a:pt x="34988" y="27317"/>
                  </a:lnTo>
                  <a:lnTo>
                    <a:pt x="34988" y="7734"/>
                  </a:lnTo>
                  <a:close/>
                </a:path>
                <a:path w="234950" h="35560">
                  <a:moveTo>
                    <a:pt x="234454" y="7734"/>
                  </a:moveTo>
                  <a:lnTo>
                    <a:pt x="226910" y="0"/>
                  </a:lnTo>
                  <a:lnTo>
                    <a:pt x="216954" y="0"/>
                  </a:lnTo>
                  <a:lnTo>
                    <a:pt x="207619" y="0"/>
                  </a:lnTo>
                  <a:lnTo>
                    <a:pt x="200075" y="7734"/>
                  </a:lnTo>
                  <a:lnTo>
                    <a:pt x="200075" y="27317"/>
                  </a:lnTo>
                  <a:lnTo>
                    <a:pt x="207619" y="34988"/>
                  </a:lnTo>
                  <a:lnTo>
                    <a:pt x="226910" y="34988"/>
                  </a:lnTo>
                  <a:lnTo>
                    <a:pt x="234454" y="27317"/>
                  </a:lnTo>
                  <a:lnTo>
                    <a:pt x="234454" y="7734"/>
                  </a:lnTo>
                  <a:close/>
                </a:path>
              </a:pathLst>
            </a:custGeom>
            <a:solidFill>
              <a:srgbClr val="2D30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75581" y="1922803"/>
              <a:ext cx="203200" cy="0"/>
            </a:xfrm>
            <a:custGeom>
              <a:avLst/>
              <a:gdLst/>
              <a:ahLst/>
              <a:cxnLst/>
              <a:rect l="l" t="t" r="r" b="b"/>
              <a:pathLst>
                <a:path w="203200">
                  <a:moveTo>
                    <a:pt x="0" y="0"/>
                  </a:moveTo>
                  <a:lnTo>
                    <a:pt x="0" y="0"/>
                  </a:lnTo>
                  <a:lnTo>
                    <a:pt x="202954" y="0"/>
                  </a:lnTo>
                </a:path>
              </a:pathLst>
            </a:custGeom>
            <a:ln w="7703">
              <a:solidFill>
                <a:srgbClr val="2D30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91517" y="936726"/>
              <a:ext cx="108585" cy="35560"/>
            </a:xfrm>
            <a:custGeom>
              <a:avLst/>
              <a:gdLst/>
              <a:ahLst/>
              <a:cxnLst/>
              <a:rect l="l" t="t" r="r" b="b"/>
              <a:pathLst>
                <a:path w="108585" h="35559">
                  <a:moveTo>
                    <a:pt x="34366" y="7658"/>
                  </a:moveTo>
                  <a:lnTo>
                    <a:pt x="26822" y="0"/>
                  </a:lnTo>
                  <a:lnTo>
                    <a:pt x="17500" y="0"/>
                  </a:lnTo>
                  <a:lnTo>
                    <a:pt x="7543" y="0"/>
                  </a:lnTo>
                  <a:lnTo>
                    <a:pt x="0" y="7658"/>
                  </a:lnTo>
                  <a:lnTo>
                    <a:pt x="0" y="27254"/>
                  </a:lnTo>
                  <a:lnTo>
                    <a:pt x="7543" y="34988"/>
                  </a:lnTo>
                  <a:lnTo>
                    <a:pt x="26822" y="34988"/>
                  </a:lnTo>
                  <a:lnTo>
                    <a:pt x="34366" y="27254"/>
                  </a:lnTo>
                  <a:lnTo>
                    <a:pt x="34366" y="7658"/>
                  </a:lnTo>
                  <a:close/>
                </a:path>
                <a:path w="108585" h="35559">
                  <a:moveTo>
                    <a:pt x="108470" y="7658"/>
                  </a:moveTo>
                  <a:lnTo>
                    <a:pt x="100850" y="0"/>
                  </a:lnTo>
                  <a:lnTo>
                    <a:pt x="90982" y="0"/>
                  </a:lnTo>
                  <a:lnTo>
                    <a:pt x="81648" y="0"/>
                  </a:lnTo>
                  <a:lnTo>
                    <a:pt x="74028" y="7658"/>
                  </a:lnTo>
                  <a:lnTo>
                    <a:pt x="74028" y="27254"/>
                  </a:lnTo>
                  <a:lnTo>
                    <a:pt x="81648" y="34988"/>
                  </a:lnTo>
                  <a:lnTo>
                    <a:pt x="100850" y="34988"/>
                  </a:lnTo>
                  <a:lnTo>
                    <a:pt x="108470" y="27254"/>
                  </a:lnTo>
                  <a:lnTo>
                    <a:pt x="108470" y="7658"/>
                  </a:lnTo>
                  <a:close/>
                </a:path>
              </a:pathLst>
            </a:custGeom>
            <a:solidFill>
              <a:srgbClr val="2D30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09019" y="954493"/>
              <a:ext cx="77470" cy="0"/>
            </a:xfrm>
            <a:custGeom>
              <a:avLst/>
              <a:gdLst/>
              <a:ahLst/>
              <a:cxnLst/>
              <a:rect l="l" t="t" r="r" b="b"/>
              <a:pathLst>
                <a:path w="77470">
                  <a:moveTo>
                    <a:pt x="0" y="0"/>
                  </a:moveTo>
                  <a:lnTo>
                    <a:pt x="0" y="0"/>
                  </a:lnTo>
                  <a:lnTo>
                    <a:pt x="76982" y="0"/>
                  </a:lnTo>
                </a:path>
              </a:pathLst>
            </a:custGeom>
            <a:ln w="7703">
              <a:solidFill>
                <a:srgbClr val="2D30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77147" y="1393317"/>
              <a:ext cx="102870" cy="1023619"/>
            </a:xfrm>
            <a:custGeom>
              <a:avLst/>
              <a:gdLst/>
              <a:ahLst/>
              <a:cxnLst/>
              <a:rect l="l" t="t" r="r" b="b"/>
              <a:pathLst>
                <a:path w="102870" h="1023619">
                  <a:moveTo>
                    <a:pt x="0" y="1015238"/>
                  </a:moveTo>
                  <a:lnTo>
                    <a:pt x="0" y="545211"/>
                  </a:lnTo>
                </a:path>
                <a:path w="102870" h="1023619">
                  <a:moveTo>
                    <a:pt x="102488" y="1023620"/>
                  </a:moveTo>
                  <a:lnTo>
                    <a:pt x="102488" y="0"/>
                  </a:lnTo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5936624" y="2742964"/>
            <a:ext cx="55244" cy="71120"/>
          </a:xfrm>
          <a:custGeom>
            <a:avLst/>
            <a:gdLst/>
            <a:ahLst/>
            <a:cxnLst/>
            <a:rect l="l" t="t" r="r" b="b"/>
            <a:pathLst>
              <a:path w="55245" h="71119">
                <a:moveTo>
                  <a:pt x="33203" y="0"/>
                </a:moveTo>
                <a:lnTo>
                  <a:pt x="445" y="26971"/>
                </a:lnTo>
                <a:lnTo>
                  <a:pt x="0" y="34959"/>
                </a:lnTo>
                <a:lnTo>
                  <a:pt x="55" y="42952"/>
                </a:lnTo>
                <a:lnTo>
                  <a:pt x="1166" y="48593"/>
                </a:lnTo>
                <a:lnTo>
                  <a:pt x="5832" y="59256"/>
                </a:lnTo>
                <a:lnTo>
                  <a:pt x="8709" y="63411"/>
                </a:lnTo>
                <a:lnTo>
                  <a:pt x="12830" y="66373"/>
                </a:lnTo>
                <a:lnTo>
                  <a:pt x="16874" y="69335"/>
                </a:lnTo>
                <a:lnTo>
                  <a:pt x="21539" y="70520"/>
                </a:lnTo>
                <a:lnTo>
                  <a:pt x="35536" y="70520"/>
                </a:lnTo>
                <a:lnTo>
                  <a:pt x="42534" y="67558"/>
                </a:lnTo>
                <a:lnTo>
                  <a:pt x="47200" y="61033"/>
                </a:lnTo>
                <a:lnTo>
                  <a:pt x="48700" y="58664"/>
                </a:lnTo>
                <a:lnTo>
                  <a:pt x="23328" y="58664"/>
                </a:lnTo>
                <a:lnTo>
                  <a:pt x="20373" y="56886"/>
                </a:lnTo>
                <a:lnTo>
                  <a:pt x="15707" y="48593"/>
                </a:lnTo>
                <a:lnTo>
                  <a:pt x="14597" y="42952"/>
                </a:lnTo>
                <a:lnTo>
                  <a:pt x="14597" y="26971"/>
                </a:lnTo>
                <a:lnTo>
                  <a:pt x="15707" y="21334"/>
                </a:lnTo>
                <a:lnTo>
                  <a:pt x="18040" y="17187"/>
                </a:lnTo>
                <a:lnTo>
                  <a:pt x="20373" y="13625"/>
                </a:lnTo>
                <a:lnTo>
                  <a:pt x="23328" y="11848"/>
                </a:lnTo>
                <a:lnTo>
                  <a:pt x="49507" y="11848"/>
                </a:lnTo>
                <a:lnTo>
                  <a:pt x="48989" y="10663"/>
                </a:lnTo>
                <a:lnTo>
                  <a:pt x="46034" y="6516"/>
                </a:lnTo>
                <a:lnTo>
                  <a:pt x="41990" y="4146"/>
                </a:lnTo>
                <a:lnTo>
                  <a:pt x="37869" y="1184"/>
                </a:lnTo>
                <a:lnTo>
                  <a:pt x="33203" y="0"/>
                </a:lnTo>
                <a:close/>
              </a:path>
              <a:path w="55245" h="71119">
                <a:moveTo>
                  <a:pt x="49507" y="11848"/>
                </a:moveTo>
                <a:lnTo>
                  <a:pt x="31492" y="11848"/>
                </a:lnTo>
                <a:lnTo>
                  <a:pt x="34370" y="13625"/>
                </a:lnTo>
                <a:lnTo>
                  <a:pt x="36702" y="17187"/>
                </a:lnTo>
                <a:lnTo>
                  <a:pt x="39035" y="21334"/>
                </a:lnTo>
                <a:lnTo>
                  <a:pt x="40145" y="26971"/>
                </a:lnTo>
                <a:lnTo>
                  <a:pt x="40146" y="42952"/>
                </a:lnTo>
                <a:lnTo>
                  <a:pt x="39035" y="48593"/>
                </a:lnTo>
                <a:lnTo>
                  <a:pt x="34370" y="56886"/>
                </a:lnTo>
                <a:lnTo>
                  <a:pt x="31492" y="58664"/>
                </a:lnTo>
                <a:lnTo>
                  <a:pt x="48700" y="58664"/>
                </a:lnTo>
                <a:lnTo>
                  <a:pt x="50359" y="56044"/>
                </a:lnTo>
                <a:lnTo>
                  <a:pt x="52760" y="49999"/>
                </a:lnTo>
                <a:lnTo>
                  <a:pt x="54286" y="42952"/>
                </a:lnTo>
                <a:lnTo>
                  <a:pt x="54821" y="34959"/>
                </a:lnTo>
                <a:lnTo>
                  <a:pt x="54764" y="26971"/>
                </a:lnTo>
                <a:lnTo>
                  <a:pt x="53654" y="21334"/>
                </a:lnTo>
                <a:lnTo>
                  <a:pt x="49507" y="11848"/>
                </a:lnTo>
                <a:close/>
              </a:path>
            </a:pathLst>
          </a:custGeom>
          <a:solidFill>
            <a:srgbClr val="2D309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53342" y="2742964"/>
            <a:ext cx="112519" cy="7052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80558" y="2742964"/>
            <a:ext cx="116640" cy="7052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26436" y="2742371"/>
            <a:ext cx="115474" cy="71112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58940" y="2742964"/>
            <a:ext cx="115474" cy="7052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80868" y="2742964"/>
            <a:ext cx="162208" cy="7052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13372" y="2742964"/>
            <a:ext cx="156920" cy="7052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56373" y="2742964"/>
            <a:ext cx="161586" cy="7052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584755" y="2742372"/>
            <a:ext cx="159797" cy="71112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914303" y="2742964"/>
            <a:ext cx="159797" cy="7052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252017" y="2742964"/>
            <a:ext cx="175583" cy="7052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967495" y="360111"/>
            <a:ext cx="2084679" cy="22400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967495" y="2968742"/>
            <a:ext cx="1236623" cy="75851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362628" y="866185"/>
            <a:ext cx="503973" cy="181908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261718" y="1328421"/>
            <a:ext cx="608381" cy="190834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426795" y="1845790"/>
            <a:ext cx="443304" cy="190755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362628" y="2356604"/>
            <a:ext cx="503973" cy="68727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9122791" y="2058670"/>
            <a:ext cx="152400" cy="21336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25" dirty="0">
                <a:solidFill>
                  <a:srgbClr val="312783"/>
                </a:solidFill>
                <a:latin typeface="Calibri"/>
                <a:cs typeface="Calibri"/>
              </a:rPr>
              <a:t>***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298051" y="1815210"/>
            <a:ext cx="152400" cy="21336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25" dirty="0">
                <a:solidFill>
                  <a:srgbClr val="312783"/>
                </a:solidFill>
                <a:latin typeface="Calibri"/>
                <a:cs typeface="Calibri"/>
              </a:rPr>
              <a:t>***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72957" y="2856737"/>
            <a:ext cx="11341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12783"/>
                </a:solidFill>
                <a:latin typeface="Calibri"/>
                <a:cs typeface="Calibri"/>
              </a:rPr>
              <a:t>***p&amp;lt;0,0001 </a:t>
            </a:r>
            <a:r>
              <a:rPr sz="1000" spc="-10" dirty="0">
                <a:solidFill>
                  <a:srgbClr val="312783"/>
                </a:solidFill>
                <a:latin typeface="Calibri"/>
                <a:cs typeface="Calibri"/>
              </a:rPr>
              <a:t>(Anova)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0" y="0"/>
            <a:ext cx="4913630" cy="6858000"/>
            <a:chOff x="0" y="0"/>
            <a:chExt cx="4913630" cy="6858000"/>
          </a:xfrm>
        </p:grpSpPr>
        <p:sp>
          <p:nvSpPr>
            <p:cNvPr id="39" name="object 39"/>
            <p:cNvSpPr/>
            <p:nvPr/>
          </p:nvSpPr>
          <p:spPr>
            <a:xfrm>
              <a:off x="0" y="0"/>
              <a:ext cx="4913630" cy="6858000"/>
            </a:xfrm>
            <a:custGeom>
              <a:avLst/>
              <a:gdLst/>
              <a:ahLst/>
              <a:cxnLst/>
              <a:rect l="l" t="t" r="r" b="b"/>
              <a:pathLst>
                <a:path w="4913630" h="6858000">
                  <a:moveTo>
                    <a:pt x="4913376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913376" y="6858000"/>
                  </a:lnTo>
                  <a:lnTo>
                    <a:pt x="4913376" y="0"/>
                  </a:lnTo>
                  <a:close/>
                </a:path>
              </a:pathLst>
            </a:custGeom>
            <a:solidFill>
              <a:srgbClr val="9ECC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0" y="4139943"/>
              <a:ext cx="4773929" cy="2718054"/>
            </a:xfrm>
            <a:prstGeom prst="rect">
              <a:avLst/>
            </a:prstGeom>
          </p:spPr>
        </p:pic>
      </p:grp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215674" y="110834"/>
            <a:ext cx="4685922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3600" spc="-10" dirty="0" err="1">
                <a:solidFill>
                  <a:schemeClr val="tx1"/>
                </a:solidFill>
              </a:rPr>
              <a:t>KioMedine</a:t>
            </a:r>
            <a:r>
              <a:rPr lang="en-US" sz="3600" spc="-15" baseline="26455" dirty="0" err="1">
                <a:solidFill>
                  <a:schemeClr val="tx1"/>
                </a:solidFill>
              </a:rPr>
              <a:t>vs</a:t>
            </a:r>
            <a:r>
              <a:rPr lang="en-US" sz="3600" spc="-10" dirty="0" err="1">
                <a:solidFill>
                  <a:schemeClr val="tx1"/>
                </a:solidFill>
              </a:rPr>
              <a:t>one</a:t>
            </a:r>
            <a:r>
              <a:rPr lang="en-US" sz="3600" spc="-10" dirty="0">
                <a:solidFill>
                  <a:schemeClr val="tx1"/>
                </a:solidFill>
              </a:rPr>
              <a:t> </a:t>
            </a:r>
            <a:r>
              <a:rPr lang="uk-UA" sz="3600" spc="-10" dirty="0">
                <a:solidFill>
                  <a:schemeClr val="tx1"/>
                </a:solidFill>
              </a:rPr>
              <a:t>- </a:t>
            </a:r>
            <a:r>
              <a:rPr sz="3600" b="0" dirty="0" err="1">
                <a:solidFill>
                  <a:srgbClr val="FFFFFF"/>
                </a:solidFill>
                <a:latin typeface="Calibri"/>
                <a:cs typeface="Calibri"/>
              </a:rPr>
              <a:t>Новий</a:t>
            </a:r>
            <a:r>
              <a:rPr sz="3600" b="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b="0" spc="-20" dirty="0">
                <a:solidFill>
                  <a:srgbClr val="FFFFFF"/>
                </a:solidFill>
                <a:latin typeface="Calibri"/>
                <a:cs typeface="Calibri"/>
              </a:rPr>
              <a:t>подвійний </a:t>
            </a:r>
            <a:r>
              <a:rPr sz="3600" b="0" dirty="0">
                <a:solidFill>
                  <a:srgbClr val="312B80"/>
                </a:solidFill>
                <a:latin typeface="Calibri"/>
                <a:cs typeface="Calibri"/>
              </a:rPr>
              <a:t>механізм </a:t>
            </a:r>
            <a:r>
              <a:rPr sz="3600" b="0" spc="-10" dirty="0">
                <a:solidFill>
                  <a:srgbClr val="312B80"/>
                </a:solidFill>
                <a:latin typeface="Calibri"/>
                <a:cs typeface="Calibri"/>
              </a:rPr>
              <a:t>дії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40868" y="5202758"/>
            <a:ext cx="388810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E2E81"/>
                </a:solidFill>
                <a:latin typeface="Calibri"/>
                <a:cs typeface="Calibri"/>
              </a:rPr>
              <a:t>Vandeweerd </a:t>
            </a:r>
            <a:r>
              <a:rPr sz="1200" dirty="0">
                <a:solidFill>
                  <a:srgbClr val="2E2E81"/>
                </a:solidFill>
                <a:latin typeface="Calibri"/>
                <a:cs typeface="Calibri"/>
              </a:rPr>
              <a:t>J-M, </a:t>
            </a:r>
            <a:r>
              <a:rPr sz="1200" spc="-10" dirty="0">
                <a:solidFill>
                  <a:srgbClr val="2E2E81"/>
                </a:solidFill>
                <a:latin typeface="Calibri"/>
                <a:cs typeface="Calibri"/>
              </a:rPr>
              <a:t>Innocenti </a:t>
            </a:r>
            <a:r>
              <a:rPr sz="1200" dirty="0">
                <a:solidFill>
                  <a:srgbClr val="2E2E81"/>
                </a:solidFill>
                <a:latin typeface="Calibri"/>
                <a:cs typeface="Calibri"/>
              </a:rPr>
              <a:t>B, </a:t>
            </a:r>
            <a:r>
              <a:rPr sz="1200" spc="-10" dirty="0">
                <a:solidFill>
                  <a:srgbClr val="2E2E81"/>
                </a:solidFill>
                <a:latin typeface="Calibri"/>
                <a:cs typeface="Calibri"/>
              </a:rPr>
              <a:t>Rocasalbas </a:t>
            </a:r>
            <a:r>
              <a:rPr sz="1200" dirty="0">
                <a:solidFill>
                  <a:srgbClr val="2E2E81"/>
                </a:solidFill>
                <a:latin typeface="Calibri"/>
                <a:cs typeface="Calibri"/>
              </a:rPr>
              <a:t>G, Gautier </a:t>
            </a:r>
            <a:r>
              <a:rPr sz="1200" spc="-25" dirty="0">
                <a:solidFill>
                  <a:srgbClr val="2E2E81"/>
                </a:solidFill>
                <a:latin typeface="Calibri"/>
                <a:cs typeface="Calibri"/>
              </a:rPr>
              <a:t>SE, </a:t>
            </a:r>
            <a:r>
              <a:rPr sz="1200" spc="-10" dirty="0">
                <a:solidFill>
                  <a:srgbClr val="2E2E81"/>
                </a:solidFill>
                <a:latin typeface="Calibri"/>
                <a:cs typeface="Calibri"/>
              </a:rPr>
              <a:t>Douette </a:t>
            </a:r>
            <a:r>
              <a:rPr sz="1200" spc="-80" dirty="0">
                <a:solidFill>
                  <a:srgbClr val="2E2E81"/>
                </a:solidFill>
                <a:latin typeface="Calibri"/>
                <a:cs typeface="Calibri"/>
              </a:rPr>
              <a:t>P, </a:t>
            </a:r>
            <a:r>
              <a:rPr sz="1200" spc="-10" dirty="0">
                <a:solidFill>
                  <a:srgbClr val="2E2E81"/>
                </a:solidFill>
                <a:latin typeface="Calibri"/>
                <a:cs typeface="Calibri"/>
              </a:rPr>
              <a:t>Hermitte </a:t>
            </a:r>
            <a:r>
              <a:rPr sz="1200" dirty="0">
                <a:solidFill>
                  <a:srgbClr val="2E2E81"/>
                </a:solidFill>
                <a:latin typeface="Calibri"/>
                <a:cs typeface="Calibri"/>
              </a:rPr>
              <a:t>L, et al. (2021) Неклінічна оцінка </a:t>
            </a:r>
            <a:r>
              <a:rPr sz="1200" spc="-10" dirty="0">
                <a:solidFill>
                  <a:srgbClr val="2E2E81"/>
                </a:solidFill>
                <a:latin typeface="Calibri"/>
                <a:cs typeface="Calibri"/>
              </a:rPr>
              <a:t>змащування </a:t>
            </a:r>
            <a:r>
              <a:rPr sz="1200" dirty="0">
                <a:solidFill>
                  <a:srgbClr val="2E2E81"/>
                </a:solidFill>
                <a:latin typeface="Calibri"/>
                <a:cs typeface="Calibri"/>
              </a:rPr>
              <a:t>та </a:t>
            </a:r>
            <a:r>
              <a:rPr sz="1200" spc="-10" dirty="0">
                <a:solidFill>
                  <a:srgbClr val="2E2E81"/>
                </a:solidFill>
                <a:latin typeface="Calibri"/>
                <a:cs typeface="Calibri"/>
              </a:rPr>
              <a:t>виведення </a:t>
            </a:r>
            <a:r>
              <a:rPr sz="1200" dirty="0">
                <a:solidFill>
                  <a:srgbClr val="2E2E81"/>
                </a:solidFill>
                <a:latin typeface="Calibri"/>
                <a:cs typeface="Calibri"/>
              </a:rPr>
              <a:t>вільних радикалів </a:t>
            </a:r>
            <a:r>
              <a:rPr sz="1200" spc="-10" dirty="0">
                <a:solidFill>
                  <a:srgbClr val="2E2E81"/>
                </a:solidFill>
                <a:latin typeface="Calibri"/>
                <a:cs typeface="Calibri"/>
              </a:rPr>
              <a:t>інноваційного </a:t>
            </a:r>
            <a:r>
              <a:rPr sz="1200" dirty="0">
                <a:solidFill>
                  <a:srgbClr val="2E2E81"/>
                </a:solidFill>
                <a:latin typeface="Calibri"/>
                <a:cs typeface="Calibri"/>
              </a:rPr>
              <a:t>біоматеріалу на основі карбоксиметилхітозану </a:t>
            </a:r>
            <a:r>
              <a:rPr sz="1200" spc="-20" dirty="0">
                <a:solidFill>
                  <a:srgbClr val="2E2E81"/>
                </a:solidFill>
                <a:latin typeface="Calibri"/>
                <a:cs typeface="Calibri"/>
              </a:rPr>
              <a:t>не </a:t>
            </a:r>
            <a:r>
              <a:rPr sz="1200" dirty="0">
                <a:solidFill>
                  <a:srgbClr val="2E2E81"/>
                </a:solidFill>
                <a:latin typeface="Calibri"/>
                <a:cs typeface="Calibri"/>
              </a:rPr>
              <a:t>тваринного походження </a:t>
            </a:r>
            <a:r>
              <a:rPr sz="1200" spc="-25" dirty="0">
                <a:solidFill>
                  <a:srgbClr val="2E2E81"/>
                </a:solidFill>
                <a:latin typeface="Calibri"/>
                <a:cs typeface="Calibri"/>
              </a:rPr>
              <a:t>для </a:t>
            </a:r>
            <a:r>
              <a:rPr sz="1200" spc="-10" dirty="0">
                <a:solidFill>
                  <a:srgbClr val="2E2E81"/>
                </a:solidFill>
                <a:latin typeface="Calibri"/>
                <a:cs typeface="Calibri"/>
              </a:rPr>
              <a:t>віскозуплментації: </a:t>
            </a:r>
            <a:r>
              <a:rPr sz="1200" spc="-20" dirty="0">
                <a:solidFill>
                  <a:srgbClr val="2E2E81"/>
                </a:solidFill>
                <a:latin typeface="Calibri"/>
                <a:cs typeface="Calibri"/>
              </a:rPr>
              <a:t>дослідження </a:t>
            </a:r>
            <a:r>
              <a:rPr sz="1200" dirty="0">
                <a:solidFill>
                  <a:srgbClr val="2E2E81"/>
                </a:solidFill>
                <a:latin typeface="Calibri"/>
                <a:cs typeface="Calibri"/>
              </a:rPr>
              <a:t>in vitro та ex vivo</a:t>
            </a:r>
            <a:r>
              <a:rPr sz="1200" spc="-20" dirty="0">
                <a:solidFill>
                  <a:srgbClr val="2E2E81"/>
                </a:solidFill>
                <a:latin typeface="Calibri"/>
                <a:cs typeface="Calibri"/>
              </a:rPr>
              <a:t>. </a:t>
            </a:r>
            <a:r>
              <a:rPr sz="1200" dirty="0">
                <a:solidFill>
                  <a:srgbClr val="2E2E81"/>
                </a:solidFill>
                <a:latin typeface="Calibri"/>
                <a:cs typeface="Calibri"/>
              </a:rPr>
              <a:t>PLoS </a:t>
            </a:r>
            <a:r>
              <a:rPr sz="1200" spc="-25" dirty="0">
                <a:solidFill>
                  <a:srgbClr val="2E2E81"/>
                </a:solidFill>
                <a:latin typeface="Calibri"/>
                <a:cs typeface="Calibri"/>
              </a:rPr>
              <a:t>ONE</a:t>
            </a:r>
            <a:r>
              <a:rPr sz="1200" dirty="0">
                <a:solidFill>
                  <a:srgbClr val="2E2E81"/>
                </a:solidFill>
                <a:latin typeface="Calibri"/>
                <a:cs typeface="Calibri"/>
              </a:rPr>
              <a:t> 16(10): </a:t>
            </a:r>
            <a:r>
              <a:rPr sz="1200" spc="-10" dirty="0">
                <a:solidFill>
                  <a:srgbClr val="2E2E81"/>
                </a:solidFill>
                <a:latin typeface="Calibri"/>
                <a:cs typeface="Calibri"/>
              </a:rPr>
              <a:t>e0256770.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765041" y="6672173"/>
            <a:ext cx="10090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3E3E8A"/>
                </a:solidFill>
                <a:latin typeface="Arial"/>
                <a:cs typeface="Arial"/>
              </a:rPr>
              <a:t>* Реактивні </a:t>
            </a:r>
            <a:r>
              <a:rPr sz="700" spc="-10" dirty="0">
                <a:solidFill>
                  <a:srgbClr val="3E3E8A"/>
                </a:solidFill>
                <a:latin typeface="Arial"/>
                <a:cs typeface="Arial"/>
              </a:rPr>
              <a:t>форми </a:t>
            </a:r>
            <a:r>
              <a:rPr sz="700" dirty="0">
                <a:solidFill>
                  <a:srgbClr val="3E3E8A"/>
                </a:solidFill>
                <a:latin typeface="Arial"/>
                <a:cs typeface="Arial"/>
              </a:rPr>
              <a:t>кисню</a:t>
            </a:r>
            <a:endParaRPr sz="7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017133" y="5378907"/>
            <a:ext cx="2053159" cy="694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85"/>
              </a:lnSpc>
              <a:spcBef>
                <a:spcPts val="105"/>
              </a:spcBef>
            </a:pPr>
            <a:r>
              <a:rPr sz="2000" b="1" spc="-10" dirty="0">
                <a:solidFill>
                  <a:srgbClr val="9ECCD2"/>
                </a:solidFill>
                <a:latin typeface="Calibri"/>
                <a:cs typeface="Calibri"/>
              </a:rPr>
              <a:t>ПОКРАЩЕНЕ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ts val="2865"/>
              </a:lnSpc>
            </a:pPr>
            <a:r>
              <a:rPr sz="2400" b="1" spc="-25" dirty="0">
                <a:solidFill>
                  <a:srgbClr val="9ECCD2"/>
                </a:solidFill>
                <a:latin typeface="Calibri"/>
                <a:cs typeface="Calibri"/>
              </a:rPr>
              <a:t>ЗМАЩУВАННЯ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5" name="object 4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262217" y="3386733"/>
            <a:ext cx="2785109" cy="3243639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39318" y="1521586"/>
            <a:ext cx="4553712" cy="2617851"/>
          </a:xfrm>
          <a:prstGeom prst="rect">
            <a:avLst/>
          </a:prstGeom>
        </p:spPr>
      </p:pic>
      <p:sp>
        <p:nvSpPr>
          <p:cNvPr id="47" name="Прямокутник 46">
            <a:extLst>
              <a:ext uri="{FF2B5EF4-FFF2-40B4-BE49-F238E27FC236}">
                <a16:creationId xmlns:a16="http://schemas.microsoft.com/office/drawing/2014/main" id="{160BDC85-4F97-6100-B5D1-22955BEDEF04}"/>
              </a:ext>
            </a:extLst>
          </p:cNvPr>
          <p:cNvSpPr/>
          <p:nvPr/>
        </p:nvSpPr>
        <p:spPr>
          <a:xfrm>
            <a:off x="3281945" y="2211424"/>
            <a:ext cx="1491983" cy="383122"/>
          </a:xfrm>
          <a:prstGeom prst="rect">
            <a:avLst/>
          </a:prstGeom>
          <a:solidFill>
            <a:srgbClr val="E6E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600" b="1" dirty="0">
                <a:solidFill>
                  <a:srgbClr val="6ACCC7"/>
                </a:solidFill>
              </a:rPr>
              <a:t>Покращене змащення</a:t>
            </a:r>
          </a:p>
        </p:txBody>
      </p:sp>
      <p:sp>
        <p:nvSpPr>
          <p:cNvPr id="48" name="Прямокутник 47">
            <a:extLst>
              <a:ext uri="{FF2B5EF4-FFF2-40B4-BE49-F238E27FC236}">
                <a16:creationId xmlns:a16="http://schemas.microsoft.com/office/drawing/2014/main" id="{8FA20D6E-8F7C-1FE9-9194-AC3D07D9E42B}"/>
              </a:ext>
            </a:extLst>
          </p:cNvPr>
          <p:cNvSpPr/>
          <p:nvPr/>
        </p:nvSpPr>
        <p:spPr>
          <a:xfrm>
            <a:off x="3265535" y="1905126"/>
            <a:ext cx="1508394" cy="228664"/>
          </a:xfrm>
          <a:prstGeom prst="rect">
            <a:avLst/>
          </a:prstGeom>
          <a:solidFill>
            <a:srgbClr val="E6E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200" b="1" dirty="0">
                <a:solidFill>
                  <a:srgbClr val="354389"/>
                </a:solidFill>
              </a:rPr>
              <a:t>ЗАХИСТ СУГЛОБІВ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2037" y="535381"/>
            <a:ext cx="81743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312783"/>
                </a:solidFill>
              </a:rPr>
              <a:t>Що відбувається після </a:t>
            </a:r>
            <a:r>
              <a:rPr sz="2800" dirty="0" err="1">
                <a:solidFill>
                  <a:srgbClr val="312783"/>
                </a:solidFill>
              </a:rPr>
              <a:t>ін'єкції</a:t>
            </a:r>
            <a:r>
              <a:rPr sz="2800" dirty="0">
                <a:solidFill>
                  <a:srgbClr val="312783"/>
                </a:solidFill>
              </a:rPr>
              <a:t> </a:t>
            </a:r>
            <a:r>
              <a:rPr lang="uk-UA" sz="2800" dirty="0">
                <a:solidFill>
                  <a:srgbClr val="312783"/>
                </a:solidFill>
              </a:rPr>
              <a:t>К</a:t>
            </a:r>
            <a:r>
              <a:rPr sz="2800" dirty="0">
                <a:solidFill>
                  <a:srgbClr val="312783"/>
                </a:solidFill>
              </a:rPr>
              <a:t>M-</a:t>
            </a:r>
            <a:r>
              <a:rPr sz="2800" dirty="0" err="1">
                <a:solidFill>
                  <a:srgbClr val="312783"/>
                </a:solidFill>
              </a:rPr>
              <a:t>хітозану</a:t>
            </a:r>
            <a:r>
              <a:rPr sz="2800" dirty="0">
                <a:solidFill>
                  <a:srgbClr val="312783"/>
                </a:solidFill>
              </a:rPr>
              <a:t> в </a:t>
            </a:r>
            <a:r>
              <a:rPr sz="2800" spc="-10" dirty="0">
                <a:solidFill>
                  <a:srgbClr val="312783"/>
                </a:solidFill>
              </a:rPr>
              <a:t>суглоб?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0" y="774954"/>
            <a:ext cx="923925" cy="63500"/>
          </a:xfrm>
          <a:custGeom>
            <a:avLst/>
            <a:gdLst/>
            <a:ahLst/>
            <a:cxnLst/>
            <a:rect l="l" t="t" r="r" b="b"/>
            <a:pathLst>
              <a:path w="923925" h="63500">
                <a:moveTo>
                  <a:pt x="923315" y="0"/>
                </a:moveTo>
                <a:lnTo>
                  <a:pt x="0" y="0"/>
                </a:lnTo>
                <a:lnTo>
                  <a:pt x="0" y="63500"/>
                </a:lnTo>
                <a:lnTo>
                  <a:pt x="923315" y="63500"/>
                </a:lnTo>
                <a:lnTo>
                  <a:pt x="923315" y="0"/>
                </a:lnTo>
                <a:close/>
              </a:path>
            </a:pathLst>
          </a:custGeom>
          <a:solidFill>
            <a:srgbClr val="636A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5706" y="3952722"/>
            <a:ext cx="11500485" cy="150554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469265" algn="l"/>
              </a:tabLst>
            </a:pPr>
            <a:r>
              <a:rPr sz="1400" spc="-10" dirty="0">
                <a:solidFill>
                  <a:srgbClr val="585858"/>
                </a:solidFill>
                <a:latin typeface="Calibri"/>
                <a:cs typeface="Calibri"/>
              </a:rPr>
              <a:t>Властивості </a:t>
            </a:r>
            <a:r>
              <a:rPr sz="1400" dirty="0" err="1">
                <a:solidFill>
                  <a:srgbClr val="585858"/>
                </a:solidFill>
                <a:latin typeface="Calibri"/>
                <a:cs typeface="Calibri"/>
              </a:rPr>
              <a:t>молекул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lang="uk-UA" sz="1400" dirty="0">
                <a:solidFill>
                  <a:srgbClr val="585858"/>
                </a:solidFill>
                <a:latin typeface="Calibri"/>
                <a:cs typeface="Calibri"/>
              </a:rPr>
              <a:t>К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M-</a:t>
            </a:r>
            <a:r>
              <a:rPr sz="1400" dirty="0" err="1">
                <a:solidFill>
                  <a:srgbClr val="585858"/>
                </a:solidFill>
                <a:latin typeface="Calibri"/>
                <a:cs typeface="Calibri"/>
              </a:rPr>
              <a:t>хітозану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85858"/>
                </a:solidFill>
                <a:latin typeface="Calibri"/>
                <a:cs typeface="Calibri"/>
              </a:rPr>
              <a:t>сприяють </a:t>
            </a:r>
            <a:r>
              <a:rPr sz="1400" u="sng" dirty="0">
                <a:solidFill>
                  <a:srgbClr val="585858"/>
                </a:solidFill>
                <a:uFill>
                  <a:solidFill>
                    <a:srgbClr val="585858"/>
                  </a:solidFill>
                </a:uFill>
                <a:latin typeface="Calibri"/>
                <a:cs typeface="Calibri"/>
              </a:rPr>
              <a:t>їхньому розповсюдженню по всьому </a:t>
            </a:r>
            <a:r>
              <a:rPr sz="1400" u="sng" spc="-10" dirty="0">
                <a:solidFill>
                  <a:srgbClr val="585858"/>
                </a:solidFill>
                <a:uFill>
                  <a:solidFill>
                    <a:srgbClr val="585858"/>
                  </a:solidFill>
                </a:uFill>
                <a:latin typeface="Calibri"/>
                <a:cs typeface="Calibri"/>
              </a:rPr>
              <a:t>суглобу</a:t>
            </a:r>
            <a:endParaRPr sz="1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469265" algn="l"/>
              </a:tabLst>
            </a:pPr>
            <a:r>
              <a:rPr sz="1400" b="1" dirty="0">
                <a:solidFill>
                  <a:srgbClr val="312783"/>
                </a:solidFill>
                <a:latin typeface="Calibri"/>
                <a:cs typeface="Calibri"/>
              </a:rPr>
              <a:t>Молекули </a:t>
            </a:r>
            <a:r>
              <a:rPr sz="1400" b="1" spc="-10" dirty="0">
                <a:solidFill>
                  <a:srgbClr val="312783"/>
                </a:solidFill>
                <a:latin typeface="Calibri"/>
                <a:cs typeface="Calibri"/>
              </a:rPr>
              <a:t>локалізуються </a:t>
            </a:r>
            <a:r>
              <a:rPr sz="1400" b="1" dirty="0">
                <a:solidFill>
                  <a:srgbClr val="312783"/>
                </a:solidFill>
                <a:latin typeface="Calibri"/>
                <a:cs typeface="Calibri"/>
              </a:rPr>
              <a:t>на поверхнях суглоба, </a:t>
            </a:r>
            <a:r>
              <a:rPr sz="1400" b="1" u="sng" spc="-10" dirty="0">
                <a:solidFill>
                  <a:srgbClr val="312783"/>
                </a:solidFill>
                <a:uFill>
                  <a:solidFill>
                    <a:srgbClr val="312783"/>
                  </a:solidFill>
                </a:uFill>
                <a:latin typeface="Calibri"/>
                <a:cs typeface="Calibri"/>
              </a:rPr>
              <a:t>взаємодіють </a:t>
            </a:r>
            <a:r>
              <a:rPr sz="1400" b="1" u="sng" dirty="0">
                <a:solidFill>
                  <a:srgbClr val="312783"/>
                </a:solidFill>
                <a:uFill>
                  <a:solidFill>
                    <a:srgbClr val="312783"/>
                  </a:solidFill>
                </a:uFill>
                <a:latin typeface="Calibri"/>
                <a:cs typeface="Calibri"/>
              </a:rPr>
              <a:t>з лубрицином і покращують </a:t>
            </a:r>
            <a:r>
              <a:rPr sz="1400" b="1" u="sng" spc="-10" dirty="0">
                <a:solidFill>
                  <a:srgbClr val="312783"/>
                </a:solidFill>
                <a:uFill>
                  <a:solidFill>
                    <a:srgbClr val="312783"/>
                  </a:solidFill>
                </a:uFill>
                <a:latin typeface="Calibri"/>
                <a:cs typeface="Calibri"/>
              </a:rPr>
              <a:t>змащення </a:t>
            </a:r>
            <a:r>
              <a:rPr sz="1400" b="1" dirty="0">
                <a:solidFill>
                  <a:srgbClr val="312783"/>
                </a:solidFill>
                <a:latin typeface="Calibri"/>
                <a:cs typeface="Calibri"/>
              </a:rPr>
              <a:t>та рухливість (механічний </a:t>
            </a:r>
            <a:r>
              <a:rPr sz="1400" b="1" spc="-10" dirty="0">
                <a:solidFill>
                  <a:srgbClr val="312783"/>
                </a:solidFill>
                <a:latin typeface="Calibri"/>
                <a:cs typeface="Calibri"/>
              </a:rPr>
              <a:t>захист)</a:t>
            </a:r>
            <a:endParaRPr sz="1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825"/>
              </a:spcBef>
              <a:buAutoNum type="arabicPeriod"/>
              <a:tabLst>
                <a:tab pos="469265" algn="l"/>
              </a:tabLst>
            </a:pPr>
            <a:r>
              <a:rPr sz="1400" b="1" spc="-10" dirty="0">
                <a:solidFill>
                  <a:srgbClr val="312783"/>
                </a:solidFill>
                <a:latin typeface="Calibri"/>
                <a:cs typeface="Calibri"/>
              </a:rPr>
              <a:t>Знешкодження </a:t>
            </a:r>
            <a:r>
              <a:rPr sz="1400" b="1" dirty="0">
                <a:solidFill>
                  <a:srgbClr val="312783"/>
                </a:solidFill>
                <a:latin typeface="Calibri"/>
                <a:cs typeface="Calibri"/>
              </a:rPr>
              <a:t>АФК </a:t>
            </a:r>
            <a:r>
              <a:rPr sz="1400" b="1" spc="-10" dirty="0">
                <a:solidFill>
                  <a:srgbClr val="312783"/>
                </a:solidFill>
                <a:latin typeface="Calibri"/>
                <a:cs typeface="Calibri"/>
              </a:rPr>
              <a:t>захищає компоненти синовіальної оболонки </a:t>
            </a:r>
            <a:r>
              <a:rPr sz="1400" b="1" dirty="0">
                <a:solidFill>
                  <a:srgbClr val="312783"/>
                </a:solidFill>
                <a:latin typeface="Calibri"/>
                <a:cs typeface="Calibri"/>
              </a:rPr>
              <a:t>від пошкодження та </a:t>
            </a:r>
            <a:r>
              <a:rPr sz="1400" b="1" spc="-10" dirty="0">
                <a:solidFill>
                  <a:srgbClr val="312783"/>
                </a:solidFill>
                <a:latin typeface="Calibri"/>
                <a:cs typeface="Calibri"/>
              </a:rPr>
              <a:t>перериває </a:t>
            </a:r>
            <a:r>
              <a:rPr sz="1400" b="1" dirty="0">
                <a:solidFill>
                  <a:srgbClr val="312783"/>
                </a:solidFill>
                <a:latin typeface="Calibri"/>
                <a:cs typeface="Calibri"/>
              </a:rPr>
              <a:t>порочне коло </a:t>
            </a:r>
            <a:r>
              <a:rPr sz="1400" b="1" spc="-10" dirty="0">
                <a:solidFill>
                  <a:srgbClr val="312783"/>
                </a:solidFill>
                <a:latin typeface="Calibri"/>
                <a:cs typeface="Calibri"/>
              </a:rPr>
              <a:t>запальних процесів </a:t>
            </a:r>
            <a:r>
              <a:rPr sz="1400" b="1" dirty="0">
                <a:solidFill>
                  <a:srgbClr val="312783"/>
                </a:solidFill>
                <a:latin typeface="Calibri"/>
                <a:cs typeface="Calibri"/>
              </a:rPr>
              <a:t>при </a:t>
            </a:r>
            <a:r>
              <a:rPr sz="1400" b="1" spc="-25" dirty="0">
                <a:solidFill>
                  <a:srgbClr val="312783"/>
                </a:solidFill>
                <a:latin typeface="Calibri"/>
                <a:cs typeface="Calibri"/>
              </a:rPr>
              <a:t>ОА</a:t>
            </a:r>
            <a:endParaRPr sz="1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830"/>
              </a:spcBef>
              <a:buAutoNum type="arabicPeriod"/>
              <a:tabLst>
                <a:tab pos="469265" algn="l"/>
              </a:tabLst>
            </a:pPr>
            <a:r>
              <a:rPr sz="1400" b="1" u="sng" dirty="0">
                <a:solidFill>
                  <a:srgbClr val="C55A11"/>
                </a:solidFill>
                <a:uFill>
                  <a:solidFill>
                    <a:srgbClr val="C55A11"/>
                  </a:solidFill>
                </a:uFill>
                <a:latin typeface="Calibri"/>
                <a:cs typeface="Calibri"/>
              </a:rPr>
              <a:t>Помірна </a:t>
            </a:r>
            <a:r>
              <a:rPr sz="1400" b="1" dirty="0">
                <a:solidFill>
                  <a:srgbClr val="C55A11"/>
                </a:solidFill>
                <a:latin typeface="Calibri"/>
                <a:cs typeface="Calibri"/>
              </a:rPr>
              <a:t>реакція на чужорідне тіло з </a:t>
            </a:r>
            <a:r>
              <a:rPr sz="1400" b="1" u="sng" dirty="0">
                <a:solidFill>
                  <a:srgbClr val="C55A11"/>
                </a:solidFill>
                <a:uFill>
                  <a:solidFill>
                    <a:srgbClr val="C55A11"/>
                  </a:solidFill>
                </a:uFill>
                <a:latin typeface="Calibri"/>
                <a:cs typeface="Calibri"/>
              </a:rPr>
              <a:t>незначним </a:t>
            </a:r>
            <a:r>
              <a:rPr sz="1400" b="1" dirty="0">
                <a:solidFill>
                  <a:srgbClr val="C55A11"/>
                </a:solidFill>
                <a:latin typeface="Calibri"/>
                <a:cs typeface="Calibri"/>
              </a:rPr>
              <a:t>збільшенням кількості мононуклеарних клітин, включаючи макрофаги, протягом годин/днів після ін'єкції, </a:t>
            </a:r>
            <a:r>
              <a:rPr sz="1400" b="1" spc="-20" dirty="0">
                <a:solidFill>
                  <a:srgbClr val="C55A11"/>
                </a:solidFill>
                <a:latin typeface="Calibri"/>
                <a:cs typeface="Calibri"/>
              </a:rPr>
              <a:t>з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33600" y="5225593"/>
            <a:ext cx="1208811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C55A11"/>
                </a:solidFill>
                <a:latin typeface="Calibri"/>
                <a:cs typeface="Calibri"/>
              </a:rPr>
              <a:t>по</a:t>
            </a:r>
            <a:r>
              <a:rPr sz="1400" b="1" spc="-25" dirty="0">
                <a:solidFill>
                  <a:srgbClr val="C55A11"/>
                </a:solidFill>
                <a:latin typeface="Calibri"/>
                <a:cs typeface="Calibri"/>
              </a:rPr>
              <a:t>чат</a:t>
            </a:r>
            <a:r>
              <a:rPr sz="1400" b="1" dirty="0">
                <a:solidFill>
                  <a:srgbClr val="C55A11"/>
                </a:solidFill>
                <a:latin typeface="Calibri"/>
                <a:cs typeface="Calibri"/>
              </a:rPr>
              <a:t>ком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61136" y="5237135"/>
            <a:ext cx="2008505" cy="205184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35"/>
              </a:lnSpc>
            </a:pPr>
            <a:r>
              <a:rPr sz="1400" b="1" spc="-10" dirty="0">
                <a:solidFill>
                  <a:srgbClr val="C55A11"/>
                </a:solidFill>
                <a:latin typeface="Calibri"/>
                <a:cs typeface="Calibri"/>
              </a:rPr>
              <a:t>БІОЛОГІЧНОГО РОЗКЛАДУ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5706" y="5423712"/>
            <a:ext cx="7809230" cy="1185581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25"/>
              </a:spcBef>
              <a:buAutoNum type="arabicPeriod" startAt="5"/>
              <a:tabLst>
                <a:tab pos="469265" algn="l"/>
              </a:tabLst>
            </a:pPr>
            <a:r>
              <a:rPr sz="1400" b="1" dirty="0">
                <a:solidFill>
                  <a:srgbClr val="C55A11"/>
                </a:solidFill>
                <a:latin typeface="Calibri"/>
                <a:cs typeface="Calibri"/>
              </a:rPr>
              <a:t>Відсутність або ледь </a:t>
            </a:r>
            <a:r>
              <a:rPr sz="1400" b="1" spc="-10" dirty="0">
                <a:solidFill>
                  <a:srgbClr val="C55A11"/>
                </a:solidFill>
                <a:latin typeface="Calibri"/>
                <a:cs typeface="Calibri"/>
              </a:rPr>
              <a:t>помітна стимуляція маркерів запалення </a:t>
            </a:r>
            <a:r>
              <a:rPr sz="1400" b="1" dirty="0">
                <a:solidFill>
                  <a:srgbClr val="C55A11"/>
                </a:solidFill>
                <a:latin typeface="Calibri"/>
                <a:cs typeface="Calibri"/>
              </a:rPr>
              <a:t>протягом </a:t>
            </a:r>
            <a:r>
              <a:rPr sz="1400" b="1" spc="-10" dirty="0">
                <a:solidFill>
                  <a:srgbClr val="C55A11"/>
                </a:solidFill>
                <a:latin typeface="Calibri"/>
                <a:cs typeface="Calibri"/>
              </a:rPr>
              <a:t>годин/днів після ін'єкції</a:t>
            </a:r>
            <a:endParaRPr sz="1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830"/>
              </a:spcBef>
              <a:buAutoNum type="arabicPeriod" startAt="5"/>
              <a:tabLst>
                <a:tab pos="469265" algn="l"/>
              </a:tabLst>
            </a:pPr>
            <a:r>
              <a:rPr sz="1400" i="1" dirty="0">
                <a:solidFill>
                  <a:srgbClr val="585858"/>
                </a:solidFill>
                <a:latin typeface="Calibri"/>
                <a:cs typeface="Calibri"/>
              </a:rPr>
              <a:t>[Швидке полегшення болю та </a:t>
            </a:r>
            <a:r>
              <a:rPr sz="1400" i="1" dirty="0" err="1">
                <a:solidFill>
                  <a:srgbClr val="585858"/>
                </a:solidFill>
                <a:latin typeface="Calibri"/>
                <a:cs typeface="Calibri"/>
              </a:rPr>
              <a:t>поліпшення</a:t>
            </a:r>
            <a:r>
              <a:rPr sz="1400" i="1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i="1" spc="-10" dirty="0" err="1">
                <a:solidFill>
                  <a:srgbClr val="585858"/>
                </a:solidFill>
                <a:latin typeface="Calibri"/>
                <a:cs typeface="Calibri"/>
              </a:rPr>
              <a:t>функцій</a:t>
            </a:r>
            <a:r>
              <a:rPr lang="uk-UA" sz="1400" i="1" spc="-10" dirty="0">
                <a:solidFill>
                  <a:srgbClr val="585858"/>
                </a:solidFill>
                <a:latin typeface="Calibri"/>
                <a:cs typeface="Calibri"/>
              </a:rPr>
              <a:t> коліна</a:t>
            </a:r>
            <a:r>
              <a:rPr sz="1400" i="1" spc="-10" dirty="0">
                <a:solidFill>
                  <a:srgbClr val="585858"/>
                </a:solidFill>
                <a:latin typeface="Calibri"/>
                <a:cs typeface="Calibri"/>
              </a:rPr>
              <a:t>]</a:t>
            </a:r>
            <a:endParaRPr sz="1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830"/>
              </a:spcBef>
              <a:buAutoNum type="arabicPeriod" startAt="5"/>
              <a:tabLst>
                <a:tab pos="469265" algn="l"/>
              </a:tabLst>
            </a:pPr>
            <a:r>
              <a:rPr lang="uk-UA" sz="1400" u="sng" dirty="0">
                <a:solidFill>
                  <a:srgbClr val="585858"/>
                </a:solidFill>
                <a:uFill>
                  <a:solidFill>
                    <a:srgbClr val="585858"/>
                  </a:solidFill>
                </a:uFill>
                <a:latin typeface="Calibri"/>
                <a:cs typeface="Calibri"/>
              </a:rPr>
              <a:t>К</a:t>
            </a:r>
            <a:r>
              <a:rPr sz="1400" u="sng" dirty="0">
                <a:solidFill>
                  <a:srgbClr val="585858"/>
                </a:solidFill>
                <a:uFill>
                  <a:solidFill>
                    <a:srgbClr val="585858"/>
                  </a:solidFill>
                </a:uFill>
                <a:latin typeface="Calibri"/>
                <a:cs typeface="Calibri"/>
              </a:rPr>
              <a:t>M-</a:t>
            </a:r>
            <a:r>
              <a:rPr sz="1400" u="sng" dirty="0" err="1">
                <a:solidFill>
                  <a:srgbClr val="585858"/>
                </a:solidFill>
                <a:uFill>
                  <a:solidFill>
                    <a:srgbClr val="585858"/>
                  </a:solidFill>
                </a:uFill>
                <a:latin typeface="Calibri"/>
                <a:cs typeface="Calibri"/>
              </a:rPr>
              <a:t>хітозан</a:t>
            </a:r>
            <a:r>
              <a:rPr sz="1400" u="sng" dirty="0">
                <a:solidFill>
                  <a:srgbClr val="585858"/>
                </a:solidFill>
                <a:uFill>
                  <a:solidFill>
                    <a:srgbClr val="585858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solidFill>
                  <a:srgbClr val="585858"/>
                </a:solidFill>
                <a:uFill>
                  <a:solidFill>
                    <a:srgbClr val="585858"/>
                  </a:solidFill>
                </a:uFill>
                <a:latin typeface="Calibri"/>
                <a:cs typeface="Calibri"/>
              </a:rPr>
              <a:t>залишається </a:t>
            </a:r>
            <a:r>
              <a:rPr sz="1400" u="sng" dirty="0">
                <a:solidFill>
                  <a:srgbClr val="585858"/>
                </a:solidFill>
                <a:uFill>
                  <a:solidFill>
                    <a:srgbClr val="585858"/>
                  </a:solidFill>
                </a:uFill>
                <a:latin typeface="Calibri"/>
                <a:cs typeface="Calibri"/>
              </a:rPr>
              <a:t>в суглобі протягом 1 місяця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, забезпечуючи довгострокові клінічні переваги протягом 9-16,5 </a:t>
            </a:r>
            <a:r>
              <a:rPr sz="1400" spc="-10" dirty="0">
                <a:solidFill>
                  <a:srgbClr val="585858"/>
                </a:solidFill>
                <a:latin typeface="Calibri"/>
                <a:cs typeface="Calibri"/>
              </a:rPr>
              <a:t>місяців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.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6587" y="1215238"/>
            <a:ext cx="9662165" cy="26772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8F26A2-E4B1-0156-AE7D-61AFF0947B76}"/>
              </a:ext>
            </a:extLst>
          </p:cNvPr>
          <p:cNvSpPr txBox="1"/>
          <p:nvPr/>
        </p:nvSpPr>
        <p:spPr>
          <a:xfrm>
            <a:off x="607148" y="922850"/>
            <a:ext cx="11277600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uk-UA" sz="1600" b="1" dirty="0"/>
              <a:t>КM-</a:t>
            </a:r>
            <a:r>
              <a:rPr lang="uk-UA" sz="1600" b="1" dirty="0" err="1"/>
              <a:t>хітозан</a:t>
            </a:r>
            <a:r>
              <a:rPr lang="uk-UA" sz="1600" b="1" dirty="0"/>
              <a:t> (K1O014) продемонстрував свою здатність зменшувати біль при </a:t>
            </a:r>
            <a:r>
              <a:rPr lang="uk-UA" sz="1600" b="1" dirty="0" err="1"/>
              <a:t>остеоартриті</a:t>
            </a:r>
            <a:r>
              <a:rPr lang="uk-UA" sz="1600" b="1" dirty="0"/>
              <a:t> колінного суглоба протягом 9-16 місяців після ін'єкції.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33C690-55A6-E104-E725-F60DB3C7F447}"/>
              </a:ext>
            </a:extLst>
          </p:cNvPr>
          <p:cNvSpPr txBox="1"/>
          <p:nvPr/>
        </p:nvSpPr>
        <p:spPr>
          <a:xfrm>
            <a:off x="5257800" y="1430681"/>
            <a:ext cx="144725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uk-UA" sz="1800" b="1" dirty="0"/>
              <a:t>КM-</a:t>
            </a:r>
            <a:r>
              <a:rPr lang="uk-UA" sz="1800" b="1" dirty="0" err="1"/>
              <a:t>хітозан</a:t>
            </a:r>
            <a:endParaRPr lang="uk-UA" dirty="0"/>
          </a:p>
        </p:txBody>
      </p:sp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B47CFF18-8A9A-D71D-2944-20DBC9EB39A6}"/>
              </a:ext>
            </a:extLst>
          </p:cNvPr>
          <p:cNvSpPr/>
          <p:nvPr/>
        </p:nvSpPr>
        <p:spPr>
          <a:xfrm>
            <a:off x="4343400" y="2404202"/>
            <a:ext cx="3200400" cy="5847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uk-UA" sz="1400" dirty="0">
              <a:solidFill>
                <a:schemeClr val="bg1"/>
              </a:solidFill>
            </a:endParaRPr>
          </a:p>
          <a:p>
            <a:pPr algn="l"/>
            <a:r>
              <a:rPr lang="uk-UA" sz="1400" dirty="0">
                <a:solidFill>
                  <a:schemeClr val="bg1"/>
                </a:solidFill>
              </a:rPr>
              <a:t>Зменшення окисного стресу за рахунок ефекту нейтралізації вільних радикалів</a:t>
            </a:r>
          </a:p>
          <a:p>
            <a:pPr algn="l"/>
            <a:endParaRPr lang="uk-UA" sz="1400" dirty="0"/>
          </a:p>
        </p:txBody>
      </p:sp>
      <p:sp>
        <p:nvSpPr>
          <p:cNvPr id="20" name="Прямокутник 19">
            <a:extLst>
              <a:ext uri="{FF2B5EF4-FFF2-40B4-BE49-F238E27FC236}">
                <a16:creationId xmlns:a16="http://schemas.microsoft.com/office/drawing/2014/main" id="{DEF79443-A10E-CE81-F9AA-A6702BA277FC}"/>
              </a:ext>
            </a:extLst>
          </p:cNvPr>
          <p:cNvSpPr/>
          <p:nvPr/>
        </p:nvSpPr>
        <p:spPr>
          <a:xfrm>
            <a:off x="7696200" y="2404202"/>
            <a:ext cx="2223792" cy="57737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  <a:p>
            <a:pPr algn="ctr"/>
            <a:r>
              <a:rPr lang="uk-UA" dirty="0"/>
              <a:t>Взаємодія з імунною системою</a:t>
            </a:r>
          </a:p>
          <a:p>
            <a:pPr algn="ctr"/>
            <a:endParaRPr lang="uk-UA" dirty="0"/>
          </a:p>
        </p:txBody>
      </p:sp>
      <p:sp>
        <p:nvSpPr>
          <p:cNvPr id="21" name="Прямокутник 20">
            <a:extLst>
              <a:ext uri="{FF2B5EF4-FFF2-40B4-BE49-F238E27FC236}">
                <a16:creationId xmlns:a16="http://schemas.microsoft.com/office/drawing/2014/main" id="{BE72596E-0517-1498-98AE-6D12A2D1A59C}"/>
              </a:ext>
            </a:extLst>
          </p:cNvPr>
          <p:cNvSpPr/>
          <p:nvPr/>
        </p:nvSpPr>
        <p:spPr>
          <a:xfrm>
            <a:off x="2653436" y="2391502"/>
            <a:ext cx="1377950" cy="5847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400" dirty="0">
              <a:solidFill>
                <a:schemeClr val="bg1"/>
              </a:solidFill>
            </a:endParaRPr>
          </a:p>
          <a:p>
            <a:pPr algn="ctr"/>
            <a:r>
              <a:rPr lang="uk-UA" dirty="0">
                <a:solidFill>
                  <a:schemeClr val="bg1"/>
                </a:solidFill>
              </a:rPr>
              <a:t>Механізм захисту</a:t>
            </a:r>
          </a:p>
          <a:p>
            <a:pPr algn="l"/>
            <a:endParaRPr lang="uk-UA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D107CA-9251-71C8-D773-805F419FCFB0}"/>
              </a:ext>
            </a:extLst>
          </p:cNvPr>
          <p:cNvSpPr txBox="1"/>
          <p:nvPr/>
        </p:nvSpPr>
        <p:spPr>
          <a:xfrm>
            <a:off x="1298443" y="3341016"/>
            <a:ext cx="1670313" cy="60016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uk-UA" sz="1100" b="1" dirty="0"/>
              <a:t>Взаємодія з компонентами Синовіальної рідини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6624D9-23AE-BB4D-2DE6-2C2E523311B1}"/>
              </a:ext>
            </a:extLst>
          </p:cNvPr>
          <p:cNvSpPr txBox="1"/>
          <p:nvPr/>
        </p:nvSpPr>
        <p:spPr>
          <a:xfrm>
            <a:off x="4349115" y="3281767"/>
            <a:ext cx="1822450" cy="60016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uk-UA" sz="1100" b="1" dirty="0"/>
              <a:t>Захист клітин/хрящів від </a:t>
            </a:r>
            <a:r>
              <a:rPr lang="uk-UA" sz="1100" b="1" dirty="0" err="1"/>
              <a:t>оксидативного</a:t>
            </a:r>
            <a:r>
              <a:rPr lang="uk-UA" sz="1100" b="1" dirty="0"/>
              <a:t> стресу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57865F-E5B6-7BBF-83AA-379271ACBEC9}"/>
              </a:ext>
            </a:extLst>
          </p:cNvPr>
          <p:cNvSpPr txBox="1"/>
          <p:nvPr/>
        </p:nvSpPr>
        <p:spPr>
          <a:xfrm>
            <a:off x="3066195" y="3450837"/>
            <a:ext cx="1162905" cy="43088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uk-UA" sz="1100" b="1" dirty="0"/>
              <a:t>Захист клітин/хрящів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C150DA-16D3-6FE9-CD0A-A67119414A8F}"/>
              </a:ext>
            </a:extLst>
          </p:cNvPr>
          <p:cNvSpPr txBox="1"/>
          <p:nvPr/>
        </p:nvSpPr>
        <p:spPr>
          <a:xfrm>
            <a:off x="6194425" y="3287921"/>
            <a:ext cx="1298575" cy="43088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uk-UA" sz="1100" b="1" dirty="0"/>
              <a:t>Відновлення гомеостазу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C83593-12E6-7A77-8F7C-3B1EE4BD2F76}"/>
              </a:ext>
            </a:extLst>
          </p:cNvPr>
          <p:cNvSpPr txBox="1"/>
          <p:nvPr/>
        </p:nvSpPr>
        <p:spPr>
          <a:xfrm>
            <a:off x="8178034" y="3326937"/>
            <a:ext cx="1741958" cy="43088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uk-UA" sz="1100" b="1" dirty="0"/>
              <a:t>Збільшити або зменшити запалення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608787" y="1044194"/>
            <a:ext cx="11090910" cy="4024179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000" b="1" dirty="0">
                <a:solidFill>
                  <a:srgbClr val="2E2E81"/>
                </a:solidFill>
                <a:latin typeface="Calibri"/>
                <a:cs typeface="Calibri"/>
              </a:rPr>
              <a:t>Фокус на </a:t>
            </a:r>
            <a:r>
              <a:rPr sz="2000" b="1" spc="-10" dirty="0">
                <a:solidFill>
                  <a:srgbClr val="2E2E81"/>
                </a:solidFill>
                <a:latin typeface="Calibri"/>
                <a:cs typeface="Calibri"/>
              </a:rPr>
              <a:t>дослідженні внутрішньосуглобової імплантації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600" dirty="0">
                <a:solidFill>
                  <a:srgbClr val="312783"/>
                </a:solidFill>
                <a:latin typeface="Calibri"/>
                <a:cs typeface="Calibri"/>
              </a:rPr>
              <a:t>10 кроликів, ін'єкції (400 мкл) на 0-й день, 4-й тиждень, 8-й тиждень; </a:t>
            </a:r>
            <a:r>
              <a:rPr sz="1600" spc="-10" dirty="0">
                <a:solidFill>
                  <a:srgbClr val="312783"/>
                </a:solidFill>
                <a:latin typeface="Calibri"/>
                <a:cs typeface="Calibri"/>
              </a:rPr>
              <a:t>спостереження </a:t>
            </a:r>
            <a:r>
              <a:rPr sz="1600" dirty="0">
                <a:solidFill>
                  <a:srgbClr val="312783"/>
                </a:solidFill>
                <a:latin typeface="Calibri"/>
                <a:cs typeface="Calibri"/>
              </a:rPr>
              <a:t>на 1-му, 4-му та</a:t>
            </a:r>
            <a:r>
              <a:rPr sz="1600" spc="-25" dirty="0">
                <a:solidFill>
                  <a:srgbClr val="312783"/>
                </a:solidFill>
                <a:latin typeface="Calibri"/>
                <a:cs typeface="Calibri"/>
              </a:rPr>
              <a:t> 12-му </a:t>
            </a:r>
            <a:r>
              <a:rPr sz="1600" spc="-10" dirty="0">
                <a:solidFill>
                  <a:srgbClr val="312783"/>
                </a:solidFill>
                <a:latin typeface="Calibri"/>
                <a:cs typeface="Calibri"/>
              </a:rPr>
              <a:t>тижні</a:t>
            </a:r>
            <a:endParaRPr sz="1600" dirty="0">
              <a:latin typeface="Calibri"/>
              <a:cs typeface="Calibri"/>
            </a:endParaRPr>
          </a:p>
          <a:p>
            <a:pPr marL="453390" indent="-34226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453390" algn="l"/>
              </a:tabLst>
            </a:pPr>
            <a:r>
              <a:rPr sz="1400" dirty="0">
                <a:solidFill>
                  <a:srgbClr val="312783"/>
                </a:solidFill>
                <a:latin typeface="Calibri"/>
                <a:cs typeface="Calibri"/>
              </a:rPr>
              <a:t>Не </a:t>
            </a:r>
            <a:r>
              <a:rPr sz="1400" spc="-10" dirty="0">
                <a:solidFill>
                  <a:srgbClr val="312783"/>
                </a:solidFill>
                <a:latin typeface="Calibri"/>
                <a:cs typeface="Calibri"/>
              </a:rPr>
              <a:t>виявлено </a:t>
            </a:r>
            <a:r>
              <a:rPr sz="1400" b="1" spc="-10" dirty="0">
                <a:solidFill>
                  <a:srgbClr val="312783"/>
                </a:solidFill>
                <a:latin typeface="Calibri"/>
                <a:cs typeface="Calibri"/>
              </a:rPr>
              <a:t>цитотоксичного </a:t>
            </a:r>
            <a:r>
              <a:rPr sz="1400" b="1" dirty="0">
                <a:solidFill>
                  <a:srgbClr val="312783"/>
                </a:solidFill>
                <a:latin typeface="Calibri"/>
                <a:cs typeface="Calibri"/>
              </a:rPr>
              <a:t>потенціалу </a:t>
            </a:r>
            <a:r>
              <a:rPr sz="1400" dirty="0">
                <a:solidFill>
                  <a:srgbClr val="312783"/>
                </a:solidFill>
                <a:latin typeface="Calibri"/>
                <a:cs typeface="Calibri"/>
              </a:rPr>
              <a:t>in vivo та </a:t>
            </a:r>
            <a:r>
              <a:rPr sz="1400" spc="-10" dirty="0">
                <a:solidFill>
                  <a:srgbClr val="312783"/>
                </a:solidFill>
                <a:latin typeface="Calibri"/>
                <a:cs typeface="Calibri"/>
              </a:rPr>
              <a:t>шкідливого впливу </a:t>
            </a:r>
            <a:r>
              <a:rPr sz="1400" dirty="0">
                <a:solidFill>
                  <a:srgbClr val="312783"/>
                </a:solidFill>
                <a:latin typeface="Calibri"/>
                <a:cs typeface="Calibri"/>
              </a:rPr>
              <a:t>на </a:t>
            </a:r>
            <a:r>
              <a:rPr sz="1400" spc="-10" dirty="0">
                <a:solidFill>
                  <a:srgbClr val="312783"/>
                </a:solidFill>
                <a:latin typeface="Calibri"/>
                <a:cs typeface="Calibri"/>
              </a:rPr>
              <a:t>хрящ </a:t>
            </a:r>
            <a:r>
              <a:rPr sz="1400" dirty="0">
                <a:solidFill>
                  <a:srgbClr val="312783"/>
                </a:solidFill>
                <a:latin typeface="Calibri"/>
                <a:cs typeface="Calibri"/>
              </a:rPr>
              <a:t>або інші </a:t>
            </a:r>
            <a:r>
              <a:rPr sz="1400" spc="-10" dirty="0">
                <a:solidFill>
                  <a:srgbClr val="312783"/>
                </a:solidFill>
                <a:latin typeface="Calibri"/>
                <a:cs typeface="Calibri"/>
              </a:rPr>
              <a:t>структури </a:t>
            </a:r>
            <a:r>
              <a:rPr sz="1400" dirty="0">
                <a:solidFill>
                  <a:srgbClr val="312783"/>
                </a:solidFill>
                <a:latin typeface="Calibri"/>
                <a:cs typeface="Calibri"/>
              </a:rPr>
              <a:t>суглоба</a:t>
            </a:r>
            <a:endParaRPr sz="1400" dirty="0">
              <a:latin typeface="Calibri"/>
              <a:cs typeface="Calibri"/>
            </a:endParaRPr>
          </a:p>
          <a:p>
            <a:pPr marL="453390" indent="-342265">
              <a:lnSpc>
                <a:spcPct val="100000"/>
              </a:lnSpc>
              <a:spcBef>
                <a:spcPts val="1165"/>
              </a:spcBef>
              <a:buFont typeface="Arial"/>
              <a:buChar char="•"/>
              <a:tabLst>
                <a:tab pos="453390" algn="l"/>
              </a:tabLst>
            </a:pPr>
            <a:r>
              <a:rPr sz="1400" spc="-10" dirty="0">
                <a:solidFill>
                  <a:srgbClr val="312783"/>
                </a:solidFill>
                <a:latin typeface="Calibri"/>
                <a:cs typeface="Calibri"/>
              </a:rPr>
              <a:t>Класифіковано </a:t>
            </a:r>
            <a:r>
              <a:rPr sz="1400" dirty="0">
                <a:solidFill>
                  <a:srgbClr val="312783"/>
                </a:solidFill>
                <a:latin typeface="Calibri"/>
                <a:cs typeface="Calibri"/>
              </a:rPr>
              <a:t>як </a:t>
            </a:r>
            <a:r>
              <a:rPr sz="1400" b="1" spc="-10" dirty="0">
                <a:solidFill>
                  <a:srgbClr val="312783"/>
                </a:solidFill>
                <a:latin typeface="Calibri"/>
                <a:cs typeface="Calibri"/>
              </a:rPr>
              <a:t>розсмоктуваний імплантат</a:t>
            </a:r>
            <a:endParaRPr sz="1400" dirty="0">
              <a:latin typeface="Calibri"/>
              <a:cs typeface="Calibri"/>
            </a:endParaRPr>
          </a:p>
          <a:p>
            <a:pPr marL="910590" lvl="1" indent="-342265">
              <a:lnSpc>
                <a:spcPct val="100000"/>
              </a:lnSpc>
              <a:spcBef>
                <a:spcPts val="1155"/>
              </a:spcBef>
              <a:buFont typeface="Arial"/>
              <a:buChar char="•"/>
              <a:tabLst>
                <a:tab pos="910590" algn="l"/>
              </a:tabLst>
            </a:pPr>
            <a:r>
              <a:rPr lang="uk-UA" sz="1400" dirty="0">
                <a:solidFill>
                  <a:srgbClr val="312783"/>
                </a:solidFill>
                <a:latin typeface="Calibri"/>
                <a:cs typeface="Calibri"/>
              </a:rPr>
              <a:t>К</a:t>
            </a:r>
            <a:r>
              <a:rPr sz="1400" dirty="0">
                <a:solidFill>
                  <a:srgbClr val="312783"/>
                </a:solidFill>
                <a:latin typeface="Calibri"/>
                <a:cs typeface="Calibri"/>
              </a:rPr>
              <a:t>M-</a:t>
            </a:r>
            <a:r>
              <a:rPr sz="1400" dirty="0" err="1">
                <a:solidFill>
                  <a:srgbClr val="312783"/>
                </a:solidFill>
                <a:latin typeface="Calibri"/>
                <a:cs typeface="Calibri"/>
              </a:rPr>
              <a:t>хітозан</a:t>
            </a:r>
            <a:r>
              <a:rPr sz="1400" dirty="0">
                <a:solidFill>
                  <a:srgbClr val="31278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12783"/>
                </a:solidFill>
                <a:latin typeface="Calibri"/>
                <a:cs typeface="Calibri"/>
              </a:rPr>
              <a:t>залишався </a:t>
            </a:r>
            <a:r>
              <a:rPr sz="1400" dirty="0">
                <a:solidFill>
                  <a:srgbClr val="312783"/>
                </a:solidFill>
                <a:latin typeface="Calibri"/>
                <a:cs typeface="Calibri"/>
              </a:rPr>
              <a:t>в суглобі </a:t>
            </a:r>
            <a:r>
              <a:rPr sz="1400" b="1" dirty="0">
                <a:solidFill>
                  <a:srgbClr val="312783"/>
                </a:solidFill>
                <a:latin typeface="Calibri"/>
                <a:cs typeface="Calibri"/>
              </a:rPr>
              <a:t>до одного </a:t>
            </a:r>
            <a:r>
              <a:rPr sz="1400" b="1" spc="-10" dirty="0">
                <a:solidFill>
                  <a:srgbClr val="312783"/>
                </a:solidFill>
                <a:latin typeface="Calibri"/>
                <a:cs typeface="Calibri"/>
              </a:rPr>
              <a:t>місяця</a:t>
            </a:r>
            <a:endParaRPr sz="1400" dirty="0">
              <a:latin typeface="Calibri"/>
              <a:cs typeface="Calibri"/>
            </a:endParaRPr>
          </a:p>
          <a:p>
            <a:pPr marL="159766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solidFill>
                  <a:srgbClr val="312783"/>
                </a:solidFill>
                <a:latin typeface="Calibri"/>
                <a:cs typeface="Calibri"/>
              </a:rPr>
              <a:t>Залишається в колінному суглобі </a:t>
            </a:r>
            <a:r>
              <a:rPr sz="1600" b="1" u="sng" dirty="0">
                <a:solidFill>
                  <a:srgbClr val="312783"/>
                </a:solidFill>
                <a:uFill>
                  <a:solidFill>
                    <a:srgbClr val="312783"/>
                  </a:solidFill>
                </a:uFill>
                <a:latin typeface="Calibri"/>
                <a:cs typeface="Calibri"/>
              </a:rPr>
              <a:t>до одного </a:t>
            </a:r>
            <a:r>
              <a:rPr sz="1600" b="1" u="sng" spc="-10" dirty="0">
                <a:solidFill>
                  <a:srgbClr val="312783"/>
                </a:solidFill>
                <a:uFill>
                  <a:solidFill>
                    <a:srgbClr val="312783"/>
                  </a:solidFill>
                </a:uFill>
                <a:latin typeface="Calibri"/>
                <a:cs typeface="Calibri"/>
              </a:rPr>
              <a:t>місяця</a:t>
            </a:r>
            <a:endParaRPr sz="1600" dirty="0">
              <a:latin typeface="Calibri"/>
              <a:cs typeface="Calibri"/>
            </a:endParaRPr>
          </a:p>
          <a:p>
            <a:pPr marL="910590" lvl="1" indent="-342265">
              <a:lnSpc>
                <a:spcPct val="100000"/>
              </a:lnSpc>
              <a:spcBef>
                <a:spcPts val="995"/>
              </a:spcBef>
              <a:buFont typeface="Arial"/>
              <a:buChar char="•"/>
              <a:tabLst>
                <a:tab pos="910590" algn="l"/>
              </a:tabLst>
            </a:pPr>
            <a:r>
              <a:rPr lang="uk-UA" sz="1400" b="1" dirty="0">
                <a:solidFill>
                  <a:srgbClr val="312783"/>
                </a:solidFill>
                <a:latin typeface="Calibri"/>
                <a:cs typeface="Calibri"/>
              </a:rPr>
              <a:t>К</a:t>
            </a:r>
            <a:r>
              <a:rPr sz="1400" b="1" dirty="0">
                <a:solidFill>
                  <a:srgbClr val="312783"/>
                </a:solidFill>
                <a:latin typeface="Calibri"/>
                <a:cs typeface="Calibri"/>
              </a:rPr>
              <a:t>M</a:t>
            </a:r>
            <a:r>
              <a:rPr sz="1400" dirty="0">
                <a:solidFill>
                  <a:srgbClr val="312783"/>
                </a:solidFill>
                <a:latin typeface="Calibri"/>
                <a:cs typeface="Calibri"/>
              </a:rPr>
              <a:t>-</a:t>
            </a:r>
            <a:r>
              <a:rPr sz="1400" dirty="0" err="1">
                <a:solidFill>
                  <a:srgbClr val="312783"/>
                </a:solidFill>
                <a:latin typeface="Calibri"/>
                <a:cs typeface="Calibri"/>
              </a:rPr>
              <a:t>хітозан</a:t>
            </a:r>
            <a:r>
              <a:rPr sz="1400" dirty="0">
                <a:solidFill>
                  <a:srgbClr val="31278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12783"/>
                </a:solidFill>
                <a:latin typeface="Calibri"/>
                <a:cs typeface="Calibri"/>
              </a:rPr>
              <a:t>розщеплювався макрофагами </a:t>
            </a:r>
            <a:r>
              <a:rPr sz="1400" b="1" dirty="0">
                <a:solidFill>
                  <a:srgbClr val="312783"/>
                </a:solidFill>
                <a:latin typeface="Calibri"/>
                <a:cs typeface="Calibri"/>
              </a:rPr>
              <a:t>без </a:t>
            </a:r>
            <a:r>
              <a:rPr sz="1400" b="1" spc="-10" dirty="0" err="1">
                <a:solidFill>
                  <a:srgbClr val="312783"/>
                </a:solidFill>
                <a:latin typeface="Calibri"/>
                <a:cs typeface="Calibri"/>
              </a:rPr>
              <a:t>утворення</a:t>
            </a:r>
            <a:r>
              <a:rPr sz="1400" b="1" spc="-10" dirty="0">
                <a:solidFill>
                  <a:srgbClr val="312783"/>
                </a:solidFill>
                <a:latin typeface="Calibri"/>
                <a:cs typeface="Calibri"/>
              </a:rPr>
              <a:t> </a:t>
            </a:r>
            <a:r>
              <a:rPr sz="1400" b="1" spc="-10" dirty="0" err="1">
                <a:solidFill>
                  <a:srgbClr val="312783"/>
                </a:solidFill>
                <a:latin typeface="Calibri"/>
                <a:cs typeface="Calibri"/>
              </a:rPr>
              <a:t>гранул</a:t>
            </a:r>
            <a:r>
              <a:rPr lang="uk-UA" sz="1400" b="1" spc="-10" dirty="0" err="1">
                <a:solidFill>
                  <a:srgbClr val="312783"/>
                </a:solidFill>
                <a:latin typeface="Calibri"/>
                <a:cs typeface="Calibri"/>
              </a:rPr>
              <a:t>ьо</a:t>
            </a:r>
            <a:r>
              <a:rPr sz="1400" b="1" spc="-10" dirty="0">
                <a:solidFill>
                  <a:srgbClr val="312783"/>
                </a:solidFill>
                <a:latin typeface="Calibri"/>
                <a:cs typeface="Calibri"/>
              </a:rPr>
              <a:t>м</a:t>
            </a:r>
            <a:endParaRPr sz="1400" dirty="0">
              <a:latin typeface="Calibri"/>
              <a:cs typeface="Calibri"/>
            </a:endParaRPr>
          </a:p>
          <a:p>
            <a:pPr marL="1642745">
              <a:lnSpc>
                <a:spcPct val="100000"/>
              </a:lnSpc>
              <a:spcBef>
                <a:spcPts val="1000"/>
              </a:spcBef>
            </a:pPr>
            <a:r>
              <a:rPr sz="1600" b="1" dirty="0">
                <a:solidFill>
                  <a:srgbClr val="2E2E81"/>
                </a:solidFill>
                <a:latin typeface="Calibri"/>
                <a:cs typeface="Calibri"/>
              </a:rPr>
              <a:t>Активація макрофагів </a:t>
            </a:r>
            <a:r>
              <a:rPr sz="1600" dirty="0">
                <a:solidFill>
                  <a:srgbClr val="2E2E81"/>
                </a:solidFill>
                <a:latin typeface="Calibri"/>
                <a:cs typeface="Calibri"/>
              </a:rPr>
              <a:t>може призвести до тимчасового та оборотного болю після внутрішньосуглобової </a:t>
            </a:r>
            <a:r>
              <a:rPr sz="1600" spc="-10" dirty="0">
                <a:solidFill>
                  <a:srgbClr val="2E2E81"/>
                </a:solidFill>
                <a:latin typeface="Calibri"/>
                <a:cs typeface="Calibri"/>
              </a:rPr>
              <a:t>ін'єкції</a:t>
            </a:r>
            <a:endParaRPr sz="1600" dirty="0">
              <a:latin typeface="Calibri"/>
              <a:cs typeface="Calibri"/>
            </a:endParaRPr>
          </a:p>
          <a:p>
            <a:pPr marL="2099945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solidFill>
                  <a:srgbClr val="312B80"/>
                </a:solidFill>
                <a:latin typeface="Calibri"/>
                <a:cs typeface="Calibri"/>
              </a:rPr>
              <a:t>Артралгія пов'язана з </a:t>
            </a:r>
            <a:r>
              <a:rPr sz="1200" b="1" dirty="0">
                <a:solidFill>
                  <a:srgbClr val="312B80"/>
                </a:solidFill>
                <a:latin typeface="Calibri"/>
                <a:cs typeface="Calibri"/>
              </a:rPr>
              <a:t>біодеградацією імплантату </a:t>
            </a:r>
            <a:r>
              <a:rPr sz="1200" dirty="0">
                <a:solidFill>
                  <a:srgbClr val="312B80"/>
                </a:solidFill>
                <a:latin typeface="Calibri"/>
                <a:cs typeface="Calibri"/>
              </a:rPr>
              <a:t>в результаті фізіологічного процесу резорбції макрофагами, що </a:t>
            </a:r>
            <a:r>
              <a:rPr sz="1200" spc="-25" dirty="0">
                <a:solidFill>
                  <a:srgbClr val="312B80"/>
                </a:solidFill>
                <a:latin typeface="Calibri"/>
                <a:cs typeface="Calibri"/>
              </a:rPr>
              <a:t>може</a:t>
            </a:r>
            <a:endParaRPr sz="1200" dirty="0">
              <a:latin typeface="Calibri"/>
              <a:cs typeface="Calibri"/>
            </a:endParaRPr>
          </a:p>
          <a:p>
            <a:pPr marL="2099945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312B80"/>
                </a:solidFill>
                <a:latin typeface="Calibri"/>
                <a:cs typeface="Calibri"/>
              </a:rPr>
              <a:t>призвести до тимчасового та оборотного болю після внутрішньосуглобової </a:t>
            </a:r>
            <a:r>
              <a:rPr sz="1200" spc="-10" dirty="0">
                <a:solidFill>
                  <a:srgbClr val="312B80"/>
                </a:solidFill>
                <a:latin typeface="Calibri"/>
                <a:cs typeface="Calibri"/>
              </a:rPr>
              <a:t>ін'єкції.</a:t>
            </a:r>
            <a:endParaRPr sz="1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1200" dirty="0">
              <a:latin typeface="Calibri"/>
              <a:cs typeface="Calibri"/>
            </a:endParaRPr>
          </a:p>
          <a:p>
            <a:pPr marL="3222625">
              <a:lnSpc>
                <a:spcPct val="100000"/>
              </a:lnSpc>
              <a:spcBef>
                <a:spcPts val="5"/>
              </a:spcBef>
            </a:pPr>
            <a:r>
              <a:rPr sz="1100" b="1" spc="-10" dirty="0">
                <a:solidFill>
                  <a:srgbClr val="312783"/>
                </a:solidFill>
                <a:latin typeface="Calibri"/>
                <a:cs typeface="Calibri"/>
              </a:rPr>
              <a:t>Ти</a:t>
            </a:r>
            <a:r>
              <a:rPr sz="1100" b="1" dirty="0">
                <a:solidFill>
                  <a:srgbClr val="312783"/>
                </a:solidFill>
                <a:latin typeface="Calibri"/>
                <a:cs typeface="Calibri"/>
              </a:rPr>
              <a:t>по</a:t>
            </a:r>
            <a:r>
              <a:rPr sz="1100" b="1" spc="-10" dirty="0">
                <a:solidFill>
                  <a:srgbClr val="312783"/>
                </a:solidFill>
                <a:latin typeface="Calibri"/>
                <a:cs typeface="Calibri"/>
              </a:rPr>
              <a:t>ві мікрофотографії </a:t>
            </a:r>
            <a:r>
              <a:rPr sz="1100" b="1" dirty="0">
                <a:solidFill>
                  <a:srgbClr val="312783"/>
                </a:solidFill>
                <a:latin typeface="Calibri"/>
                <a:cs typeface="Calibri"/>
              </a:rPr>
              <a:t>синовіальної мембрани (</a:t>
            </a:r>
            <a:r>
              <a:rPr sz="1100" b="1" spc="-10" dirty="0">
                <a:solidFill>
                  <a:srgbClr val="312783"/>
                </a:solidFill>
                <a:latin typeface="Calibri"/>
                <a:cs typeface="Calibri"/>
              </a:rPr>
              <a:t>фарбування за методом </a:t>
            </a:r>
            <a:r>
              <a:rPr sz="1100" b="1" dirty="0">
                <a:solidFill>
                  <a:srgbClr val="312783"/>
                </a:solidFill>
                <a:latin typeface="Calibri"/>
                <a:cs typeface="Calibri"/>
              </a:rPr>
              <a:t>SHE</a:t>
            </a:r>
            <a:r>
              <a:rPr sz="1100" b="1" spc="-10" dirty="0">
                <a:solidFill>
                  <a:srgbClr val="312783"/>
                </a:solidFill>
                <a:latin typeface="Calibri"/>
                <a:cs typeface="Calibri"/>
              </a:rPr>
              <a:t>) </a:t>
            </a:r>
            <a:r>
              <a:rPr sz="1100" b="1" dirty="0">
                <a:solidFill>
                  <a:srgbClr val="312783"/>
                </a:solidFill>
                <a:latin typeface="Calibri"/>
                <a:cs typeface="Calibri"/>
              </a:rPr>
              <a:t>на</a:t>
            </a:r>
            <a:r>
              <a:rPr sz="1100" b="1" spc="-50" dirty="0">
                <a:solidFill>
                  <a:srgbClr val="312783"/>
                </a:solidFill>
                <a:latin typeface="Calibri"/>
                <a:cs typeface="Calibri"/>
              </a:rPr>
              <a:t> 4-му </a:t>
            </a:r>
            <a:r>
              <a:rPr sz="1100" b="1" dirty="0">
                <a:solidFill>
                  <a:srgbClr val="312783"/>
                </a:solidFill>
                <a:latin typeface="Calibri"/>
                <a:cs typeface="Calibri"/>
              </a:rPr>
              <a:t>тижні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2037" y="535381"/>
            <a:ext cx="256936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uk-UA" sz="2800" spc="-30" dirty="0">
                <a:solidFill>
                  <a:srgbClr val="312783"/>
                </a:solidFill>
              </a:rPr>
              <a:t>БІОДЕГРАДАЦІЯ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0" y="774954"/>
            <a:ext cx="923925" cy="63500"/>
          </a:xfrm>
          <a:custGeom>
            <a:avLst/>
            <a:gdLst/>
            <a:ahLst/>
            <a:cxnLst/>
            <a:rect l="l" t="t" r="r" b="b"/>
            <a:pathLst>
              <a:path w="923925" h="63500">
                <a:moveTo>
                  <a:pt x="923315" y="0"/>
                </a:moveTo>
                <a:lnTo>
                  <a:pt x="0" y="0"/>
                </a:lnTo>
                <a:lnTo>
                  <a:pt x="0" y="63500"/>
                </a:lnTo>
                <a:lnTo>
                  <a:pt x="923315" y="63500"/>
                </a:lnTo>
                <a:lnTo>
                  <a:pt x="923315" y="0"/>
                </a:lnTo>
                <a:close/>
              </a:path>
            </a:pathLst>
          </a:custGeom>
          <a:solidFill>
            <a:srgbClr val="636A6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603121" y="2911900"/>
            <a:ext cx="433070" cy="264795"/>
            <a:chOff x="1603121" y="3125977"/>
            <a:chExt cx="433070" cy="264795"/>
          </a:xfrm>
        </p:grpSpPr>
        <p:sp>
          <p:nvSpPr>
            <p:cNvPr id="5" name="object 5"/>
            <p:cNvSpPr/>
            <p:nvPr/>
          </p:nvSpPr>
          <p:spPr>
            <a:xfrm>
              <a:off x="1609471" y="3132327"/>
              <a:ext cx="420370" cy="252095"/>
            </a:xfrm>
            <a:custGeom>
              <a:avLst/>
              <a:gdLst/>
              <a:ahLst/>
              <a:cxnLst/>
              <a:rect l="l" t="t" r="r" b="b"/>
              <a:pathLst>
                <a:path w="420369" h="252095">
                  <a:moveTo>
                    <a:pt x="293878" y="0"/>
                  </a:moveTo>
                  <a:lnTo>
                    <a:pt x="293878" y="62992"/>
                  </a:lnTo>
                  <a:lnTo>
                    <a:pt x="0" y="62992"/>
                  </a:lnTo>
                  <a:lnTo>
                    <a:pt x="0" y="188975"/>
                  </a:lnTo>
                  <a:lnTo>
                    <a:pt x="293878" y="188975"/>
                  </a:lnTo>
                  <a:lnTo>
                    <a:pt x="293878" y="251968"/>
                  </a:lnTo>
                  <a:lnTo>
                    <a:pt x="419861" y="125984"/>
                  </a:lnTo>
                  <a:lnTo>
                    <a:pt x="293878" y="0"/>
                  </a:lnTo>
                  <a:close/>
                </a:path>
              </a:pathLst>
            </a:custGeom>
            <a:solidFill>
              <a:srgbClr val="2E2E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09471" y="3132327"/>
              <a:ext cx="420370" cy="252095"/>
            </a:xfrm>
            <a:custGeom>
              <a:avLst/>
              <a:gdLst/>
              <a:ahLst/>
              <a:cxnLst/>
              <a:rect l="l" t="t" r="r" b="b"/>
              <a:pathLst>
                <a:path w="420369" h="252095">
                  <a:moveTo>
                    <a:pt x="0" y="62992"/>
                  </a:moveTo>
                  <a:lnTo>
                    <a:pt x="293878" y="62992"/>
                  </a:lnTo>
                  <a:lnTo>
                    <a:pt x="293878" y="0"/>
                  </a:lnTo>
                  <a:lnTo>
                    <a:pt x="419861" y="125984"/>
                  </a:lnTo>
                  <a:lnTo>
                    <a:pt x="293878" y="251968"/>
                  </a:lnTo>
                  <a:lnTo>
                    <a:pt x="293878" y="188975"/>
                  </a:lnTo>
                  <a:lnTo>
                    <a:pt x="0" y="188975"/>
                  </a:lnTo>
                  <a:lnTo>
                    <a:pt x="0" y="62992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096000" y="160553"/>
            <a:ext cx="5895975" cy="464871"/>
          </a:xfrm>
          <a:prstGeom prst="rect">
            <a:avLst/>
          </a:prstGeom>
          <a:solidFill>
            <a:srgbClr val="2E2E81"/>
          </a:solidFill>
        </p:spPr>
        <p:txBody>
          <a:bodyPr vert="horz" wrap="square" lIns="0" tIns="33655" rIns="0" bIns="0" rtlCol="0">
            <a:spAutoFit/>
          </a:bodyPr>
          <a:lstStyle/>
          <a:p>
            <a:pPr marL="795020" marR="130810" indent="-655320">
              <a:lnSpc>
                <a:spcPct val="100000"/>
              </a:lnSpc>
              <a:spcBef>
                <a:spcPts val="26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РЕЗОРБЦІЯ </a:t>
            </a:r>
            <a:r>
              <a:rPr lang="uk-UA" sz="1400" b="1" spc="-10" dirty="0">
                <a:solidFill>
                  <a:srgbClr val="FFFFFF"/>
                </a:solidFill>
                <a:latin typeface="Calibri"/>
                <a:cs typeface="Calibri"/>
              </a:rPr>
              <a:t>К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M-ХІТОЗАНУ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- 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РОЗКЛАД </a:t>
            </a:r>
            <a:r>
              <a:rPr lang="uk-UA" sz="1400" b="1" spc="-10" dirty="0">
                <a:solidFill>
                  <a:srgbClr val="FFFFFF"/>
                </a:solidFill>
                <a:latin typeface="Calibri"/>
                <a:cs typeface="Calibri"/>
              </a:rPr>
              <a:t>К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M-ХІТОЗАНУ ВІДБУВАЄТЬСЯ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ШЛЯХОМ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ФІЗІОЛОГІЧНОГО ПРОЦЕСУ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РЕЗОРБЦІЇ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МАКРОФАГАМИ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96771" y="3670794"/>
            <a:ext cx="433070" cy="264795"/>
            <a:chOff x="1603121" y="3856609"/>
            <a:chExt cx="433070" cy="264795"/>
          </a:xfrm>
        </p:grpSpPr>
        <p:sp>
          <p:nvSpPr>
            <p:cNvPr id="9" name="object 9"/>
            <p:cNvSpPr/>
            <p:nvPr/>
          </p:nvSpPr>
          <p:spPr>
            <a:xfrm>
              <a:off x="1609471" y="3862959"/>
              <a:ext cx="420370" cy="252095"/>
            </a:xfrm>
            <a:custGeom>
              <a:avLst/>
              <a:gdLst/>
              <a:ahLst/>
              <a:cxnLst/>
              <a:rect l="l" t="t" r="r" b="b"/>
              <a:pathLst>
                <a:path w="420369" h="252095">
                  <a:moveTo>
                    <a:pt x="293878" y="0"/>
                  </a:moveTo>
                  <a:lnTo>
                    <a:pt x="293878" y="62992"/>
                  </a:lnTo>
                  <a:lnTo>
                    <a:pt x="0" y="62992"/>
                  </a:lnTo>
                  <a:lnTo>
                    <a:pt x="0" y="188976"/>
                  </a:lnTo>
                  <a:lnTo>
                    <a:pt x="293878" y="188976"/>
                  </a:lnTo>
                  <a:lnTo>
                    <a:pt x="293878" y="251968"/>
                  </a:lnTo>
                  <a:lnTo>
                    <a:pt x="419861" y="125984"/>
                  </a:lnTo>
                  <a:lnTo>
                    <a:pt x="293878" y="0"/>
                  </a:lnTo>
                  <a:close/>
                </a:path>
              </a:pathLst>
            </a:custGeom>
            <a:solidFill>
              <a:srgbClr val="2E2E8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1609471" y="3862959"/>
              <a:ext cx="420370" cy="252095"/>
            </a:xfrm>
            <a:custGeom>
              <a:avLst/>
              <a:gdLst/>
              <a:ahLst/>
              <a:cxnLst/>
              <a:rect l="l" t="t" r="r" b="b"/>
              <a:pathLst>
                <a:path w="420369" h="252095">
                  <a:moveTo>
                    <a:pt x="0" y="62992"/>
                  </a:moveTo>
                  <a:lnTo>
                    <a:pt x="293878" y="62992"/>
                  </a:lnTo>
                  <a:lnTo>
                    <a:pt x="293878" y="0"/>
                  </a:lnTo>
                  <a:lnTo>
                    <a:pt x="419861" y="125984"/>
                  </a:lnTo>
                  <a:lnTo>
                    <a:pt x="293878" y="251968"/>
                  </a:lnTo>
                  <a:lnTo>
                    <a:pt x="293878" y="188976"/>
                  </a:lnTo>
                  <a:lnTo>
                    <a:pt x="0" y="188976"/>
                  </a:lnTo>
                  <a:lnTo>
                    <a:pt x="0" y="62992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096691" y="5215634"/>
            <a:ext cx="6726555" cy="1642745"/>
            <a:chOff x="3096691" y="5215634"/>
            <a:chExt cx="6726555" cy="164274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36382" y="5239943"/>
              <a:ext cx="2186813" cy="145186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6691" y="5215634"/>
              <a:ext cx="4430598" cy="164236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304787" y="5568822"/>
              <a:ext cx="1776095" cy="348615"/>
            </a:xfrm>
            <a:custGeom>
              <a:avLst/>
              <a:gdLst/>
              <a:ahLst/>
              <a:cxnLst/>
              <a:rect l="l" t="t" r="r" b="b"/>
              <a:pathLst>
                <a:path w="1776095" h="348614">
                  <a:moveTo>
                    <a:pt x="1699413" y="31303"/>
                  </a:moveTo>
                  <a:lnTo>
                    <a:pt x="0" y="335508"/>
                  </a:lnTo>
                  <a:lnTo>
                    <a:pt x="2286" y="348005"/>
                  </a:lnTo>
                  <a:lnTo>
                    <a:pt x="1701654" y="43798"/>
                  </a:lnTo>
                  <a:lnTo>
                    <a:pt x="1699413" y="31303"/>
                  </a:lnTo>
                  <a:close/>
                </a:path>
                <a:path w="1776095" h="348614">
                  <a:moveTo>
                    <a:pt x="1768960" y="29057"/>
                  </a:moveTo>
                  <a:lnTo>
                    <a:pt x="1711960" y="29057"/>
                  </a:lnTo>
                  <a:lnTo>
                    <a:pt x="1714118" y="41567"/>
                  </a:lnTo>
                  <a:lnTo>
                    <a:pt x="1701654" y="43798"/>
                  </a:lnTo>
                  <a:lnTo>
                    <a:pt x="1707261" y="75056"/>
                  </a:lnTo>
                  <a:lnTo>
                    <a:pt x="1768960" y="29057"/>
                  </a:lnTo>
                  <a:close/>
                </a:path>
                <a:path w="1776095" h="348614">
                  <a:moveTo>
                    <a:pt x="1711960" y="29057"/>
                  </a:moveTo>
                  <a:lnTo>
                    <a:pt x="1699413" y="31303"/>
                  </a:lnTo>
                  <a:lnTo>
                    <a:pt x="1701654" y="43798"/>
                  </a:lnTo>
                  <a:lnTo>
                    <a:pt x="1714118" y="41567"/>
                  </a:lnTo>
                  <a:lnTo>
                    <a:pt x="1711960" y="29057"/>
                  </a:lnTo>
                  <a:close/>
                </a:path>
                <a:path w="1776095" h="348614">
                  <a:moveTo>
                    <a:pt x="1693798" y="0"/>
                  </a:moveTo>
                  <a:lnTo>
                    <a:pt x="1699413" y="31303"/>
                  </a:lnTo>
                  <a:lnTo>
                    <a:pt x="1711960" y="29057"/>
                  </a:lnTo>
                  <a:lnTo>
                    <a:pt x="1768960" y="29057"/>
                  </a:lnTo>
                  <a:lnTo>
                    <a:pt x="1775587" y="24117"/>
                  </a:lnTo>
                  <a:lnTo>
                    <a:pt x="16937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18931" y="3428905"/>
              <a:ext cx="2521585" cy="3429635"/>
            </a:xfrm>
            <a:custGeom>
              <a:avLst/>
              <a:gdLst/>
              <a:ahLst/>
              <a:cxnLst/>
              <a:rect l="l" t="t" r="r" b="b"/>
              <a:pathLst>
                <a:path w="2521584" h="3429634">
                  <a:moveTo>
                    <a:pt x="1271275" y="0"/>
                  </a:moveTo>
                  <a:lnTo>
                    <a:pt x="1021577" y="0"/>
                  </a:lnTo>
                  <a:lnTo>
                    <a:pt x="972834" y="4450"/>
                  </a:lnTo>
                  <a:lnTo>
                    <a:pt x="925995" y="10440"/>
                  </a:lnTo>
                  <a:lnTo>
                    <a:pt x="879734" y="17873"/>
                  </a:lnTo>
                  <a:lnTo>
                    <a:pt x="834035" y="26762"/>
                  </a:lnTo>
                  <a:lnTo>
                    <a:pt x="788884" y="37121"/>
                  </a:lnTo>
                  <a:lnTo>
                    <a:pt x="744267" y="48963"/>
                  </a:lnTo>
                  <a:lnTo>
                    <a:pt x="700169" y="62302"/>
                  </a:lnTo>
                  <a:lnTo>
                    <a:pt x="648701" y="80106"/>
                  </a:lnTo>
                  <a:lnTo>
                    <a:pt x="598895" y="100131"/>
                  </a:lnTo>
                  <a:lnTo>
                    <a:pt x="550762" y="122353"/>
                  </a:lnTo>
                  <a:lnTo>
                    <a:pt x="504311" y="146752"/>
                  </a:lnTo>
                  <a:lnTo>
                    <a:pt x="459552" y="173306"/>
                  </a:lnTo>
                  <a:lnTo>
                    <a:pt x="416493" y="201995"/>
                  </a:lnTo>
                  <a:lnTo>
                    <a:pt x="375146" y="232797"/>
                  </a:lnTo>
                  <a:lnTo>
                    <a:pt x="335519" y="265690"/>
                  </a:lnTo>
                  <a:lnTo>
                    <a:pt x="302017" y="296772"/>
                  </a:lnTo>
                  <a:lnTo>
                    <a:pt x="270137" y="329795"/>
                  </a:lnTo>
                  <a:lnTo>
                    <a:pt x="239857" y="364747"/>
                  </a:lnTo>
                  <a:lnTo>
                    <a:pt x="211158" y="401616"/>
                  </a:lnTo>
                  <a:lnTo>
                    <a:pt x="184018" y="440390"/>
                  </a:lnTo>
                  <a:lnTo>
                    <a:pt x="158418" y="481056"/>
                  </a:lnTo>
                  <a:lnTo>
                    <a:pt x="134336" y="523602"/>
                  </a:lnTo>
                  <a:lnTo>
                    <a:pt x="111754" y="568016"/>
                  </a:lnTo>
                  <a:lnTo>
                    <a:pt x="90649" y="614286"/>
                  </a:lnTo>
                  <a:lnTo>
                    <a:pt x="73359" y="657651"/>
                  </a:lnTo>
                  <a:lnTo>
                    <a:pt x="57910" y="702402"/>
                  </a:lnTo>
                  <a:lnTo>
                    <a:pt x="44297" y="748541"/>
                  </a:lnTo>
                  <a:lnTo>
                    <a:pt x="32515" y="796071"/>
                  </a:lnTo>
                  <a:lnTo>
                    <a:pt x="22559" y="844994"/>
                  </a:lnTo>
                  <a:lnTo>
                    <a:pt x="14425" y="895310"/>
                  </a:lnTo>
                  <a:lnTo>
                    <a:pt x="8106" y="947023"/>
                  </a:lnTo>
                  <a:lnTo>
                    <a:pt x="3599" y="1000135"/>
                  </a:lnTo>
                  <a:lnTo>
                    <a:pt x="899" y="1054647"/>
                  </a:lnTo>
                  <a:lnTo>
                    <a:pt x="0" y="1110561"/>
                  </a:lnTo>
                  <a:lnTo>
                    <a:pt x="0" y="3429091"/>
                  </a:lnTo>
                  <a:lnTo>
                    <a:pt x="830620" y="3429091"/>
                  </a:lnTo>
                  <a:lnTo>
                    <a:pt x="830619" y="992714"/>
                  </a:lnTo>
                  <a:lnTo>
                    <a:pt x="834336" y="942200"/>
                  </a:lnTo>
                  <a:lnTo>
                    <a:pt x="845371" y="895310"/>
                  </a:lnTo>
                  <a:lnTo>
                    <a:pt x="863661" y="851614"/>
                  </a:lnTo>
                  <a:lnTo>
                    <a:pt x="888996" y="811306"/>
                  </a:lnTo>
                  <a:lnTo>
                    <a:pt x="921265" y="774162"/>
                  </a:lnTo>
                  <a:lnTo>
                    <a:pt x="959688" y="741977"/>
                  </a:lnTo>
                  <a:lnTo>
                    <a:pt x="1001534" y="716999"/>
                  </a:lnTo>
                  <a:lnTo>
                    <a:pt x="1046687" y="699197"/>
                  </a:lnTo>
                  <a:lnTo>
                    <a:pt x="1095029" y="688540"/>
                  </a:lnTo>
                  <a:lnTo>
                    <a:pt x="1146443" y="684994"/>
                  </a:lnTo>
                  <a:lnTo>
                    <a:pt x="2229553" y="684994"/>
                  </a:lnTo>
                  <a:lnTo>
                    <a:pt x="2220158" y="657651"/>
                  </a:lnTo>
                  <a:lnTo>
                    <a:pt x="2203033" y="614286"/>
                  </a:lnTo>
                  <a:lnTo>
                    <a:pt x="2181982" y="568016"/>
                  </a:lnTo>
                  <a:lnTo>
                    <a:pt x="2159253" y="523602"/>
                  </a:lnTo>
                  <a:lnTo>
                    <a:pt x="2134848" y="481056"/>
                  </a:lnTo>
                  <a:lnTo>
                    <a:pt x="2108766" y="440390"/>
                  </a:lnTo>
                  <a:lnTo>
                    <a:pt x="2081007" y="401616"/>
                  </a:lnTo>
                  <a:lnTo>
                    <a:pt x="2051571" y="364747"/>
                  </a:lnTo>
                  <a:lnTo>
                    <a:pt x="2020458" y="329795"/>
                  </a:lnTo>
                  <a:lnTo>
                    <a:pt x="1987669" y="296772"/>
                  </a:lnTo>
                  <a:lnTo>
                    <a:pt x="1953203" y="265690"/>
                  </a:lnTo>
                  <a:lnTo>
                    <a:pt x="1913323" y="232797"/>
                  </a:lnTo>
                  <a:lnTo>
                    <a:pt x="1871784" y="201995"/>
                  </a:lnTo>
                  <a:lnTo>
                    <a:pt x="1828632" y="173306"/>
                  </a:lnTo>
                  <a:lnTo>
                    <a:pt x="1783913" y="146752"/>
                  </a:lnTo>
                  <a:lnTo>
                    <a:pt x="1737672" y="122353"/>
                  </a:lnTo>
                  <a:lnTo>
                    <a:pt x="1689954" y="100131"/>
                  </a:lnTo>
                  <a:lnTo>
                    <a:pt x="1640806" y="80106"/>
                  </a:lnTo>
                  <a:lnTo>
                    <a:pt x="1590272" y="62302"/>
                  </a:lnTo>
                  <a:lnTo>
                    <a:pt x="1538103" y="46475"/>
                  </a:lnTo>
                  <a:lnTo>
                    <a:pt x="1484982" y="32800"/>
                  </a:lnTo>
                  <a:lnTo>
                    <a:pt x="1430912" y="21253"/>
                  </a:lnTo>
                  <a:lnTo>
                    <a:pt x="1375896" y="11811"/>
                  </a:lnTo>
                  <a:lnTo>
                    <a:pt x="1319936" y="4450"/>
                  </a:lnTo>
                  <a:lnTo>
                    <a:pt x="1271275" y="0"/>
                  </a:lnTo>
                  <a:close/>
                </a:path>
                <a:path w="2521584" h="3429634">
                  <a:moveTo>
                    <a:pt x="2229553" y="684994"/>
                  </a:moveTo>
                  <a:lnTo>
                    <a:pt x="1146443" y="684994"/>
                  </a:lnTo>
                  <a:lnTo>
                    <a:pt x="1195938" y="688540"/>
                  </a:lnTo>
                  <a:lnTo>
                    <a:pt x="1242932" y="699197"/>
                  </a:lnTo>
                  <a:lnTo>
                    <a:pt x="1287289" y="716999"/>
                  </a:lnTo>
                  <a:lnTo>
                    <a:pt x="1328870" y="741977"/>
                  </a:lnTo>
                  <a:lnTo>
                    <a:pt x="1367539" y="774162"/>
                  </a:lnTo>
                  <a:lnTo>
                    <a:pt x="1401808" y="811306"/>
                  </a:lnTo>
                  <a:lnTo>
                    <a:pt x="1428356" y="851614"/>
                  </a:lnTo>
                  <a:lnTo>
                    <a:pt x="1447270" y="895310"/>
                  </a:lnTo>
                  <a:lnTo>
                    <a:pt x="1458534" y="942200"/>
                  </a:lnTo>
                  <a:lnTo>
                    <a:pt x="1462283" y="992714"/>
                  </a:lnTo>
                  <a:lnTo>
                    <a:pt x="1462284" y="2031957"/>
                  </a:lnTo>
                  <a:lnTo>
                    <a:pt x="1463260" y="2090343"/>
                  </a:lnTo>
                  <a:lnTo>
                    <a:pt x="1466187" y="2147259"/>
                  </a:lnTo>
                  <a:lnTo>
                    <a:pt x="1470957" y="2201464"/>
                  </a:lnTo>
                  <a:lnTo>
                    <a:pt x="1471066" y="2202702"/>
                  </a:lnTo>
                  <a:lnTo>
                    <a:pt x="1477896" y="2256671"/>
                  </a:lnTo>
                  <a:lnTo>
                    <a:pt x="1486676" y="2309166"/>
                  </a:lnTo>
                  <a:lnTo>
                    <a:pt x="1497405" y="2360185"/>
                  </a:lnTo>
                  <a:lnTo>
                    <a:pt x="1510084" y="2409726"/>
                  </a:lnTo>
                  <a:lnTo>
                    <a:pt x="1524711" y="2457789"/>
                  </a:lnTo>
                  <a:lnTo>
                    <a:pt x="1541287" y="2504372"/>
                  </a:lnTo>
                  <a:lnTo>
                    <a:pt x="1559811" y="2549474"/>
                  </a:lnTo>
                  <a:lnTo>
                    <a:pt x="1580281" y="2593094"/>
                  </a:lnTo>
                  <a:lnTo>
                    <a:pt x="1602699" y="2635230"/>
                  </a:lnTo>
                  <a:lnTo>
                    <a:pt x="1627062" y="2675881"/>
                  </a:lnTo>
                  <a:lnTo>
                    <a:pt x="1653372" y="2715046"/>
                  </a:lnTo>
                  <a:lnTo>
                    <a:pt x="1681627" y="2752724"/>
                  </a:lnTo>
                  <a:lnTo>
                    <a:pt x="1711826" y="2788912"/>
                  </a:lnTo>
                  <a:lnTo>
                    <a:pt x="1743970" y="2823611"/>
                  </a:lnTo>
                  <a:lnTo>
                    <a:pt x="1778058" y="2856818"/>
                  </a:lnTo>
                  <a:lnTo>
                    <a:pt x="1813684" y="2888383"/>
                  </a:lnTo>
                  <a:lnTo>
                    <a:pt x="1850557" y="2918158"/>
                  </a:lnTo>
                  <a:lnTo>
                    <a:pt x="1888679" y="2946141"/>
                  </a:lnTo>
                  <a:lnTo>
                    <a:pt x="1928048" y="2972331"/>
                  </a:lnTo>
                  <a:lnTo>
                    <a:pt x="1968664" y="2996727"/>
                  </a:lnTo>
                  <a:lnTo>
                    <a:pt x="2010527" y="3019325"/>
                  </a:lnTo>
                  <a:lnTo>
                    <a:pt x="2053636" y="3040126"/>
                  </a:lnTo>
                  <a:lnTo>
                    <a:pt x="2097991" y="3059127"/>
                  </a:lnTo>
                  <a:lnTo>
                    <a:pt x="2143592" y="3076327"/>
                  </a:lnTo>
                  <a:lnTo>
                    <a:pt x="2190438" y="3091723"/>
                  </a:lnTo>
                  <a:lnTo>
                    <a:pt x="2238529" y="3105314"/>
                  </a:lnTo>
                  <a:lnTo>
                    <a:pt x="2287865" y="3117098"/>
                  </a:lnTo>
                  <a:lnTo>
                    <a:pt x="2338445" y="3127074"/>
                  </a:lnTo>
                  <a:lnTo>
                    <a:pt x="2390269" y="3135241"/>
                  </a:lnTo>
                  <a:lnTo>
                    <a:pt x="2443337" y="3141595"/>
                  </a:lnTo>
                  <a:lnTo>
                    <a:pt x="2497649" y="3146136"/>
                  </a:lnTo>
                  <a:lnTo>
                    <a:pt x="2521435" y="3147303"/>
                  </a:lnTo>
                  <a:lnTo>
                    <a:pt x="2521435" y="2445475"/>
                  </a:lnTo>
                  <a:lnTo>
                    <a:pt x="2512946" y="2443595"/>
                  </a:lnTo>
                  <a:lnTo>
                    <a:pt x="2468702" y="2426099"/>
                  </a:lnTo>
                  <a:lnTo>
                    <a:pt x="2427219" y="2401437"/>
                  </a:lnTo>
                  <a:lnTo>
                    <a:pt x="2388424" y="2369510"/>
                  </a:lnTo>
                  <a:lnTo>
                    <a:pt x="2354374" y="2332210"/>
                  </a:lnTo>
                  <a:lnTo>
                    <a:pt x="2327946" y="2291887"/>
                  </a:lnTo>
                  <a:lnTo>
                    <a:pt x="2309108" y="2248365"/>
                  </a:lnTo>
                  <a:lnTo>
                    <a:pt x="2297829" y="2201464"/>
                  </a:lnTo>
                  <a:lnTo>
                    <a:pt x="2294076" y="2151007"/>
                  </a:lnTo>
                  <a:lnTo>
                    <a:pt x="2294076" y="1110561"/>
                  </a:lnTo>
                  <a:lnTo>
                    <a:pt x="2293146" y="1054647"/>
                  </a:lnTo>
                  <a:lnTo>
                    <a:pt x="2290366" y="1000135"/>
                  </a:lnTo>
                  <a:lnTo>
                    <a:pt x="2285747" y="947023"/>
                  </a:lnTo>
                  <a:lnTo>
                    <a:pt x="2279303" y="895310"/>
                  </a:lnTo>
                  <a:lnTo>
                    <a:pt x="2271047" y="844994"/>
                  </a:lnTo>
                  <a:lnTo>
                    <a:pt x="2260991" y="796071"/>
                  </a:lnTo>
                  <a:lnTo>
                    <a:pt x="2249149" y="748541"/>
                  </a:lnTo>
                  <a:lnTo>
                    <a:pt x="2235534" y="702402"/>
                  </a:lnTo>
                  <a:lnTo>
                    <a:pt x="2229553" y="684994"/>
                  </a:lnTo>
                  <a:close/>
                </a:path>
              </a:pathLst>
            </a:custGeom>
            <a:solidFill>
              <a:srgbClr val="2841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50675" y="913481"/>
              <a:ext cx="4896485" cy="4895850"/>
            </a:xfrm>
            <a:custGeom>
              <a:avLst/>
              <a:gdLst/>
              <a:ahLst/>
              <a:cxnLst/>
              <a:rect l="l" t="t" r="r" b="b"/>
              <a:pathLst>
                <a:path w="4896484" h="4895850">
                  <a:moveTo>
                    <a:pt x="4896480" y="2447288"/>
                  </a:moveTo>
                  <a:lnTo>
                    <a:pt x="4896480" y="2447288"/>
                  </a:lnTo>
                  <a:lnTo>
                    <a:pt x="4896480" y="2460636"/>
                  </a:lnTo>
                </a:path>
                <a:path w="4896484" h="4895850">
                  <a:moveTo>
                    <a:pt x="4894573" y="2523563"/>
                  </a:moveTo>
                  <a:lnTo>
                    <a:pt x="4894573" y="2523563"/>
                  </a:lnTo>
                  <a:lnTo>
                    <a:pt x="4894573" y="2536911"/>
                  </a:lnTo>
                </a:path>
                <a:path w="4896484" h="4895850">
                  <a:moveTo>
                    <a:pt x="4890759" y="2599838"/>
                  </a:moveTo>
                  <a:lnTo>
                    <a:pt x="4890759" y="2599838"/>
                  </a:lnTo>
                  <a:lnTo>
                    <a:pt x="4889742" y="2613186"/>
                  </a:lnTo>
                </a:path>
                <a:path w="4896484" h="4895850">
                  <a:moveTo>
                    <a:pt x="4885928" y="2676240"/>
                  </a:moveTo>
                  <a:lnTo>
                    <a:pt x="4885928" y="2677130"/>
                  </a:lnTo>
                  <a:lnTo>
                    <a:pt x="4884022" y="2688571"/>
                  </a:lnTo>
                </a:path>
                <a:path w="4896484" h="4895850">
                  <a:moveTo>
                    <a:pt x="4877411" y="2752515"/>
                  </a:moveTo>
                  <a:lnTo>
                    <a:pt x="4877411" y="2752515"/>
                  </a:lnTo>
                  <a:lnTo>
                    <a:pt x="4875504" y="2764847"/>
                  </a:lnTo>
                </a:path>
                <a:path w="4896484" h="4895850">
                  <a:moveTo>
                    <a:pt x="4866860" y="2827901"/>
                  </a:moveTo>
                  <a:lnTo>
                    <a:pt x="4866860" y="2827901"/>
                  </a:lnTo>
                  <a:lnTo>
                    <a:pt x="4864063" y="2840232"/>
                  </a:lnTo>
                </a:path>
                <a:path w="4896484" h="4895850">
                  <a:moveTo>
                    <a:pt x="4853512" y="2903159"/>
                  </a:moveTo>
                  <a:lnTo>
                    <a:pt x="4853512" y="2903159"/>
                  </a:lnTo>
                  <a:lnTo>
                    <a:pt x="4851605" y="2915617"/>
                  </a:lnTo>
                </a:path>
                <a:path w="4896484" h="4895850">
                  <a:moveTo>
                    <a:pt x="4838256" y="2977527"/>
                  </a:moveTo>
                  <a:lnTo>
                    <a:pt x="4838256" y="2977527"/>
                  </a:lnTo>
                  <a:lnTo>
                    <a:pt x="4835460" y="2989985"/>
                  </a:lnTo>
                </a:path>
                <a:path w="4896484" h="4895850">
                  <a:moveTo>
                    <a:pt x="4820205" y="3052023"/>
                  </a:moveTo>
                  <a:lnTo>
                    <a:pt x="4820205" y="3052023"/>
                  </a:lnTo>
                  <a:lnTo>
                    <a:pt x="4817281" y="3064354"/>
                  </a:lnTo>
                </a:path>
                <a:path w="4896484" h="4895850">
                  <a:moveTo>
                    <a:pt x="4801136" y="3126391"/>
                  </a:moveTo>
                  <a:lnTo>
                    <a:pt x="4801136" y="3126391"/>
                  </a:lnTo>
                  <a:lnTo>
                    <a:pt x="4797322" y="3137832"/>
                  </a:lnTo>
                </a:path>
                <a:path w="4896484" h="4895850">
                  <a:moveTo>
                    <a:pt x="4778253" y="3198852"/>
                  </a:moveTo>
                  <a:lnTo>
                    <a:pt x="4778253" y="3198852"/>
                  </a:lnTo>
                  <a:lnTo>
                    <a:pt x="4774440" y="3211183"/>
                  </a:lnTo>
                </a:path>
                <a:path w="4896484" h="4895850">
                  <a:moveTo>
                    <a:pt x="4753464" y="3271314"/>
                  </a:moveTo>
                  <a:lnTo>
                    <a:pt x="4753464" y="3271314"/>
                  </a:lnTo>
                  <a:lnTo>
                    <a:pt x="4749650" y="3282755"/>
                  </a:lnTo>
                </a:path>
                <a:path w="4896484" h="4895850">
                  <a:moveTo>
                    <a:pt x="4727658" y="3342885"/>
                  </a:moveTo>
                  <a:lnTo>
                    <a:pt x="4727658" y="3342885"/>
                  </a:lnTo>
                  <a:lnTo>
                    <a:pt x="4721937" y="3354326"/>
                  </a:lnTo>
                </a:path>
                <a:path w="4896484" h="4895850">
                  <a:moveTo>
                    <a:pt x="4698165" y="3413440"/>
                  </a:moveTo>
                  <a:lnTo>
                    <a:pt x="4698165" y="3413440"/>
                  </a:lnTo>
                  <a:lnTo>
                    <a:pt x="4693334" y="3424881"/>
                  </a:lnTo>
                </a:path>
                <a:path w="4896484" h="4895850">
                  <a:moveTo>
                    <a:pt x="4666637" y="3483104"/>
                  </a:moveTo>
                  <a:lnTo>
                    <a:pt x="4666637" y="3483104"/>
                  </a:lnTo>
                  <a:lnTo>
                    <a:pt x="4661807" y="3494546"/>
                  </a:lnTo>
                </a:path>
                <a:path w="4896484" h="4895850">
                  <a:moveTo>
                    <a:pt x="4633204" y="3551752"/>
                  </a:moveTo>
                  <a:lnTo>
                    <a:pt x="4633204" y="3551752"/>
                  </a:lnTo>
                  <a:lnTo>
                    <a:pt x="4627483" y="3563193"/>
                  </a:lnTo>
                </a:path>
                <a:path w="4896484" h="4895850">
                  <a:moveTo>
                    <a:pt x="4597990" y="3619383"/>
                  </a:moveTo>
                  <a:lnTo>
                    <a:pt x="4597990" y="3620400"/>
                  </a:lnTo>
                  <a:lnTo>
                    <a:pt x="4592269" y="3630824"/>
                  </a:lnTo>
                </a:path>
                <a:path w="4896484" h="4895850">
                  <a:moveTo>
                    <a:pt x="4559852" y="3685246"/>
                  </a:moveTo>
                  <a:lnTo>
                    <a:pt x="4559852" y="3685246"/>
                  </a:lnTo>
                  <a:lnTo>
                    <a:pt x="4554132" y="3696687"/>
                  </a:lnTo>
                </a:path>
                <a:path w="4896484" h="4895850">
                  <a:moveTo>
                    <a:pt x="4520698" y="3751059"/>
                  </a:moveTo>
                  <a:lnTo>
                    <a:pt x="4520698" y="3751059"/>
                  </a:lnTo>
                  <a:lnTo>
                    <a:pt x="4514087" y="3761547"/>
                  </a:lnTo>
                </a:path>
                <a:path w="4896484" h="4895850">
                  <a:moveTo>
                    <a:pt x="4478746" y="3814952"/>
                  </a:moveTo>
                  <a:lnTo>
                    <a:pt x="4478746" y="3814952"/>
                  </a:lnTo>
                  <a:lnTo>
                    <a:pt x="4472009" y="3825453"/>
                  </a:lnTo>
                </a:path>
                <a:path w="4896484" h="4895850">
                  <a:moveTo>
                    <a:pt x="4434888" y="3877904"/>
                  </a:moveTo>
                  <a:lnTo>
                    <a:pt x="4434888" y="3877904"/>
                  </a:lnTo>
                  <a:lnTo>
                    <a:pt x="4428151" y="3887439"/>
                  </a:lnTo>
                </a:path>
                <a:path w="4896484" h="4895850">
                  <a:moveTo>
                    <a:pt x="4389123" y="3938937"/>
                  </a:moveTo>
                  <a:lnTo>
                    <a:pt x="4389123" y="3938937"/>
                  </a:lnTo>
                  <a:lnTo>
                    <a:pt x="4381496" y="3948484"/>
                  </a:lnTo>
                </a:path>
                <a:path w="4896484" h="4895850">
                  <a:moveTo>
                    <a:pt x="4342341" y="3998076"/>
                  </a:moveTo>
                  <a:lnTo>
                    <a:pt x="4342341" y="3998076"/>
                  </a:lnTo>
                  <a:lnTo>
                    <a:pt x="4333824" y="4008564"/>
                  </a:lnTo>
                </a:path>
                <a:path w="4896484" h="4895850">
                  <a:moveTo>
                    <a:pt x="4292762" y="4057202"/>
                  </a:moveTo>
                  <a:lnTo>
                    <a:pt x="4288948" y="4061016"/>
                  </a:lnTo>
                  <a:lnTo>
                    <a:pt x="4284245" y="4066736"/>
                  </a:lnTo>
                </a:path>
                <a:path w="4896484" h="4895850">
                  <a:moveTo>
                    <a:pt x="4241276" y="4113480"/>
                  </a:moveTo>
                  <a:lnTo>
                    <a:pt x="4241276" y="4113480"/>
                  </a:lnTo>
                  <a:lnTo>
                    <a:pt x="4232632" y="4123015"/>
                  </a:lnTo>
                </a:path>
                <a:path w="4896484" h="4895850">
                  <a:moveTo>
                    <a:pt x="4188774" y="4168792"/>
                  </a:moveTo>
                  <a:lnTo>
                    <a:pt x="4188774" y="4168792"/>
                  </a:lnTo>
                  <a:lnTo>
                    <a:pt x="4180256" y="4177373"/>
                  </a:lnTo>
                </a:path>
                <a:path w="4896484" h="4895850">
                  <a:moveTo>
                    <a:pt x="4134491" y="4222198"/>
                  </a:moveTo>
                  <a:lnTo>
                    <a:pt x="4134491" y="4222198"/>
                  </a:lnTo>
                  <a:lnTo>
                    <a:pt x="4124957" y="4230779"/>
                  </a:lnTo>
                </a:path>
                <a:path w="4896484" h="4895850">
                  <a:moveTo>
                    <a:pt x="4078175" y="4273696"/>
                  </a:moveTo>
                  <a:lnTo>
                    <a:pt x="4078175" y="4273696"/>
                  </a:lnTo>
                  <a:lnTo>
                    <a:pt x="4068640" y="4282290"/>
                  </a:lnTo>
                </a:path>
                <a:path w="4896484" h="4895850">
                  <a:moveTo>
                    <a:pt x="4019951" y="4323300"/>
                  </a:moveTo>
                  <a:lnTo>
                    <a:pt x="4019951" y="4323300"/>
                  </a:lnTo>
                  <a:lnTo>
                    <a:pt x="4010417" y="4331881"/>
                  </a:lnTo>
                </a:path>
                <a:path w="4896484" h="4895850">
                  <a:moveTo>
                    <a:pt x="3960838" y="4371939"/>
                  </a:moveTo>
                  <a:lnTo>
                    <a:pt x="3960838" y="4371939"/>
                  </a:lnTo>
                  <a:lnTo>
                    <a:pt x="3951304" y="4379566"/>
                  </a:lnTo>
                </a:path>
                <a:path w="4896484" h="4895850">
                  <a:moveTo>
                    <a:pt x="3900835" y="4418670"/>
                  </a:moveTo>
                  <a:lnTo>
                    <a:pt x="3894097" y="4423437"/>
                  </a:lnTo>
                  <a:lnTo>
                    <a:pt x="3890284" y="4426297"/>
                  </a:lnTo>
                </a:path>
                <a:path w="4896484" h="4895850">
                  <a:moveTo>
                    <a:pt x="3838798" y="4462541"/>
                  </a:moveTo>
                  <a:lnTo>
                    <a:pt x="3838798" y="4462541"/>
                  </a:lnTo>
                  <a:lnTo>
                    <a:pt x="3828246" y="4470168"/>
                  </a:lnTo>
                </a:path>
                <a:path w="4896484" h="4895850">
                  <a:moveTo>
                    <a:pt x="3774854" y="4505458"/>
                  </a:moveTo>
                  <a:lnTo>
                    <a:pt x="3774854" y="4505458"/>
                  </a:lnTo>
                  <a:lnTo>
                    <a:pt x="3764430" y="4512132"/>
                  </a:lnTo>
                </a:path>
                <a:path w="4896484" h="4895850">
                  <a:moveTo>
                    <a:pt x="3710020" y="4545515"/>
                  </a:moveTo>
                  <a:lnTo>
                    <a:pt x="3710020" y="4545515"/>
                  </a:lnTo>
                  <a:lnTo>
                    <a:pt x="3699596" y="4552189"/>
                  </a:lnTo>
                </a:path>
                <a:path w="4896484" h="4895850">
                  <a:moveTo>
                    <a:pt x="3644169" y="4583666"/>
                  </a:moveTo>
                  <a:lnTo>
                    <a:pt x="3644169" y="4583666"/>
                  </a:lnTo>
                  <a:lnTo>
                    <a:pt x="3632728" y="4590340"/>
                  </a:lnTo>
                </a:path>
                <a:path w="4896484" h="4895850">
                  <a:moveTo>
                    <a:pt x="3576539" y="4619909"/>
                  </a:moveTo>
                  <a:lnTo>
                    <a:pt x="3576539" y="4619909"/>
                  </a:lnTo>
                  <a:lnTo>
                    <a:pt x="3565987" y="4625630"/>
                  </a:lnTo>
                </a:path>
                <a:path w="4896484" h="4895850">
                  <a:moveTo>
                    <a:pt x="3508781" y="4654246"/>
                  </a:moveTo>
                  <a:lnTo>
                    <a:pt x="3508781" y="4654246"/>
                  </a:lnTo>
                  <a:lnTo>
                    <a:pt x="3497339" y="4659966"/>
                  </a:lnTo>
                </a:path>
                <a:path w="4896484" h="4895850">
                  <a:moveTo>
                    <a:pt x="3439116" y="4686675"/>
                  </a:moveTo>
                  <a:lnTo>
                    <a:pt x="3439116" y="4686675"/>
                  </a:lnTo>
                  <a:lnTo>
                    <a:pt x="3427675" y="4692396"/>
                  </a:lnTo>
                </a:path>
                <a:path w="4896484" h="4895850">
                  <a:moveTo>
                    <a:pt x="3369579" y="4716232"/>
                  </a:moveTo>
                  <a:lnTo>
                    <a:pt x="3369579" y="4716232"/>
                  </a:lnTo>
                  <a:lnTo>
                    <a:pt x="3357120" y="4720999"/>
                  </a:lnTo>
                </a:path>
                <a:path w="4896484" h="4895850">
                  <a:moveTo>
                    <a:pt x="3298007" y="4743894"/>
                  </a:moveTo>
                  <a:lnTo>
                    <a:pt x="3298007" y="4743894"/>
                  </a:lnTo>
                  <a:lnTo>
                    <a:pt x="3285676" y="4748662"/>
                  </a:lnTo>
                </a:path>
                <a:path w="4896484" h="4895850">
                  <a:moveTo>
                    <a:pt x="3226436" y="4769650"/>
                  </a:moveTo>
                  <a:lnTo>
                    <a:pt x="3221732" y="4771557"/>
                  </a:lnTo>
                  <a:lnTo>
                    <a:pt x="3214104" y="4773464"/>
                  </a:lnTo>
                </a:path>
                <a:path w="4896484" h="4895850">
                  <a:moveTo>
                    <a:pt x="3153084" y="4792534"/>
                  </a:moveTo>
                  <a:lnTo>
                    <a:pt x="3153084" y="4792534"/>
                  </a:lnTo>
                  <a:lnTo>
                    <a:pt x="3140626" y="4796350"/>
                  </a:lnTo>
                </a:path>
                <a:path w="4896484" h="4895850">
                  <a:moveTo>
                    <a:pt x="3079606" y="4813517"/>
                  </a:moveTo>
                  <a:lnTo>
                    <a:pt x="3079606" y="4813517"/>
                  </a:lnTo>
                  <a:lnTo>
                    <a:pt x="3067275" y="4816377"/>
                  </a:lnTo>
                </a:path>
                <a:path w="4896484" h="4895850">
                  <a:moveTo>
                    <a:pt x="3006128" y="4831637"/>
                  </a:moveTo>
                  <a:lnTo>
                    <a:pt x="3006128" y="4831637"/>
                  </a:lnTo>
                  <a:lnTo>
                    <a:pt x="2993796" y="4834499"/>
                  </a:lnTo>
                </a:path>
                <a:path w="4896484" h="4895850">
                  <a:moveTo>
                    <a:pt x="2930869" y="4847851"/>
                  </a:moveTo>
                  <a:lnTo>
                    <a:pt x="2930869" y="4847851"/>
                  </a:lnTo>
                  <a:lnTo>
                    <a:pt x="2918411" y="4850713"/>
                  </a:lnTo>
                </a:path>
                <a:path w="4896484" h="4895850">
                  <a:moveTo>
                    <a:pt x="2855484" y="4861203"/>
                  </a:moveTo>
                  <a:lnTo>
                    <a:pt x="2855484" y="4861203"/>
                  </a:lnTo>
                  <a:lnTo>
                    <a:pt x="2843026" y="4864065"/>
                  </a:lnTo>
                </a:path>
                <a:path w="4896484" h="4895850">
                  <a:moveTo>
                    <a:pt x="2780099" y="4873603"/>
                  </a:moveTo>
                  <a:lnTo>
                    <a:pt x="2780099" y="4873603"/>
                  </a:lnTo>
                  <a:lnTo>
                    <a:pt x="2767768" y="4874556"/>
                  </a:lnTo>
                </a:path>
                <a:path w="4896484" h="4895850">
                  <a:moveTo>
                    <a:pt x="2704841" y="4882186"/>
                  </a:moveTo>
                  <a:lnTo>
                    <a:pt x="2704841" y="4882186"/>
                  </a:lnTo>
                  <a:lnTo>
                    <a:pt x="2692382" y="4884093"/>
                  </a:lnTo>
                </a:path>
                <a:path w="4896484" h="4895850">
                  <a:moveTo>
                    <a:pt x="2628438" y="4888862"/>
                  </a:moveTo>
                  <a:lnTo>
                    <a:pt x="2628438" y="4888862"/>
                  </a:lnTo>
                  <a:lnTo>
                    <a:pt x="2616107" y="4889815"/>
                  </a:lnTo>
                </a:path>
                <a:path w="4896484" h="4895850">
                  <a:moveTo>
                    <a:pt x="2552163" y="4893630"/>
                  </a:moveTo>
                  <a:lnTo>
                    <a:pt x="2552163" y="4893630"/>
                  </a:lnTo>
                  <a:lnTo>
                    <a:pt x="2539832" y="4893630"/>
                  </a:lnTo>
                </a:path>
                <a:path w="4896484" h="4895850">
                  <a:moveTo>
                    <a:pt x="2475888" y="4895538"/>
                  </a:moveTo>
                  <a:lnTo>
                    <a:pt x="2475888" y="4895538"/>
                  </a:lnTo>
                  <a:lnTo>
                    <a:pt x="2463557" y="4895538"/>
                  </a:lnTo>
                </a:path>
                <a:path w="4896484" h="4895850">
                  <a:moveTo>
                    <a:pt x="2399613" y="4894583"/>
                  </a:moveTo>
                  <a:lnTo>
                    <a:pt x="2399613" y="4894583"/>
                  </a:lnTo>
                  <a:lnTo>
                    <a:pt x="2387155" y="4894583"/>
                  </a:lnTo>
                </a:path>
                <a:path w="4896484" h="4895850">
                  <a:moveTo>
                    <a:pt x="2323338" y="4892677"/>
                  </a:moveTo>
                  <a:lnTo>
                    <a:pt x="2323338" y="4892677"/>
                  </a:lnTo>
                  <a:lnTo>
                    <a:pt x="2310880" y="4891723"/>
                  </a:lnTo>
                </a:path>
                <a:path w="4896484" h="4895850">
                  <a:moveTo>
                    <a:pt x="2247063" y="4886955"/>
                  </a:moveTo>
                  <a:lnTo>
                    <a:pt x="2247063" y="4886955"/>
                  </a:lnTo>
                  <a:lnTo>
                    <a:pt x="2234604" y="4886955"/>
                  </a:lnTo>
                </a:path>
                <a:path w="4896484" h="4895850">
                  <a:moveTo>
                    <a:pt x="2171677" y="4880278"/>
                  </a:moveTo>
                  <a:lnTo>
                    <a:pt x="2171677" y="4880278"/>
                  </a:lnTo>
                  <a:lnTo>
                    <a:pt x="2158329" y="4878371"/>
                  </a:lnTo>
                </a:path>
                <a:path w="4896484" h="4895850">
                  <a:moveTo>
                    <a:pt x="2095402" y="4870741"/>
                  </a:moveTo>
                  <a:lnTo>
                    <a:pt x="2095402" y="4870741"/>
                  </a:lnTo>
                  <a:lnTo>
                    <a:pt x="2082944" y="4868834"/>
                  </a:lnTo>
                </a:path>
                <a:path w="4896484" h="4895850">
                  <a:moveTo>
                    <a:pt x="2020017" y="4858343"/>
                  </a:moveTo>
                  <a:lnTo>
                    <a:pt x="2020017" y="4858343"/>
                  </a:lnTo>
                  <a:lnTo>
                    <a:pt x="2007559" y="4856434"/>
                  </a:lnTo>
                </a:path>
                <a:path w="4896484" h="4895850">
                  <a:moveTo>
                    <a:pt x="1945649" y="4844036"/>
                  </a:moveTo>
                  <a:lnTo>
                    <a:pt x="1945649" y="4844036"/>
                  </a:lnTo>
                  <a:lnTo>
                    <a:pt x="1932301" y="4841174"/>
                  </a:lnTo>
                </a:path>
                <a:path w="4896484" h="4895850">
                  <a:moveTo>
                    <a:pt x="1870263" y="4826869"/>
                  </a:moveTo>
                  <a:lnTo>
                    <a:pt x="1870263" y="4826869"/>
                  </a:lnTo>
                  <a:lnTo>
                    <a:pt x="1857932" y="4824007"/>
                  </a:lnTo>
                </a:path>
                <a:path w="4896484" h="4895850">
                  <a:moveTo>
                    <a:pt x="1796785" y="4807794"/>
                  </a:moveTo>
                  <a:lnTo>
                    <a:pt x="1796785" y="4807794"/>
                  </a:lnTo>
                  <a:lnTo>
                    <a:pt x="1784454" y="4804933"/>
                  </a:lnTo>
                </a:path>
                <a:path w="4896484" h="4895850">
                  <a:moveTo>
                    <a:pt x="1723434" y="4786812"/>
                  </a:moveTo>
                  <a:lnTo>
                    <a:pt x="1723434" y="4786812"/>
                  </a:lnTo>
                  <a:lnTo>
                    <a:pt x="1710975" y="4782998"/>
                  </a:lnTo>
                </a:path>
                <a:path w="4896484" h="4895850">
                  <a:moveTo>
                    <a:pt x="1650972" y="4762963"/>
                  </a:moveTo>
                  <a:lnTo>
                    <a:pt x="1650972" y="4762963"/>
                  </a:lnTo>
                  <a:lnTo>
                    <a:pt x="1638514" y="4758196"/>
                  </a:lnTo>
                </a:path>
                <a:path w="4896484" h="4895850">
                  <a:moveTo>
                    <a:pt x="1579401" y="4737220"/>
                  </a:moveTo>
                  <a:lnTo>
                    <a:pt x="1570756" y="4734360"/>
                  </a:lnTo>
                  <a:lnTo>
                    <a:pt x="1566943" y="4732453"/>
                  </a:lnTo>
                </a:path>
                <a:path w="4896484" h="4895850">
                  <a:moveTo>
                    <a:pt x="1507829" y="4708604"/>
                  </a:moveTo>
                  <a:lnTo>
                    <a:pt x="1507829" y="4708604"/>
                  </a:lnTo>
                  <a:lnTo>
                    <a:pt x="1496388" y="4703837"/>
                  </a:lnTo>
                </a:path>
                <a:path w="4896484" h="4895850">
                  <a:moveTo>
                    <a:pt x="1438292" y="4678082"/>
                  </a:moveTo>
                  <a:lnTo>
                    <a:pt x="1438292" y="4678082"/>
                  </a:lnTo>
                  <a:lnTo>
                    <a:pt x="1426851" y="4672361"/>
                  </a:lnTo>
                </a:path>
                <a:path w="4896484" h="4895850">
                  <a:moveTo>
                    <a:pt x="1368627" y="4645665"/>
                  </a:moveTo>
                  <a:lnTo>
                    <a:pt x="1368627" y="4645665"/>
                  </a:lnTo>
                  <a:lnTo>
                    <a:pt x="1357186" y="4639931"/>
                  </a:lnTo>
                </a:path>
                <a:path w="4896484" h="4895850">
                  <a:moveTo>
                    <a:pt x="1300869" y="4610375"/>
                  </a:moveTo>
                  <a:lnTo>
                    <a:pt x="1300869" y="4610375"/>
                  </a:lnTo>
                  <a:lnTo>
                    <a:pt x="1289428" y="4604654"/>
                  </a:lnTo>
                </a:path>
                <a:path w="4896484" h="4895850">
                  <a:moveTo>
                    <a:pt x="1234129" y="4574131"/>
                  </a:moveTo>
                  <a:lnTo>
                    <a:pt x="1234129" y="4574131"/>
                  </a:lnTo>
                  <a:lnTo>
                    <a:pt x="1223641" y="4567457"/>
                  </a:lnTo>
                </a:path>
                <a:path w="4896484" h="4895850">
                  <a:moveTo>
                    <a:pt x="1168329" y="4535027"/>
                  </a:moveTo>
                  <a:lnTo>
                    <a:pt x="1168329" y="4535027"/>
                  </a:lnTo>
                  <a:lnTo>
                    <a:pt x="1157841" y="4528353"/>
                  </a:lnTo>
                </a:path>
                <a:path w="4896484" h="4895850">
                  <a:moveTo>
                    <a:pt x="1104423" y="4494017"/>
                  </a:moveTo>
                  <a:lnTo>
                    <a:pt x="1104423" y="4494017"/>
                  </a:lnTo>
                  <a:lnTo>
                    <a:pt x="1092981" y="4487343"/>
                  </a:lnTo>
                </a:path>
                <a:path w="4896484" h="4895850">
                  <a:moveTo>
                    <a:pt x="1041483" y="4451099"/>
                  </a:moveTo>
                  <a:lnTo>
                    <a:pt x="1041483" y="4451099"/>
                  </a:lnTo>
                  <a:lnTo>
                    <a:pt x="1030982" y="4443472"/>
                  </a:lnTo>
                </a:path>
                <a:path w="4896484" h="4895850">
                  <a:moveTo>
                    <a:pt x="979484" y="4406275"/>
                  </a:moveTo>
                  <a:lnTo>
                    <a:pt x="979484" y="4406275"/>
                  </a:lnTo>
                  <a:lnTo>
                    <a:pt x="968996" y="4398648"/>
                  </a:lnTo>
                </a:path>
                <a:path w="4896484" h="4895850">
                  <a:moveTo>
                    <a:pt x="918451" y="4359544"/>
                  </a:moveTo>
                  <a:lnTo>
                    <a:pt x="916544" y="4358590"/>
                  </a:lnTo>
                  <a:lnTo>
                    <a:pt x="908904" y="4351904"/>
                  </a:lnTo>
                </a:path>
                <a:path w="4896484" h="4895850">
                  <a:moveTo>
                    <a:pt x="860266" y="4310893"/>
                  </a:moveTo>
                  <a:lnTo>
                    <a:pt x="860266" y="4310893"/>
                  </a:lnTo>
                  <a:lnTo>
                    <a:pt x="850732" y="4302312"/>
                  </a:lnTo>
                </a:path>
                <a:path w="4896484" h="4895850">
                  <a:moveTo>
                    <a:pt x="803047" y="4260348"/>
                  </a:moveTo>
                  <a:lnTo>
                    <a:pt x="803047" y="4260348"/>
                  </a:lnTo>
                  <a:lnTo>
                    <a:pt x="793513" y="4251767"/>
                  </a:lnTo>
                </a:path>
                <a:path w="4896484" h="4895850">
                  <a:moveTo>
                    <a:pt x="746769" y="4207896"/>
                  </a:moveTo>
                  <a:lnTo>
                    <a:pt x="746769" y="4207896"/>
                  </a:lnTo>
                  <a:lnTo>
                    <a:pt x="738188" y="4199315"/>
                  </a:lnTo>
                </a:path>
                <a:path w="4896484" h="4895850">
                  <a:moveTo>
                    <a:pt x="692410" y="4154491"/>
                  </a:moveTo>
                  <a:lnTo>
                    <a:pt x="692410" y="4154491"/>
                  </a:lnTo>
                  <a:lnTo>
                    <a:pt x="683829" y="4144944"/>
                  </a:lnTo>
                </a:path>
                <a:path w="4896484" h="4895850">
                  <a:moveTo>
                    <a:pt x="640911" y="4098212"/>
                  </a:moveTo>
                  <a:lnTo>
                    <a:pt x="640911" y="4098212"/>
                  </a:lnTo>
                  <a:lnTo>
                    <a:pt x="632330" y="4089631"/>
                  </a:lnTo>
                </a:path>
                <a:path w="4896484" h="4895850">
                  <a:moveTo>
                    <a:pt x="590366" y="4041947"/>
                  </a:moveTo>
                  <a:lnTo>
                    <a:pt x="590366" y="4041947"/>
                  </a:lnTo>
                  <a:lnTo>
                    <a:pt x="581773" y="4031459"/>
                  </a:lnTo>
                </a:path>
                <a:path w="4896484" h="4895850">
                  <a:moveTo>
                    <a:pt x="540762" y="3982808"/>
                  </a:moveTo>
                  <a:lnTo>
                    <a:pt x="536948" y="3978994"/>
                  </a:lnTo>
                  <a:lnTo>
                    <a:pt x="533135" y="3973274"/>
                  </a:lnTo>
                </a:path>
                <a:path w="4896484" h="4895850">
                  <a:moveTo>
                    <a:pt x="494031" y="3922729"/>
                  </a:moveTo>
                  <a:lnTo>
                    <a:pt x="494031" y="3922729"/>
                  </a:lnTo>
                  <a:lnTo>
                    <a:pt x="486403" y="3912241"/>
                  </a:lnTo>
                </a:path>
                <a:path w="4896484" h="4895850">
                  <a:moveTo>
                    <a:pt x="449206" y="3860730"/>
                  </a:moveTo>
                  <a:lnTo>
                    <a:pt x="449206" y="3860730"/>
                  </a:lnTo>
                  <a:lnTo>
                    <a:pt x="441579" y="3850242"/>
                  </a:lnTo>
                </a:path>
                <a:path w="4896484" h="4895850">
                  <a:moveTo>
                    <a:pt x="405336" y="3797790"/>
                  </a:moveTo>
                  <a:lnTo>
                    <a:pt x="405336" y="3797790"/>
                  </a:lnTo>
                  <a:lnTo>
                    <a:pt x="398661" y="3787302"/>
                  </a:lnTo>
                </a:path>
                <a:path w="4896484" h="4895850">
                  <a:moveTo>
                    <a:pt x="364325" y="3733884"/>
                  </a:moveTo>
                  <a:lnTo>
                    <a:pt x="364325" y="3733884"/>
                  </a:lnTo>
                  <a:lnTo>
                    <a:pt x="357651" y="3723396"/>
                  </a:lnTo>
                </a:path>
                <a:path w="4896484" h="4895850">
                  <a:moveTo>
                    <a:pt x="325221" y="3668084"/>
                  </a:moveTo>
                  <a:lnTo>
                    <a:pt x="325221" y="3668084"/>
                  </a:lnTo>
                  <a:lnTo>
                    <a:pt x="319501" y="3656630"/>
                  </a:lnTo>
                </a:path>
                <a:path w="4896484" h="4895850">
                  <a:moveTo>
                    <a:pt x="288024" y="3601331"/>
                  </a:moveTo>
                  <a:lnTo>
                    <a:pt x="288024" y="3601331"/>
                  </a:lnTo>
                  <a:lnTo>
                    <a:pt x="282304" y="3589889"/>
                  </a:lnTo>
                </a:path>
                <a:path w="4896484" h="4895850">
                  <a:moveTo>
                    <a:pt x="253688" y="3533573"/>
                  </a:moveTo>
                  <a:lnTo>
                    <a:pt x="247967" y="3524039"/>
                  </a:lnTo>
                  <a:lnTo>
                    <a:pt x="247014" y="3522132"/>
                  </a:lnTo>
                </a:path>
                <a:path w="4896484" h="4895850">
                  <a:moveTo>
                    <a:pt x="220317" y="3464925"/>
                  </a:moveTo>
                  <a:lnTo>
                    <a:pt x="220317" y="3464925"/>
                  </a:lnTo>
                  <a:lnTo>
                    <a:pt x="215550" y="3453484"/>
                  </a:lnTo>
                </a:path>
                <a:path w="4896484" h="4895850">
                  <a:moveTo>
                    <a:pt x="189795" y="3394371"/>
                  </a:moveTo>
                  <a:lnTo>
                    <a:pt x="189795" y="3394371"/>
                  </a:lnTo>
                  <a:lnTo>
                    <a:pt x="185027" y="3382929"/>
                  </a:lnTo>
                </a:path>
                <a:path w="4896484" h="4895850">
                  <a:moveTo>
                    <a:pt x="161179" y="3323816"/>
                  </a:moveTo>
                  <a:lnTo>
                    <a:pt x="161179" y="3323816"/>
                  </a:lnTo>
                  <a:lnTo>
                    <a:pt x="156412" y="3312375"/>
                  </a:lnTo>
                </a:path>
                <a:path w="4896484" h="4895850">
                  <a:moveTo>
                    <a:pt x="135436" y="3252245"/>
                  </a:moveTo>
                  <a:lnTo>
                    <a:pt x="135436" y="3252245"/>
                  </a:lnTo>
                  <a:lnTo>
                    <a:pt x="130656" y="3239914"/>
                  </a:lnTo>
                </a:path>
                <a:path w="4896484" h="4895850">
                  <a:moveTo>
                    <a:pt x="111587" y="3179783"/>
                  </a:moveTo>
                  <a:lnTo>
                    <a:pt x="111587" y="3179783"/>
                  </a:lnTo>
                  <a:lnTo>
                    <a:pt x="107772" y="3167325"/>
                  </a:lnTo>
                </a:path>
                <a:path w="4896484" h="4895850">
                  <a:moveTo>
                    <a:pt x="89650" y="3106305"/>
                  </a:moveTo>
                  <a:lnTo>
                    <a:pt x="89650" y="3106305"/>
                  </a:lnTo>
                  <a:lnTo>
                    <a:pt x="85835" y="3093974"/>
                  </a:lnTo>
                </a:path>
                <a:path w="4896484" h="4895850">
                  <a:moveTo>
                    <a:pt x="70577" y="3032954"/>
                  </a:moveTo>
                  <a:lnTo>
                    <a:pt x="70577" y="3032954"/>
                  </a:lnTo>
                  <a:lnTo>
                    <a:pt x="66762" y="3020495"/>
                  </a:lnTo>
                </a:path>
                <a:path w="4896484" h="4895850">
                  <a:moveTo>
                    <a:pt x="53408" y="2958458"/>
                  </a:moveTo>
                  <a:lnTo>
                    <a:pt x="53408" y="2958458"/>
                  </a:lnTo>
                  <a:lnTo>
                    <a:pt x="50548" y="2946127"/>
                  </a:lnTo>
                </a:path>
                <a:path w="4896484" h="4895850">
                  <a:moveTo>
                    <a:pt x="38149" y="2883200"/>
                  </a:moveTo>
                  <a:lnTo>
                    <a:pt x="38149" y="2883200"/>
                  </a:lnTo>
                  <a:lnTo>
                    <a:pt x="36241" y="2870742"/>
                  </a:lnTo>
                </a:path>
                <a:path w="4896484" h="4895850">
                  <a:moveTo>
                    <a:pt x="25751" y="2807815"/>
                  </a:moveTo>
                  <a:lnTo>
                    <a:pt x="25751" y="2807815"/>
                  </a:lnTo>
                  <a:lnTo>
                    <a:pt x="23843" y="2795357"/>
                  </a:lnTo>
                </a:path>
                <a:path w="4896484" h="4895850">
                  <a:moveTo>
                    <a:pt x="16213" y="2732430"/>
                  </a:moveTo>
                  <a:lnTo>
                    <a:pt x="16213" y="2732430"/>
                  </a:lnTo>
                  <a:lnTo>
                    <a:pt x="15259" y="2719081"/>
                  </a:lnTo>
                </a:path>
                <a:path w="4896484" h="4895850">
                  <a:moveTo>
                    <a:pt x="8583" y="2656154"/>
                  </a:moveTo>
                  <a:lnTo>
                    <a:pt x="8583" y="2656154"/>
                  </a:lnTo>
                  <a:lnTo>
                    <a:pt x="7629" y="2643823"/>
                  </a:lnTo>
                </a:path>
                <a:path w="4896484" h="4895850">
                  <a:moveTo>
                    <a:pt x="3814" y="2579879"/>
                  </a:moveTo>
                  <a:lnTo>
                    <a:pt x="3814" y="2579879"/>
                  </a:lnTo>
                  <a:lnTo>
                    <a:pt x="2861" y="2567421"/>
                  </a:lnTo>
                </a:path>
                <a:path w="4896484" h="4895850">
                  <a:moveTo>
                    <a:pt x="953" y="2503604"/>
                  </a:moveTo>
                  <a:lnTo>
                    <a:pt x="953" y="2503604"/>
                  </a:lnTo>
                  <a:lnTo>
                    <a:pt x="953" y="2491146"/>
                  </a:lnTo>
                </a:path>
                <a:path w="4896484" h="4895850">
                  <a:moveTo>
                    <a:pt x="0" y="2427329"/>
                  </a:moveTo>
                  <a:lnTo>
                    <a:pt x="0" y="2427329"/>
                  </a:lnTo>
                  <a:lnTo>
                    <a:pt x="0" y="2414871"/>
                  </a:lnTo>
                </a:path>
                <a:path w="4896484" h="4895850">
                  <a:moveTo>
                    <a:pt x="1907" y="2350927"/>
                  </a:moveTo>
                  <a:lnTo>
                    <a:pt x="1907" y="2350927"/>
                  </a:lnTo>
                  <a:lnTo>
                    <a:pt x="1907" y="2338596"/>
                  </a:lnTo>
                </a:path>
                <a:path w="4896484" h="4895850">
                  <a:moveTo>
                    <a:pt x="5722" y="2274652"/>
                  </a:moveTo>
                  <a:lnTo>
                    <a:pt x="5722" y="2274652"/>
                  </a:lnTo>
                  <a:lnTo>
                    <a:pt x="6676" y="2262320"/>
                  </a:lnTo>
                </a:path>
                <a:path w="4896484" h="4895850">
                  <a:moveTo>
                    <a:pt x="12398" y="2198376"/>
                  </a:moveTo>
                  <a:lnTo>
                    <a:pt x="12398" y="2198376"/>
                  </a:lnTo>
                  <a:lnTo>
                    <a:pt x="14306" y="2185918"/>
                  </a:lnTo>
                </a:path>
                <a:path w="4896484" h="4895850">
                  <a:moveTo>
                    <a:pt x="20981" y="2122991"/>
                  </a:moveTo>
                  <a:lnTo>
                    <a:pt x="20981" y="2122991"/>
                  </a:lnTo>
                  <a:lnTo>
                    <a:pt x="22889" y="2110660"/>
                  </a:lnTo>
                </a:path>
                <a:path w="4896484" h="4895850">
                  <a:moveTo>
                    <a:pt x="32426" y="2047733"/>
                  </a:moveTo>
                  <a:lnTo>
                    <a:pt x="32426" y="2047733"/>
                  </a:lnTo>
                  <a:lnTo>
                    <a:pt x="34334" y="2035275"/>
                  </a:lnTo>
                </a:path>
                <a:path w="4896484" h="4895850">
                  <a:moveTo>
                    <a:pt x="45779" y="1972348"/>
                  </a:moveTo>
                  <a:lnTo>
                    <a:pt x="45779" y="1972348"/>
                  </a:lnTo>
                  <a:lnTo>
                    <a:pt x="48640" y="1959889"/>
                  </a:lnTo>
                </a:path>
                <a:path w="4896484" h="4895850">
                  <a:moveTo>
                    <a:pt x="61992" y="1897979"/>
                  </a:moveTo>
                  <a:lnTo>
                    <a:pt x="63900" y="1886538"/>
                  </a:lnTo>
                  <a:lnTo>
                    <a:pt x="64853" y="1885521"/>
                  </a:lnTo>
                </a:path>
                <a:path w="4896484" h="4895850">
                  <a:moveTo>
                    <a:pt x="80113" y="1823611"/>
                  </a:moveTo>
                  <a:lnTo>
                    <a:pt x="80113" y="1823611"/>
                  </a:lnTo>
                  <a:lnTo>
                    <a:pt x="83928" y="1811153"/>
                  </a:lnTo>
                </a:path>
                <a:path w="4896484" h="4895850">
                  <a:moveTo>
                    <a:pt x="101095" y="1750133"/>
                  </a:moveTo>
                  <a:lnTo>
                    <a:pt x="101095" y="1750133"/>
                  </a:lnTo>
                  <a:lnTo>
                    <a:pt x="104910" y="1737674"/>
                  </a:lnTo>
                </a:path>
                <a:path w="4896484" h="4895850">
                  <a:moveTo>
                    <a:pt x="123028" y="1676654"/>
                  </a:moveTo>
                  <a:lnTo>
                    <a:pt x="123982" y="1673858"/>
                  </a:lnTo>
                  <a:lnTo>
                    <a:pt x="127796" y="1665213"/>
                  </a:lnTo>
                </a:path>
                <a:path w="4896484" h="4895850">
                  <a:moveTo>
                    <a:pt x="148784" y="1605210"/>
                  </a:moveTo>
                  <a:lnTo>
                    <a:pt x="148784" y="1605210"/>
                  </a:lnTo>
                  <a:lnTo>
                    <a:pt x="153551" y="1592752"/>
                  </a:lnTo>
                </a:path>
                <a:path w="4896484" h="4895850">
                  <a:moveTo>
                    <a:pt x="176446" y="1533638"/>
                  </a:moveTo>
                  <a:lnTo>
                    <a:pt x="176446" y="1533638"/>
                  </a:lnTo>
                  <a:lnTo>
                    <a:pt x="181214" y="1522197"/>
                  </a:lnTo>
                </a:path>
                <a:path w="4896484" h="4895850">
                  <a:moveTo>
                    <a:pt x="206003" y="1463084"/>
                  </a:moveTo>
                  <a:lnTo>
                    <a:pt x="206003" y="1463084"/>
                  </a:lnTo>
                  <a:lnTo>
                    <a:pt x="210770" y="1451643"/>
                  </a:lnTo>
                </a:path>
                <a:path w="4896484" h="4895850">
                  <a:moveTo>
                    <a:pt x="237479" y="1394436"/>
                  </a:moveTo>
                  <a:lnTo>
                    <a:pt x="237479" y="1394436"/>
                  </a:lnTo>
                  <a:lnTo>
                    <a:pt x="243200" y="1381978"/>
                  </a:lnTo>
                </a:path>
                <a:path w="4896484" h="4895850">
                  <a:moveTo>
                    <a:pt x="271816" y="1325662"/>
                  </a:moveTo>
                  <a:lnTo>
                    <a:pt x="271816" y="1325662"/>
                  </a:lnTo>
                  <a:lnTo>
                    <a:pt x="277536" y="1314220"/>
                  </a:lnTo>
                </a:path>
                <a:path w="4896484" h="4895850">
                  <a:moveTo>
                    <a:pt x="308059" y="1258031"/>
                  </a:moveTo>
                  <a:lnTo>
                    <a:pt x="308059" y="1258031"/>
                  </a:lnTo>
                  <a:lnTo>
                    <a:pt x="313780" y="1247480"/>
                  </a:lnTo>
                </a:path>
                <a:path w="4896484" h="4895850">
                  <a:moveTo>
                    <a:pt x="346209" y="1192180"/>
                  </a:moveTo>
                  <a:lnTo>
                    <a:pt x="346209" y="1192180"/>
                  </a:lnTo>
                  <a:lnTo>
                    <a:pt x="351930" y="1180739"/>
                  </a:lnTo>
                </a:path>
                <a:path w="4896484" h="4895850">
                  <a:moveTo>
                    <a:pt x="386267" y="1127346"/>
                  </a:moveTo>
                  <a:lnTo>
                    <a:pt x="386267" y="1127346"/>
                  </a:lnTo>
                  <a:lnTo>
                    <a:pt x="392941" y="1116795"/>
                  </a:lnTo>
                </a:path>
                <a:path w="4896484" h="4895850">
                  <a:moveTo>
                    <a:pt x="428231" y="1063402"/>
                  </a:moveTo>
                  <a:lnTo>
                    <a:pt x="428231" y="1063402"/>
                  </a:lnTo>
                  <a:lnTo>
                    <a:pt x="435858" y="1052978"/>
                  </a:lnTo>
                </a:path>
                <a:path w="4896484" h="4895850">
                  <a:moveTo>
                    <a:pt x="472102" y="1001492"/>
                  </a:moveTo>
                  <a:lnTo>
                    <a:pt x="472102" y="1001492"/>
                  </a:lnTo>
                  <a:lnTo>
                    <a:pt x="479729" y="990941"/>
                  </a:lnTo>
                </a:path>
                <a:path w="4896484" h="4895850">
                  <a:moveTo>
                    <a:pt x="518833" y="940345"/>
                  </a:moveTo>
                  <a:lnTo>
                    <a:pt x="518833" y="940345"/>
                  </a:lnTo>
                  <a:lnTo>
                    <a:pt x="526460" y="930811"/>
                  </a:lnTo>
                </a:path>
                <a:path w="4896484" h="4895850">
                  <a:moveTo>
                    <a:pt x="566517" y="881232"/>
                  </a:moveTo>
                  <a:lnTo>
                    <a:pt x="566517" y="881232"/>
                  </a:lnTo>
                  <a:lnTo>
                    <a:pt x="575098" y="871697"/>
                  </a:lnTo>
                </a:path>
                <a:path w="4896484" h="4895850">
                  <a:moveTo>
                    <a:pt x="616109" y="823135"/>
                  </a:moveTo>
                  <a:lnTo>
                    <a:pt x="616109" y="823135"/>
                  </a:lnTo>
                  <a:lnTo>
                    <a:pt x="624703" y="813601"/>
                  </a:lnTo>
                </a:path>
                <a:path w="4896484" h="4895850">
                  <a:moveTo>
                    <a:pt x="667620" y="766819"/>
                  </a:moveTo>
                  <a:lnTo>
                    <a:pt x="667620" y="766819"/>
                  </a:lnTo>
                  <a:lnTo>
                    <a:pt x="676201" y="757285"/>
                  </a:lnTo>
                </a:path>
                <a:path w="4896484" h="4895850">
                  <a:moveTo>
                    <a:pt x="721025" y="712409"/>
                  </a:moveTo>
                  <a:lnTo>
                    <a:pt x="721025" y="712409"/>
                  </a:lnTo>
                  <a:lnTo>
                    <a:pt x="730560" y="702875"/>
                  </a:lnTo>
                </a:path>
                <a:path w="4896484" h="4895850">
                  <a:moveTo>
                    <a:pt x="776338" y="659017"/>
                  </a:moveTo>
                  <a:lnTo>
                    <a:pt x="776338" y="659017"/>
                  </a:lnTo>
                  <a:lnTo>
                    <a:pt x="785872" y="650499"/>
                  </a:lnTo>
                </a:path>
                <a:path w="4896484" h="4895850">
                  <a:moveTo>
                    <a:pt x="832616" y="607531"/>
                  </a:moveTo>
                  <a:lnTo>
                    <a:pt x="834523" y="606641"/>
                  </a:lnTo>
                  <a:lnTo>
                    <a:pt x="842150" y="599014"/>
                  </a:lnTo>
                </a:path>
                <a:path w="4896484" h="4895850">
                  <a:moveTo>
                    <a:pt x="890788" y="558842"/>
                  </a:moveTo>
                  <a:lnTo>
                    <a:pt x="890788" y="558842"/>
                  </a:lnTo>
                  <a:lnTo>
                    <a:pt x="900323" y="550325"/>
                  </a:lnTo>
                </a:path>
                <a:path w="4896484" h="4895850">
                  <a:moveTo>
                    <a:pt x="950868" y="511170"/>
                  </a:moveTo>
                  <a:lnTo>
                    <a:pt x="950868" y="511170"/>
                  </a:lnTo>
                  <a:lnTo>
                    <a:pt x="960415" y="503543"/>
                  </a:lnTo>
                </a:path>
                <a:path w="4896484" h="4895850">
                  <a:moveTo>
                    <a:pt x="1011913" y="464515"/>
                  </a:moveTo>
                  <a:lnTo>
                    <a:pt x="1011913" y="464515"/>
                  </a:lnTo>
                  <a:lnTo>
                    <a:pt x="1022401" y="457777"/>
                  </a:lnTo>
                </a:path>
                <a:path w="4896484" h="4895850">
                  <a:moveTo>
                    <a:pt x="1073900" y="420657"/>
                  </a:moveTo>
                  <a:lnTo>
                    <a:pt x="1073900" y="420657"/>
                  </a:lnTo>
                  <a:lnTo>
                    <a:pt x="1084400" y="413919"/>
                  </a:lnTo>
                </a:path>
                <a:path w="4896484" h="4895850">
                  <a:moveTo>
                    <a:pt x="1137806" y="379595"/>
                  </a:moveTo>
                  <a:lnTo>
                    <a:pt x="1137806" y="379595"/>
                  </a:lnTo>
                  <a:lnTo>
                    <a:pt x="1149247" y="372985"/>
                  </a:lnTo>
                </a:path>
                <a:path w="4896484" h="4895850">
                  <a:moveTo>
                    <a:pt x="1202665" y="339551"/>
                  </a:moveTo>
                  <a:lnTo>
                    <a:pt x="1202665" y="339551"/>
                  </a:lnTo>
                  <a:lnTo>
                    <a:pt x="1214106" y="332813"/>
                  </a:lnTo>
                </a:path>
                <a:path w="4896484" h="4895850">
                  <a:moveTo>
                    <a:pt x="1269469" y="301413"/>
                  </a:moveTo>
                  <a:lnTo>
                    <a:pt x="1275190" y="297600"/>
                  </a:lnTo>
                  <a:lnTo>
                    <a:pt x="1279893" y="294676"/>
                  </a:lnTo>
                </a:path>
                <a:path w="4896484" h="4895850">
                  <a:moveTo>
                    <a:pt x="1337100" y="266073"/>
                  </a:moveTo>
                  <a:lnTo>
                    <a:pt x="1337100" y="266073"/>
                  </a:lnTo>
                  <a:lnTo>
                    <a:pt x="1348541" y="260352"/>
                  </a:lnTo>
                </a:path>
                <a:path w="4896484" h="4895850">
                  <a:moveTo>
                    <a:pt x="1405747" y="231749"/>
                  </a:moveTo>
                  <a:lnTo>
                    <a:pt x="1405747" y="231749"/>
                  </a:lnTo>
                  <a:lnTo>
                    <a:pt x="1417189" y="227045"/>
                  </a:lnTo>
                </a:path>
                <a:path w="4896484" h="4895850">
                  <a:moveTo>
                    <a:pt x="1474522" y="200349"/>
                  </a:moveTo>
                  <a:lnTo>
                    <a:pt x="1474522" y="200349"/>
                  </a:lnTo>
                  <a:lnTo>
                    <a:pt x="1486853" y="195518"/>
                  </a:lnTo>
                </a:path>
                <a:path w="4896484" h="4895850">
                  <a:moveTo>
                    <a:pt x="1545077" y="171746"/>
                  </a:moveTo>
                  <a:lnTo>
                    <a:pt x="1545077" y="171746"/>
                  </a:lnTo>
                  <a:lnTo>
                    <a:pt x="1557408" y="166915"/>
                  </a:lnTo>
                </a:path>
                <a:path w="4896484" h="4895850">
                  <a:moveTo>
                    <a:pt x="1616521" y="144032"/>
                  </a:moveTo>
                  <a:lnTo>
                    <a:pt x="1616521" y="144032"/>
                  </a:lnTo>
                  <a:lnTo>
                    <a:pt x="1628979" y="140219"/>
                  </a:lnTo>
                </a:path>
                <a:path w="4896484" h="4895850">
                  <a:moveTo>
                    <a:pt x="1689110" y="119243"/>
                  </a:moveTo>
                  <a:lnTo>
                    <a:pt x="1689110" y="119243"/>
                  </a:lnTo>
                  <a:lnTo>
                    <a:pt x="1701441" y="115429"/>
                  </a:lnTo>
                </a:path>
                <a:path w="4896484" h="4895850">
                  <a:moveTo>
                    <a:pt x="1761571" y="97250"/>
                  </a:moveTo>
                  <a:lnTo>
                    <a:pt x="1761571" y="97250"/>
                  </a:lnTo>
                  <a:lnTo>
                    <a:pt x="1773902" y="93437"/>
                  </a:lnTo>
                </a:path>
                <a:path w="4896484" h="4895850">
                  <a:moveTo>
                    <a:pt x="1835939" y="77292"/>
                  </a:moveTo>
                  <a:lnTo>
                    <a:pt x="1835939" y="77292"/>
                  </a:lnTo>
                  <a:lnTo>
                    <a:pt x="1848398" y="73478"/>
                  </a:lnTo>
                </a:path>
                <a:path w="4896484" h="4895850">
                  <a:moveTo>
                    <a:pt x="1910308" y="59113"/>
                  </a:moveTo>
                  <a:lnTo>
                    <a:pt x="1910308" y="59113"/>
                  </a:lnTo>
                  <a:lnTo>
                    <a:pt x="1922766" y="56316"/>
                  </a:lnTo>
                </a:path>
                <a:path w="4896484" h="4895850">
                  <a:moveTo>
                    <a:pt x="1984676" y="42968"/>
                  </a:moveTo>
                  <a:lnTo>
                    <a:pt x="1995227" y="41061"/>
                  </a:lnTo>
                  <a:lnTo>
                    <a:pt x="1997134" y="41061"/>
                  </a:lnTo>
                </a:path>
                <a:path w="4896484" h="4895850">
                  <a:moveTo>
                    <a:pt x="2060061" y="30510"/>
                  </a:moveTo>
                  <a:lnTo>
                    <a:pt x="2060061" y="30510"/>
                  </a:lnTo>
                  <a:lnTo>
                    <a:pt x="2072519" y="28603"/>
                  </a:lnTo>
                </a:path>
                <a:path w="4896484" h="4895850">
                  <a:moveTo>
                    <a:pt x="2135446" y="19068"/>
                  </a:moveTo>
                  <a:lnTo>
                    <a:pt x="2135446" y="19068"/>
                  </a:lnTo>
                  <a:lnTo>
                    <a:pt x="2147778" y="18178"/>
                  </a:lnTo>
                </a:path>
                <a:path w="4896484" h="4895850">
                  <a:moveTo>
                    <a:pt x="2211722" y="10551"/>
                  </a:moveTo>
                  <a:lnTo>
                    <a:pt x="2218332" y="9534"/>
                  </a:lnTo>
                  <a:lnTo>
                    <a:pt x="2224053" y="9534"/>
                  </a:lnTo>
                </a:path>
                <a:path w="4896484" h="4895850">
                  <a:moveTo>
                    <a:pt x="2287107" y="4830"/>
                  </a:moveTo>
                  <a:lnTo>
                    <a:pt x="2287107" y="4830"/>
                  </a:lnTo>
                  <a:lnTo>
                    <a:pt x="2300455" y="3813"/>
                  </a:lnTo>
                </a:path>
                <a:path w="4896484" h="4895850">
                  <a:moveTo>
                    <a:pt x="2363382" y="1017"/>
                  </a:moveTo>
                  <a:lnTo>
                    <a:pt x="2363382" y="1017"/>
                  </a:lnTo>
                  <a:lnTo>
                    <a:pt x="2376730" y="1017"/>
                  </a:lnTo>
                </a:path>
                <a:path w="4896484" h="4895850">
                  <a:moveTo>
                    <a:pt x="2439657" y="0"/>
                  </a:moveTo>
                  <a:lnTo>
                    <a:pt x="2448302" y="0"/>
                  </a:lnTo>
                  <a:lnTo>
                    <a:pt x="2453005" y="0"/>
                  </a:lnTo>
                </a:path>
                <a:path w="4896484" h="4895850">
                  <a:moveTo>
                    <a:pt x="2515932" y="1017"/>
                  </a:moveTo>
                  <a:lnTo>
                    <a:pt x="2515932" y="1017"/>
                  </a:lnTo>
                  <a:lnTo>
                    <a:pt x="2529280" y="1017"/>
                  </a:lnTo>
                </a:path>
                <a:path w="4896484" h="4895850">
                  <a:moveTo>
                    <a:pt x="2592207" y="3813"/>
                  </a:moveTo>
                  <a:lnTo>
                    <a:pt x="2592207" y="3813"/>
                  </a:lnTo>
                  <a:lnTo>
                    <a:pt x="2605556" y="4830"/>
                  </a:lnTo>
                </a:path>
                <a:path w="4896484" h="4895850">
                  <a:moveTo>
                    <a:pt x="2668610" y="9534"/>
                  </a:moveTo>
                  <a:lnTo>
                    <a:pt x="2677127" y="9534"/>
                  </a:lnTo>
                  <a:lnTo>
                    <a:pt x="2681958" y="10551"/>
                  </a:lnTo>
                </a:path>
                <a:path w="4896484" h="4895850">
                  <a:moveTo>
                    <a:pt x="2744885" y="17161"/>
                  </a:moveTo>
                  <a:lnTo>
                    <a:pt x="2744885" y="17161"/>
                  </a:lnTo>
                  <a:lnTo>
                    <a:pt x="2757216" y="19068"/>
                  </a:lnTo>
                </a:path>
                <a:path w="4896484" h="4895850">
                  <a:moveTo>
                    <a:pt x="2820143" y="27713"/>
                  </a:moveTo>
                  <a:lnTo>
                    <a:pt x="2820143" y="27713"/>
                  </a:lnTo>
                  <a:lnTo>
                    <a:pt x="2832601" y="29620"/>
                  </a:lnTo>
                </a:path>
                <a:path w="4896484" h="4895850">
                  <a:moveTo>
                    <a:pt x="2895528" y="40044"/>
                  </a:moveTo>
                  <a:lnTo>
                    <a:pt x="2900359" y="41061"/>
                  </a:lnTo>
                  <a:lnTo>
                    <a:pt x="2907986" y="42968"/>
                  </a:lnTo>
                </a:path>
                <a:path w="4896484" h="4895850">
                  <a:moveTo>
                    <a:pt x="2970913" y="55299"/>
                  </a:moveTo>
                  <a:lnTo>
                    <a:pt x="2970913" y="55299"/>
                  </a:lnTo>
                  <a:lnTo>
                    <a:pt x="2983245" y="58223"/>
                  </a:lnTo>
                </a:path>
                <a:path w="4896484" h="4895850">
                  <a:moveTo>
                    <a:pt x="3045282" y="72461"/>
                  </a:moveTo>
                  <a:lnTo>
                    <a:pt x="3045282" y="72461"/>
                  </a:lnTo>
                  <a:lnTo>
                    <a:pt x="3056723" y="76275"/>
                  </a:lnTo>
                </a:path>
                <a:path w="4896484" h="4895850">
                  <a:moveTo>
                    <a:pt x="3118760" y="92547"/>
                  </a:moveTo>
                  <a:lnTo>
                    <a:pt x="3118760" y="92547"/>
                  </a:lnTo>
                  <a:lnTo>
                    <a:pt x="3131091" y="96360"/>
                  </a:lnTo>
                </a:path>
                <a:path w="4896484" h="4895850">
                  <a:moveTo>
                    <a:pt x="3192111" y="114412"/>
                  </a:moveTo>
                  <a:lnTo>
                    <a:pt x="3192111" y="114412"/>
                  </a:lnTo>
                  <a:lnTo>
                    <a:pt x="3203553" y="118226"/>
                  </a:lnTo>
                </a:path>
                <a:path w="4896484" h="4895850">
                  <a:moveTo>
                    <a:pt x="3263683" y="139202"/>
                  </a:moveTo>
                  <a:lnTo>
                    <a:pt x="3263683" y="139202"/>
                  </a:lnTo>
                  <a:lnTo>
                    <a:pt x="3276141" y="143015"/>
                  </a:lnTo>
                </a:path>
                <a:path w="4896484" h="4895850">
                  <a:moveTo>
                    <a:pt x="3336144" y="165008"/>
                  </a:moveTo>
                  <a:lnTo>
                    <a:pt x="3336144" y="165008"/>
                  </a:lnTo>
                  <a:lnTo>
                    <a:pt x="3347586" y="169839"/>
                  </a:lnTo>
                </a:path>
                <a:path w="4896484" h="4895850">
                  <a:moveTo>
                    <a:pt x="3406699" y="194628"/>
                  </a:moveTo>
                  <a:lnTo>
                    <a:pt x="3406699" y="194628"/>
                  </a:lnTo>
                  <a:lnTo>
                    <a:pt x="3418140" y="199332"/>
                  </a:lnTo>
                </a:path>
                <a:path w="4896484" h="4895850">
                  <a:moveTo>
                    <a:pt x="3476364" y="225138"/>
                  </a:moveTo>
                  <a:lnTo>
                    <a:pt x="3476364" y="225138"/>
                  </a:lnTo>
                  <a:lnTo>
                    <a:pt x="3487805" y="230859"/>
                  </a:lnTo>
                </a:path>
                <a:path w="4896484" h="4895850">
                  <a:moveTo>
                    <a:pt x="3545011" y="258445"/>
                  </a:moveTo>
                  <a:lnTo>
                    <a:pt x="3545011" y="258445"/>
                  </a:lnTo>
                  <a:lnTo>
                    <a:pt x="3556452" y="264166"/>
                  </a:lnTo>
                </a:path>
                <a:path w="4896484" h="4895850">
                  <a:moveTo>
                    <a:pt x="3612769" y="293786"/>
                  </a:moveTo>
                  <a:lnTo>
                    <a:pt x="3621286" y="297600"/>
                  </a:lnTo>
                  <a:lnTo>
                    <a:pt x="3624210" y="299507"/>
                  </a:lnTo>
                </a:path>
                <a:path w="4896484" h="4895850">
                  <a:moveTo>
                    <a:pt x="3679510" y="330907"/>
                  </a:moveTo>
                  <a:lnTo>
                    <a:pt x="3679510" y="330907"/>
                  </a:lnTo>
                  <a:lnTo>
                    <a:pt x="3690061" y="337644"/>
                  </a:lnTo>
                </a:path>
                <a:path w="4896484" h="4895850">
                  <a:moveTo>
                    <a:pt x="3744344" y="371078"/>
                  </a:moveTo>
                  <a:lnTo>
                    <a:pt x="3744344" y="371078"/>
                  </a:lnTo>
                  <a:lnTo>
                    <a:pt x="3754895" y="377689"/>
                  </a:lnTo>
                </a:path>
                <a:path w="4896484" h="4895850">
                  <a:moveTo>
                    <a:pt x="3809177" y="412012"/>
                  </a:moveTo>
                  <a:lnTo>
                    <a:pt x="3809177" y="412012"/>
                  </a:lnTo>
                  <a:lnTo>
                    <a:pt x="3819729" y="419640"/>
                  </a:lnTo>
                </a:path>
                <a:path w="4896484" h="4895850">
                  <a:moveTo>
                    <a:pt x="3871215" y="455871"/>
                  </a:moveTo>
                  <a:lnTo>
                    <a:pt x="3871215" y="455871"/>
                  </a:lnTo>
                  <a:lnTo>
                    <a:pt x="3881766" y="462608"/>
                  </a:lnTo>
                </a:path>
                <a:path w="4896484" h="4895850">
                  <a:moveTo>
                    <a:pt x="3932235" y="501636"/>
                  </a:moveTo>
                  <a:lnTo>
                    <a:pt x="3932235" y="501636"/>
                  </a:lnTo>
                  <a:lnTo>
                    <a:pt x="3942786" y="509263"/>
                  </a:lnTo>
                </a:path>
                <a:path w="4896484" h="4895850">
                  <a:moveTo>
                    <a:pt x="3992365" y="548418"/>
                  </a:moveTo>
                  <a:lnTo>
                    <a:pt x="3992365" y="548418"/>
                  </a:lnTo>
                  <a:lnTo>
                    <a:pt x="4002789" y="556045"/>
                  </a:lnTo>
                </a:path>
                <a:path w="4896484" h="4895850">
                  <a:moveTo>
                    <a:pt x="4051478" y="597107"/>
                  </a:moveTo>
                  <a:lnTo>
                    <a:pt x="4051478" y="597107"/>
                  </a:lnTo>
                  <a:lnTo>
                    <a:pt x="4061013" y="605624"/>
                  </a:lnTo>
                </a:path>
                <a:path w="4896484" h="4895850">
                  <a:moveTo>
                    <a:pt x="4107795" y="648593"/>
                  </a:moveTo>
                  <a:lnTo>
                    <a:pt x="4107795" y="648593"/>
                  </a:lnTo>
                  <a:lnTo>
                    <a:pt x="4117329" y="657110"/>
                  </a:lnTo>
                </a:path>
                <a:path w="4896484" h="4895850">
                  <a:moveTo>
                    <a:pt x="4163094" y="700968"/>
                  </a:moveTo>
                  <a:lnTo>
                    <a:pt x="4163094" y="700968"/>
                  </a:lnTo>
                  <a:lnTo>
                    <a:pt x="4172629" y="710503"/>
                  </a:lnTo>
                </a:path>
                <a:path w="4896484" h="4895850">
                  <a:moveTo>
                    <a:pt x="4217377" y="755378"/>
                  </a:moveTo>
                  <a:lnTo>
                    <a:pt x="4217377" y="755378"/>
                  </a:lnTo>
                  <a:lnTo>
                    <a:pt x="4226021" y="764912"/>
                  </a:lnTo>
                </a:path>
                <a:path w="4896484" h="4895850">
                  <a:moveTo>
                    <a:pt x="4268862" y="811694"/>
                  </a:moveTo>
                  <a:lnTo>
                    <a:pt x="4268862" y="811694"/>
                  </a:lnTo>
                  <a:lnTo>
                    <a:pt x="4277507" y="821229"/>
                  </a:lnTo>
                </a:path>
                <a:path w="4896484" h="4895850">
                  <a:moveTo>
                    <a:pt x="4318568" y="868901"/>
                  </a:moveTo>
                  <a:lnTo>
                    <a:pt x="4318568" y="868901"/>
                  </a:lnTo>
                  <a:lnTo>
                    <a:pt x="4327086" y="878435"/>
                  </a:lnTo>
                </a:path>
                <a:path w="4896484" h="4895850">
                  <a:moveTo>
                    <a:pt x="4367130" y="928014"/>
                  </a:moveTo>
                  <a:lnTo>
                    <a:pt x="4367130" y="928014"/>
                  </a:lnTo>
                  <a:lnTo>
                    <a:pt x="4375775" y="938438"/>
                  </a:lnTo>
                </a:path>
                <a:path w="4896484" h="4895850">
                  <a:moveTo>
                    <a:pt x="4413912" y="988144"/>
                  </a:moveTo>
                  <a:lnTo>
                    <a:pt x="4413912" y="988144"/>
                  </a:lnTo>
                  <a:lnTo>
                    <a:pt x="4421540" y="998568"/>
                  </a:lnTo>
                </a:path>
                <a:path w="4896484" h="4895850">
                  <a:moveTo>
                    <a:pt x="4458660" y="1051071"/>
                  </a:moveTo>
                  <a:lnTo>
                    <a:pt x="4458660" y="1051071"/>
                  </a:lnTo>
                  <a:lnTo>
                    <a:pt x="4465398" y="1061495"/>
                  </a:lnTo>
                </a:path>
                <a:path w="4896484" h="4895850">
                  <a:moveTo>
                    <a:pt x="4500739" y="1113998"/>
                  </a:moveTo>
                  <a:lnTo>
                    <a:pt x="4500739" y="1113998"/>
                  </a:lnTo>
                  <a:lnTo>
                    <a:pt x="4508366" y="1124422"/>
                  </a:lnTo>
                </a:path>
                <a:path w="4896484" h="4895850">
                  <a:moveTo>
                    <a:pt x="4541673" y="1178832"/>
                  </a:moveTo>
                  <a:lnTo>
                    <a:pt x="4543580" y="1180739"/>
                  </a:lnTo>
                  <a:lnTo>
                    <a:pt x="4548411" y="1189383"/>
                  </a:lnTo>
                </a:path>
                <a:path w="4896484" h="4895850">
                  <a:moveTo>
                    <a:pt x="4580828" y="1244683"/>
                  </a:moveTo>
                  <a:lnTo>
                    <a:pt x="4580828" y="1244683"/>
                  </a:lnTo>
                  <a:lnTo>
                    <a:pt x="4586548" y="1255107"/>
                  </a:lnTo>
                </a:path>
                <a:path w="4896484" h="4895850">
                  <a:moveTo>
                    <a:pt x="4617058" y="1311424"/>
                  </a:moveTo>
                  <a:lnTo>
                    <a:pt x="4617058" y="1311424"/>
                  </a:lnTo>
                  <a:lnTo>
                    <a:pt x="4622779" y="1322865"/>
                  </a:lnTo>
                </a:path>
                <a:path w="4896484" h="4895850">
                  <a:moveTo>
                    <a:pt x="4651382" y="1379054"/>
                  </a:moveTo>
                  <a:lnTo>
                    <a:pt x="4651382" y="1379054"/>
                  </a:lnTo>
                  <a:lnTo>
                    <a:pt x="4657103" y="1391513"/>
                  </a:lnTo>
                </a:path>
                <a:path w="4896484" h="4895850">
                  <a:moveTo>
                    <a:pt x="4683799" y="1448719"/>
                  </a:moveTo>
                  <a:lnTo>
                    <a:pt x="4683799" y="1448719"/>
                  </a:lnTo>
                  <a:lnTo>
                    <a:pt x="4688503" y="1460160"/>
                  </a:lnTo>
                </a:path>
                <a:path w="4896484" h="4895850">
                  <a:moveTo>
                    <a:pt x="4713419" y="1519273"/>
                  </a:moveTo>
                  <a:lnTo>
                    <a:pt x="4713419" y="1519273"/>
                  </a:lnTo>
                  <a:lnTo>
                    <a:pt x="4718123" y="1530715"/>
                  </a:lnTo>
                </a:path>
                <a:path w="4896484" h="4895850">
                  <a:moveTo>
                    <a:pt x="4742023" y="1589828"/>
                  </a:moveTo>
                  <a:lnTo>
                    <a:pt x="4742023" y="1589828"/>
                  </a:lnTo>
                  <a:lnTo>
                    <a:pt x="4745836" y="1602286"/>
                  </a:lnTo>
                </a:path>
                <a:path w="4896484" h="4895850">
                  <a:moveTo>
                    <a:pt x="4767702" y="1662416"/>
                  </a:moveTo>
                  <a:lnTo>
                    <a:pt x="4771516" y="1673858"/>
                  </a:lnTo>
                </a:path>
                <a:path w="4896484" h="4895850">
                  <a:moveTo>
                    <a:pt x="4790584" y="1734878"/>
                  </a:moveTo>
                  <a:lnTo>
                    <a:pt x="4790584" y="1734878"/>
                  </a:lnTo>
                  <a:lnTo>
                    <a:pt x="4794398" y="1747209"/>
                  </a:lnTo>
                </a:path>
                <a:path w="4896484" h="4895850">
                  <a:moveTo>
                    <a:pt x="4811560" y="1808356"/>
                  </a:moveTo>
                  <a:lnTo>
                    <a:pt x="4811560" y="1808356"/>
                  </a:lnTo>
                  <a:lnTo>
                    <a:pt x="4814484" y="1820687"/>
                  </a:lnTo>
                </a:path>
                <a:path w="4896484" h="4895850">
                  <a:moveTo>
                    <a:pt x="4830629" y="1881707"/>
                  </a:moveTo>
                  <a:lnTo>
                    <a:pt x="4831646" y="1886538"/>
                  </a:lnTo>
                  <a:lnTo>
                    <a:pt x="4833553" y="1894166"/>
                  </a:lnTo>
                </a:path>
                <a:path w="4896484" h="4895850">
                  <a:moveTo>
                    <a:pt x="4846901" y="1957093"/>
                  </a:moveTo>
                  <a:lnTo>
                    <a:pt x="4846901" y="1957093"/>
                  </a:lnTo>
                  <a:lnTo>
                    <a:pt x="4848808" y="1969424"/>
                  </a:lnTo>
                </a:path>
                <a:path w="4896484" h="4895850">
                  <a:moveTo>
                    <a:pt x="4860249" y="2031461"/>
                  </a:moveTo>
                  <a:lnTo>
                    <a:pt x="4860249" y="2031461"/>
                  </a:lnTo>
                  <a:lnTo>
                    <a:pt x="4863046" y="2043919"/>
                  </a:lnTo>
                </a:path>
                <a:path w="4896484" h="4895850">
                  <a:moveTo>
                    <a:pt x="4872580" y="2106846"/>
                  </a:moveTo>
                  <a:lnTo>
                    <a:pt x="4872580" y="2106846"/>
                  </a:lnTo>
                  <a:lnTo>
                    <a:pt x="4874487" y="2120194"/>
                  </a:lnTo>
                </a:path>
                <a:path w="4896484" h="4895850">
                  <a:moveTo>
                    <a:pt x="4882115" y="2183121"/>
                  </a:moveTo>
                  <a:lnTo>
                    <a:pt x="4882115" y="2183121"/>
                  </a:lnTo>
                  <a:lnTo>
                    <a:pt x="4883132" y="2195453"/>
                  </a:lnTo>
                </a:path>
                <a:path w="4896484" h="4895850">
                  <a:moveTo>
                    <a:pt x="4888852" y="2259397"/>
                  </a:moveTo>
                  <a:lnTo>
                    <a:pt x="4888852" y="2259397"/>
                  </a:lnTo>
                  <a:lnTo>
                    <a:pt x="4889742" y="2271855"/>
                  </a:lnTo>
                </a:path>
                <a:path w="4896484" h="4895850">
                  <a:moveTo>
                    <a:pt x="4893556" y="2334782"/>
                  </a:moveTo>
                  <a:lnTo>
                    <a:pt x="4893556" y="2334782"/>
                  </a:lnTo>
                  <a:lnTo>
                    <a:pt x="4894573" y="2348130"/>
                  </a:lnTo>
                </a:path>
                <a:path w="4896484" h="4895850">
                  <a:moveTo>
                    <a:pt x="4895463" y="2411947"/>
                  </a:moveTo>
                  <a:lnTo>
                    <a:pt x="4895463" y="2411947"/>
                  </a:lnTo>
                  <a:lnTo>
                    <a:pt x="4895463" y="2424405"/>
                  </a:lnTo>
                </a:path>
              </a:pathLst>
            </a:custGeom>
            <a:ln w="19075">
              <a:solidFill>
                <a:srgbClr val="81D3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71769" y="3039617"/>
            <a:ext cx="3456304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>
                <a:solidFill>
                  <a:srgbClr val="FFFFFF"/>
                </a:solidFill>
              </a:rPr>
              <a:t>Ключові клінічні </a:t>
            </a:r>
            <a:r>
              <a:rPr sz="3400" spc="-10" dirty="0">
                <a:solidFill>
                  <a:srgbClr val="FFFFFF"/>
                </a:solidFill>
              </a:rPr>
              <a:t>дослідження</a:t>
            </a:r>
            <a:endParaRPr sz="3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68652" y="2266442"/>
              <a:ext cx="1873885" cy="2580640"/>
            </a:xfrm>
            <a:custGeom>
              <a:avLst/>
              <a:gdLst/>
              <a:ahLst/>
              <a:cxnLst/>
              <a:rect l="l" t="t" r="r" b="b"/>
              <a:pathLst>
                <a:path w="1873885" h="2580640">
                  <a:moveTo>
                    <a:pt x="1873630" y="0"/>
                  </a:moveTo>
                  <a:lnTo>
                    <a:pt x="0" y="0"/>
                  </a:lnTo>
                  <a:lnTo>
                    <a:pt x="0" y="2580512"/>
                  </a:lnTo>
                  <a:lnTo>
                    <a:pt x="1873630" y="2580512"/>
                  </a:lnTo>
                  <a:lnTo>
                    <a:pt x="1873630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68652" y="2266442"/>
              <a:ext cx="1873885" cy="2580640"/>
            </a:xfrm>
            <a:custGeom>
              <a:avLst/>
              <a:gdLst/>
              <a:ahLst/>
              <a:cxnLst/>
              <a:rect l="l" t="t" r="r" b="b"/>
              <a:pathLst>
                <a:path w="1873885" h="2580640">
                  <a:moveTo>
                    <a:pt x="0" y="2580512"/>
                  </a:moveTo>
                  <a:lnTo>
                    <a:pt x="1873630" y="2580512"/>
                  </a:lnTo>
                  <a:lnTo>
                    <a:pt x="1873630" y="0"/>
                  </a:lnTo>
                  <a:lnTo>
                    <a:pt x="0" y="0"/>
                  </a:lnTo>
                  <a:lnTo>
                    <a:pt x="0" y="2580512"/>
                  </a:lnTo>
                  <a:close/>
                </a:path>
              </a:pathLst>
            </a:custGeom>
            <a:ln w="127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997710" y="2709418"/>
            <a:ext cx="121666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0025" marR="5080" indent="-18796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312783"/>
                </a:solidFill>
                <a:latin typeface="Calibri"/>
                <a:cs typeface="Calibri"/>
              </a:rPr>
              <a:t>(НІДЕРЛАНДИ, УГОРЩИНА)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5142" y="3349193"/>
            <a:ext cx="11607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РЕЄСТР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ДОСЛІДЖЕНЬ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3072" y="3776598"/>
            <a:ext cx="126619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СИМПТОМАТИЧНИЙ ОСТЕОАРТРИТ, ВКЛЮЧАЮЧИ РЕФРАКТЕРНИЙ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24201" y="1646682"/>
            <a:ext cx="1433830" cy="1085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6690"/>
              </a:lnSpc>
              <a:spcBef>
                <a:spcPts val="100"/>
              </a:spcBef>
            </a:pPr>
            <a:r>
              <a:rPr sz="60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0">
              <a:latin typeface="Calibri"/>
              <a:cs typeface="Calibri"/>
            </a:endParaRPr>
          </a:p>
          <a:p>
            <a:pPr marL="12700">
              <a:lnSpc>
                <a:spcPts val="1650"/>
              </a:lnSpc>
            </a:pPr>
            <a:r>
              <a:rPr sz="1800" b="1" spc="-10" dirty="0">
                <a:solidFill>
                  <a:srgbClr val="312783"/>
                </a:solidFill>
                <a:latin typeface="Calibri"/>
                <a:cs typeface="Calibri"/>
              </a:rPr>
              <a:t>APROOVE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02252" y="4933467"/>
            <a:ext cx="1866900" cy="513715"/>
          </a:xfrm>
          <a:prstGeom prst="rect">
            <a:avLst/>
          </a:prstGeom>
          <a:solidFill>
            <a:srgbClr val="2E2E81"/>
          </a:solidFill>
          <a:ln w="28575">
            <a:solidFill>
              <a:srgbClr val="F1F1F1"/>
            </a:solidFill>
          </a:ln>
        </p:spPr>
        <p:txBody>
          <a:bodyPr vert="horz" wrap="square" lIns="0" tIns="10541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83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n=49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95902" y="2258822"/>
            <a:ext cx="1879600" cy="2593340"/>
            <a:chOff x="4295902" y="2258822"/>
            <a:chExt cx="1879600" cy="2593340"/>
          </a:xfrm>
        </p:grpSpPr>
        <p:sp>
          <p:nvSpPr>
            <p:cNvPr id="12" name="object 12"/>
            <p:cNvSpPr/>
            <p:nvPr/>
          </p:nvSpPr>
          <p:spPr>
            <a:xfrm>
              <a:off x="4302252" y="2265172"/>
              <a:ext cx="1866900" cy="2580640"/>
            </a:xfrm>
            <a:custGeom>
              <a:avLst/>
              <a:gdLst/>
              <a:ahLst/>
              <a:cxnLst/>
              <a:rect l="l" t="t" r="r" b="b"/>
              <a:pathLst>
                <a:path w="1866900" h="2580640">
                  <a:moveTo>
                    <a:pt x="1866392" y="0"/>
                  </a:moveTo>
                  <a:lnTo>
                    <a:pt x="0" y="0"/>
                  </a:lnTo>
                  <a:lnTo>
                    <a:pt x="0" y="2580513"/>
                  </a:lnTo>
                  <a:lnTo>
                    <a:pt x="1866392" y="2580513"/>
                  </a:lnTo>
                  <a:lnTo>
                    <a:pt x="1866392" y="0"/>
                  </a:lnTo>
                  <a:close/>
                </a:path>
              </a:pathLst>
            </a:custGeom>
            <a:solidFill>
              <a:srgbClr val="9ECC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02252" y="2265172"/>
              <a:ext cx="1866900" cy="2580640"/>
            </a:xfrm>
            <a:custGeom>
              <a:avLst/>
              <a:gdLst/>
              <a:ahLst/>
              <a:cxnLst/>
              <a:rect l="l" t="t" r="r" b="b"/>
              <a:pathLst>
                <a:path w="1866900" h="2580640">
                  <a:moveTo>
                    <a:pt x="0" y="2580513"/>
                  </a:moveTo>
                  <a:lnTo>
                    <a:pt x="1866392" y="2580513"/>
                  </a:lnTo>
                  <a:lnTo>
                    <a:pt x="1866392" y="0"/>
                  </a:lnTo>
                  <a:lnTo>
                    <a:pt x="0" y="0"/>
                  </a:lnTo>
                  <a:lnTo>
                    <a:pt x="0" y="2580513"/>
                  </a:lnTo>
                  <a:close/>
                </a:path>
              </a:pathLst>
            </a:custGeom>
            <a:ln w="127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325998" y="2676975"/>
            <a:ext cx="1805942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312783"/>
                </a:solidFill>
                <a:latin typeface="Calibri"/>
                <a:cs typeface="Calibri"/>
              </a:rPr>
              <a:t>ПІСЛЯМАРКЕТИНГОВЕ</a:t>
            </a:r>
            <a:endParaRPr sz="1400" dirty="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</a:pPr>
            <a:r>
              <a:rPr sz="1400" b="1" spc="-10" dirty="0">
                <a:solidFill>
                  <a:srgbClr val="312783"/>
                </a:solidFill>
                <a:latin typeface="Calibri"/>
                <a:cs typeface="Calibri"/>
              </a:rPr>
              <a:t>ДОСЛІДЖЕННЯ (НІМЕЧЧИНА)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99813" y="3530930"/>
            <a:ext cx="1270635" cy="10906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1270" algn="ctr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СИМПТОМАТИЧНИЙ ОСТЕОАРТРИТ, ВКЛЮЧАЮЧИ</a:t>
            </a:r>
            <a:endParaRPr sz="1400" dirty="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РЕФРАКТ</a:t>
            </a:r>
            <a:r>
              <a:rPr lang="uk-UA" sz="1400" spc="-10" dirty="0">
                <a:solidFill>
                  <a:srgbClr val="FFFFFF"/>
                </a:solidFill>
                <a:latin typeface="Calibri"/>
                <a:cs typeface="Calibri"/>
              </a:rPr>
              <a:t>Е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РНИЙ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56528" y="1645411"/>
            <a:ext cx="4121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77939" y="4969281"/>
            <a:ext cx="1859914" cy="513715"/>
          </a:xfrm>
          <a:prstGeom prst="rect">
            <a:avLst/>
          </a:prstGeom>
          <a:solidFill>
            <a:srgbClr val="2E2E81"/>
          </a:solidFill>
          <a:ln w="28575">
            <a:solidFill>
              <a:srgbClr val="F1F1F1"/>
            </a:solidFill>
          </a:ln>
        </p:spPr>
        <p:txBody>
          <a:bodyPr vert="horz" wrap="square" lIns="0" tIns="10541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83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n=112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876922" y="2258822"/>
            <a:ext cx="1879600" cy="2595245"/>
            <a:chOff x="6876922" y="2258822"/>
            <a:chExt cx="1879600" cy="2595245"/>
          </a:xfrm>
        </p:grpSpPr>
        <p:sp>
          <p:nvSpPr>
            <p:cNvPr id="19" name="object 19"/>
            <p:cNvSpPr/>
            <p:nvPr/>
          </p:nvSpPr>
          <p:spPr>
            <a:xfrm>
              <a:off x="6883272" y="2265172"/>
              <a:ext cx="1866900" cy="2582545"/>
            </a:xfrm>
            <a:custGeom>
              <a:avLst/>
              <a:gdLst/>
              <a:ahLst/>
              <a:cxnLst/>
              <a:rect l="l" t="t" r="r" b="b"/>
              <a:pathLst>
                <a:path w="1866900" h="2582545">
                  <a:moveTo>
                    <a:pt x="1866392" y="0"/>
                  </a:moveTo>
                  <a:lnTo>
                    <a:pt x="0" y="0"/>
                  </a:lnTo>
                  <a:lnTo>
                    <a:pt x="0" y="2582036"/>
                  </a:lnTo>
                  <a:lnTo>
                    <a:pt x="1866392" y="2582036"/>
                  </a:lnTo>
                  <a:lnTo>
                    <a:pt x="1866392" y="0"/>
                  </a:lnTo>
                  <a:close/>
                </a:path>
              </a:pathLst>
            </a:custGeom>
            <a:solidFill>
              <a:srgbClr val="9ECC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83272" y="2265172"/>
              <a:ext cx="1866900" cy="2582545"/>
            </a:xfrm>
            <a:custGeom>
              <a:avLst/>
              <a:gdLst/>
              <a:ahLst/>
              <a:cxnLst/>
              <a:rect l="l" t="t" r="r" b="b"/>
              <a:pathLst>
                <a:path w="1866900" h="2582545">
                  <a:moveTo>
                    <a:pt x="0" y="2582036"/>
                  </a:moveTo>
                  <a:lnTo>
                    <a:pt x="1866392" y="2582036"/>
                  </a:lnTo>
                  <a:lnTo>
                    <a:pt x="1866392" y="0"/>
                  </a:lnTo>
                  <a:lnTo>
                    <a:pt x="0" y="0"/>
                  </a:lnTo>
                  <a:lnTo>
                    <a:pt x="0" y="2582036"/>
                  </a:lnTo>
                  <a:close/>
                </a:path>
              </a:pathLst>
            </a:custGeom>
            <a:ln w="12699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313803" y="2754629"/>
            <a:ext cx="100520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312783"/>
                </a:solidFill>
                <a:latin typeface="Calibri"/>
                <a:cs typeface="Calibri"/>
              </a:rPr>
              <a:t>РЕАЛЬНІ </a:t>
            </a:r>
            <a:r>
              <a:rPr sz="1600" b="1" spc="-10" dirty="0">
                <a:solidFill>
                  <a:srgbClr val="312783"/>
                </a:solidFill>
                <a:latin typeface="Calibri"/>
                <a:cs typeface="Calibri"/>
              </a:rPr>
              <a:t>ІН'ЄКЦІЇ (БЕЛЬГІЯ)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21778" y="3669284"/>
            <a:ext cx="1491643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РЕФРАКТ</a:t>
            </a:r>
            <a:r>
              <a:rPr lang="uk-UA" sz="1400" spc="-10" dirty="0">
                <a:solidFill>
                  <a:srgbClr val="FFFFFF"/>
                </a:solidFill>
                <a:latin typeface="Calibri"/>
                <a:cs typeface="Calibri"/>
              </a:rPr>
              <a:t>Е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РНИЙ ОСТЕОАРТРИТ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КОЛІННОГО СУГЛОБА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lang="uk-UA" sz="1400" dirty="0">
                <a:solidFill>
                  <a:srgbClr val="FFFFFF"/>
                </a:solidFill>
                <a:latin typeface="Calibri"/>
                <a:cs typeface="Calibri"/>
              </a:rPr>
              <a:t>ОА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III/IV)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10498" y="1645411"/>
            <a:ext cx="4121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95830" y="4934737"/>
            <a:ext cx="1831975" cy="513715"/>
          </a:xfrm>
          <a:prstGeom prst="rect">
            <a:avLst/>
          </a:prstGeom>
          <a:solidFill>
            <a:srgbClr val="2E2E81"/>
          </a:solidFill>
          <a:ln w="28575">
            <a:solidFill>
              <a:srgbClr val="F1F1F1"/>
            </a:solidFill>
          </a:ln>
        </p:spPr>
        <p:txBody>
          <a:bodyPr vert="horz" wrap="square" lIns="0" tIns="105410" rIns="0" bIns="0" rtlCol="0">
            <a:spAutoFit/>
          </a:bodyPr>
          <a:lstStyle/>
          <a:p>
            <a:pPr marL="477520">
              <a:lnSpc>
                <a:spcPct val="100000"/>
              </a:lnSpc>
              <a:spcBef>
                <a:spcPts val="83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n=63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(/95)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28807" y="107887"/>
            <a:ext cx="10952480" cy="6750684"/>
            <a:chOff x="228807" y="107887"/>
            <a:chExt cx="10952480" cy="6750684"/>
          </a:xfrm>
        </p:grpSpPr>
        <p:sp>
          <p:nvSpPr>
            <p:cNvPr id="26" name="object 26"/>
            <p:cNvSpPr/>
            <p:nvPr/>
          </p:nvSpPr>
          <p:spPr>
            <a:xfrm>
              <a:off x="237821" y="116902"/>
              <a:ext cx="716915" cy="715645"/>
            </a:xfrm>
            <a:custGeom>
              <a:avLst/>
              <a:gdLst/>
              <a:ahLst/>
              <a:cxnLst/>
              <a:rect l="l" t="t" r="r" b="b"/>
              <a:pathLst>
                <a:path w="716915" h="715644">
                  <a:moveTo>
                    <a:pt x="716323" y="358689"/>
                  </a:moveTo>
                  <a:lnTo>
                    <a:pt x="716323" y="358689"/>
                  </a:lnTo>
                  <a:lnTo>
                    <a:pt x="716323" y="371034"/>
                  </a:lnTo>
                </a:path>
                <a:path w="716915" h="715644">
                  <a:moveTo>
                    <a:pt x="707782" y="433656"/>
                  </a:moveTo>
                  <a:lnTo>
                    <a:pt x="707782" y="433656"/>
                  </a:lnTo>
                  <a:lnTo>
                    <a:pt x="705887" y="445989"/>
                  </a:lnTo>
                </a:path>
                <a:path w="716915" h="715644">
                  <a:moveTo>
                    <a:pt x="685016" y="504820"/>
                  </a:moveTo>
                  <a:lnTo>
                    <a:pt x="685016" y="504820"/>
                  </a:lnTo>
                  <a:lnTo>
                    <a:pt x="679318" y="517165"/>
                  </a:lnTo>
                </a:path>
                <a:path w="716915" h="715644">
                  <a:moveTo>
                    <a:pt x="647064" y="570298"/>
                  </a:moveTo>
                  <a:lnTo>
                    <a:pt x="647064" y="570298"/>
                  </a:lnTo>
                  <a:lnTo>
                    <a:pt x="638524" y="580735"/>
                  </a:lnTo>
                </a:path>
                <a:path w="716915" h="715644">
                  <a:moveTo>
                    <a:pt x="595822" y="626287"/>
                  </a:moveTo>
                  <a:lnTo>
                    <a:pt x="595822" y="626287"/>
                  </a:lnTo>
                  <a:lnTo>
                    <a:pt x="586334" y="634827"/>
                  </a:lnTo>
                </a:path>
                <a:path w="716915" h="715644">
                  <a:moveTo>
                    <a:pt x="534156" y="669937"/>
                  </a:moveTo>
                  <a:lnTo>
                    <a:pt x="526563" y="674681"/>
                  </a:lnTo>
                  <a:lnTo>
                    <a:pt x="522773" y="676579"/>
                  </a:lnTo>
                </a:path>
                <a:path w="716915" h="715644">
                  <a:moveTo>
                    <a:pt x="464898" y="700301"/>
                  </a:moveTo>
                  <a:lnTo>
                    <a:pt x="464898" y="700301"/>
                  </a:lnTo>
                  <a:lnTo>
                    <a:pt x="452567" y="704097"/>
                  </a:lnTo>
                </a:path>
                <a:path w="716915" h="715644">
                  <a:moveTo>
                    <a:pt x="390889" y="714535"/>
                  </a:moveTo>
                  <a:lnTo>
                    <a:pt x="390889" y="714535"/>
                  </a:lnTo>
                  <a:lnTo>
                    <a:pt x="378558" y="715484"/>
                  </a:lnTo>
                </a:path>
                <a:path w="716915" h="715644">
                  <a:moveTo>
                    <a:pt x="314985" y="714535"/>
                  </a:moveTo>
                  <a:lnTo>
                    <a:pt x="313090" y="714535"/>
                  </a:lnTo>
                  <a:lnTo>
                    <a:pt x="302655" y="712637"/>
                  </a:lnTo>
                </a:path>
                <a:path w="716915" h="715644">
                  <a:moveTo>
                    <a:pt x="241937" y="697454"/>
                  </a:moveTo>
                  <a:lnTo>
                    <a:pt x="241937" y="697454"/>
                  </a:lnTo>
                  <a:lnTo>
                    <a:pt x="229606" y="692710"/>
                  </a:lnTo>
                </a:path>
                <a:path w="716915" h="715644">
                  <a:moveTo>
                    <a:pt x="173626" y="665192"/>
                  </a:moveTo>
                  <a:lnTo>
                    <a:pt x="173626" y="665192"/>
                  </a:lnTo>
                  <a:lnTo>
                    <a:pt x="162243" y="658549"/>
                  </a:lnTo>
                </a:path>
                <a:path w="716915" h="715644">
                  <a:moveTo>
                    <a:pt x="112903" y="619644"/>
                  </a:moveTo>
                  <a:lnTo>
                    <a:pt x="112903" y="619644"/>
                  </a:lnTo>
                  <a:lnTo>
                    <a:pt x="104364" y="610154"/>
                  </a:lnTo>
                </a:path>
                <a:path w="716915" h="715644">
                  <a:moveTo>
                    <a:pt x="63567" y="562704"/>
                  </a:moveTo>
                  <a:lnTo>
                    <a:pt x="63567" y="562704"/>
                  </a:lnTo>
                  <a:lnTo>
                    <a:pt x="56925" y="551319"/>
                  </a:lnTo>
                </a:path>
                <a:path w="716915" h="715644">
                  <a:moveTo>
                    <a:pt x="27514" y="496291"/>
                  </a:moveTo>
                  <a:lnTo>
                    <a:pt x="23718" y="487749"/>
                  </a:lnTo>
                  <a:lnTo>
                    <a:pt x="22770" y="483945"/>
                  </a:lnTo>
                </a:path>
                <a:path w="716915" h="715644">
                  <a:moveTo>
                    <a:pt x="5693" y="423218"/>
                  </a:moveTo>
                  <a:lnTo>
                    <a:pt x="5693" y="423218"/>
                  </a:lnTo>
                  <a:lnTo>
                    <a:pt x="3795" y="410886"/>
                  </a:lnTo>
                </a:path>
                <a:path w="716915" h="715644">
                  <a:moveTo>
                    <a:pt x="0" y="348251"/>
                  </a:moveTo>
                  <a:lnTo>
                    <a:pt x="0" y="348251"/>
                  </a:lnTo>
                  <a:lnTo>
                    <a:pt x="948" y="335919"/>
                  </a:lnTo>
                </a:path>
                <a:path w="716915" h="715644">
                  <a:moveTo>
                    <a:pt x="9488" y="273296"/>
                  </a:moveTo>
                  <a:lnTo>
                    <a:pt x="10437" y="270440"/>
                  </a:lnTo>
                  <a:lnTo>
                    <a:pt x="13282" y="260951"/>
                  </a:lnTo>
                </a:path>
                <a:path w="716915" h="715644">
                  <a:moveTo>
                    <a:pt x="36053" y="202119"/>
                  </a:moveTo>
                  <a:lnTo>
                    <a:pt x="36053" y="202119"/>
                  </a:lnTo>
                  <a:lnTo>
                    <a:pt x="40797" y="190735"/>
                  </a:lnTo>
                </a:path>
                <a:path w="716915" h="715644">
                  <a:moveTo>
                    <a:pt x="75901" y="138549"/>
                  </a:moveTo>
                  <a:lnTo>
                    <a:pt x="75901" y="138549"/>
                  </a:lnTo>
                  <a:lnTo>
                    <a:pt x="83491" y="128112"/>
                  </a:lnTo>
                </a:path>
                <a:path w="716915" h="715644">
                  <a:moveTo>
                    <a:pt x="128081" y="83508"/>
                  </a:moveTo>
                  <a:lnTo>
                    <a:pt x="128081" y="83508"/>
                  </a:lnTo>
                  <a:lnTo>
                    <a:pt x="138517" y="75914"/>
                  </a:lnTo>
                </a:path>
                <a:path w="716915" h="715644">
                  <a:moveTo>
                    <a:pt x="190707" y="40813"/>
                  </a:moveTo>
                  <a:lnTo>
                    <a:pt x="190707" y="40813"/>
                  </a:lnTo>
                  <a:lnTo>
                    <a:pt x="202090" y="36062"/>
                  </a:lnTo>
                </a:path>
                <a:path w="716915" h="715644">
                  <a:moveTo>
                    <a:pt x="260913" y="13292"/>
                  </a:moveTo>
                  <a:lnTo>
                    <a:pt x="269453" y="10449"/>
                  </a:lnTo>
                  <a:lnTo>
                    <a:pt x="273243" y="10449"/>
                  </a:lnTo>
                </a:path>
                <a:path w="716915" h="715644">
                  <a:moveTo>
                    <a:pt x="335869" y="960"/>
                  </a:moveTo>
                  <a:lnTo>
                    <a:pt x="335869" y="960"/>
                  </a:lnTo>
                  <a:lnTo>
                    <a:pt x="348199" y="0"/>
                  </a:lnTo>
                </a:path>
                <a:path w="716915" h="715644">
                  <a:moveTo>
                    <a:pt x="410812" y="3803"/>
                  </a:moveTo>
                  <a:lnTo>
                    <a:pt x="410812" y="3803"/>
                  </a:lnTo>
                  <a:lnTo>
                    <a:pt x="423156" y="6646"/>
                  </a:lnTo>
                </a:path>
                <a:path w="716915" h="715644">
                  <a:moveTo>
                    <a:pt x="483874" y="22782"/>
                  </a:moveTo>
                  <a:lnTo>
                    <a:pt x="487664" y="23729"/>
                  </a:lnTo>
                  <a:lnTo>
                    <a:pt x="496204" y="27520"/>
                  </a:lnTo>
                </a:path>
                <a:path w="716915" h="715644">
                  <a:moveTo>
                    <a:pt x="551237" y="56936"/>
                  </a:moveTo>
                  <a:lnTo>
                    <a:pt x="551237" y="56936"/>
                  </a:lnTo>
                  <a:lnTo>
                    <a:pt x="562620" y="63582"/>
                  </a:lnTo>
                </a:path>
                <a:path w="716915" h="715644">
                  <a:moveTo>
                    <a:pt x="610060" y="104383"/>
                  </a:moveTo>
                  <a:lnTo>
                    <a:pt x="610060" y="104383"/>
                  </a:lnTo>
                  <a:lnTo>
                    <a:pt x="619548" y="112925"/>
                  </a:lnTo>
                </a:path>
                <a:path w="716915" h="715644">
                  <a:moveTo>
                    <a:pt x="658447" y="163215"/>
                  </a:moveTo>
                  <a:lnTo>
                    <a:pt x="658447" y="163215"/>
                  </a:lnTo>
                  <a:lnTo>
                    <a:pt x="665093" y="173652"/>
                  </a:lnTo>
                </a:path>
                <a:path w="716915" h="715644">
                  <a:moveTo>
                    <a:pt x="692596" y="229641"/>
                  </a:moveTo>
                  <a:lnTo>
                    <a:pt x="692596" y="229641"/>
                  </a:lnTo>
                  <a:lnTo>
                    <a:pt x="696399" y="241973"/>
                  </a:lnTo>
                </a:path>
                <a:path w="716915" h="715644">
                  <a:moveTo>
                    <a:pt x="711572" y="303660"/>
                  </a:moveTo>
                  <a:lnTo>
                    <a:pt x="713480" y="313150"/>
                  </a:lnTo>
                  <a:lnTo>
                    <a:pt x="714428" y="315993"/>
                  </a:lnTo>
                </a:path>
              </a:pathLst>
            </a:custGeom>
            <a:ln w="18028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96633" y="852551"/>
              <a:ext cx="0" cy="6005830"/>
            </a:xfrm>
            <a:custGeom>
              <a:avLst/>
              <a:gdLst/>
              <a:ahLst/>
              <a:cxnLst/>
              <a:rect l="l" t="t" r="r" b="b"/>
              <a:pathLst>
                <a:path h="6005830">
                  <a:moveTo>
                    <a:pt x="0" y="0"/>
                  </a:moveTo>
                  <a:lnTo>
                    <a:pt x="0" y="600544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307957" y="2229230"/>
              <a:ext cx="1866900" cy="2582545"/>
            </a:xfrm>
            <a:custGeom>
              <a:avLst/>
              <a:gdLst/>
              <a:ahLst/>
              <a:cxnLst/>
              <a:rect l="l" t="t" r="r" b="b"/>
              <a:pathLst>
                <a:path w="1866900" h="2582545">
                  <a:moveTo>
                    <a:pt x="1866392" y="0"/>
                  </a:moveTo>
                  <a:lnTo>
                    <a:pt x="0" y="0"/>
                  </a:lnTo>
                  <a:lnTo>
                    <a:pt x="0" y="2582037"/>
                  </a:lnTo>
                  <a:lnTo>
                    <a:pt x="1866392" y="2582037"/>
                  </a:lnTo>
                  <a:lnTo>
                    <a:pt x="1866392" y="0"/>
                  </a:lnTo>
                  <a:close/>
                </a:path>
              </a:pathLst>
            </a:custGeom>
            <a:solidFill>
              <a:srgbClr val="9ECC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307957" y="2229230"/>
              <a:ext cx="1866900" cy="2582545"/>
            </a:xfrm>
            <a:custGeom>
              <a:avLst/>
              <a:gdLst/>
              <a:ahLst/>
              <a:cxnLst/>
              <a:rect l="l" t="t" r="r" b="b"/>
              <a:pathLst>
                <a:path w="1866900" h="2582545">
                  <a:moveTo>
                    <a:pt x="0" y="2582037"/>
                  </a:moveTo>
                  <a:lnTo>
                    <a:pt x="1866392" y="2582037"/>
                  </a:lnTo>
                  <a:lnTo>
                    <a:pt x="1866392" y="0"/>
                  </a:lnTo>
                  <a:lnTo>
                    <a:pt x="0" y="0"/>
                  </a:lnTo>
                  <a:lnTo>
                    <a:pt x="0" y="2582037"/>
                  </a:lnTo>
                  <a:close/>
                </a:path>
              </a:pathLst>
            </a:custGeom>
            <a:ln w="127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083054" y="276605"/>
            <a:ext cx="537418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FFFFFF"/>
                </a:solidFill>
                <a:latin typeface="Calibri"/>
                <a:cs typeface="Calibri"/>
              </a:rPr>
              <a:t>Ключові клінічні </a:t>
            </a:r>
            <a:r>
              <a:rPr sz="3000" b="1" spc="-10" dirty="0">
                <a:solidFill>
                  <a:srgbClr val="FFFFFF"/>
                </a:solidFill>
                <a:latin typeface="Calibri"/>
                <a:cs typeface="Calibri"/>
              </a:rPr>
              <a:t>дослідження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302622" y="4933467"/>
            <a:ext cx="1859914" cy="513715"/>
          </a:xfrm>
          <a:prstGeom prst="rect">
            <a:avLst/>
          </a:prstGeom>
          <a:solidFill>
            <a:srgbClr val="2E2E81"/>
          </a:solidFill>
          <a:ln w="28575">
            <a:solidFill>
              <a:srgbClr val="F1F1F1"/>
            </a:solidFill>
          </a:ln>
        </p:spPr>
        <p:txBody>
          <a:bodyPr vert="horz" wrap="square" lIns="0" tIns="105410" rIns="0" bIns="0" rtlCol="0">
            <a:spAutoFit/>
          </a:bodyPr>
          <a:lstStyle/>
          <a:p>
            <a:pPr marL="383540">
              <a:lnSpc>
                <a:spcPct val="100000"/>
              </a:lnSpc>
              <a:spcBef>
                <a:spcPts val="83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n=52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(/104)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770744" y="2947542"/>
            <a:ext cx="9423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509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312783"/>
                </a:solidFill>
                <a:latin typeface="Calibri"/>
                <a:cs typeface="Calibri"/>
              </a:rPr>
              <a:t>PIONEER (БЕЛЬГІЯ)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543668" y="3618102"/>
            <a:ext cx="139700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 marR="5080" indent="-62865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РЕФРАКТ</a:t>
            </a:r>
            <a:r>
              <a:rPr lang="uk-UA" sz="1400" spc="-10" dirty="0">
                <a:solidFill>
                  <a:srgbClr val="FFFFFF"/>
                </a:solidFill>
                <a:latin typeface="Calibri"/>
                <a:cs typeface="Calibri"/>
              </a:rPr>
              <a:t>Е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РНИЙ ОСТЕОАРТРИТ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КОЛІННОГО СУГЛОБА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10735182" y="1609166"/>
            <a:ext cx="41211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50" dirty="0">
                <a:solidFill>
                  <a:srgbClr val="FFFFFF"/>
                </a:solidFill>
              </a:rPr>
              <a:t>4</a:t>
            </a:r>
            <a:endParaRPr sz="6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26218" y="1196519"/>
            <a:ext cx="11375643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6525" marR="1427480" indent="-136525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Font typeface="Arial"/>
              <a:buChar char="•"/>
              <a:tabLst>
                <a:tab pos="136525" algn="l"/>
              </a:tabLs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Пацієнти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з болючим остеоартритом колінного </a:t>
            </a:r>
            <a:r>
              <a:rPr sz="1600" dirty="0" err="1">
                <a:solidFill>
                  <a:srgbClr val="FFFFFF"/>
                </a:solidFill>
                <a:latin typeface="Calibri"/>
                <a:cs typeface="Calibri"/>
              </a:rPr>
              <a:t>суглоба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 (</a:t>
            </a:r>
            <a:r>
              <a:rPr lang="uk-UA" sz="1600" dirty="0">
                <a:solidFill>
                  <a:srgbClr val="FFFFFF"/>
                </a:solidFill>
                <a:latin typeface="Calibri"/>
                <a:cs typeface="Calibri"/>
              </a:rPr>
              <a:t>ОА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 II/III) </a:t>
            </a:r>
            <a:r>
              <a:rPr sz="1600" dirty="0" err="1">
                <a:solidFill>
                  <a:srgbClr val="FFFFFF"/>
                </a:solidFill>
                <a:latin typeface="Calibri"/>
                <a:cs typeface="Calibri"/>
              </a:rPr>
              <a:t>отримували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  <a:cs typeface="Calibri"/>
              </a:rPr>
              <a:t>KiOmedine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uk-UA" sz="1600" spc="-10" dirty="0">
                <a:solidFill>
                  <a:srgbClr val="FFFFFF"/>
                </a:solidFill>
                <a:latin typeface="Calibri"/>
                <a:cs typeface="Calibri"/>
              </a:rPr>
              <a:t>К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M-</a:t>
            </a:r>
            <a:r>
              <a:rPr lang="uk-UA" sz="1600" spc="-10" dirty="0" err="1">
                <a:solidFill>
                  <a:srgbClr val="FFFFFF"/>
                </a:solidFill>
                <a:latin typeface="Calibri"/>
                <a:cs typeface="Calibri"/>
              </a:rPr>
              <a:t>Хітозан</a:t>
            </a:r>
            <a:endParaRPr sz="1600" dirty="0">
              <a:latin typeface="Calibri"/>
              <a:cs typeface="Calibri"/>
            </a:endParaRPr>
          </a:p>
          <a:p>
            <a:pPr marR="145034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(KioMedinevsone)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на основі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рандомізації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в режимі одинарного сліпого контролю та спостерігалися протягом 6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місяців</a:t>
            </a:r>
            <a:endParaRPr sz="1600" dirty="0">
              <a:latin typeface="Calibri"/>
              <a:cs typeface="Calibri"/>
            </a:endParaRPr>
          </a:p>
          <a:p>
            <a:pPr marL="149225" indent="-136525">
              <a:lnSpc>
                <a:spcPct val="100000"/>
              </a:lnSpc>
              <a:buFont typeface="Arial"/>
              <a:buChar char="•"/>
              <a:tabLst>
                <a:tab pos="14922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Використання контрольної </a:t>
            </a:r>
            <a:r>
              <a:rPr sz="1600" dirty="0" err="1">
                <a:solidFill>
                  <a:srgbClr val="FFFFFF"/>
                </a:solidFill>
                <a:latin typeface="Calibri"/>
                <a:cs typeface="Calibri"/>
              </a:rPr>
              <a:t>групи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( </a:t>
            </a:r>
            <a:r>
              <a:rPr sz="1600" dirty="0" err="1">
                <a:solidFill>
                  <a:srgbClr val="FFFFFF"/>
                </a:solidFill>
                <a:latin typeface="Calibri"/>
                <a:cs typeface="Calibri"/>
              </a:rPr>
              <a:t>зшит</a:t>
            </a:r>
            <a:r>
              <a:rPr lang="uk-UA" sz="1600" dirty="0">
                <a:solidFill>
                  <a:srgbClr val="FFFFFF"/>
                </a:solidFill>
                <a:latin typeface="Calibri"/>
                <a:cs typeface="Calibri"/>
              </a:rPr>
              <a:t>а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 ГК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)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дозволило науково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підтвердити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 результати клінічного дослідження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498071" y="-15494"/>
            <a:ext cx="4121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50" dirty="0">
                <a:solidFill>
                  <a:srgbClr val="FFFFFF"/>
                </a:solidFill>
              </a:rPr>
              <a:t>1</a:t>
            </a:r>
            <a:endParaRPr sz="6000"/>
          </a:p>
        </p:txBody>
      </p:sp>
      <p:sp>
        <p:nvSpPr>
          <p:cNvPr id="5" name="object 5"/>
          <p:cNvSpPr txBox="1"/>
          <p:nvPr/>
        </p:nvSpPr>
        <p:spPr>
          <a:xfrm>
            <a:off x="1083055" y="6467957"/>
            <a:ext cx="9940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2. П. Дж. Еманс, Г. Скаліцкі, Д.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Хаверкамп,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Дж. Бентін, М. Шоссон, М. Шиффлерс, Л. Ермітт, П. Дуетт. Перше дослідження на людях з метою оцінки одноразового введення KiOmedine®CM-хітозану для лікування симптоматичного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остеоартриту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колінного суглоба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.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The Open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Rheumatology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Journal, 2022 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;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 16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Supplem.</a:t>
            </a:r>
            <a:endParaRPr sz="900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28807" y="107887"/>
            <a:ext cx="11118215" cy="6750684"/>
            <a:chOff x="228807" y="107887"/>
            <a:chExt cx="11118215" cy="6750684"/>
          </a:xfrm>
        </p:grpSpPr>
        <p:sp>
          <p:nvSpPr>
            <p:cNvPr id="7" name="object 7"/>
            <p:cNvSpPr/>
            <p:nvPr/>
          </p:nvSpPr>
          <p:spPr>
            <a:xfrm>
              <a:off x="237821" y="116902"/>
              <a:ext cx="716915" cy="715645"/>
            </a:xfrm>
            <a:custGeom>
              <a:avLst/>
              <a:gdLst/>
              <a:ahLst/>
              <a:cxnLst/>
              <a:rect l="l" t="t" r="r" b="b"/>
              <a:pathLst>
                <a:path w="716915" h="715644">
                  <a:moveTo>
                    <a:pt x="716323" y="358689"/>
                  </a:moveTo>
                  <a:lnTo>
                    <a:pt x="716323" y="358689"/>
                  </a:lnTo>
                  <a:lnTo>
                    <a:pt x="716323" y="371034"/>
                  </a:lnTo>
                </a:path>
                <a:path w="716915" h="715644">
                  <a:moveTo>
                    <a:pt x="707782" y="433656"/>
                  </a:moveTo>
                  <a:lnTo>
                    <a:pt x="707782" y="433656"/>
                  </a:lnTo>
                  <a:lnTo>
                    <a:pt x="705887" y="445989"/>
                  </a:lnTo>
                </a:path>
                <a:path w="716915" h="715644">
                  <a:moveTo>
                    <a:pt x="685016" y="504820"/>
                  </a:moveTo>
                  <a:lnTo>
                    <a:pt x="685016" y="504820"/>
                  </a:lnTo>
                  <a:lnTo>
                    <a:pt x="679318" y="517165"/>
                  </a:lnTo>
                </a:path>
                <a:path w="716915" h="715644">
                  <a:moveTo>
                    <a:pt x="647064" y="570298"/>
                  </a:moveTo>
                  <a:lnTo>
                    <a:pt x="647064" y="570298"/>
                  </a:lnTo>
                  <a:lnTo>
                    <a:pt x="638524" y="580735"/>
                  </a:lnTo>
                </a:path>
                <a:path w="716915" h="715644">
                  <a:moveTo>
                    <a:pt x="595822" y="626287"/>
                  </a:moveTo>
                  <a:lnTo>
                    <a:pt x="595822" y="626287"/>
                  </a:lnTo>
                  <a:lnTo>
                    <a:pt x="586334" y="634827"/>
                  </a:lnTo>
                </a:path>
                <a:path w="716915" h="715644">
                  <a:moveTo>
                    <a:pt x="534156" y="669937"/>
                  </a:moveTo>
                  <a:lnTo>
                    <a:pt x="526563" y="674681"/>
                  </a:lnTo>
                  <a:lnTo>
                    <a:pt x="522773" y="676579"/>
                  </a:lnTo>
                </a:path>
                <a:path w="716915" h="715644">
                  <a:moveTo>
                    <a:pt x="464898" y="700301"/>
                  </a:moveTo>
                  <a:lnTo>
                    <a:pt x="464898" y="700301"/>
                  </a:lnTo>
                  <a:lnTo>
                    <a:pt x="452567" y="704097"/>
                  </a:lnTo>
                </a:path>
                <a:path w="716915" h="715644">
                  <a:moveTo>
                    <a:pt x="390889" y="714535"/>
                  </a:moveTo>
                  <a:lnTo>
                    <a:pt x="390889" y="714535"/>
                  </a:lnTo>
                  <a:lnTo>
                    <a:pt x="378558" y="715484"/>
                  </a:lnTo>
                </a:path>
                <a:path w="716915" h="715644">
                  <a:moveTo>
                    <a:pt x="314985" y="714535"/>
                  </a:moveTo>
                  <a:lnTo>
                    <a:pt x="313090" y="714535"/>
                  </a:lnTo>
                  <a:lnTo>
                    <a:pt x="302655" y="712637"/>
                  </a:lnTo>
                </a:path>
                <a:path w="716915" h="715644">
                  <a:moveTo>
                    <a:pt x="241937" y="697454"/>
                  </a:moveTo>
                  <a:lnTo>
                    <a:pt x="241937" y="697454"/>
                  </a:lnTo>
                  <a:lnTo>
                    <a:pt x="229606" y="692710"/>
                  </a:lnTo>
                </a:path>
                <a:path w="716915" h="715644">
                  <a:moveTo>
                    <a:pt x="173626" y="665192"/>
                  </a:moveTo>
                  <a:lnTo>
                    <a:pt x="173626" y="665192"/>
                  </a:lnTo>
                  <a:lnTo>
                    <a:pt x="162243" y="658549"/>
                  </a:lnTo>
                </a:path>
                <a:path w="716915" h="715644">
                  <a:moveTo>
                    <a:pt x="112903" y="619644"/>
                  </a:moveTo>
                  <a:lnTo>
                    <a:pt x="112903" y="619644"/>
                  </a:lnTo>
                  <a:lnTo>
                    <a:pt x="104364" y="610154"/>
                  </a:lnTo>
                </a:path>
                <a:path w="716915" h="715644">
                  <a:moveTo>
                    <a:pt x="63567" y="562704"/>
                  </a:moveTo>
                  <a:lnTo>
                    <a:pt x="63567" y="562704"/>
                  </a:lnTo>
                  <a:lnTo>
                    <a:pt x="56925" y="551319"/>
                  </a:lnTo>
                </a:path>
                <a:path w="716915" h="715644">
                  <a:moveTo>
                    <a:pt x="27514" y="496291"/>
                  </a:moveTo>
                  <a:lnTo>
                    <a:pt x="23718" y="487749"/>
                  </a:lnTo>
                  <a:lnTo>
                    <a:pt x="22770" y="483945"/>
                  </a:lnTo>
                </a:path>
                <a:path w="716915" h="715644">
                  <a:moveTo>
                    <a:pt x="5693" y="423218"/>
                  </a:moveTo>
                  <a:lnTo>
                    <a:pt x="5693" y="423218"/>
                  </a:lnTo>
                  <a:lnTo>
                    <a:pt x="3795" y="410886"/>
                  </a:lnTo>
                </a:path>
                <a:path w="716915" h="715644">
                  <a:moveTo>
                    <a:pt x="0" y="348251"/>
                  </a:moveTo>
                  <a:lnTo>
                    <a:pt x="0" y="348251"/>
                  </a:lnTo>
                  <a:lnTo>
                    <a:pt x="948" y="335919"/>
                  </a:lnTo>
                </a:path>
                <a:path w="716915" h="715644">
                  <a:moveTo>
                    <a:pt x="9488" y="273296"/>
                  </a:moveTo>
                  <a:lnTo>
                    <a:pt x="10437" y="270440"/>
                  </a:lnTo>
                  <a:lnTo>
                    <a:pt x="13282" y="260951"/>
                  </a:lnTo>
                </a:path>
                <a:path w="716915" h="715644">
                  <a:moveTo>
                    <a:pt x="36053" y="202119"/>
                  </a:moveTo>
                  <a:lnTo>
                    <a:pt x="36053" y="202119"/>
                  </a:lnTo>
                  <a:lnTo>
                    <a:pt x="40797" y="190735"/>
                  </a:lnTo>
                </a:path>
                <a:path w="716915" h="715644">
                  <a:moveTo>
                    <a:pt x="75901" y="138549"/>
                  </a:moveTo>
                  <a:lnTo>
                    <a:pt x="75901" y="138549"/>
                  </a:lnTo>
                  <a:lnTo>
                    <a:pt x="83491" y="128112"/>
                  </a:lnTo>
                </a:path>
                <a:path w="716915" h="715644">
                  <a:moveTo>
                    <a:pt x="128081" y="83508"/>
                  </a:moveTo>
                  <a:lnTo>
                    <a:pt x="128081" y="83508"/>
                  </a:lnTo>
                  <a:lnTo>
                    <a:pt x="138517" y="75914"/>
                  </a:lnTo>
                </a:path>
                <a:path w="716915" h="715644">
                  <a:moveTo>
                    <a:pt x="190707" y="40813"/>
                  </a:moveTo>
                  <a:lnTo>
                    <a:pt x="190707" y="40813"/>
                  </a:lnTo>
                  <a:lnTo>
                    <a:pt x="202090" y="36062"/>
                  </a:lnTo>
                </a:path>
                <a:path w="716915" h="715644">
                  <a:moveTo>
                    <a:pt x="260913" y="13292"/>
                  </a:moveTo>
                  <a:lnTo>
                    <a:pt x="269453" y="10449"/>
                  </a:lnTo>
                  <a:lnTo>
                    <a:pt x="273243" y="10449"/>
                  </a:lnTo>
                </a:path>
                <a:path w="716915" h="715644">
                  <a:moveTo>
                    <a:pt x="335869" y="960"/>
                  </a:moveTo>
                  <a:lnTo>
                    <a:pt x="335869" y="960"/>
                  </a:lnTo>
                  <a:lnTo>
                    <a:pt x="348199" y="0"/>
                  </a:lnTo>
                </a:path>
                <a:path w="716915" h="715644">
                  <a:moveTo>
                    <a:pt x="410812" y="3803"/>
                  </a:moveTo>
                  <a:lnTo>
                    <a:pt x="410812" y="3803"/>
                  </a:lnTo>
                  <a:lnTo>
                    <a:pt x="423156" y="6646"/>
                  </a:lnTo>
                </a:path>
                <a:path w="716915" h="715644">
                  <a:moveTo>
                    <a:pt x="483874" y="22782"/>
                  </a:moveTo>
                  <a:lnTo>
                    <a:pt x="487664" y="23729"/>
                  </a:lnTo>
                  <a:lnTo>
                    <a:pt x="496204" y="27520"/>
                  </a:lnTo>
                </a:path>
                <a:path w="716915" h="715644">
                  <a:moveTo>
                    <a:pt x="551237" y="56936"/>
                  </a:moveTo>
                  <a:lnTo>
                    <a:pt x="551237" y="56936"/>
                  </a:lnTo>
                  <a:lnTo>
                    <a:pt x="562620" y="63582"/>
                  </a:lnTo>
                </a:path>
                <a:path w="716915" h="715644">
                  <a:moveTo>
                    <a:pt x="610060" y="104383"/>
                  </a:moveTo>
                  <a:lnTo>
                    <a:pt x="610060" y="104383"/>
                  </a:lnTo>
                  <a:lnTo>
                    <a:pt x="619548" y="112925"/>
                  </a:lnTo>
                </a:path>
                <a:path w="716915" h="715644">
                  <a:moveTo>
                    <a:pt x="658447" y="163215"/>
                  </a:moveTo>
                  <a:lnTo>
                    <a:pt x="658447" y="163215"/>
                  </a:lnTo>
                  <a:lnTo>
                    <a:pt x="665093" y="173652"/>
                  </a:lnTo>
                </a:path>
                <a:path w="716915" h="715644">
                  <a:moveTo>
                    <a:pt x="692596" y="229641"/>
                  </a:moveTo>
                  <a:lnTo>
                    <a:pt x="692596" y="229641"/>
                  </a:lnTo>
                  <a:lnTo>
                    <a:pt x="696399" y="241973"/>
                  </a:lnTo>
                </a:path>
                <a:path w="716915" h="715644">
                  <a:moveTo>
                    <a:pt x="711572" y="303660"/>
                  </a:moveTo>
                  <a:lnTo>
                    <a:pt x="713480" y="313150"/>
                  </a:lnTo>
                  <a:lnTo>
                    <a:pt x="714428" y="315993"/>
                  </a:lnTo>
                </a:path>
              </a:pathLst>
            </a:custGeom>
            <a:ln w="18028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6633" y="852551"/>
              <a:ext cx="0" cy="6005830"/>
            </a:xfrm>
            <a:custGeom>
              <a:avLst/>
              <a:gdLst/>
              <a:ahLst/>
              <a:cxnLst/>
              <a:rect l="l" t="t" r="r" b="b"/>
              <a:pathLst>
                <a:path h="6005830">
                  <a:moveTo>
                    <a:pt x="0" y="0"/>
                  </a:moveTo>
                  <a:lnTo>
                    <a:pt x="0" y="600544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0505" y="2287676"/>
              <a:ext cx="10196449" cy="397802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057654" y="276605"/>
            <a:ext cx="6314693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FFFFFF"/>
                </a:solidFill>
                <a:latin typeface="Calibri"/>
                <a:cs typeface="Calibri"/>
              </a:rPr>
              <a:t>Клінічне дослідження </a:t>
            </a:r>
            <a:r>
              <a:rPr sz="3000" b="1" spc="-10" dirty="0">
                <a:solidFill>
                  <a:srgbClr val="FFFFFF"/>
                </a:solidFill>
                <a:latin typeface="Calibri"/>
                <a:cs typeface="Calibri"/>
              </a:rPr>
              <a:t>«APROOVE»</a:t>
            </a:r>
            <a:endParaRPr sz="3000" baseline="25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60780" y="1610995"/>
            <a:ext cx="4121150" cy="27834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Внутрішньогруповий аналіз було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проведено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для двох підгруп пацієнтів, які брали участь у дослідженні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APROOVE та мали рефрактерний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остеоартрит колінного суглоба.</a:t>
            </a:r>
            <a:endParaRPr sz="2000" dirty="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остеоартритом колінного суглоба:</a:t>
            </a:r>
            <a:endParaRPr sz="2000" dirty="0">
              <a:latin typeface="Calibri"/>
              <a:cs typeface="Calibri"/>
            </a:endParaRPr>
          </a:p>
          <a:p>
            <a:pPr marL="780415" indent="-285750">
              <a:lnSpc>
                <a:spcPct val="100000"/>
              </a:lnSpc>
              <a:buFont typeface="Wingdings"/>
              <a:buChar char=""/>
              <a:tabLst>
                <a:tab pos="78041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ІМТ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&gt; 30 кг/м</a:t>
            </a:r>
            <a:r>
              <a:rPr sz="1950" spc="-15" baseline="2564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950" baseline="25641" dirty="0">
              <a:latin typeface="Calibri"/>
              <a:cs typeface="Calibri"/>
            </a:endParaRPr>
          </a:p>
          <a:p>
            <a:pPr marL="780415" indent="-285750">
              <a:lnSpc>
                <a:spcPct val="100000"/>
              </a:lnSpc>
              <a:buFont typeface="Wingdings"/>
              <a:buChar char=""/>
              <a:tabLst>
                <a:tab pos="780415" algn="l"/>
              </a:tabLst>
            </a:pPr>
            <a:r>
              <a:rPr lang="uk-UA" sz="2000" dirty="0">
                <a:solidFill>
                  <a:srgbClr val="FFFFFF"/>
                </a:solidFill>
                <a:latin typeface="Calibri"/>
                <a:cs typeface="Calibri"/>
              </a:rPr>
              <a:t>ОА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III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8256" y="4361181"/>
            <a:ext cx="3997325" cy="1550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Відстежувані параметри: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OMERACT-OARSI</a:t>
            </a:r>
            <a:endParaRPr sz="200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відсоток відповіді та зміна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від</a:t>
            </a:r>
            <a:endParaRPr sz="2000" dirty="0">
              <a:latin typeface="Calibri"/>
              <a:cs typeface="Calibri"/>
            </a:endParaRPr>
          </a:p>
          <a:p>
            <a:pPr marL="12700" marR="167005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від початкового рівня за шкалами WOMAC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для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болю, скутості, фізичної функції </a:t>
            </a:r>
            <a:r>
              <a:rPr sz="20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та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загального балу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через 6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місяців.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1155" y="5351475"/>
            <a:ext cx="10951519" cy="1881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06875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Зменшення фізичного болю, скутості та функціональних </a:t>
            </a:r>
            <a:r>
              <a:rPr sz="1600" b="1" spc="-35" dirty="0">
                <a:solidFill>
                  <a:srgbClr val="FFFFFF"/>
                </a:solidFill>
                <a:latin typeface="Calibri"/>
                <a:cs typeface="Calibri"/>
              </a:rPr>
              <a:t>порушень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на +/- 50% в обох групах</a:t>
            </a:r>
            <a:endParaRPr sz="1600" dirty="0">
              <a:latin typeface="Calibri"/>
              <a:cs typeface="Calibri"/>
            </a:endParaRPr>
          </a:p>
          <a:p>
            <a:pPr marL="4378960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рефрактерних пацієнтів</a:t>
            </a:r>
            <a:endParaRPr sz="1600" dirty="0">
              <a:latin typeface="Calibri"/>
              <a:cs typeface="Calibri"/>
            </a:endParaRPr>
          </a:p>
          <a:p>
            <a:pPr marL="4378960" marR="30480" indent="-172720">
              <a:lnSpc>
                <a:spcPct val="100000"/>
              </a:lnSpc>
              <a:buFont typeface="Arial"/>
              <a:buChar char="•"/>
              <a:tabLst>
                <a:tab pos="4378960" algn="l"/>
              </a:tabLst>
            </a:pPr>
            <a:r>
              <a:rPr sz="1575" baseline="26455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 , розроблений компанією KioMedine, ефективний протягом 6 місяців для лікування рефрактерного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остеоартриту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колінного суглоба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з 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частотою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відповіді пацієнтів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майже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 60%.</a:t>
            </a:r>
            <a:endParaRPr sz="1600" dirty="0">
              <a:latin typeface="Calibri"/>
              <a:cs typeface="Calibri"/>
            </a:endParaRPr>
          </a:p>
          <a:p>
            <a:pPr marL="38100" marR="581025">
              <a:lnSpc>
                <a:spcPct val="100000"/>
              </a:lnSpc>
              <a:spcBef>
                <a:spcPts val="905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3. Emans P.J., Skaliczki G.,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Haverkamp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D., Bentin J., Chausson M., Schifflers M., Portelange N. KiOmedine® CM-Chitosan є ефективним для лікування прогресуючого симптоматичного остеоартриту колінного суглоба протягом шести місяців після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одноразової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внутрішньосуглобової ін'єкції: постфактум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аналіз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клінічного дослідження Aproove. The Open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Rheumatology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Journal, 2023;</a:t>
            </a:r>
            <a:r>
              <a:rPr sz="900" spc="-25" dirty="0">
                <a:solidFill>
                  <a:srgbClr val="FFFFFF"/>
                </a:solidFill>
                <a:latin typeface="Calibri"/>
                <a:cs typeface="Calibri"/>
              </a:rPr>
              <a:t> 17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98071" y="-15494"/>
            <a:ext cx="4121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60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8613" y="107694"/>
            <a:ext cx="11494135" cy="6757034"/>
            <a:chOff x="228613" y="107694"/>
            <a:chExt cx="11494135" cy="6757034"/>
          </a:xfrm>
        </p:grpSpPr>
        <p:sp>
          <p:nvSpPr>
            <p:cNvPr id="8" name="object 8"/>
            <p:cNvSpPr/>
            <p:nvPr/>
          </p:nvSpPr>
          <p:spPr>
            <a:xfrm>
              <a:off x="237821" y="116902"/>
              <a:ext cx="716915" cy="715645"/>
            </a:xfrm>
            <a:custGeom>
              <a:avLst/>
              <a:gdLst/>
              <a:ahLst/>
              <a:cxnLst/>
              <a:rect l="l" t="t" r="r" b="b"/>
              <a:pathLst>
                <a:path w="716915" h="715644">
                  <a:moveTo>
                    <a:pt x="716323" y="358689"/>
                  </a:moveTo>
                  <a:lnTo>
                    <a:pt x="716323" y="358689"/>
                  </a:lnTo>
                  <a:lnTo>
                    <a:pt x="716323" y="371034"/>
                  </a:lnTo>
                </a:path>
                <a:path w="716915" h="715644">
                  <a:moveTo>
                    <a:pt x="707782" y="433656"/>
                  </a:moveTo>
                  <a:lnTo>
                    <a:pt x="707782" y="433656"/>
                  </a:lnTo>
                  <a:lnTo>
                    <a:pt x="705887" y="445989"/>
                  </a:lnTo>
                </a:path>
                <a:path w="716915" h="715644">
                  <a:moveTo>
                    <a:pt x="685016" y="504820"/>
                  </a:moveTo>
                  <a:lnTo>
                    <a:pt x="685016" y="504820"/>
                  </a:lnTo>
                  <a:lnTo>
                    <a:pt x="679318" y="517165"/>
                  </a:lnTo>
                </a:path>
                <a:path w="716915" h="715644">
                  <a:moveTo>
                    <a:pt x="647064" y="570298"/>
                  </a:moveTo>
                  <a:lnTo>
                    <a:pt x="647064" y="570298"/>
                  </a:lnTo>
                  <a:lnTo>
                    <a:pt x="638524" y="580735"/>
                  </a:lnTo>
                </a:path>
                <a:path w="716915" h="715644">
                  <a:moveTo>
                    <a:pt x="595822" y="626287"/>
                  </a:moveTo>
                  <a:lnTo>
                    <a:pt x="595822" y="626287"/>
                  </a:lnTo>
                  <a:lnTo>
                    <a:pt x="586334" y="634827"/>
                  </a:lnTo>
                </a:path>
                <a:path w="716915" h="715644">
                  <a:moveTo>
                    <a:pt x="534156" y="669937"/>
                  </a:moveTo>
                  <a:lnTo>
                    <a:pt x="526563" y="674681"/>
                  </a:lnTo>
                  <a:lnTo>
                    <a:pt x="522773" y="676579"/>
                  </a:lnTo>
                </a:path>
                <a:path w="716915" h="715644">
                  <a:moveTo>
                    <a:pt x="464898" y="700301"/>
                  </a:moveTo>
                  <a:lnTo>
                    <a:pt x="464898" y="700301"/>
                  </a:lnTo>
                  <a:lnTo>
                    <a:pt x="452567" y="704097"/>
                  </a:lnTo>
                </a:path>
                <a:path w="716915" h="715644">
                  <a:moveTo>
                    <a:pt x="390889" y="714535"/>
                  </a:moveTo>
                  <a:lnTo>
                    <a:pt x="390889" y="714535"/>
                  </a:lnTo>
                  <a:lnTo>
                    <a:pt x="378558" y="715484"/>
                  </a:lnTo>
                </a:path>
                <a:path w="716915" h="715644">
                  <a:moveTo>
                    <a:pt x="314985" y="714535"/>
                  </a:moveTo>
                  <a:lnTo>
                    <a:pt x="313090" y="714535"/>
                  </a:lnTo>
                  <a:lnTo>
                    <a:pt x="302655" y="712637"/>
                  </a:lnTo>
                </a:path>
                <a:path w="716915" h="715644">
                  <a:moveTo>
                    <a:pt x="241937" y="697454"/>
                  </a:moveTo>
                  <a:lnTo>
                    <a:pt x="241937" y="697454"/>
                  </a:lnTo>
                  <a:lnTo>
                    <a:pt x="229606" y="692710"/>
                  </a:lnTo>
                </a:path>
                <a:path w="716915" h="715644">
                  <a:moveTo>
                    <a:pt x="173626" y="665192"/>
                  </a:moveTo>
                  <a:lnTo>
                    <a:pt x="173626" y="665192"/>
                  </a:lnTo>
                  <a:lnTo>
                    <a:pt x="162243" y="658549"/>
                  </a:lnTo>
                </a:path>
                <a:path w="716915" h="715644">
                  <a:moveTo>
                    <a:pt x="112903" y="619644"/>
                  </a:moveTo>
                  <a:lnTo>
                    <a:pt x="112903" y="619644"/>
                  </a:lnTo>
                  <a:lnTo>
                    <a:pt x="104364" y="610154"/>
                  </a:lnTo>
                </a:path>
                <a:path w="716915" h="715644">
                  <a:moveTo>
                    <a:pt x="63567" y="562704"/>
                  </a:moveTo>
                  <a:lnTo>
                    <a:pt x="63567" y="562704"/>
                  </a:lnTo>
                  <a:lnTo>
                    <a:pt x="56925" y="551319"/>
                  </a:lnTo>
                </a:path>
                <a:path w="716915" h="715644">
                  <a:moveTo>
                    <a:pt x="27514" y="496291"/>
                  </a:moveTo>
                  <a:lnTo>
                    <a:pt x="23718" y="487749"/>
                  </a:lnTo>
                  <a:lnTo>
                    <a:pt x="22770" y="483945"/>
                  </a:lnTo>
                </a:path>
                <a:path w="716915" h="715644">
                  <a:moveTo>
                    <a:pt x="5693" y="423218"/>
                  </a:moveTo>
                  <a:lnTo>
                    <a:pt x="5693" y="423218"/>
                  </a:lnTo>
                  <a:lnTo>
                    <a:pt x="3795" y="410886"/>
                  </a:lnTo>
                </a:path>
                <a:path w="716915" h="715644">
                  <a:moveTo>
                    <a:pt x="0" y="348251"/>
                  </a:moveTo>
                  <a:lnTo>
                    <a:pt x="0" y="348251"/>
                  </a:lnTo>
                  <a:lnTo>
                    <a:pt x="948" y="335919"/>
                  </a:lnTo>
                </a:path>
                <a:path w="716915" h="715644">
                  <a:moveTo>
                    <a:pt x="9488" y="273296"/>
                  </a:moveTo>
                  <a:lnTo>
                    <a:pt x="10437" y="270440"/>
                  </a:lnTo>
                  <a:lnTo>
                    <a:pt x="13282" y="260951"/>
                  </a:lnTo>
                </a:path>
                <a:path w="716915" h="715644">
                  <a:moveTo>
                    <a:pt x="36053" y="202119"/>
                  </a:moveTo>
                  <a:lnTo>
                    <a:pt x="36053" y="202119"/>
                  </a:lnTo>
                  <a:lnTo>
                    <a:pt x="40797" y="190735"/>
                  </a:lnTo>
                </a:path>
                <a:path w="716915" h="715644">
                  <a:moveTo>
                    <a:pt x="75901" y="138549"/>
                  </a:moveTo>
                  <a:lnTo>
                    <a:pt x="75901" y="138549"/>
                  </a:lnTo>
                  <a:lnTo>
                    <a:pt x="83491" y="128112"/>
                  </a:lnTo>
                </a:path>
                <a:path w="716915" h="715644">
                  <a:moveTo>
                    <a:pt x="128081" y="83508"/>
                  </a:moveTo>
                  <a:lnTo>
                    <a:pt x="128081" y="83508"/>
                  </a:lnTo>
                  <a:lnTo>
                    <a:pt x="138517" y="75914"/>
                  </a:lnTo>
                </a:path>
                <a:path w="716915" h="715644">
                  <a:moveTo>
                    <a:pt x="190707" y="40813"/>
                  </a:moveTo>
                  <a:lnTo>
                    <a:pt x="190707" y="40813"/>
                  </a:lnTo>
                  <a:lnTo>
                    <a:pt x="202090" y="36062"/>
                  </a:lnTo>
                </a:path>
                <a:path w="716915" h="715644">
                  <a:moveTo>
                    <a:pt x="260913" y="13292"/>
                  </a:moveTo>
                  <a:lnTo>
                    <a:pt x="269453" y="10449"/>
                  </a:lnTo>
                  <a:lnTo>
                    <a:pt x="273243" y="10449"/>
                  </a:lnTo>
                </a:path>
                <a:path w="716915" h="715644">
                  <a:moveTo>
                    <a:pt x="335869" y="960"/>
                  </a:moveTo>
                  <a:lnTo>
                    <a:pt x="335869" y="960"/>
                  </a:lnTo>
                  <a:lnTo>
                    <a:pt x="348199" y="0"/>
                  </a:lnTo>
                </a:path>
                <a:path w="716915" h="715644">
                  <a:moveTo>
                    <a:pt x="410812" y="3803"/>
                  </a:moveTo>
                  <a:lnTo>
                    <a:pt x="410812" y="3803"/>
                  </a:lnTo>
                  <a:lnTo>
                    <a:pt x="423156" y="6646"/>
                  </a:lnTo>
                </a:path>
                <a:path w="716915" h="715644">
                  <a:moveTo>
                    <a:pt x="483874" y="22782"/>
                  </a:moveTo>
                  <a:lnTo>
                    <a:pt x="487664" y="23729"/>
                  </a:lnTo>
                  <a:lnTo>
                    <a:pt x="496204" y="27520"/>
                  </a:lnTo>
                </a:path>
                <a:path w="716915" h="715644">
                  <a:moveTo>
                    <a:pt x="551237" y="56936"/>
                  </a:moveTo>
                  <a:lnTo>
                    <a:pt x="551237" y="56936"/>
                  </a:lnTo>
                  <a:lnTo>
                    <a:pt x="562620" y="63582"/>
                  </a:lnTo>
                </a:path>
                <a:path w="716915" h="715644">
                  <a:moveTo>
                    <a:pt x="610060" y="104383"/>
                  </a:moveTo>
                  <a:lnTo>
                    <a:pt x="610060" y="104383"/>
                  </a:lnTo>
                  <a:lnTo>
                    <a:pt x="619548" y="112925"/>
                  </a:lnTo>
                </a:path>
                <a:path w="716915" h="715644">
                  <a:moveTo>
                    <a:pt x="658447" y="163215"/>
                  </a:moveTo>
                  <a:lnTo>
                    <a:pt x="658447" y="163215"/>
                  </a:lnTo>
                  <a:lnTo>
                    <a:pt x="665093" y="173652"/>
                  </a:lnTo>
                </a:path>
                <a:path w="716915" h="715644">
                  <a:moveTo>
                    <a:pt x="692596" y="229641"/>
                  </a:moveTo>
                  <a:lnTo>
                    <a:pt x="692596" y="229641"/>
                  </a:lnTo>
                  <a:lnTo>
                    <a:pt x="696399" y="241973"/>
                  </a:lnTo>
                </a:path>
                <a:path w="716915" h="715644">
                  <a:moveTo>
                    <a:pt x="711572" y="303660"/>
                  </a:moveTo>
                  <a:lnTo>
                    <a:pt x="713480" y="313150"/>
                  </a:lnTo>
                  <a:lnTo>
                    <a:pt x="714428" y="315993"/>
                  </a:lnTo>
                </a:path>
              </a:pathLst>
            </a:custGeom>
            <a:ln w="18028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6633" y="852551"/>
              <a:ext cx="11119485" cy="6005830"/>
            </a:xfrm>
            <a:custGeom>
              <a:avLst/>
              <a:gdLst/>
              <a:ahLst/>
              <a:cxnLst/>
              <a:rect l="l" t="t" r="r" b="b"/>
              <a:pathLst>
                <a:path w="11119485" h="6005830">
                  <a:moveTo>
                    <a:pt x="0" y="0"/>
                  </a:moveTo>
                  <a:lnTo>
                    <a:pt x="0" y="6005448"/>
                  </a:lnTo>
                </a:path>
                <a:path w="11119485" h="6005830">
                  <a:moveTo>
                    <a:pt x="4569599" y="1245489"/>
                  </a:moveTo>
                  <a:lnTo>
                    <a:pt x="11119370" y="1245489"/>
                  </a:lnTo>
                </a:path>
                <a:path w="11119485" h="6005830">
                  <a:moveTo>
                    <a:pt x="4569599" y="2012696"/>
                  </a:moveTo>
                  <a:lnTo>
                    <a:pt x="11119370" y="201269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54736" y="266318"/>
            <a:ext cx="105266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</a:rPr>
              <a:t>Ефективність при </a:t>
            </a:r>
            <a:r>
              <a:rPr sz="3000" spc="-10" dirty="0">
                <a:solidFill>
                  <a:srgbClr val="FFFFFF"/>
                </a:solidFill>
              </a:rPr>
              <a:t>рефрактерному остеоартриті </a:t>
            </a:r>
            <a:r>
              <a:rPr sz="3000" dirty="0">
                <a:solidFill>
                  <a:srgbClr val="FFFFFF"/>
                </a:solidFill>
              </a:rPr>
              <a:t>колінного суглоба</a:t>
            </a:r>
            <a:endParaRPr sz="3000" dirty="0"/>
          </a:p>
        </p:txBody>
      </p:sp>
      <p:sp>
        <p:nvSpPr>
          <p:cNvPr id="11" name="object 11"/>
          <p:cNvSpPr txBox="1"/>
          <p:nvPr/>
        </p:nvSpPr>
        <p:spPr>
          <a:xfrm>
            <a:off x="5245734" y="1660652"/>
            <a:ext cx="5708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2E2E81"/>
                </a:solidFill>
                <a:latin typeface="Calibri"/>
                <a:cs typeface="Calibri"/>
              </a:rPr>
              <a:t>WOMAC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solidFill>
                  <a:srgbClr val="2E2E81"/>
                </a:solidFill>
                <a:latin typeface="Calibri"/>
                <a:cs typeface="Calibri"/>
              </a:rPr>
              <a:t>Шкала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45734" y="2306536"/>
            <a:ext cx="779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2E2E81"/>
                </a:solidFill>
                <a:latin typeface="Calibri"/>
                <a:cs typeface="Calibri"/>
              </a:rPr>
              <a:t>Біль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E2E81"/>
                </a:solidFill>
                <a:latin typeface="Calibri"/>
                <a:cs typeface="Calibri"/>
              </a:rPr>
              <a:t>(± середнє </a:t>
            </a:r>
            <a:r>
              <a:rPr sz="1200" spc="-25" dirty="0">
                <a:solidFill>
                  <a:srgbClr val="2E2E81"/>
                </a:solidFill>
                <a:latin typeface="Calibri"/>
                <a:cs typeface="Calibri"/>
              </a:rPr>
              <a:t>SD)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6583" y="757363"/>
            <a:ext cx="7650480" cy="94551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15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Постфактумний аналіз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дослідження APROOVE</a:t>
            </a:r>
            <a:r>
              <a:rPr sz="1575" spc="-15" baseline="26455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575" baseline="26455" dirty="0">
              <a:latin typeface="Calibri"/>
              <a:cs typeface="Calibri"/>
            </a:endParaRPr>
          </a:p>
          <a:p>
            <a:pPr marL="5243830" algn="ctr">
              <a:lnSpc>
                <a:spcPct val="100000"/>
              </a:lnSpc>
              <a:spcBef>
                <a:spcPts val="459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Підгрупа</a:t>
            </a: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 1</a:t>
            </a:r>
            <a:endParaRPr sz="1400" dirty="0">
              <a:latin typeface="Calibri"/>
              <a:cs typeface="Calibri"/>
            </a:endParaRPr>
          </a:p>
          <a:p>
            <a:pPr marL="5268595" marR="17780" algn="ctr">
              <a:lnSpc>
                <a:spcPct val="100000"/>
              </a:lnSpc>
              <a:spcBef>
                <a:spcPts val="25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ІМТ &gt;30 </a:t>
            </a:r>
            <a:r>
              <a:rPr sz="11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кг/м</a:t>
            </a:r>
            <a:r>
              <a:rPr sz="1050" baseline="27777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050" spc="97" baseline="2777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і/або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оцінка за </a:t>
            </a:r>
            <a:r>
              <a:rPr sz="1100" dirty="0" err="1">
                <a:solidFill>
                  <a:srgbClr val="FFFFFF"/>
                </a:solidFill>
                <a:latin typeface="Calibri"/>
                <a:cs typeface="Calibri"/>
              </a:rPr>
              <a:t>шкалою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uk-UA" sz="1100" spc="-10" dirty="0">
                <a:solidFill>
                  <a:srgbClr val="FFFFFF"/>
                </a:solidFill>
                <a:latin typeface="Calibri"/>
                <a:cs typeface="Calibri"/>
              </a:rPr>
              <a:t>ОА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III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(n=39)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14514" y="1621535"/>
            <a:ext cx="73723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Початковий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стан</a:t>
            </a:r>
            <a:endParaRPr sz="10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(n=39)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19707" y="1622698"/>
            <a:ext cx="64135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6-місячне 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спостереження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(n=39)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86597" y="1624710"/>
            <a:ext cx="70929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p 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Значення</a:t>
            </a:r>
            <a:endParaRPr sz="10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через 6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місяців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278570" y="2468456"/>
            <a:ext cx="405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E2E81"/>
                </a:solidFill>
                <a:latin typeface="Calibri"/>
                <a:cs typeface="Calibri"/>
              </a:rPr>
              <a:t>&amp;lt;</a:t>
            </a: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 0,001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603110" y="2144166"/>
            <a:ext cx="360045" cy="403225"/>
          </a:xfrm>
          <a:custGeom>
            <a:avLst/>
            <a:gdLst/>
            <a:ahLst/>
            <a:cxnLst/>
            <a:rect l="l" t="t" r="r" b="b"/>
            <a:pathLst>
              <a:path w="360045" h="403225">
                <a:moveTo>
                  <a:pt x="359994" y="0"/>
                </a:moveTo>
                <a:lnTo>
                  <a:pt x="0" y="0"/>
                </a:lnTo>
                <a:lnTo>
                  <a:pt x="0" y="403199"/>
                </a:lnTo>
                <a:lnTo>
                  <a:pt x="359994" y="403199"/>
                </a:lnTo>
                <a:lnTo>
                  <a:pt x="359994" y="0"/>
                </a:lnTo>
                <a:close/>
              </a:path>
            </a:pathLst>
          </a:custGeom>
          <a:solidFill>
            <a:srgbClr val="2E2E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590156" y="2539999"/>
            <a:ext cx="388620" cy="30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895">
              <a:lnSpc>
                <a:spcPts val="1100"/>
              </a:lnSpc>
              <a:spcBef>
                <a:spcPts val="95"/>
              </a:spcBef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11,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1100"/>
              </a:lnSpc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(±2,52)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460360" y="2363762"/>
            <a:ext cx="360045" cy="184150"/>
          </a:xfrm>
          <a:custGeom>
            <a:avLst/>
            <a:gdLst/>
            <a:ahLst/>
            <a:cxnLst/>
            <a:rect l="l" t="t" r="r" b="b"/>
            <a:pathLst>
              <a:path w="360045" h="184150">
                <a:moveTo>
                  <a:pt x="359994" y="0"/>
                </a:moveTo>
                <a:lnTo>
                  <a:pt x="0" y="0"/>
                </a:lnTo>
                <a:lnTo>
                  <a:pt x="0" y="183603"/>
                </a:lnTo>
                <a:lnTo>
                  <a:pt x="359994" y="183603"/>
                </a:lnTo>
                <a:lnTo>
                  <a:pt x="359994" y="0"/>
                </a:lnTo>
                <a:close/>
              </a:path>
            </a:pathLst>
          </a:custGeom>
          <a:solidFill>
            <a:srgbClr val="2E2E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447533" y="2539999"/>
            <a:ext cx="388620" cy="30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100"/>
              </a:lnSpc>
              <a:spcBef>
                <a:spcPts val="95"/>
              </a:spcBef>
            </a:pPr>
            <a:r>
              <a:rPr sz="1000" spc="-20" dirty="0">
                <a:solidFill>
                  <a:srgbClr val="2E2E81"/>
                </a:solidFill>
                <a:latin typeface="Calibri"/>
                <a:cs typeface="Calibri"/>
              </a:rPr>
              <a:t>5,10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ts val="1100"/>
              </a:lnSpc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(±4,43)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159883" y="2307844"/>
            <a:ext cx="6562725" cy="1339215"/>
            <a:chOff x="5159883" y="2307844"/>
            <a:chExt cx="6562725" cy="1339215"/>
          </a:xfrm>
        </p:grpSpPr>
        <p:sp>
          <p:nvSpPr>
            <p:cNvPr id="23" name="object 23"/>
            <p:cNvSpPr/>
            <p:nvPr/>
          </p:nvSpPr>
          <p:spPr>
            <a:xfrm>
              <a:off x="7038340" y="2307844"/>
              <a:ext cx="323215" cy="160655"/>
            </a:xfrm>
            <a:custGeom>
              <a:avLst/>
              <a:gdLst/>
              <a:ahLst/>
              <a:cxnLst/>
              <a:rect l="l" t="t" r="r" b="b"/>
              <a:pathLst>
                <a:path w="323215" h="160655">
                  <a:moveTo>
                    <a:pt x="191058" y="119360"/>
                  </a:moveTo>
                  <a:lnTo>
                    <a:pt x="174243" y="160527"/>
                  </a:lnTo>
                  <a:lnTo>
                    <a:pt x="322960" y="149225"/>
                  </a:lnTo>
                  <a:lnTo>
                    <a:pt x="304147" y="127761"/>
                  </a:lnTo>
                  <a:lnTo>
                    <a:pt x="211581" y="127761"/>
                  </a:lnTo>
                  <a:lnTo>
                    <a:pt x="191058" y="119360"/>
                  </a:lnTo>
                  <a:close/>
                </a:path>
                <a:path w="323215" h="160655">
                  <a:moveTo>
                    <a:pt x="207875" y="78187"/>
                  </a:moveTo>
                  <a:lnTo>
                    <a:pt x="191058" y="119360"/>
                  </a:lnTo>
                  <a:lnTo>
                    <a:pt x="211581" y="127761"/>
                  </a:lnTo>
                  <a:lnTo>
                    <a:pt x="228473" y="86613"/>
                  </a:lnTo>
                  <a:lnTo>
                    <a:pt x="207875" y="78187"/>
                  </a:lnTo>
                  <a:close/>
                </a:path>
                <a:path w="323215" h="160655">
                  <a:moveTo>
                    <a:pt x="224662" y="37083"/>
                  </a:moveTo>
                  <a:lnTo>
                    <a:pt x="207875" y="78187"/>
                  </a:lnTo>
                  <a:lnTo>
                    <a:pt x="228473" y="86613"/>
                  </a:lnTo>
                  <a:lnTo>
                    <a:pt x="211581" y="127761"/>
                  </a:lnTo>
                  <a:lnTo>
                    <a:pt x="304147" y="127761"/>
                  </a:lnTo>
                  <a:lnTo>
                    <a:pt x="224662" y="37083"/>
                  </a:lnTo>
                  <a:close/>
                </a:path>
                <a:path w="323215" h="160655">
                  <a:moveTo>
                    <a:pt x="16763" y="0"/>
                  </a:moveTo>
                  <a:lnTo>
                    <a:pt x="0" y="41147"/>
                  </a:lnTo>
                  <a:lnTo>
                    <a:pt x="191058" y="119360"/>
                  </a:lnTo>
                  <a:lnTo>
                    <a:pt x="207875" y="78187"/>
                  </a:lnTo>
                  <a:lnTo>
                    <a:pt x="167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66233" y="3640201"/>
              <a:ext cx="6550025" cy="0"/>
            </a:xfrm>
            <a:custGeom>
              <a:avLst/>
              <a:gdLst/>
              <a:ahLst/>
              <a:cxnLst/>
              <a:rect l="l" t="t" r="r" b="b"/>
              <a:pathLst>
                <a:path w="6550025">
                  <a:moveTo>
                    <a:pt x="0" y="0"/>
                  </a:moveTo>
                  <a:lnTo>
                    <a:pt x="654977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254320" y="3037840"/>
            <a:ext cx="77914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uk-UA" sz="1200" b="1" spc="-10" dirty="0">
                <a:solidFill>
                  <a:srgbClr val="2E2E81"/>
                </a:solidFill>
                <a:latin typeface="Calibri"/>
                <a:cs typeface="Calibri"/>
              </a:rPr>
              <a:t>Скутість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E2E81"/>
                </a:solidFill>
                <a:latin typeface="Calibri"/>
                <a:cs typeface="Calibri"/>
              </a:rPr>
              <a:t>(± середнє </a:t>
            </a:r>
            <a:r>
              <a:rPr sz="1200" spc="-25" dirty="0">
                <a:solidFill>
                  <a:srgbClr val="2E2E81"/>
                </a:solidFill>
                <a:latin typeface="Calibri"/>
                <a:cs typeface="Calibri"/>
              </a:rPr>
              <a:t>SD)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287638" y="3260914"/>
            <a:ext cx="405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E2E81"/>
                </a:solidFill>
                <a:latin typeface="Calibri"/>
                <a:cs typeface="Calibri"/>
              </a:rPr>
              <a:t>&amp;lt;</a:t>
            </a: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 0,001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603110" y="2947797"/>
            <a:ext cx="360045" cy="374650"/>
          </a:xfrm>
          <a:custGeom>
            <a:avLst/>
            <a:gdLst/>
            <a:ahLst/>
            <a:cxnLst/>
            <a:rect l="l" t="t" r="r" b="b"/>
            <a:pathLst>
              <a:path w="360045" h="374650">
                <a:moveTo>
                  <a:pt x="359994" y="0"/>
                </a:moveTo>
                <a:lnTo>
                  <a:pt x="0" y="0"/>
                </a:lnTo>
                <a:lnTo>
                  <a:pt x="0" y="374396"/>
                </a:lnTo>
                <a:lnTo>
                  <a:pt x="359994" y="374396"/>
                </a:lnTo>
                <a:lnTo>
                  <a:pt x="359994" y="0"/>
                </a:lnTo>
                <a:close/>
              </a:path>
            </a:pathLst>
          </a:custGeom>
          <a:solidFill>
            <a:srgbClr val="2E2E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590156" y="3315080"/>
            <a:ext cx="388620" cy="30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100"/>
              </a:lnSpc>
              <a:spcBef>
                <a:spcPts val="95"/>
              </a:spcBef>
            </a:pPr>
            <a:r>
              <a:rPr sz="1000" spc="-20" dirty="0">
                <a:solidFill>
                  <a:srgbClr val="2E2E81"/>
                </a:solidFill>
                <a:latin typeface="Calibri"/>
                <a:cs typeface="Calibri"/>
              </a:rPr>
              <a:t>4,18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ts val="1100"/>
              </a:lnSpc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(±1,50)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60360" y="3142195"/>
            <a:ext cx="360045" cy="180340"/>
          </a:xfrm>
          <a:custGeom>
            <a:avLst/>
            <a:gdLst/>
            <a:ahLst/>
            <a:cxnLst/>
            <a:rect l="l" t="t" r="r" b="b"/>
            <a:pathLst>
              <a:path w="360045" h="180339">
                <a:moveTo>
                  <a:pt x="359994" y="0"/>
                </a:moveTo>
                <a:lnTo>
                  <a:pt x="0" y="0"/>
                </a:lnTo>
                <a:lnTo>
                  <a:pt x="0" y="179997"/>
                </a:lnTo>
                <a:lnTo>
                  <a:pt x="359994" y="179997"/>
                </a:lnTo>
                <a:lnTo>
                  <a:pt x="359994" y="0"/>
                </a:lnTo>
                <a:close/>
              </a:path>
            </a:pathLst>
          </a:custGeom>
          <a:solidFill>
            <a:srgbClr val="2E2E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447533" y="3315080"/>
            <a:ext cx="388620" cy="30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100"/>
              </a:lnSpc>
              <a:spcBef>
                <a:spcPts val="95"/>
              </a:spcBef>
            </a:pPr>
            <a:r>
              <a:rPr sz="1000" spc="-20" dirty="0">
                <a:solidFill>
                  <a:srgbClr val="2E2E81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ts val="1100"/>
              </a:lnSpc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(±1,90)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159883" y="3082798"/>
            <a:ext cx="6562725" cy="1339215"/>
            <a:chOff x="5159883" y="3082798"/>
            <a:chExt cx="6562725" cy="1339215"/>
          </a:xfrm>
        </p:grpSpPr>
        <p:sp>
          <p:nvSpPr>
            <p:cNvPr id="32" name="object 32"/>
            <p:cNvSpPr/>
            <p:nvPr/>
          </p:nvSpPr>
          <p:spPr>
            <a:xfrm>
              <a:off x="7038340" y="3082798"/>
              <a:ext cx="323215" cy="160655"/>
            </a:xfrm>
            <a:custGeom>
              <a:avLst/>
              <a:gdLst/>
              <a:ahLst/>
              <a:cxnLst/>
              <a:rect l="l" t="t" r="r" b="b"/>
              <a:pathLst>
                <a:path w="323215" h="160655">
                  <a:moveTo>
                    <a:pt x="191028" y="119348"/>
                  </a:moveTo>
                  <a:lnTo>
                    <a:pt x="174243" y="160400"/>
                  </a:lnTo>
                  <a:lnTo>
                    <a:pt x="322960" y="149225"/>
                  </a:lnTo>
                  <a:lnTo>
                    <a:pt x="304147" y="127762"/>
                  </a:lnTo>
                  <a:lnTo>
                    <a:pt x="211581" y="127762"/>
                  </a:lnTo>
                  <a:lnTo>
                    <a:pt x="191028" y="119348"/>
                  </a:lnTo>
                  <a:close/>
                </a:path>
                <a:path w="323215" h="160655">
                  <a:moveTo>
                    <a:pt x="207860" y="78180"/>
                  </a:moveTo>
                  <a:lnTo>
                    <a:pt x="191028" y="119348"/>
                  </a:lnTo>
                  <a:lnTo>
                    <a:pt x="211581" y="127762"/>
                  </a:lnTo>
                  <a:lnTo>
                    <a:pt x="228473" y="86613"/>
                  </a:lnTo>
                  <a:lnTo>
                    <a:pt x="207860" y="78180"/>
                  </a:lnTo>
                  <a:close/>
                </a:path>
                <a:path w="323215" h="160655">
                  <a:moveTo>
                    <a:pt x="224662" y="37084"/>
                  </a:moveTo>
                  <a:lnTo>
                    <a:pt x="207860" y="78180"/>
                  </a:lnTo>
                  <a:lnTo>
                    <a:pt x="228473" y="86613"/>
                  </a:lnTo>
                  <a:lnTo>
                    <a:pt x="211581" y="127762"/>
                  </a:lnTo>
                  <a:lnTo>
                    <a:pt x="304147" y="127762"/>
                  </a:lnTo>
                  <a:lnTo>
                    <a:pt x="224662" y="37084"/>
                  </a:lnTo>
                  <a:close/>
                </a:path>
                <a:path w="323215" h="160655">
                  <a:moveTo>
                    <a:pt x="16763" y="0"/>
                  </a:moveTo>
                  <a:lnTo>
                    <a:pt x="0" y="41148"/>
                  </a:lnTo>
                  <a:lnTo>
                    <a:pt x="191028" y="119348"/>
                  </a:lnTo>
                  <a:lnTo>
                    <a:pt x="207860" y="78180"/>
                  </a:lnTo>
                  <a:lnTo>
                    <a:pt x="167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166233" y="4415155"/>
              <a:ext cx="6550025" cy="0"/>
            </a:xfrm>
            <a:custGeom>
              <a:avLst/>
              <a:gdLst/>
              <a:ahLst/>
              <a:cxnLst/>
              <a:rect l="l" t="t" r="r" b="b"/>
              <a:pathLst>
                <a:path w="6550025">
                  <a:moveTo>
                    <a:pt x="0" y="0"/>
                  </a:moveTo>
                  <a:lnTo>
                    <a:pt x="654977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254320" y="3825748"/>
            <a:ext cx="1183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2E2E81"/>
                </a:solidFill>
                <a:latin typeface="Calibri"/>
                <a:cs typeface="Calibri"/>
              </a:rPr>
              <a:t>Фізична </a:t>
            </a:r>
            <a:r>
              <a:rPr sz="1200" b="1" dirty="0">
                <a:solidFill>
                  <a:srgbClr val="2E2E81"/>
                </a:solidFill>
                <a:latin typeface="Calibri"/>
                <a:cs typeface="Calibri"/>
              </a:rPr>
              <a:t>функція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E2E81"/>
                </a:solidFill>
                <a:latin typeface="Calibri"/>
                <a:cs typeface="Calibri"/>
              </a:rPr>
              <a:t>(± середнє </a:t>
            </a:r>
            <a:r>
              <a:rPr sz="1200" spc="-25" dirty="0">
                <a:solidFill>
                  <a:srgbClr val="2E2E81"/>
                </a:solidFill>
                <a:latin typeface="Calibri"/>
                <a:cs typeface="Calibri"/>
              </a:rPr>
              <a:t>SD)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283586" y="4056190"/>
            <a:ext cx="405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E2E81"/>
                </a:solidFill>
                <a:latin typeface="Calibri"/>
                <a:cs typeface="Calibri"/>
              </a:rPr>
              <a:t>&amp;lt;</a:t>
            </a: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 0,001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603110" y="3765943"/>
            <a:ext cx="360045" cy="331470"/>
          </a:xfrm>
          <a:custGeom>
            <a:avLst/>
            <a:gdLst/>
            <a:ahLst/>
            <a:cxnLst/>
            <a:rect l="l" t="t" r="r" b="b"/>
            <a:pathLst>
              <a:path w="360045" h="331470">
                <a:moveTo>
                  <a:pt x="359994" y="0"/>
                </a:moveTo>
                <a:lnTo>
                  <a:pt x="0" y="0"/>
                </a:lnTo>
                <a:lnTo>
                  <a:pt x="0" y="331203"/>
                </a:lnTo>
                <a:lnTo>
                  <a:pt x="359994" y="331203"/>
                </a:lnTo>
                <a:lnTo>
                  <a:pt x="359994" y="0"/>
                </a:lnTo>
                <a:close/>
              </a:path>
            </a:pathLst>
          </a:custGeom>
          <a:solidFill>
            <a:srgbClr val="2E2E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558153" y="4090161"/>
            <a:ext cx="452755" cy="30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100"/>
              </a:lnSpc>
              <a:spcBef>
                <a:spcPts val="95"/>
              </a:spcBef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36,9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ts val="1100"/>
              </a:lnSpc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(±10,96)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460360" y="3931551"/>
            <a:ext cx="360045" cy="165735"/>
          </a:xfrm>
          <a:custGeom>
            <a:avLst/>
            <a:gdLst/>
            <a:ahLst/>
            <a:cxnLst/>
            <a:rect l="l" t="t" r="r" b="b"/>
            <a:pathLst>
              <a:path w="360045" h="165735">
                <a:moveTo>
                  <a:pt x="359994" y="0"/>
                </a:moveTo>
                <a:lnTo>
                  <a:pt x="0" y="0"/>
                </a:lnTo>
                <a:lnTo>
                  <a:pt x="0" y="165595"/>
                </a:lnTo>
                <a:lnTo>
                  <a:pt x="359994" y="165595"/>
                </a:lnTo>
                <a:lnTo>
                  <a:pt x="359994" y="0"/>
                </a:lnTo>
                <a:close/>
              </a:path>
            </a:pathLst>
          </a:custGeom>
          <a:solidFill>
            <a:srgbClr val="2E2E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415276" y="4090161"/>
            <a:ext cx="452755" cy="30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100"/>
              </a:lnSpc>
              <a:spcBef>
                <a:spcPts val="95"/>
              </a:spcBef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18,4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ts val="1100"/>
              </a:lnSpc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(±14,42)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159883" y="3857752"/>
            <a:ext cx="6562725" cy="1388745"/>
            <a:chOff x="5159883" y="3857752"/>
            <a:chExt cx="6562725" cy="1388745"/>
          </a:xfrm>
        </p:grpSpPr>
        <p:sp>
          <p:nvSpPr>
            <p:cNvPr id="41" name="object 41"/>
            <p:cNvSpPr/>
            <p:nvPr/>
          </p:nvSpPr>
          <p:spPr>
            <a:xfrm>
              <a:off x="7038340" y="3857752"/>
              <a:ext cx="323215" cy="160655"/>
            </a:xfrm>
            <a:custGeom>
              <a:avLst/>
              <a:gdLst/>
              <a:ahLst/>
              <a:cxnLst/>
              <a:rect l="l" t="t" r="r" b="b"/>
              <a:pathLst>
                <a:path w="323215" h="160654">
                  <a:moveTo>
                    <a:pt x="191054" y="119243"/>
                  </a:moveTo>
                  <a:lnTo>
                    <a:pt x="174243" y="160400"/>
                  </a:lnTo>
                  <a:lnTo>
                    <a:pt x="322960" y="149225"/>
                  </a:lnTo>
                  <a:lnTo>
                    <a:pt x="304057" y="127635"/>
                  </a:lnTo>
                  <a:lnTo>
                    <a:pt x="211581" y="127635"/>
                  </a:lnTo>
                  <a:lnTo>
                    <a:pt x="191054" y="119243"/>
                  </a:lnTo>
                  <a:close/>
                </a:path>
                <a:path w="323215" h="160654">
                  <a:moveTo>
                    <a:pt x="207830" y="78168"/>
                  </a:moveTo>
                  <a:lnTo>
                    <a:pt x="191054" y="119243"/>
                  </a:lnTo>
                  <a:lnTo>
                    <a:pt x="211581" y="127635"/>
                  </a:lnTo>
                  <a:lnTo>
                    <a:pt x="228473" y="86614"/>
                  </a:lnTo>
                  <a:lnTo>
                    <a:pt x="207830" y="78168"/>
                  </a:lnTo>
                  <a:close/>
                </a:path>
                <a:path w="323215" h="160654">
                  <a:moveTo>
                    <a:pt x="224662" y="36956"/>
                  </a:moveTo>
                  <a:lnTo>
                    <a:pt x="207830" y="78168"/>
                  </a:lnTo>
                  <a:lnTo>
                    <a:pt x="228473" y="86614"/>
                  </a:lnTo>
                  <a:lnTo>
                    <a:pt x="211581" y="127635"/>
                  </a:lnTo>
                  <a:lnTo>
                    <a:pt x="304057" y="127635"/>
                  </a:lnTo>
                  <a:lnTo>
                    <a:pt x="224662" y="36956"/>
                  </a:lnTo>
                  <a:close/>
                </a:path>
                <a:path w="323215" h="160654">
                  <a:moveTo>
                    <a:pt x="16763" y="0"/>
                  </a:moveTo>
                  <a:lnTo>
                    <a:pt x="0" y="41148"/>
                  </a:lnTo>
                  <a:lnTo>
                    <a:pt x="191054" y="119243"/>
                  </a:lnTo>
                  <a:lnTo>
                    <a:pt x="207830" y="78168"/>
                  </a:lnTo>
                  <a:lnTo>
                    <a:pt x="167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166233" y="5239639"/>
              <a:ext cx="6550025" cy="0"/>
            </a:xfrm>
            <a:custGeom>
              <a:avLst/>
              <a:gdLst/>
              <a:ahLst/>
              <a:cxnLst/>
              <a:rect l="l" t="t" r="r" b="b"/>
              <a:pathLst>
                <a:path w="6550025">
                  <a:moveTo>
                    <a:pt x="0" y="0"/>
                  </a:moveTo>
                  <a:lnTo>
                    <a:pt x="654977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603111" y="4450029"/>
              <a:ext cx="360045" cy="471805"/>
            </a:xfrm>
            <a:custGeom>
              <a:avLst/>
              <a:gdLst/>
              <a:ahLst/>
              <a:cxnLst/>
              <a:rect l="l" t="t" r="r" b="b"/>
              <a:pathLst>
                <a:path w="360045" h="471804">
                  <a:moveTo>
                    <a:pt x="359994" y="0"/>
                  </a:moveTo>
                  <a:lnTo>
                    <a:pt x="0" y="0"/>
                  </a:lnTo>
                  <a:lnTo>
                    <a:pt x="0" y="471601"/>
                  </a:lnTo>
                  <a:lnTo>
                    <a:pt x="359994" y="471601"/>
                  </a:lnTo>
                  <a:lnTo>
                    <a:pt x="359994" y="0"/>
                  </a:lnTo>
                  <a:close/>
                </a:path>
              </a:pathLst>
            </a:custGeom>
            <a:solidFill>
              <a:srgbClr val="2E2E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5290355" y="4464685"/>
            <a:ext cx="7791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2E2E81"/>
                </a:solidFill>
                <a:latin typeface="Calibri"/>
                <a:cs typeface="Calibri"/>
              </a:rPr>
              <a:t>Загальний </a:t>
            </a:r>
            <a:r>
              <a:rPr sz="1200" b="1" spc="-10" dirty="0">
                <a:solidFill>
                  <a:srgbClr val="2E2E81"/>
                </a:solidFill>
                <a:latin typeface="Calibri"/>
                <a:cs typeface="Calibri"/>
              </a:rPr>
              <a:t>бал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2E2E81"/>
                </a:solidFill>
                <a:latin typeface="Calibri"/>
                <a:cs typeface="Calibri"/>
              </a:rPr>
              <a:t>(± середнє </a:t>
            </a:r>
            <a:r>
              <a:rPr sz="1200" spc="-25" dirty="0">
                <a:solidFill>
                  <a:srgbClr val="2E2E81"/>
                </a:solidFill>
                <a:latin typeface="Calibri"/>
                <a:cs typeface="Calibri"/>
              </a:rPr>
              <a:t>SD)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558153" y="4914646"/>
            <a:ext cx="452755" cy="30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100"/>
              </a:lnSpc>
              <a:spcBef>
                <a:spcPts val="95"/>
              </a:spcBef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5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ts val="1100"/>
              </a:lnSpc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(±14,32)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460360" y="4691227"/>
            <a:ext cx="360045" cy="230504"/>
          </a:xfrm>
          <a:custGeom>
            <a:avLst/>
            <a:gdLst/>
            <a:ahLst/>
            <a:cxnLst/>
            <a:rect l="l" t="t" r="r" b="b"/>
            <a:pathLst>
              <a:path w="360045" h="230504">
                <a:moveTo>
                  <a:pt x="359994" y="0"/>
                </a:moveTo>
                <a:lnTo>
                  <a:pt x="0" y="0"/>
                </a:lnTo>
                <a:lnTo>
                  <a:pt x="0" y="230403"/>
                </a:lnTo>
                <a:lnTo>
                  <a:pt x="359994" y="230403"/>
                </a:lnTo>
                <a:lnTo>
                  <a:pt x="359994" y="0"/>
                </a:lnTo>
                <a:close/>
              </a:path>
            </a:pathLst>
          </a:custGeom>
          <a:solidFill>
            <a:srgbClr val="2E2E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7460360" y="4942077"/>
            <a:ext cx="1279525" cy="304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0645">
              <a:lnSpc>
                <a:spcPts val="1100"/>
              </a:lnSpc>
              <a:spcBef>
                <a:spcPts val="95"/>
              </a:spcBef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25,5</a:t>
            </a:r>
            <a:endParaRPr sz="1000" dirty="0">
              <a:latin typeface="Calibri"/>
              <a:cs typeface="Calibri"/>
            </a:endParaRPr>
          </a:p>
          <a:p>
            <a:pPr marL="12700">
              <a:lnSpc>
                <a:spcPts val="1100"/>
              </a:lnSpc>
              <a:tabLst>
                <a:tab pos="886460" algn="l"/>
              </a:tabLst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(±20,31)</a:t>
            </a:r>
            <a:endParaRPr sz="1000" dirty="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038340" y="2162162"/>
            <a:ext cx="2885440" cy="2680970"/>
            <a:chOff x="7038340" y="2162162"/>
            <a:chExt cx="2885440" cy="2680970"/>
          </a:xfrm>
        </p:grpSpPr>
        <p:sp>
          <p:nvSpPr>
            <p:cNvPr id="49" name="object 49"/>
            <p:cNvSpPr/>
            <p:nvPr/>
          </p:nvSpPr>
          <p:spPr>
            <a:xfrm>
              <a:off x="7038340" y="4682235"/>
              <a:ext cx="323215" cy="160655"/>
            </a:xfrm>
            <a:custGeom>
              <a:avLst/>
              <a:gdLst/>
              <a:ahLst/>
              <a:cxnLst/>
              <a:rect l="l" t="t" r="r" b="b"/>
              <a:pathLst>
                <a:path w="323215" h="160654">
                  <a:moveTo>
                    <a:pt x="191058" y="119360"/>
                  </a:moveTo>
                  <a:lnTo>
                    <a:pt x="174243" y="160527"/>
                  </a:lnTo>
                  <a:lnTo>
                    <a:pt x="322960" y="149225"/>
                  </a:lnTo>
                  <a:lnTo>
                    <a:pt x="304147" y="127762"/>
                  </a:lnTo>
                  <a:lnTo>
                    <a:pt x="211581" y="127762"/>
                  </a:lnTo>
                  <a:lnTo>
                    <a:pt x="191058" y="119360"/>
                  </a:lnTo>
                  <a:close/>
                </a:path>
                <a:path w="323215" h="160654">
                  <a:moveTo>
                    <a:pt x="207875" y="78187"/>
                  </a:moveTo>
                  <a:lnTo>
                    <a:pt x="191058" y="119360"/>
                  </a:lnTo>
                  <a:lnTo>
                    <a:pt x="211581" y="127762"/>
                  </a:lnTo>
                  <a:lnTo>
                    <a:pt x="228473" y="86613"/>
                  </a:lnTo>
                  <a:lnTo>
                    <a:pt x="207875" y="78187"/>
                  </a:lnTo>
                  <a:close/>
                </a:path>
                <a:path w="323215" h="160654">
                  <a:moveTo>
                    <a:pt x="224662" y="37083"/>
                  </a:moveTo>
                  <a:lnTo>
                    <a:pt x="207875" y="78187"/>
                  </a:lnTo>
                  <a:lnTo>
                    <a:pt x="228473" y="86613"/>
                  </a:lnTo>
                  <a:lnTo>
                    <a:pt x="211581" y="127762"/>
                  </a:lnTo>
                  <a:lnTo>
                    <a:pt x="304147" y="127762"/>
                  </a:lnTo>
                  <a:lnTo>
                    <a:pt x="224662" y="37083"/>
                  </a:lnTo>
                  <a:close/>
                </a:path>
                <a:path w="323215" h="160654">
                  <a:moveTo>
                    <a:pt x="16763" y="0"/>
                  </a:moveTo>
                  <a:lnTo>
                    <a:pt x="0" y="41147"/>
                  </a:lnTo>
                  <a:lnTo>
                    <a:pt x="191058" y="119360"/>
                  </a:lnTo>
                  <a:lnTo>
                    <a:pt x="207875" y="78187"/>
                  </a:lnTo>
                  <a:lnTo>
                    <a:pt x="167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563227" y="2162162"/>
              <a:ext cx="360045" cy="385445"/>
            </a:xfrm>
            <a:custGeom>
              <a:avLst/>
              <a:gdLst/>
              <a:ahLst/>
              <a:cxnLst/>
              <a:rect l="l" t="t" r="r" b="b"/>
              <a:pathLst>
                <a:path w="360045" h="385444">
                  <a:moveTo>
                    <a:pt x="359994" y="0"/>
                  </a:moveTo>
                  <a:lnTo>
                    <a:pt x="0" y="0"/>
                  </a:lnTo>
                  <a:lnTo>
                    <a:pt x="0" y="385203"/>
                  </a:lnTo>
                  <a:lnTo>
                    <a:pt x="359994" y="385203"/>
                  </a:lnTo>
                  <a:lnTo>
                    <a:pt x="359994" y="0"/>
                  </a:lnTo>
                  <a:close/>
                </a:path>
              </a:pathLst>
            </a:custGeom>
            <a:solidFill>
              <a:srgbClr val="2E2E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9472294" y="1076325"/>
            <a:ext cx="2244725" cy="3981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Підгрупа</a:t>
            </a: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 2</a:t>
            </a:r>
            <a:endParaRPr sz="1400" dirty="0">
              <a:latin typeface="Calibri"/>
              <a:cs typeface="Calibri"/>
            </a:endParaRPr>
          </a:p>
          <a:p>
            <a:pPr marL="38100" marR="30480" algn="ctr">
              <a:lnSpc>
                <a:spcPct val="100000"/>
              </a:lnSpc>
              <a:spcBef>
                <a:spcPts val="2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ІМТ &gt;30 кг/м</a:t>
            </a:r>
            <a:r>
              <a:rPr sz="1050" baseline="27777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050" spc="97" baseline="2777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 і </a:t>
            </a:r>
            <a:r>
              <a:rPr sz="1100" dirty="0" err="1">
                <a:solidFill>
                  <a:srgbClr val="FFFFFF"/>
                </a:solidFill>
                <a:latin typeface="Calibri"/>
                <a:cs typeface="Calibri"/>
              </a:rPr>
              <a:t>шкала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uk-UA" sz="1100" spc="-10" dirty="0">
                <a:solidFill>
                  <a:srgbClr val="FFFFFF"/>
                </a:solidFill>
                <a:latin typeface="Calibri"/>
                <a:cs typeface="Calibri"/>
              </a:rPr>
              <a:t>ОА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III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(n=8)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339198" y="1660652"/>
            <a:ext cx="176085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4565" algn="l"/>
              </a:tabLst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Початковий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стан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   6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місяців</a:t>
            </a:r>
            <a:endParaRPr sz="1000" dirty="0">
              <a:latin typeface="Calibri"/>
              <a:cs typeface="Calibri"/>
            </a:endParaRPr>
          </a:p>
          <a:p>
            <a:pPr marL="205740">
              <a:lnSpc>
                <a:spcPct val="100000"/>
              </a:lnSpc>
              <a:tabLst>
                <a:tab pos="775335" algn="l"/>
              </a:tabLst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   спостереження 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(n=8)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1230045" y="1594185"/>
            <a:ext cx="64135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p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Значення </a:t>
            </a:r>
            <a:r>
              <a:rPr sz="1000" spc="-25" dirty="0">
                <a:solidFill>
                  <a:srgbClr val="FFFFFF"/>
                </a:solidFill>
                <a:latin typeface="Calibri"/>
                <a:cs typeface="Calibri"/>
              </a:rPr>
              <a:t>через</a:t>
            </a:r>
            <a:endParaRPr sz="1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6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місяців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1296015" y="2667126"/>
            <a:ext cx="3136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0,011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592690" y="2539999"/>
            <a:ext cx="405765" cy="30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895">
              <a:lnSpc>
                <a:spcPts val="1100"/>
              </a:lnSpc>
              <a:spcBef>
                <a:spcPts val="95"/>
              </a:spcBef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1</a:t>
            </a:r>
            <a:endParaRPr sz="1000" dirty="0">
              <a:latin typeface="Calibri"/>
              <a:cs typeface="Calibri"/>
            </a:endParaRPr>
          </a:p>
          <a:p>
            <a:pPr marL="12700">
              <a:lnSpc>
                <a:spcPts val="1100"/>
              </a:lnSpc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(±2,12)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0420604" y="2342172"/>
            <a:ext cx="360045" cy="205740"/>
          </a:xfrm>
          <a:custGeom>
            <a:avLst/>
            <a:gdLst/>
            <a:ahLst/>
            <a:cxnLst/>
            <a:rect l="l" t="t" r="r" b="b"/>
            <a:pathLst>
              <a:path w="360045" h="205739">
                <a:moveTo>
                  <a:pt x="359994" y="0"/>
                </a:moveTo>
                <a:lnTo>
                  <a:pt x="0" y="0"/>
                </a:lnTo>
                <a:lnTo>
                  <a:pt x="0" y="205193"/>
                </a:lnTo>
                <a:lnTo>
                  <a:pt x="359994" y="205193"/>
                </a:lnTo>
                <a:lnTo>
                  <a:pt x="359994" y="0"/>
                </a:lnTo>
                <a:close/>
              </a:path>
            </a:pathLst>
          </a:custGeom>
          <a:solidFill>
            <a:srgbClr val="2E2E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10408157" y="2539999"/>
            <a:ext cx="388620" cy="30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100"/>
              </a:lnSpc>
              <a:spcBef>
                <a:spcPts val="95"/>
              </a:spcBef>
            </a:pPr>
            <a:r>
              <a:rPr sz="1000" spc="-20" dirty="0">
                <a:solidFill>
                  <a:srgbClr val="2E2E81"/>
                </a:solidFill>
                <a:latin typeface="Calibri"/>
                <a:cs typeface="Calibri"/>
              </a:rPr>
              <a:t>5,7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ts val="1100"/>
              </a:lnSpc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(±5,49)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9563227" y="2307844"/>
            <a:ext cx="758190" cy="1014730"/>
            <a:chOff x="9563227" y="2307844"/>
            <a:chExt cx="758190" cy="1014730"/>
          </a:xfrm>
        </p:grpSpPr>
        <p:sp>
          <p:nvSpPr>
            <p:cNvPr id="59" name="object 59"/>
            <p:cNvSpPr/>
            <p:nvPr/>
          </p:nvSpPr>
          <p:spPr>
            <a:xfrm>
              <a:off x="9998456" y="2307844"/>
              <a:ext cx="323215" cy="160655"/>
            </a:xfrm>
            <a:custGeom>
              <a:avLst/>
              <a:gdLst/>
              <a:ahLst/>
              <a:cxnLst/>
              <a:rect l="l" t="t" r="r" b="b"/>
              <a:pathLst>
                <a:path w="323215" h="160655">
                  <a:moveTo>
                    <a:pt x="191111" y="119335"/>
                  </a:moveTo>
                  <a:lnTo>
                    <a:pt x="174244" y="160527"/>
                  </a:lnTo>
                  <a:lnTo>
                    <a:pt x="322961" y="149225"/>
                  </a:lnTo>
                  <a:lnTo>
                    <a:pt x="304171" y="127761"/>
                  </a:lnTo>
                  <a:lnTo>
                    <a:pt x="211709" y="127761"/>
                  </a:lnTo>
                  <a:lnTo>
                    <a:pt x="191111" y="119335"/>
                  </a:lnTo>
                  <a:close/>
                </a:path>
                <a:path w="323215" h="160655">
                  <a:moveTo>
                    <a:pt x="207949" y="78212"/>
                  </a:moveTo>
                  <a:lnTo>
                    <a:pt x="191111" y="119335"/>
                  </a:lnTo>
                  <a:lnTo>
                    <a:pt x="211709" y="127761"/>
                  </a:lnTo>
                  <a:lnTo>
                    <a:pt x="228473" y="86613"/>
                  </a:lnTo>
                  <a:lnTo>
                    <a:pt x="207949" y="78212"/>
                  </a:lnTo>
                  <a:close/>
                </a:path>
                <a:path w="323215" h="160655">
                  <a:moveTo>
                    <a:pt x="224790" y="37083"/>
                  </a:moveTo>
                  <a:lnTo>
                    <a:pt x="207949" y="78212"/>
                  </a:lnTo>
                  <a:lnTo>
                    <a:pt x="228473" y="86613"/>
                  </a:lnTo>
                  <a:lnTo>
                    <a:pt x="211709" y="127761"/>
                  </a:lnTo>
                  <a:lnTo>
                    <a:pt x="304171" y="127761"/>
                  </a:lnTo>
                  <a:lnTo>
                    <a:pt x="224790" y="37083"/>
                  </a:lnTo>
                  <a:close/>
                </a:path>
                <a:path w="323215" h="160655">
                  <a:moveTo>
                    <a:pt x="16891" y="0"/>
                  </a:moveTo>
                  <a:lnTo>
                    <a:pt x="0" y="41147"/>
                  </a:lnTo>
                  <a:lnTo>
                    <a:pt x="191111" y="119335"/>
                  </a:lnTo>
                  <a:lnTo>
                    <a:pt x="207949" y="78212"/>
                  </a:lnTo>
                  <a:lnTo>
                    <a:pt x="168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9563227" y="2972993"/>
              <a:ext cx="360045" cy="349250"/>
            </a:xfrm>
            <a:custGeom>
              <a:avLst/>
              <a:gdLst/>
              <a:ahLst/>
              <a:cxnLst/>
              <a:rect l="l" t="t" r="r" b="b"/>
              <a:pathLst>
                <a:path w="360045" h="349250">
                  <a:moveTo>
                    <a:pt x="359994" y="0"/>
                  </a:moveTo>
                  <a:lnTo>
                    <a:pt x="0" y="0"/>
                  </a:lnTo>
                  <a:lnTo>
                    <a:pt x="0" y="349199"/>
                  </a:lnTo>
                  <a:lnTo>
                    <a:pt x="359994" y="349199"/>
                  </a:lnTo>
                  <a:lnTo>
                    <a:pt x="359994" y="0"/>
                  </a:lnTo>
                  <a:close/>
                </a:path>
              </a:pathLst>
            </a:custGeom>
            <a:solidFill>
              <a:srgbClr val="2E2E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11296015" y="3442208"/>
            <a:ext cx="3136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0,005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550654" y="3315080"/>
            <a:ext cx="388620" cy="30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100"/>
              </a:lnSpc>
              <a:spcBef>
                <a:spcPts val="95"/>
              </a:spcBef>
            </a:pPr>
            <a:r>
              <a:rPr sz="1000" spc="-20" dirty="0">
                <a:solidFill>
                  <a:srgbClr val="2E2E81"/>
                </a:solidFill>
                <a:latin typeface="Calibri"/>
                <a:cs typeface="Calibri"/>
              </a:rPr>
              <a:t>3,88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ts val="1100"/>
              </a:lnSpc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(±1,12)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0420604" y="3210592"/>
            <a:ext cx="360045" cy="111760"/>
          </a:xfrm>
          <a:custGeom>
            <a:avLst/>
            <a:gdLst/>
            <a:ahLst/>
            <a:cxnLst/>
            <a:rect l="l" t="t" r="r" b="b"/>
            <a:pathLst>
              <a:path w="360045" h="111760">
                <a:moveTo>
                  <a:pt x="359994" y="0"/>
                </a:moveTo>
                <a:lnTo>
                  <a:pt x="0" y="0"/>
                </a:lnTo>
                <a:lnTo>
                  <a:pt x="0" y="111599"/>
                </a:lnTo>
                <a:lnTo>
                  <a:pt x="359994" y="111599"/>
                </a:lnTo>
                <a:lnTo>
                  <a:pt x="359994" y="0"/>
                </a:lnTo>
                <a:close/>
              </a:path>
            </a:pathLst>
          </a:custGeom>
          <a:solidFill>
            <a:srgbClr val="2E2E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10408157" y="3315080"/>
            <a:ext cx="388620" cy="30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100"/>
              </a:lnSpc>
              <a:spcBef>
                <a:spcPts val="95"/>
              </a:spcBef>
            </a:pPr>
            <a:r>
              <a:rPr sz="1000" spc="-20" dirty="0">
                <a:solidFill>
                  <a:srgbClr val="2E2E81"/>
                </a:solidFill>
                <a:latin typeface="Calibri"/>
                <a:cs typeface="Calibri"/>
              </a:rPr>
              <a:t>1,25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ts val="1100"/>
              </a:lnSpc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(±2,05)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9563227" y="3082798"/>
            <a:ext cx="758190" cy="1014730"/>
            <a:chOff x="9563227" y="3082798"/>
            <a:chExt cx="758190" cy="1014730"/>
          </a:xfrm>
        </p:grpSpPr>
        <p:sp>
          <p:nvSpPr>
            <p:cNvPr id="66" name="object 66"/>
            <p:cNvSpPr/>
            <p:nvPr/>
          </p:nvSpPr>
          <p:spPr>
            <a:xfrm>
              <a:off x="9998456" y="3082798"/>
              <a:ext cx="323215" cy="160655"/>
            </a:xfrm>
            <a:custGeom>
              <a:avLst/>
              <a:gdLst/>
              <a:ahLst/>
              <a:cxnLst/>
              <a:rect l="l" t="t" r="r" b="b"/>
              <a:pathLst>
                <a:path w="323215" h="160655">
                  <a:moveTo>
                    <a:pt x="191081" y="119322"/>
                  </a:moveTo>
                  <a:lnTo>
                    <a:pt x="174244" y="160400"/>
                  </a:lnTo>
                  <a:lnTo>
                    <a:pt x="322961" y="149225"/>
                  </a:lnTo>
                  <a:lnTo>
                    <a:pt x="304171" y="127762"/>
                  </a:lnTo>
                  <a:lnTo>
                    <a:pt x="211709" y="127762"/>
                  </a:lnTo>
                  <a:lnTo>
                    <a:pt x="191081" y="119322"/>
                  </a:lnTo>
                  <a:close/>
                </a:path>
                <a:path w="323215" h="160655">
                  <a:moveTo>
                    <a:pt x="207934" y="78206"/>
                  </a:moveTo>
                  <a:lnTo>
                    <a:pt x="191081" y="119322"/>
                  </a:lnTo>
                  <a:lnTo>
                    <a:pt x="211709" y="127762"/>
                  </a:lnTo>
                  <a:lnTo>
                    <a:pt x="228473" y="86613"/>
                  </a:lnTo>
                  <a:lnTo>
                    <a:pt x="207934" y="78206"/>
                  </a:lnTo>
                  <a:close/>
                </a:path>
                <a:path w="323215" h="160655">
                  <a:moveTo>
                    <a:pt x="224790" y="37084"/>
                  </a:moveTo>
                  <a:lnTo>
                    <a:pt x="207934" y="78206"/>
                  </a:lnTo>
                  <a:lnTo>
                    <a:pt x="228473" y="86613"/>
                  </a:lnTo>
                  <a:lnTo>
                    <a:pt x="211709" y="127762"/>
                  </a:lnTo>
                  <a:lnTo>
                    <a:pt x="304171" y="127762"/>
                  </a:lnTo>
                  <a:lnTo>
                    <a:pt x="224790" y="37084"/>
                  </a:lnTo>
                  <a:close/>
                </a:path>
                <a:path w="323215" h="160655">
                  <a:moveTo>
                    <a:pt x="16891" y="0"/>
                  </a:moveTo>
                  <a:lnTo>
                    <a:pt x="0" y="41148"/>
                  </a:lnTo>
                  <a:lnTo>
                    <a:pt x="191081" y="119322"/>
                  </a:lnTo>
                  <a:lnTo>
                    <a:pt x="207934" y="78206"/>
                  </a:lnTo>
                  <a:lnTo>
                    <a:pt x="168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563227" y="3801948"/>
              <a:ext cx="360045" cy="295275"/>
            </a:xfrm>
            <a:custGeom>
              <a:avLst/>
              <a:gdLst/>
              <a:ahLst/>
              <a:cxnLst/>
              <a:rect l="l" t="t" r="r" b="b"/>
              <a:pathLst>
                <a:path w="360045" h="295275">
                  <a:moveTo>
                    <a:pt x="359994" y="0"/>
                  </a:moveTo>
                  <a:lnTo>
                    <a:pt x="0" y="0"/>
                  </a:lnTo>
                  <a:lnTo>
                    <a:pt x="0" y="295198"/>
                  </a:lnTo>
                  <a:lnTo>
                    <a:pt x="359994" y="295198"/>
                  </a:lnTo>
                  <a:lnTo>
                    <a:pt x="359994" y="0"/>
                  </a:lnTo>
                  <a:close/>
                </a:path>
              </a:pathLst>
            </a:custGeom>
            <a:solidFill>
              <a:srgbClr val="2E2E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11296015" y="4217289"/>
            <a:ext cx="3136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0,014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9550654" y="4090161"/>
            <a:ext cx="388620" cy="30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100"/>
              </a:lnSpc>
              <a:spcBef>
                <a:spcPts val="95"/>
              </a:spcBef>
            </a:pPr>
            <a:r>
              <a:rPr sz="1000" spc="-20" dirty="0">
                <a:solidFill>
                  <a:srgbClr val="2E2E81"/>
                </a:solidFill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ts val="1100"/>
              </a:lnSpc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(±9,30)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0420604" y="3945940"/>
            <a:ext cx="360045" cy="151765"/>
          </a:xfrm>
          <a:custGeom>
            <a:avLst/>
            <a:gdLst/>
            <a:ahLst/>
            <a:cxnLst/>
            <a:rect l="l" t="t" r="r" b="b"/>
            <a:pathLst>
              <a:path w="360045" h="151764">
                <a:moveTo>
                  <a:pt x="359994" y="0"/>
                </a:moveTo>
                <a:lnTo>
                  <a:pt x="0" y="0"/>
                </a:lnTo>
                <a:lnTo>
                  <a:pt x="0" y="151206"/>
                </a:lnTo>
                <a:lnTo>
                  <a:pt x="359994" y="151206"/>
                </a:lnTo>
                <a:lnTo>
                  <a:pt x="359994" y="0"/>
                </a:lnTo>
                <a:close/>
              </a:path>
            </a:pathLst>
          </a:custGeom>
          <a:solidFill>
            <a:srgbClr val="2E2E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10376154" y="4090161"/>
            <a:ext cx="452755" cy="30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100"/>
              </a:lnSpc>
              <a:spcBef>
                <a:spcPts val="95"/>
              </a:spcBef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17,13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ts val="1100"/>
              </a:lnSpc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(±15,30)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9563227" y="3857752"/>
            <a:ext cx="758190" cy="1064260"/>
            <a:chOff x="9563227" y="3857752"/>
            <a:chExt cx="758190" cy="1064260"/>
          </a:xfrm>
        </p:grpSpPr>
        <p:sp>
          <p:nvSpPr>
            <p:cNvPr id="73" name="object 73"/>
            <p:cNvSpPr/>
            <p:nvPr/>
          </p:nvSpPr>
          <p:spPr>
            <a:xfrm>
              <a:off x="9998456" y="3857752"/>
              <a:ext cx="323215" cy="160655"/>
            </a:xfrm>
            <a:custGeom>
              <a:avLst/>
              <a:gdLst/>
              <a:ahLst/>
              <a:cxnLst/>
              <a:rect l="l" t="t" r="r" b="b"/>
              <a:pathLst>
                <a:path w="323215" h="160654">
                  <a:moveTo>
                    <a:pt x="191106" y="119218"/>
                  </a:moveTo>
                  <a:lnTo>
                    <a:pt x="174244" y="160400"/>
                  </a:lnTo>
                  <a:lnTo>
                    <a:pt x="322961" y="149225"/>
                  </a:lnTo>
                  <a:lnTo>
                    <a:pt x="304081" y="127635"/>
                  </a:lnTo>
                  <a:lnTo>
                    <a:pt x="211709" y="127635"/>
                  </a:lnTo>
                  <a:lnTo>
                    <a:pt x="191106" y="119218"/>
                  </a:lnTo>
                  <a:close/>
                </a:path>
                <a:path w="323215" h="160654">
                  <a:moveTo>
                    <a:pt x="207904" y="78194"/>
                  </a:moveTo>
                  <a:lnTo>
                    <a:pt x="191106" y="119218"/>
                  </a:lnTo>
                  <a:lnTo>
                    <a:pt x="211709" y="127635"/>
                  </a:lnTo>
                  <a:lnTo>
                    <a:pt x="228473" y="86614"/>
                  </a:lnTo>
                  <a:lnTo>
                    <a:pt x="207904" y="78194"/>
                  </a:lnTo>
                  <a:close/>
                </a:path>
                <a:path w="323215" h="160654">
                  <a:moveTo>
                    <a:pt x="224790" y="36956"/>
                  </a:moveTo>
                  <a:lnTo>
                    <a:pt x="207904" y="78194"/>
                  </a:lnTo>
                  <a:lnTo>
                    <a:pt x="228473" y="86614"/>
                  </a:lnTo>
                  <a:lnTo>
                    <a:pt x="211709" y="127635"/>
                  </a:lnTo>
                  <a:lnTo>
                    <a:pt x="304081" y="127635"/>
                  </a:lnTo>
                  <a:lnTo>
                    <a:pt x="224790" y="36956"/>
                  </a:lnTo>
                  <a:close/>
                </a:path>
                <a:path w="323215" h="160654">
                  <a:moveTo>
                    <a:pt x="16891" y="0"/>
                  </a:moveTo>
                  <a:lnTo>
                    <a:pt x="0" y="41148"/>
                  </a:lnTo>
                  <a:lnTo>
                    <a:pt x="191106" y="119218"/>
                  </a:lnTo>
                  <a:lnTo>
                    <a:pt x="207904" y="78194"/>
                  </a:lnTo>
                  <a:lnTo>
                    <a:pt x="168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9563227" y="4493234"/>
              <a:ext cx="360045" cy="428625"/>
            </a:xfrm>
            <a:custGeom>
              <a:avLst/>
              <a:gdLst/>
              <a:ahLst/>
              <a:cxnLst/>
              <a:rect l="l" t="t" r="r" b="b"/>
              <a:pathLst>
                <a:path w="360045" h="428625">
                  <a:moveTo>
                    <a:pt x="359994" y="0"/>
                  </a:moveTo>
                  <a:lnTo>
                    <a:pt x="0" y="0"/>
                  </a:lnTo>
                  <a:lnTo>
                    <a:pt x="0" y="428396"/>
                  </a:lnTo>
                  <a:lnTo>
                    <a:pt x="359994" y="428396"/>
                  </a:lnTo>
                  <a:lnTo>
                    <a:pt x="359994" y="0"/>
                  </a:lnTo>
                  <a:close/>
                </a:path>
              </a:pathLst>
            </a:custGeom>
            <a:solidFill>
              <a:srgbClr val="2E2E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9518650" y="4914646"/>
            <a:ext cx="452755" cy="30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100"/>
              </a:lnSpc>
              <a:spcBef>
                <a:spcPts val="95"/>
              </a:spcBef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47,6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ts val="1100"/>
              </a:lnSpc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(±11,40)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10420604" y="4705629"/>
            <a:ext cx="360045" cy="216535"/>
          </a:xfrm>
          <a:custGeom>
            <a:avLst/>
            <a:gdLst/>
            <a:ahLst/>
            <a:cxnLst/>
            <a:rect l="l" t="t" r="r" b="b"/>
            <a:pathLst>
              <a:path w="360045" h="216535">
                <a:moveTo>
                  <a:pt x="359994" y="0"/>
                </a:moveTo>
                <a:lnTo>
                  <a:pt x="0" y="0"/>
                </a:lnTo>
                <a:lnTo>
                  <a:pt x="0" y="216001"/>
                </a:lnTo>
                <a:lnTo>
                  <a:pt x="359994" y="216001"/>
                </a:lnTo>
                <a:lnTo>
                  <a:pt x="359994" y="0"/>
                </a:lnTo>
                <a:close/>
              </a:path>
            </a:pathLst>
          </a:custGeom>
          <a:solidFill>
            <a:srgbClr val="2E2E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10376154" y="4914646"/>
            <a:ext cx="1233805" cy="304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0645">
              <a:lnSpc>
                <a:spcPts val="1100"/>
              </a:lnSpc>
              <a:spcBef>
                <a:spcPts val="95"/>
              </a:spcBef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24,13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1100"/>
              </a:lnSpc>
              <a:tabLst>
                <a:tab pos="932180" algn="l"/>
              </a:tabLst>
            </a:pPr>
            <a:r>
              <a:rPr sz="1000" spc="-10" dirty="0">
                <a:solidFill>
                  <a:srgbClr val="2E2E81"/>
                </a:solidFill>
                <a:latin typeface="Calibri"/>
                <a:cs typeface="Calibri"/>
              </a:rPr>
              <a:t>(±22,49)    0,009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9998456" y="4682235"/>
            <a:ext cx="323215" cy="160655"/>
          </a:xfrm>
          <a:custGeom>
            <a:avLst/>
            <a:gdLst/>
            <a:ahLst/>
            <a:cxnLst/>
            <a:rect l="l" t="t" r="r" b="b"/>
            <a:pathLst>
              <a:path w="323215" h="160654">
                <a:moveTo>
                  <a:pt x="191111" y="119335"/>
                </a:moveTo>
                <a:lnTo>
                  <a:pt x="174244" y="160527"/>
                </a:lnTo>
                <a:lnTo>
                  <a:pt x="322961" y="149225"/>
                </a:lnTo>
                <a:lnTo>
                  <a:pt x="304171" y="127762"/>
                </a:lnTo>
                <a:lnTo>
                  <a:pt x="211709" y="127762"/>
                </a:lnTo>
                <a:lnTo>
                  <a:pt x="191111" y="119335"/>
                </a:lnTo>
                <a:close/>
              </a:path>
              <a:path w="323215" h="160654">
                <a:moveTo>
                  <a:pt x="207949" y="78212"/>
                </a:moveTo>
                <a:lnTo>
                  <a:pt x="191111" y="119335"/>
                </a:lnTo>
                <a:lnTo>
                  <a:pt x="211709" y="127762"/>
                </a:lnTo>
                <a:lnTo>
                  <a:pt x="228473" y="86613"/>
                </a:lnTo>
                <a:lnTo>
                  <a:pt x="207949" y="78212"/>
                </a:lnTo>
                <a:close/>
              </a:path>
              <a:path w="323215" h="160654">
                <a:moveTo>
                  <a:pt x="224790" y="37083"/>
                </a:moveTo>
                <a:lnTo>
                  <a:pt x="207949" y="78212"/>
                </a:lnTo>
                <a:lnTo>
                  <a:pt x="228473" y="86613"/>
                </a:lnTo>
                <a:lnTo>
                  <a:pt x="211709" y="127762"/>
                </a:lnTo>
                <a:lnTo>
                  <a:pt x="304171" y="127762"/>
                </a:lnTo>
                <a:lnTo>
                  <a:pt x="224790" y="37083"/>
                </a:lnTo>
                <a:close/>
              </a:path>
              <a:path w="323215" h="160654">
                <a:moveTo>
                  <a:pt x="16891" y="0"/>
                </a:moveTo>
                <a:lnTo>
                  <a:pt x="0" y="41147"/>
                </a:lnTo>
                <a:lnTo>
                  <a:pt x="191111" y="119335"/>
                </a:lnTo>
                <a:lnTo>
                  <a:pt x="207949" y="78212"/>
                </a:lnTo>
                <a:lnTo>
                  <a:pt x="168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3A208F5-1FF2-BF56-6B4B-82FB13C9C74D}"/>
              </a:ext>
            </a:extLst>
          </p:cNvPr>
          <p:cNvSpPr txBox="1"/>
          <p:nvPr/>
        </p:nvSpPr>
        <p:spPr>
          <a:xfrm>
            <a:off x="8185287" y="4705629"/>
            <a:ext cx="49904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2E2E81"/>
                </a:solidFill>
                <a:latin typeface="Calibri"/>
                <a:cs typeface="Calibri"/>
              </a:rPr>
              <a:t>&amp;</a:t>
            </a:r>
            <a:r>
              <a:rPr lang="en-US" sz="1100" dirty="0" err="1">
                <a:solidFill>
                  <a:srgbClr val="2E2E81"/>
                </a:solidFill>
                <a:latin typeface="Calibri"/>
                <a:cs typeface="Calibri"/>
              </a:rPr>
              <a:t>lt</a:t>
            </a:r>
            <a:r>
              <a:rPr lang="en-US" sz="1100" dirty="0">
                <a:solidFill>
                  <a:srgbClr val="2E2E81"/>
                </a:solidFill>
                <a:latin typeface="Calibri"/>
                <a:cs typeface="Calibri"/>
              </a:rPr>
              <a:t>;</a:t>
            </a:r>
            <a:r>
              <a:rPr lang="en-US" sz="1100" spc="-10" dirty="0">
                <a:solidFill>
                  <a:srgbClr val="2E2E81"/>
                </a:solidFill>
                <a:latin typeface="Calibri"/>
                <a:cs typeface="Calibri"/>
              </a:rPr>
              <a:t> 0,001</a:t>
            </a:r>
            <a:endParaRPr lang="uk-UA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83055" y="998930"/>
            <a:ext cx="3292475" cy="361637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0"/>
              </a:spcBef>
            </a:pPr>
            <a:r>
              <a:rPr sz="2400" b="1" spc="-10" dirty="0">
                <a:solidFill>
                  <a:srgbClr val="312B80"/>
                </a:solidFill>
                <a:latin typeface="Calibri"/>
                <a:cs typeface="Calibri"/>
              </a:rPr>
              <a:t>ПОПУЛЯЦІЯ</a:t>
            </a:r>
            <a:endParaRPr sz="2400" dirty="0">
              <a:latin typeface="Calibri"/>
              <a:cs typeface="Calibri"/>
            </a:endParaRPr>
          </a:p>
          <a:p>
            <a:pPr marL="125095" marR="30480" indent="-87630" algn="just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126364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50 пацієнтів із II та III </a:t>
            </a:r>
            <a:r>
              <a:rPr sz="1400" dirty="0" err="1">
                <a:solidFill>
                  <a:srgbClr val="FFFFFF"/>
                </a:solidFill>
                <a:latin typeface="Calibri"/>
                <a:cs typeface="Calibri"/>
              </a:rPr>
              <a:t>ступенем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uk-UA" sz="1400" dirty="0">
                <a:solidFill>
                  <a:srgbClr val="FFFFFF"/>
                </a:solidFill>
                <a:latin typeface="Calibri"/>
                <a:cs typeface="Calibri"/>
              </a:rPr>
              <a:t>ОА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— легким до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помірним 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   остеоартритом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віком від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37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до 84 років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спостереження за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49 пацієнтами)</a:t>
            </a:r>
            <a:endParaRPr sz="1400" dirty="0">
              <a:latin typeface="Calibri"/>
              <a:cs typeface="Calibri"/>
            </a:endParaRPr>
          </a:p>
          <a:p>
            <a:pPr marL="125095" indent="-86995" algn="just">
              <a:lnSpc>
                <a:spcPct val="100000"/>
              </a:lnSpc>
              <a:buFont typeface="Arial"/>
              <a:buChar char="•"/>
              <a:tabLst>
                <a:tab pos="125095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Дослідження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проведено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в період з березня 2021 року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по</a:t>
            </a:r>
            <a:endParaRPr sz="1400" dirty="0">
              <a:latin typeface="Calibri"/>
              <a:cs typeface="Calibri"/>
            </a:endParaRPr>
          </a:p>
          <a:p>
            <a:pPr marL="126364" algn="just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квітня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2022 року</a:t>
            </a:r>
            <a:endParaRPr sz="1400" dirty="0">
              <a:latin typeface="Calibri"/>
              <a:cs typeface="Calibri"/>
            </a:endParaRPr>
          </a:p>
          <a:p>
            <a:pPr marL="125095" marR="121285" indent="-87630">
              <a:lnSpc>
                <a:spcPct val="100000"/>
              </a:lnSpc>
              <a:buFont typeface="Arial"/>
              <a:buChar char="•"/>
              <a:tabLst>
                <a:tab pos="126364" algn="l"/>
              </a:tabLst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Протокол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ін'єкцій пацієнтам із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сухим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коліном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: 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ін'єкція </a:t>
            </a:r>
            <a:r>
              <a:rPr sz="1400" dirty="0" err="1">
                <a:solidFill>
                  <a:srgbClr val="FFFFFF"/>
                </a:solidFill>
                <a:latin typeface="Calibri"/>
                <a:cs typeface="Calibri"/>
              </a:rPr>
              <a:t>KioMedine</a:t>
            </a:r>
            <a:r>
              <a:rPr sz="1350" baseline="24691" dirty="0" err="1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400" spc="-45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безпосередньо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під час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першого візиту</a:t>
            </a:r>
            <a:endParaRPr sz="1400" dirty="0">
              <a:latin typeface="Calibri"/>
              <a:cs typeface="Calibri"/>
            </a:endParaRPr>
          </a:p>
          <a:p>
            <a:pPr marL="125095" marR="33655" indent="-87630">
              <a:lnSpc>
                <a:spcPct val="100000"/>
              </a:lnSpc>
              <a:buFont typeface="Arial"/>
              <a:buChar char="•"/>
              <a:tabLst>
                <a:tab pos="126364" algn="l"/>
              </a:tabLst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Протокол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ін'єкцій пацієнтам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із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запаленням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колінного суглоба</a:t>
            </a: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: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ін'єкція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кортикостероїдів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за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тиждень до </a:t>
            </a:r>
            <a:r>
              <a:rPr sz="1400" spc="-10" dirty="0" err="1">
                <a:solidFill>
                  <a:srgbClr val="FFFFFF"/>
                </a:solidFill>
                <a:latin typeface="Calibri"/>
                <a:cs typeface="Calibri"/>
              </a:rPr>
              <a:t>KioMedine</a:t>
            </a:r>
            <a:r>
              <a:rPr sz="1350" spc="-15" baseline="24691" dirty="0" err="1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400" spc="-1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82566" y="1104198"/>
            <a:ext cx="7409434" cy="164147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2400" b="1" spc="-10" dirty="0">
                <a:solidFill>
                  <a:srgbClr val="312B80"/>
                </a:solidFill>
                <a:latin typeface="Calibri"/>
                <a:cs typeface="Calibri"/>
              </a:rPr>
              <a:t>ЕФЕКТИВНІСТЬ</a:t>
            </a:r>
            <a:endParaRPr sz="2400" dirty="0">
              <a:latin typeface="Calibri"/>
              <a:cs typeface="Calibri"/>
            </a:endParaRPr>
          </a:p>
          <a:p>
            <a:pPr marL="100330" indent="-81915">
              <a:lnSpc>
                <a:spcPct val="100000"/>
              </a:lnSpc>
              <a:spcBef>
                <a:spcPts val="395"/>
              </a:spcBef>
              <a:buFont typeface="Arial"/>
              <a:buChar char="•"/>
              <a:tabLst>
                <a:tab pos="100330" algn="l"/>
              </a:tabLst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Анкета KOOS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оцінка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результатів лікування травм коліна та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остеоартриту)</a:t>
            </a:r>
            <a:endParaRPr sz="1200" dirty="0">
              <a:latin typeface="Calibri"/>
              <a:cs typeface="Calibri"/>
            </a:endParaRPr>
          </a:p>
          <a:p>
            <a:pPr marL="100330" indent="-81915">
              <a:lnSpc>
                <a:spcPct val="100000"/>
              </a:lnSpc>
              <a:buFont typeface="Arial"/>
              <a:buChar char="•"/>
              <a:tabLst>
                <a:tab pos="100330" algn="l"/>
              </a:tabLst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Візуальна аналогова шкала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(VAS) 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болю</a:t>
            </a:r>
            <a:endParaRPr sz="1200" dirty="0">
              <a:latin typeface="Calibri"/>
              <a:cs typeface="Calibri"/>
            </a:endParaRPr>
          </a:p>
          <a:p>
            <a:pPr marL="100330" indent="-81915">
              <a:lnSpc>
                <a:spcPct val="100000"/>
              </a:lnSpc>
              <a:buFont typeface="Arial"/>
              <a:buChar char="•"/>
              <a:tabLst>
                <a:tab pos="100330" algn="l"/>
              </a:tabLst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Суб'єктивна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оцінка лікування пацієнтом (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загальна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оцінка лікаря):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 79,5% через 6 місяців і 75,0% через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9 місяців</a:t>
            </a:r>
            <a:endParaRPr sz="1200" dirty="0">
              <a:latin typeface="Calibri"/>
              <a:cs typeface="Calibri"/>
            </a:endParaRPr>
          </a:p>
          <a:p>
            <a:pPr marL="136525" indent="-118110">
              <a:lnSpc>
                <a:spcPct val="100000"/>
              </a:lnSpc>
              <a:buFont typeface="Arial"/>
              <a:buChar char="•"/>
              <a:tabLst>
                <a:tab pos="136525" algn="l"/>
              </a:tabLst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Суб'єктивна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оцінка лікування дослідником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(загальне клінічне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враження):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 75,0 % через 6 місяців і 70,5 % через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9 місяців</a:t>
            </a:r>
            <a:endParaRPr sz="1200" dirty="0">
              <a:latin typeface="Calibri"/>
              <a:cs typeface="Calibri"/>
            </a:endParaRPr>
          </a:p>
          <a:p>
            <a:pPr marL="136525" indent="-118110">
              <a:lnSpc>
                <a:spcPct val="100000"/>
              </a:lnSpc>
              <a:buFont typeface="Arial"/>
              <a:buChar char="•"/>
              <a:tabLst>
                <a:tab pos="136525" algn="l"/>
              </a:tabLst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Частота відповіді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за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шкалою OMERACT-OARSI: 72,7% через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6 місяців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3055" y="4623257"/>
            <a:ext cx="3549014" cy="1202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1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312B80"/>
                </a:solidFill>
                <a:latin typeface="Calibri"/>
                <a:cs typeface="Calibri"/>
              </a:rPr>
              <a:t>БЕЗПЕКА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ts val="1510"/>
              </a:lnSpc>
            </a:pP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Ко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роткострокова та довгострокова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безпека</a:t>
            </a:r>
            <a:endParaRPr sz="14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KioMedinevsone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в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різні моменти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часу (стан суглобів/ділянок та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побічні реакції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, [можливо]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пов'язані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з досліджуваним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препаратом)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28807" y="107887"/>
            <a:ext cx="10646410" cy="6750684"/>
            <a:chOff x="228807" y="107887"/>
            <a:chExt cx="10646410" cy="6750684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39918" y="2786164"/>
              <a:ext cx="5425694" cy="30601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435219" y="2781401"/>
              <a:ext cx="5435600" cy="3070225"/>
            </a:xfrm>
            <a:custGeom>
              <a:avLst/>
              <a:gdLst/>
              <a:ahLst/>
              <a:cxnLst/>
              <a:rect l="l" t="t" r="r" b="b"/>
              <a:pathLst>
                <a:path w="5435600" h="3070225">
                  <a:moveTo>
                    <a:pt x="0" y="3069717"/>
                  </a:moveTo>
                  <a:lnTo>
                    <a:pt x="5435219" y="3069717"/>
                  </a:lnTo>
                  <a:lnTo>
                    <a:pt x="5435219" y="0"/>
                  </a:lnTo>
                  <a:lnTo>
                    <a:pt x="0" y="0"/>
                  </a:lnTo>
                  <a:lnTo>
                    <a:pt x="0" y="3069717"/>
                  </a:lnTo>
                  <a:close/>
                </a:path>
              </a:pathLst>
            </a:custGeom>
            <a:ln w="9525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7821" y="116902"/>
              <a:ext cx="716915" cy="715645"/>
            </a:xfrm>
            <a:custGeom>
              <a:avLst/>
              <a:gdLst/>
              <a:ahLst/>
              <a:cxnLst/>
              <a:rect l="l" t="t" r="r" b="b"/>
              <a:pathLst>
                <a:path w="716915" h="715644">
                  <a:moveTo>
                    <a:pt x="716323" y="358689"/>
                  </a:moveTo>
                  <a:lnTo>
                    <a:pt x="716323" y="358689"/>
                  </a:lnTo>
                  <a:lnTo>
                    <a:pt x="716323" y="371034"/>
                  </a:lnTo>
                </a:path>
                <a:path w="716915" h="715644">
                  <a:moveTo>
                    <a:pt x="707782" y="433656"/>
                  </a:moveTo>
                  <a:lnTo>
                    <a:pt x="707782" y="433656"/>
                  </a:lnTo>
                  <a:lnTo>
                    <a:pt x="705887" y="445989"/>
                  </a:lnTo>
                </a:path>
                <a:path w="716915" h="715644">
                  <a:moveTo>
                    <a:pt x="685016" y="504820"/>
                  </a:moveTo>
                  <a:lnTo>
                    <a:pt x="685016" y="504820"/>
                  </a:lnTo>
                  <a:lnTo>
                    <a:pt x="679318" y="517165"/>
                  </a:lnTo>
                </a:path>
                <a:path w="716915" h="715644">
                  <a:moveTo>
                    <a:pt x="647064" y="570298"/>
                  </a:moveTo>
                  <a:lnTo>
                    <a:pt x="647064" y="570298"/>
                  </a:lnTo>
                  <a:lnTo>
                    <a:pt x="638524" y="580735"/>
                  </a:lnTo>
                </a:path>
                <a:path w="716915" h="715644">
                  <a:moveTo>
                    <a:pt x="595822" y="626287"/>
                  </a:moveTo>
                  <a:lnTo>
                    <a:pt x="595822" y="626287"/>
                  </a:lnTo>
                  <a:lnTo>
                    <a:pt x="586334" y="634827"/>
                  </a:lnTo>
                </a:path>
                <a:path w="716915" h="715644">
                  <a:moveTo>
                    <a:pt x="534156" y="669937"/>
                  </a:moveTo>
                  <a:lnTo>
                    <a:pt x="526563" y="674681"/>
                  </a:lnTo>
                  <a:lnTo>
                    <a:pt x="522773" y="676579"/>
                  </a:lnTo>
                </a:path>
                <a:path w="716915" h="715644">
                  <a:moveTo>
                    <a:pt x="464898" y="700301"/>
                  </a:moveTo>
                  <a:lnTo>
                    <a:pt x="464898" y="700301"/>
                  </a:lnTo>
                  <a:lnTo>
                    <a:pt x="452567" y="704097"/>
                  </a:lnTo>
                </a:path>
                <a:path w="716915" h="715644">
                  <a:moveTo>
                    <a:pt x="390889" y="714535"/>
                  </a:moveTo>
                  <a:lnTo>
                    <a:pt x="390889" y="714535"/>
                  </a:lnTo>
                  <a:lnTo>
                    <a:pt x="378558" y="715484"/>
                  </a:lnTo>
                </a:path>
                <a:path w="716915" h="715644">
                  <a:moveTo>
                    <a:pt x="314985" y="714535"/>
                  </a:moveTo>
                  <a:lnTo>
                    <a:pt x="313090" y="714535"/>
                  </a:lnTo>
                  <a:lnTo>
                    <a:pt x="302655" y="712637"/>
                  </a:lnTo>
                </a:path>
                <a:path w="716915" h="715644">
                  <a:moveTo>
                    <a:pt x="241937" y="697454"/>
                  </a:moveTo>
                  <a:lnTo>
                    <a:pt x="241937" y="697454"/>
                  </a:lnTo>
                  <a:lnTo>
                    <a:pt x="229606" y="692710"/>
                  </a:lnTo>
                </a:path>
                <a:path w="716915" h="715644">
                  <a:moveTo>
                    <a:pt x="173626" y="665192"/>
                  </a:moveTo>
                  <a:lnTo>
                    <a:pt x="173626" y="665192"/>
                  </a:lnTo>
                  <a:lnTo>
                    <a:pt x="162243" y="658549"/>
                  </a:lnTo>
                </a:path>
                <a:path w="716915" h="715644">
                  <a:moveTo>
                    <a:pt x="112903" y="619644"/>
                  </a:moveTo>
                  <a:lnTo>
                    <a:pt x="112903" y="619644"/>
                  </a:lnTo>
                  <a:lnTo>
                    <a:pt x="104364" y="610154"/>
                  </a:lnTo>
                </a:path>
                <a:path w="716915" h="715644">
                  <a:moveTo>
                    <a:pt x="63567" y="562704"/>
                  </a:moveTo>
                  <a:lnTo>
                    <a:pt x="63567" y="562704"/>
                  </a:lnTo>
                  <a:lnTo>
                    <a:pt x="56925" y="551319"/>
                  </a:lnTo>
                </a:path>
                <a:path w="716915" h="715644">
                  <a:moveTo>
                    <a:pt x="27514" y="496291"/>
                  </a:moveTo>
                  <a:lnTo>
                    <a:pt x="23718" y="487749"/>
                  </a:lnTo>
                  <a:lnTo>
                    <a:pt x="22770" y="483945"/>
                  </a:lnTo>
                </a:path>
                <a:path w="716915" h="715644">
                  <a:moveTo>
                    <a:pt x="5693" y="423218"/>
                  </a:moveTo>
                  <a:lnTo>
                    <a:pt x="5693" y="423218"/>
                  </a:lnTo>
                  <a:lnTo>
                    <a:pt x="3795" y="410886"/>
                  </a:lnTo>
                </a:path>
                <a:path w="716915" h="715644">
                  <a:moveTo>
                    <a:pt x="0" y="348251"/>
                  </a:moveTo>
                  <a:lnTo>
                    <a:pt x="0" y="348251"/>
                  </a:lnTo>
                  <a:lnTo>
                    <a:pt x="948" y="335919"/>
                  </a:lnTo>
                </a:path>
                <a:path w="716915" h="715644">
                  <a:moveTo>
                    <a:pt x="9488" y="273296"/>
                  </a:moveTo>
                  <a:lnTo>
                    <a:pt x="10437" y="270440"/>
                  </a:lnTo>
                  <a:lnTo>
                    <a:pt x="13282" y="260951"/>
                  </a:lnTo>
                </a:path>
                <a:path w="716915" h="715644">
                  <a:moveTo>
                    <a:pt x="36053" y="202119"/>
                  </a:moveTo>
                  <a:lnTo>
                    <a:pt x="36053" y="202119"/>
                  </a:lnTo>
                  <a:lnTo>
                    <a:pt x="40797" y="190735"/>
                  </a:lnTo>
                </a:path>
                <a:path w="716915" h="715644">
                  <a:moveTo>
                    <a:pt x="75901" y="138549"/>
                  </a:moveTo>
                  <a:lnTo>
                    <a:pt x="75901" y="138549"/>
                  </a:lnTo>
                  <a:lnTo>
                    <a:pt x="83491" y="128112"/>
                  </a:lnTo>
                </a:path>
                <a:path w="716915" h="715644">
                  <a:moveTo>
                    <a:pt x="128081" y="83508"/>
                  </a:moveTo>
                  <a:lnTo>
                    <a:pt x="128081" y="83508"/>
                  </a:lnTo>
                  <a:lnTo>
                    <a:pt x="138517" y="75914"/>
                  </a:lnTo>
                </a:path>
                <a:path w="716915" h="715644">
                  <a:moveTo>
                    <a:pt x="190707" y="40813"/>
                  </a:moveTo>
                  <a:lnTo>
                    <a:pt x="190707" y="40813"/>
                  </a:lnTo>
                  <a:lnTo>
                    <a:pt x="202090" y="36062"/>
                  </a:lnTo>
                </a:path>
                <a:path w="716915" h="715644">
                  <a:moveTo>
                    <a:pt x="260913" y="13292"/>
                  </a:moveTo>
                  <a:lnTo>
                    <a:pt x="269453" y="10449"/>
                  </a:lnTo>
                  <a:lnTo>
                    <a:pt x="273243" y="10449"/>
                  </a:lnTo>
                </a:path>
                <a:path w="716915" h="715644">
                  <a:moveTo>
                    <a:pt x="335869" y="960"/>
                  </a:moveTo>
                  <a:lnTo>
                    <a:pt x="335869" y="960"/>
                  </a:lnTo>
                  <a:lnTo>
                    <a:pt x="348199" y="0"/>
                  </a:lnTo>
                </a:path>
                <a:path w="716915" h="715644">
                  <a:moveTo>
                    <a:pt x="410812" y="3803"/>
                  </a:moveTo>
                  <a:lnTo>
                    <a:pt x="410812" y="3803"/>
                  </a:lnTo>
                  <a:lnTo>
                    <a:pt x="423156" y="6646"/>
                  </a:lnTo>
                </a:path>
                <a:path w="716915" h="715644">
                  <a:moveTo>
                    <a:pt x="483874" y="22782"/>
                  </a:moveTo>
                  <a:lnTo>
                    <a:pt x="487664" y="23729"/>
                  </a:lnTo>
                  <a:lnTo>
                    <a:pt x="496204" y="27520"/>
                  </a:lnTo>
                </a:path>
                <a:path w="716915" h="715644">
                  <a:moveTo>
                    <a:pt x="551237" y="56936"/>
                  </a:moveTo>
                  <a:lnTo>
                    <a:pt x="551237" y="56936"/>
                  </a:lnTo>
                  <a:lnTo>
                    <a:pt x="562620" y="63582"/>
                  </a:lnTo>
                </a:path>
                <a:path w="716915" h="715644">
                  <a:moveTo>
                    <a:pt x="610060" y="104383"/>
                  </a:moveTo>
                  <a:lnTo>
                    <a:pt x="610060" y="104383"/>
                  </a:lnTo>
                  <a:lnTo>
                    <a:pt x="619548" y="112925"/>
                  </a:lnTo>
                </a:path>
                <a:path w="716915" h="715644">
                  <a:moveTo>
                    <a:pt x="658447" y="163215"/>
                  </a:moveTo>
                  <a:lnTo>
                    <a:pt x="658447" y="163215"/>
                  </a:lnTo>
                  <a:lnTo>
                    <a:pt x="665093" y="173652"/>
                  </a:lnTo>
                </a:path>
                <a:path w="716915" h="715644">
                  <a:moveTo>
                    <a:pt x="692596" y="229641"/>
                  </a:moveTo>
                  <a:lnTo>
                    <a:pt x="692596" y="229641"/>
                  </a:lnTo>
                  <a:lnTo>
                    <a:pt x="696399" y="241973"/>
                  </a:lnTo>
                </a:path>
                <a:path w="716915" h="715644">
                  <a:moveTo>
                    <a:pt x="711572" y="303660"/>
                  </a:moveTo>
                  <a:lnTo>
                    <a:pt x="713480" y="313150"/>
                  </a:lnTo>
                  <a:lnTo>
                    <a:pt x="714428" y="315993"/>
                  </a:lnTo>
                </a:path>
              </a:pathLst>
            </a:custGeom>
            <a:ln w="18028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6633" y="852551"/>
              <a:ext cx="0" cy="6005830"/>
            </a:xfrm>
            <a:custGeom>
              <a:avLst/>
              <a:gdLst/>
              <a:ahLst/>
              <a:cxnLst/>
              <a:rect l="l" t="t" r="r" b="b"/>
              <a:pathLst>
                <a:path h="6005830">
                  <a:moveTo>
                    <a:pt x="0" y="0"/>
                  </a:moveTo>
                  <a:lnTo>
                    <a:pt x="0" y="600544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632069" y="5991967"/>
            <a:ext cx="7409433" cy="589264"/>
          </a:xfrm>
          <a:prstGeom prst="rect">
            <a:avLst/>
          </a:prstGeom>
          <a:solidFill>
            <a:srgbClr val="2E2E81"/>
          </a:solidFill>
        </p:spPr>
        <p:txBody>
          <a:bodyPr vert="horz" wrap="square" lIns="0" tIns="34925" rIns="0" bIns="0" rtlCol="0">
            <a:spAutoFit/>
          </a:bodyPr>
          <a:lstStyle/>
          <a:p>
            <a:pPr marL="594995">
              <a:lnSpc>
                <a:spcPct val="100000"/>
              </a:lnSpc>
              <a:spcBef>
                <a:spcPts val="27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Ефективність </a:t>
            </a:r>
            <a:r>
              <a:rPr sz="1800" dirty="0" err="1">
                <a:solidFill>
                  <a:srgbClr val="FFFFFF"/>
                </a:solidFill>
                <a:latin typeface="Calibri"/>
                <a:cs typeface="Calibri"/>
              </a:rPr>
              <a:t>KioMedine</a:t>
            </a:r>
            <a:r>
              <a:rPr sz="1800" baseline="25462" dirty="0" err="1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протягом 9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місяців</a:t>
            </a:r>
            <a:endParaRPr sz="1800" dirty="0">
              <a:latin typeface="Calibri"/>
              <a:cs typeface="Calibri"/>
            </a:endParaRPr>
          </a:p>
          <a:p>
            <a:pPr marL="70612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82,2% пацієнтів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продемонстрували поліпшення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через 9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місяців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3055" y="6524955"/>
            <a:ext cx="26028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4. Дослідження в процесі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публікації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98071" y="-15494"/>
            <a:ext cx="4121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188528" y="-110682"/>
            <a:ext cx="10515600" cy="1325563"/>
          </a:xfrm>
          <a:prstGeom prst="rect">
            <a:avLst/>
          </a:prstGeom>
        </p:spPr>
        <p:txBody>
          <a:bodyPr vert="horz" wrap="square" lIns="0" tIns="90046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</a:rPr>
              <a:t>Постмаркетингове дослідження – </a:t>
            </a:r>
            <a:r>
              <a:rPr sz="3000" spc="-10" dirty="0">
                <a:solidFill>
                  <a:srgbClr val="FFFFFF"/>
                </a:solidFill>
              </a:rPr>
              <a:t>Німеччина</a:t>
            </a:r>
            <a:r>
              <a:rPr sz="3000" spc="-15" baseline="25000" dirty="0">
                <a:solidFill>
                  <a:srgbClr val="FFFFFF"/>
                </a:solidFill>
              </a:rPr>
              <a:t>4</a:t>
            </a:r>
            <a:endParaRPr sz="3000" baseline="25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5479" y="1072627"/>
            <a:ext cx="5562915" cy="1310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Спостереження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в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Бельгії</a:t>
            </a:r>
            <a:endParaRPr sz="2000" dirty="0">
              <a:latin typeface="Calibri"/>
              <a:cs typeface="Calibri"/>
            </a:endParaRPr>
          </a:p>
          <a:p>
            <a:pPr marL="298450" indent="-10795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298450" algn="l"/>
              </a:tabLst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112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пацієнтам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було зроблено 133 ін'єкції</a:t>
            </a:r>
            <a:endParaRPr sz="1600" dirty="0">
              <a:latin typeface="Calibri"/>
              <a:cs typeface="Calibri"/>
            </a:endParaRPr>
          </a:p>
          <a:p>
            <a:pPr marL="298450" indent="-10795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8450" algn="l"/>
              </a:tabLst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У період з січня 2021 року по червень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 2023 року</a:t>
            </a:r>
            <a:endParaRPr sz="1600" dirty="0">
              <a:latin typeface="Calibri"/>
              <a:cs typeface="Calibri"/>
            </a:endParaRPr>
          </a:p>
          <a:p>
            <a:pPr marL="299085" marR="5080" indent="-108585">
              <a:lnSpc>
                <a:spcPts val="19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Середній період спостереження: 16,5 місяців (±10,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мінімум = 4,2,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максимум = 35,7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місяців)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5292" y="2721240"/>
            <a:ext cx="5700099" cy="28751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2E2E81"/>
                </a:solidFill>
                <a:latin typeface="Calibri"/>
                <a:cs typeface="Calibri"/>
              </a:rPr>
              <a:t>Пацієнти </a:t>
            </a:r>
            <a:r>
              <a:rPr sz="1600" b="1" dirty="0">
                <a:solidFill>
                  <a:srgbClr val="2E2E81"/>
                </a:solidFill>
                <a:latin typeface="Calibri"/>
                <a:cs typeface="Calibri"/>
              </a:rPr>
              <a:t>з переважно </a:t>
            </a:r>
            <a:r>
              <a:rPr sz="1600" b="1" spc="-10" dirty="0">
                <a:solidFill>
                  <a:srgbClr val="2E2E81"/>
                </a:solidFill>
                <a:latin typeface="Calibri"/>
                <a:cs typeface="Calibri"/>
              </a:rPr>
              <a:t>рефрактерним профілем остеоартриту</a:t>
            </a:r>
            <a:endParaRPr sz="1600" dirty="0">
              <a:latin typeface="Calibri"/>
              <a:cs typeface="Calibri"/>
            </a:endParaRPr>
          </a:p>
          <a:p>
            <a:pPr marL="298450" indent="-10795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298450" algn="l"/>
              </a:tabLst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Безпека: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систематичне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спостереження за потенційними побічними реакціями 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протягом</a:t>
            </a:r>
            <a:endParaRPr sz="1400" dirty="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2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тижнів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14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1400" b="1" dirty="0">
                <a:solidFill>
                  <a:srgbClr val="2E2E81"/>
                </a:solidFill>
                <a:latin typeface="Calibri"/>
                <a:cs typeface="Calibri"/>
              </a:rPr>
              <a:t>Лише 9% пацієнтів </a:t>
            </a:r>
            <a:r>
              <a:rPr sz="1400" b="1" spc="-10" dirty="0">
                <a:solidFill>
                  <a:srgbClr val="2E2E81"/>
                </a:solidFill>
                <a:latin typeface="Calibri"/>
                <a:cs typeface="Calibri"/>
              </a:rPr>
              <a:t>повідомили про </a:t>
            </a:r>
            <a:r>
              <a:rPr sz="1400" b="1" dirty="0">
                <a:solidFill>
                  <a:srgbClr val="2E2E81"/>
                </a:solidFill>
                <a:latin typeface="Calibri"/>
                <a:cs typeface="Calibri"/>
              </a:rPr>
              <a:t>біль після ін'єкції (n=112)</a:t>
            </a:r>
            <a:endParaRPr sz="1400" dirty="0">
              <a:latin typeface="Calibri"/>
              <a:cs typeface="Calibri"/>
            </a:endParaRPr>
          </a:p>
          <a:p>
            <a:pPr marL="299085" marR="5080" indent="-1085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Ефективність: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аналіз на певний момент часу — довгострокове спостереження 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за допомогою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телефонних 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дзвінків</a:t>
            </a:r>
            <a:endParaRPr sz="1400" dirty="0">
              <a:latin typeface="Calibri"/>
              <a:cs typeface="Calibri"/>
            </a:endParaRPr>
          </a:p>
          <a:p>
            <a:pPr marL="334010">
              <a:lnSpc>
                <a:spcPct val="100000"/>
              </a:lnSpc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Оцінка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порівняно з ситуацією до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ін'єкції:</a:t>
            </a:r>
            <a:endParaRPr sz="1400" dirty="0">
              <a:latin typeface="Calibri"/>
              <a:cs typeface="Calibri"/>
            </a:endParaRPr>
          </a:p>
          <a:p>
            <a:pPr marL="593725" marR="176530" lvl="1" indent="-124460">
              <a:lnSpc>
                <a:spcPct val="100000"/>
              </a:lnSpc>
              <a:spcBef>
                <a:spcPts val="10"/>
              </a:spcBef>
              <a:buFont typeface="Calibri"/>
              <a:buChar char="-"/>
              <a:tabLst>
                <a:tab pos="596265" algn="l"/>
              </a:tabLst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Загальний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стан коліна, біль у коліні, скутість,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гнучкість, сила, 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повсякденна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активність</a:t>
            </a:r>
            <a:endParaRPr sz="1200" dirty="0">
              <a:latin typeface="Calibri"/>
              <a:cs typeface="Calibri"/>
            </a:endParaRPr>
          </a:p>
          <a:p>
            <a:pPr marL="594360" lvl="1" indent="-124460">
              <a:lnSpc>
                <a:spcPct val="100000"/>
              </a:lnSpc>
              <a:buFont typeface="Calibri"/>
              <a:buChar char="-"/>
              <a:tabLst>
                <a:tab pos="594360" algn="l"/>
              </a:tabLst>
            </a:pP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Прийом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знеболюючих препаратів: частіше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/так само часто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/рідше</a:t>
            </a:r>
            <a:endParaRPr sz="1200" dirty="0">
              <a:latin typeface="Calibri"/>
              <a:cs typeface="Calibri"/>
            </a:endParaRPr>
          </a:p>
          <a:p>
            <a:pPr marL="594360" lvl="1" indent="-124460">
              <a:lnSpc>
                <a:spcPct val="100000"/>
              </a:lnSpc>
              <a:buFont typeface="Calibri"/>
              <a:buChar char="-"/>
              <a:tabLst>
                <a:tab pos="594360" algn="l"/>
              </a:tabLs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Чи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отримували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інші </a:t>
            </a:r>
            <a:r>
              <a:rPr sz="1200" b="1" spc="-10" dirty="0" err="1">
                <a:solidFill>
                  <a:srgbClr val="FFFFFF"/>
                </a:solidFill>
                <a:latin typeface="Calibri"/>
                <a:cs typeface="Calibri"/>
              </a:rPr>
              <a:t>ін'єкції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endParaRPr sz="1200" dirty="0">
              <a:latin typeface="Calibri"/>
              <a:cs typeface="Calibri"/>
            </a:endParaRPr>
          </a:p>
          <a:p>
            <a:pPr marL="594360" lvl="1" indent="-124460">
              <a:lnSpc>
                <a:spcPct val="100000"/>
              </a:lnSpc>
              <a:buFont typeface="Calibri"/>
              <a:buChar char="-"/>
              <a:tabLst>
                <a:tab pos="594360" algn="l"/>
              </a:tabLs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Якщо вони перенесли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операцію</a:t>
            </a:r>
            <a:endParaRPr sz="1200" dirty="0">
              <a:latin typeface="Calibri"/>
              <a:cs typeface="Calibri"/>
            </a:endParaRPr>
          </a:p>
          <a:p>
            <a:pPr marL="594360" lvl="1" indent="-124460">
              <a:lnSpc>
                <a:spcPct val="100000"/>
              </a:lnSpc>
              <a:buFont typeface="Calibri"/>
              <a:buChar char="-"/>
              <a:tabLst>
                <a:tab pos="594360" algn="l"/>
              </a:tabLst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Якщо вони розглядають можливість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повторного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введення ін'єкції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4736" y="5733541"/>
            <a:ext cx="44716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Більшість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пацієнтів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раніше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отримували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ін'єкції 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КС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(кортикостероїди)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43041" y="5101958"/>
            <a:ext cx="5522976" cy="1263166"/>
          </a:xfrm>
          <a:prstGeom prst="rect">
            <a:avLst/>
          </a:prstGeom>
          <a:solidFill>
            <a:srgbClr val="2E2E81"/>
          </a:solidFill>
        </p:spPr>
        <p:txBody>
          <a:bodyPr vert="horz" wrap="square" lIns="0" tIns="34290" rIns="0" bIns="0" rtlCol="0">
            <a:spAutoFit/>
          </a:bodyPr>
          <a:lstStyle/>
          <a:p>
            <a:pPr marL="603250" marR="113030" indent="-483234">
              <a:lnSpc>
                <a:spcPct val="100000"/>
              </a:lnSpc>
              <a:spcBef>
                <a:spcPts val="27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71% пацієнтів повідомили про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загальне поліпшення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стану 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коліна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(біль, скутість,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гнучкість, сила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та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активність)</a:t>
            </a:r>
            <a:endParaRPr sz="1600" dirty="0">
              <a:latin typeface="Calibri"/>
              <a:cs typeface="Calibri"/>
            </a:endParaRPr>
          </a:p>
          <a:p>
            <a:pPr marL="533400" marR="154940" indent="-372110">
              <a:lnSpc>
                <a:spcPct val="100000"/>
              </a:lnSpc>
              <a:spcBef>
                <a:spcPts val="192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84% учасників з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рефрактерним остеоартритом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були 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відкриті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до можливості повторної </a:t>
            </a:r>
            <a:r>
              <a:rPr sz="1600" b="1" spc="-10" dirty="0" err="1">
                <a:solidFill>
                  <a:srgbClr val="FFFFFF"/>
                </a:solidFill>
                <a:latin typeface="Calibri"/>
                <a:cs typeface="Calibri"/>
              </a:rPr>
              <a:t>ін'єкції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uk-UA" sz="1600" b="1" spc="-10" dirty="0">
                <a:solidFill>
                  <a:srgbClr val="FFFFFF"/>
                </a:solidFill>
                <a:latin typeface="Calibri"/>
                <a:cs typeface="Calibri"/>
              </a:rPr>
              <a:t>К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M-</a:t>
            </a:r>
            <a:r>
              <a:rPr sz="1600" b="1" dirty="0" err="1">
                <a:solidFill>
                  <a:srgbClr val="FFFFFF"/>
                </a:solidFill>
                <a:latin typeface="Calibri"/>
                <a:cs typeface="Calibri"/>
              </a:rPr>
              <a:t>хітозану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59786" y="6530543"/>
            <a:ext cx="85648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5. Van Overschelde, SFR 2022,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CM-хітозан при прогресуючому артрозі колінного суглоба: багатообіцяючі довгострокові переваги після однієї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внутрішньосуглобової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ін'єкції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98071" y="-15494"/>
            <a:ext cx="4121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60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8807" y="107887"/>
            <a:ext cx="734695" cy="6750684"/>
            <a:chOff x="228807" y="107887"/>
            <a:chExt cx="734695" cy="6750684"/>
          </a:xfrm>
        </p:grpSpPr>
        <p:sp>
          <p:nvSpPr>
            <p:cNvPr id="10" name="object 10"/>
            <p:cNvSpPr/>
            <p:nvPr/>
          </p:nvSpPr>
          <p:spPr>
            <a:xfrm>
              <a:off x="237821" y="116902"/>
              <a:ext cx="716915" cy="715645"/>
            </a:xfrm>
            <a:custGeom>
              <a:avLst/>
              <a:gdLst/>
              <a:ahLst/>
              <a:cxnLst/>
              <a:rect l="l" t="t" r="r" b="b"/>
              <a:pathLst>
                <a:path w="716915" h="715644">
                  <a:moveTo>
                    <a:pt x="716323" y="358689"/>
                  </a:moveTo>
                  <a:lnTo>
                    <a:pt x="716323" y="358689"/>
                  </a:lnTo>
                  <a:lnTo>
                    <a:pt x="716323" y="371034"/>
                  </a:lnTo>
                </a:path>
                <a:path w="716915" h="715644">
                  <a:moveTo>
                    <a:pt x="707782" y="433656"/>
                  </a:moveTo>
                  <a:lnTo>
                    <a:pt x="707782" y="433656"/>
                  </a:lnTo>
                  <a:lnTo>
                    <a:pt x="705887" y="445989"/>
                  </a:lnTo>
                </a:path>
                <a:path w="716915" h="715644">
                  <a:moveTo>
                    <a:pt x="685016" y="504820"/>
                  </a:moveTo>
                  <a:lnTo>
                    <a:pt x="685016" y="504820"/>
                  </a:lnTo>
                  <a:lnTo>
                    <a:pt x="679318" y="517165"/>
                  </a:lnTo>
                </a:path>
                <a:path w="716915" h="715644">
                  <a:moveTo>
                    <a:pt x="647064" y="570298"/>
                  </a:moveTo>
                  <a:lnTo>
                    <a:pt x="647064" y="570298"/>
                  </a:lnTo>
                  <a:lnTo>
                    <a:pt x="638524" y="580735"/>
                  </a:lnTo>
                </a:path>
                <a:path w="716915" h="715644">
                  <a:moveTo>
                    <a:pt x="595822" y="626287"/>
                  </a:moveTo>
                  <a:lnTo>
                    <a:pt x="595822" y="626287"/>
                  </a:lnTo>
                  <a:lnTo>
                    <a:pt x="586334" y="634827"/>
                  </a:lnTo>
                </a:path>
                <a:path w="716915" h="715644">
                  <a:moveTo>
                    <a:pt x="534156" y="669937"/>
                  </a:moveTo>
                  <a:lnTo>
                    <a:pt x="526563" y="674681"/>
                  </a:lnTo>
                  <a:lnTo>
                    <a:pt x="522773" y="676579"/>
                  </a:lnTo>
                </a:path>
                <a:path w="716915" h="715644">
                  <a:moveTo>
                    <a:pt x="464898" y="700301"/>
                  </a:moveTo>
                  <a:lnTo>
                    <a:pt x="464898" y="700301"/>
                  </a:lnTo>
                  <a:lnTo>
                    <a:pt x="452567" y="704097"/>
                  </a:lnTo>
                </a:path>
                <a:path w="716915" h="715644">
                  <a:moveTo>
                    <a:pt x="390889" y="714535"/>
                  </a:moveTo>
                  <a:lnTo>
                    <a:pt x="390889" y="714535"/>
                  </a:lnTo>
                  <a:lnTo>
                    <a:pt x="378558" y="715484"/>
                  </a:lnTo>
                </a:path>
                <a:path w="716915" h="715644">
                  <a:moveTo>
                    <a:pt x="314985" y="714535"/>
                  </a:moveTo>
                  <a:lnTo>
                    <a:pt x="313090" y="714535"/>
                  </a:lnTo>
                  <a:lnTo>
                    <a:pt x="302655" y="712637"/>
                  </a:lnTo>
                </a:path>
                <a:path w="716915" h="715644">
                  <a:moveTo>
                    <a:pt x="241937" y="697454"/>
                  </a:moveTo>
                  <a:lnTo>
                    <a:pt x="241937" y="697454"/>
                  </a:lnTo>
                  <a:lnTo>
                    <a:pt x="229606" y="692710"/>
                  </a:lnTo>
                </a:path>
                <a:path w="716915" h="715644">
                  <a:moveTo>
                    <a:pt x="173626" y="665192"/>
                  </a:moveTo>
                  <a:lnTo>
                    <a:pt x="173626" y="665192"/>
                  </a:lnTo>
                  <a:lnTo>
                    <a:pt x="162243" y="658549"/>
                  </a:lnTo>
                </a:path>
                <a:path w="716915" h="715644">
                  <a:moveTo>
                    <a:pt x="112903" y="619644"/>
                  </a:moveTo>
                  <a:lnTo>
                    <a:pt x="112903" y="619644"/>
                  </a:lnTo>
                  <a:lnTo>
                    <a:pt x="104364" y="610154"/>
                  </a:lnTo>
                </a:path>
                <a:path w="716915" h="715644">
                  <a:moveTo>
                    <a:pt x="63567" y="562704"/>
                  </a:moveTo>
                  <a:lnTo>
                    <a:pt x="63567" y="562704"/>
                  </a:lnTo>
                  <a:lnTo>
                    <a:pt x="56925" y="551319"/>
                  </a:lnTo>
                </a:path>
                <a:path w="716915" h="715644">
                  <a:moveTo>
                    <a:pt x="27514" y="496291"/>
                  </a:moveTo>
                  <a:lnTo>
                    <a:pt x="23718" y="487749"/>
                  </a:lnTo>
                  <a:lnTo>
                    <a:pt x="22770" y="483945"/>
                  </a:lnTo>
                </a:path>
                <a:path w="716915" h="715644">
                  <a:moveTo>
                    <a:pt x="5693" y="423218"/>
                  </a:moveTo>
                  <a:lnTo>
                    <a:pt x="5693" y="423218"/>
                  </a:lnTo>
                  <a:lnTo>
                    <a:pt x="3795" y="410886"/>
                  </a:lnTo>
                </a:path>
                <a:path w="716915" h="715644">
                  <a:moveTo>
                    <a:pt x="0" y="348251"/>
                  </a:moveTo>
                  <a:lnTo>
                    <a:pt x="0" y="348251"/>
                  </a:lnTo>
                  <a:lnTo>
                    <a:pt x="948" y="335919"/>
                  </a:lnTo>
                </a:path>
                <a:path w="716915" h="715644">
                  <a:moveTo>
                    <a:pt x="9488" y="273296"/>
                  </a:moveTo>
                  <a:lnTo>
                    <a:pt x="10437" y="270440"/>
                  </a:lnTo>
                  <a:lnTo>
                    <a:pt x="13282" y="260951"/>
                  </a:lnTo>
                </a:path>
                <a:path w="716915" h="715644">
                  <a:moveTo>
                    <a:pt x="36053" y="202119"/>
                  </a:moveTo>
                  <a:lnTo>
                    <a:pt x="36053" y="202119"/>
                  </a:lnTo>
                  <a:lnTo>
                    <a:pt x="40797" y="190735"/>
                  </a:lnTo>
                </a:path>
                <a:path w="716915" h="715644">
                  <a:moveTo>
                    <a:pt x="75901" y="138549"/>
                  </a:moveTo>
                  <a:lnTo>
                    <a:pt x="75901" y="138549"/>
                  </a:lnTo>
                  <a:lnTo>
                    <a:pt x="83491" y="128112"/>
                  </a:lnTo>
                </a:path>
                <a:path w="716915" h="715644">
                  <a:moveTo>
                    <a:pt x="128081" y="83508"/>
                  </a:moveTo>
                  <a:lnTo>
                    <a:pt x="128081" y="83508"/>
                  </a:lnTo>
                  <a:lnTo>
                    <a:pt x="138517" y="75914"/>
                  </a:lnTo>
                </a:path>
                <a:path w="716915" h="715644">
                  <a:moveTo>
                    <a:pt x="190707" y="40813"/>
                  </a:moveTo>
                  <a:lnTo>
                    <a:pt x="190707" y="40813"/>
                  </a:lnTo>
                  <a:lnTo>
                    <a:pt x="202090" y="36062"/>
                  </a:lnTo>
                </a:path>
                <a:path w="716915" h="715644">
                  <a:moveTo>
                    <a:pt x="260913" y="13292"/>
                  </a:moveTo>
                  <a:lnTo>
                    <a:pt x="269453" y="10449"/>
                  </a:lnTo>
                  <a:lnTo>
                    <a:pt x="273243" y="10449"/>
                  </a:lnTo>
                </a:path>
                <a:path w="716915" h="715644">
                  <a:moveTo>
                    <a:pt x="335869" y="960"/>
                  </a:moveTo>
                  <a:lnTo>
                    <a:pt x="335869" y="960"/>
                  </a:lnTo>
                  <a:lnTo>
                    <a:pt x="348199" y="0"/>
                  </a:lnTo>
                </a:path>
                <a:path w="716915" h="715644">
                  <a:moveTo>
                    <a:pt x="410812" y="3803"/>
                  </a:moveTo>
                  <a:lnTo>
                    <a:pt x="410812" y="3803"/>
                  </a:lnTo>
                  <a:lnTo>
                    <a:pt x="423156" y="6646"/>
                  </a:lnTo>
                </a:path>
                <a:path w="716915" h="715644">
                  <a:moveTo>
                    <a:pt x="483874" y="22782"/>
                  </a:moveTo>
                  <a:lnTo>
                    <a:pt x="487664" y="23729"/>
                  </a:lnTo>
                  <a:lnTo>
                    <a:pt x="496204" y="27520"/>
                  </a:lnTo>
                </a:path>
                <a:path w="716915" h="715644">
                  <a:moveTo>
                    <a:pt x="551237" y="56936"/>
                  </a:moveTo>
                  <a:lnTo>
                    <a:pt x="551237" y="56936"/>
                  </a:lnTo>
                  <a:lnTo>
                    <a:pt x="562620" y="63582"/>
                  </a:lnTo>
                </a:path>
                <a:path w="716915" h="715644">
                  <a:moveTo>
                    <a:pt x="610060" y="104383"/>
                  </a:moveTo>
                  <a:lnTo>
                    <a:pt x="610060" y="104383"/>
                  </a:lnTo>
                  <a:lnTo>
                    <a:pt x="619548" y="112925"/>
                  </a:lnTo>
                </a:path>
                <a:path w="716915" h="715644">
                  <a:moveTo>
                    <a:pt x="658447" y="163215"/>
                  </a:moveTo>
                  <a:lnTo>
                    <a:pt x="658447" y="163215"/>
                  </a:lnTo>
                  <a:lnTo>
                    <a:pt x="665093" y="173652"/>
                  </a:lnTo>
                </a:path>
                <a:path w="716915" h="715644">
                  <a:moveTo>
                    <a:pt x="692596" y="229641"/>
                  </a:moveTo>
                  <a:lnTo>
                    <a:pt x="692596" y="229641"/>
                  </a:lnTo>
                  <a:lnTo>
                    <a:pt x="696399" y="241973"/>
                  </a:lnTo>
                </a:path>
                <a:path w="716915" h="715644">
                  <a:moveTo>
                    <a:pt x="711572" y="303660"/>
                  </a:moveTo>
                  <a:lnTo>
                    <a:pt x="713480" y="313150"/>
                  </a:lnTo>
                  <a:lnTo>
                    <a:pt x="714428" y="315993"/>
                  </a:lnTo>
                </a:path>
              </a:pathLst>
            </a:custGeom>
            <a:ln w="18028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6633" y="852551"/>
              <a:ext cx="0" cy="6005830"/>
            </a:xfrm>
            <a:custGeom>
              <a:avLst/>
              <a:gdLst/>
              <a:ahLst/>
              <a:cxnLst/>
              <a:rect l="l" t="t" r="r" b="b"/>
              <a:pathLst>
                <a:path h="6005830">
                  <a:moveTo>
                    <a:pt x="0" y="0"/>
                  </a:moveTo>
                  <a:lnTo>
                    <a:pt x="0" y="600544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083055" y="-123217"/>
            <a:ext cx="10515600" cy="1325563"/>
          </a:xfrm>
          <a:prstGeom prst="rect">
            <a:avLst/>
          </a:prstGeom>
        </p:spPr>
        <p:txBody>
          <a:bodyPr vert="horz" wrap="square" lIns="0" tIns="90046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</a:rPr>
              <a:t>Ін'єкції в реальних умовах – </a:t>
            </a:r>
            <a:r>
              <a:rPr sz="3000" spc="-10" dirty="0">
                <a:solidFill>
                  <a:srgbClr val="FFFFFF"/>
                </a:solidFill>
              </a:rPr>
              <a:t>Бельгія</a:t>
            </a:r>
            <a:r>
              <a:rPr sz="3000" spc="-15" baseline="25000" dirty="0">
                <a:solidFill>
                  <a:srgbClr val="FFFFFF"/>
                </a:solidFill>
              </a:rPr>
              <a:t>5</a:t>
            </a:r>
            <a:endParaRPr sz="3000" baseline="25000" dirty="0"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7414279" y="2003298"/>
          <a:ext cx="3492497" cy="24345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9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9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87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03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041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6095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8A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430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6095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8A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43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6095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8A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970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6095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8A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970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6095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8A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970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6095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8A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843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6095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8A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7336028" y="1760346"/>
            <a:ext cx="1651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06588" y="1760346"/>
            <a:ext cx="2235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05850" y="1760346"/>
            <a:ext cx="2235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405366" y="1760346"/>
            <a:ext cx="2235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60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04501" y="1760346"/>
            <a:ext cx="2235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80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775060" y="1760346"/>
            <a:ext cx="2813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585858"/>
                </a:solidFill>
                <a:latin typeface="Calibri"/>
                <a:cs typeface="Calibri"/>
              </a:rPr>
              <a:t>100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49922" y="2014854"/>
            <a:ext cx="617220" cy="313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ts val="1130"/>
              </a:lnSpc>
              <a:spcBef>
                <a:spcPts val="105"/>
              </a:spcBef>
            </a:pP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Загальна</a:t>
            </a:r>
            <a:endParaRPr sz="1050">
              <a:latin typeface="Calibri"/>
              <a:cs typeface="Calibri"/>
            </a:endParaRPr>
          </a:p>
          <a:p>
            <a:pPr marR="5080" algn="r">
              <a:lnSpc>
                <a:spcPts val="1130"/>
              </a:lnSpc>
            </a:pP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оцінка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708260" y="4788280"/>
            <a:ext cx="107314" cy="142875"/>
          </a:xfrm>
          <a:custGeom>
            <a:avLst/>
            <a:gdLst/>
            <a:ahLst/>
            <a:cxnLst/>
            <a:rect l="l" t="t" r="r" b="b"/>
            <a:pathLst>
              <a:path w="107315" h="142875">
                <a:moveTo>
                  <a:pt x="106739" y="0"/>
                </a:moveTo>
                <a:lnTo>
                  <a:pt x="0" y="0"/>
                </a:lnTo>
                <a:lnTo>
                  <a:pt x="0" y="142367"/>
                </a:lnTo>
                <a:lnTo>
                  <a:pt x="106739" y="142367"/>
                </a:lnTo>
                <a:lnTo>
                  <a:pt x="106739" y="0"/>
                </a:lnTo>
                <a:close/>
              </a:path>
            </a:pathLst>
          </a:custGeom>
          <a:solidFill>
            <a:srgbClr val="F8A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860028" y="4785359"/>
            <a:ext cx="107314" cy="142875"/>
          </a:xfrm>
          <a:custGeom>
            <a:avLst/>
            <a:gdLst/>
            <a:ahLst/>
            <a:cxnLst/>
            <a:rect l="l" t="t" r="r" b="b"/>
            <a:pathLst>
              <a:path w="107315" h="142875">
                <a:moveTo>
                  <a:pt x="106739" y="0"/>
                </a:moveTo>
                <a:lnTo>
                  <a:pt x="0" y="0"/>
                </a:lnTo>
                <a:lnTo>
                  <a:pt x="0" y="142367"/>
                </a:lnTo>
                <a:lnTo>
                  <a:pt x="106739" y="142367"/>
                </a:lnTo>
                <a:lnTo>
                  <a:pt x="106739" y="0"/>
                </a:lnTo>
                <a:close/>
              </a:path>
            </a:pathLst>
          </a:custGeom>
          <a:solidFill>
            <a:srgbClr val="6095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703838" y="4775096"/>
            <a:ext cx="107314" cy="142875"/>
          </a:xfrm>
          <a:custGeom>
            <a:avLst/>
            <a:gdLst/>
            <a:ahLst/>
            <a:cxnLst/>
            <a:rect l="l" t="t" r="r" b="b"/>
            <a:pathLst>
              <a:path w="107315" h="142875">
                <a:moveTo>
                  <a:pt x="106739" y="0"/>
                </a:moveTo>
                <a:lnTo>
                  <a:pt x="0" y="0"/>
                </a:lnTo>
                <a:lnTo>
                  <a:pt x="0" y="142367"/>
                </a:lnTo>
                <a:lnTo>
                  <a:pt x="106739" y="142367"/>
                </a:lnTo>
                <a:lnTo>
                  <a:pt x="106739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008491" y="4732146"/>
            <a:ext cx="1670798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47090" algn="l"/>
              </a:tabLst>
            </a:pP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Без </a:t>
            </a:r>
            <a:r>
              <a:rPr sz="1050" spc="-10" dirty="0" err="1">
                <a:solidFill>
                  <a:srgbClr val="FFFFFF"/>
                </a:solidFill>
                <a:latin typeface="Calibri"/>
                <a:cs typeface="Calibri"/>
              </a:rPr>
              <a:t>змін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    </a:t>
            </a:r>
            <a:r>
              <a:rPr lang="en-US" sz="1050" spc="-10" dirty="0">
                <a:solidFill>
                  <a:srgbClr val="FFFFFF"/>
                </a:solidFill>
                <a:latin typeface="Calibri"/>
                <a:cs typeface="Calibri"/>
              </a:rPr>
              <a:t>         </a:t>
            </a:r>
            <a:r>
              <a:rPr sz="1050" spc="-10" dirty="0" err="1">
                <a:solidFill>
                  <a:srgbClr val="FFFFFF"/>
                </a:solidFill>
                <a:latin typeface="Calibri"/>
                <a:cs typeface="Calibri"/>
              </a:rPr>
              <a:t>Погіршився</a:t>
            </a:r>
            <a:r>
              <a:rPr lang="en-US" sz="10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934016" y="4756530"/>
            <a:ext cx="803148" cy="180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Покращився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61430" y="2445207"/>
            <a:ext cx="506730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Парін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28860" y="2765297"/>
            <a:ext cx="637902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Жорсткість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27589" y="3096005"/>
            <a:ext cx="637902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Гнучкість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61429" y="3430651"/>
            <a:ext cx="505459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Сила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27589" y="3757040"/>
            <a:ext cx="639934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Активність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996676" y="2119376"/>
            <a:ext cx="855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Покращення </a:t>
            </a:r>
            <a:r>
              <a:rPr sz="1050" b="1" dirty="0">
                <a:solidFill>
                  <a:srgbClr val="FFFFFF"/>
                </a:solidFill>
                <a:latin typeface="Calibri"/>
                <a:cs typeface="Calibri"/>
              </a:rPr>
              <a:t>на 71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996676" y="2444241"/>
            <a:ext cx="8255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solidFill>
                  <a:srgbClr val="FFFFFF"/>
                </a:solidFill>
                <a:latin typeface="Calibri"/>
                <a:cs typeface="Calibri"/>
              </a:rPr>
              <a:t>70% </a:t>
            </a: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покращення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996676" y="2780538"/>
            <a:ext cx="8255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solidFill>
                  <a:srgbClr val="FFFFFF"/>
                </a:solidFill>
                <a:latin typeface="Calibri"/>
                <a:cs typeface="Calibri"/>
              </a:rPr>
              <a:t>68% </a:t>
            </a: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покращення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996676" y="3113278"/>
            <a:ext cx="8255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solidFill>
                  <a:srgbClr val="FFFFFF"/>
                </a:solidFill>
                <a:latin typeface="Calibri"/>
                <a:cs typeface="Calibri"/>
              </a:rPr>
              <a:t>69% </a:t>
            </a: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покращення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996676" y="3436366"/>
            <a:ext cx="8255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solidFill>
                  <a:srgbClr val="FFFFFF"/>
                </a:solidFill>
                <a:latin typeface="Calibri"/>
                <a:cs typeface="Calibri"/>
              </a:rPr>
              <a:t>64% </a:t>
            </a: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покращення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136641" y="3992486"/>
            <a:ext cx="1270888" cy="3326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211454" algn="r">
              <a:lnSpc>
                <a:spcPct val="101000"/>
              </a:lnSpc>
              <a:spcBef>
                <a:spcPts val="90"/>
              </a:spcBef>
            </a:pPr>
            <a:r>
              <a:rPr sz="1050" b="1" dirty="0">
                <a:solidFill>
                  <a:srgbClr val="FFFFFF"/>
                </a:solidFill>
                <a:latin typeface="Calibri"/>
                <a:cs typeface="Calibri"/>
              </a:rPr>
              <a:t>Використання </a:t>
            </a: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знеболюючих</a:t>
            </a:r>
            <a:r>
              <a:rPr sz="1050" b="1" spc="-25" dirty="0">
                <a:solidFill>
                  <a:srgbClr val="FFFFFF"/>
                </a:solidFill>
                <a:latin typeface="Calibri"/>
                <a:cs typeface="Calibri"/>
              </a:rPr>
              <a:t> засобів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996676" y="3692423"/>
            <a:ext cx="871855" cy="65976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050" b="1" dirty="0">
                <a:solidFill>
                  <a:srgbClr val="FFFFFF"/>
                </a:solidFill>
                <a:latin typeface="Calibri"/>
                <a:cs typeface="Calibri"/>
              </a:rPr>
              <a:t>66% </a:t>
            </a:r>
            <a:r>
              <a:rPr sz="1050" b="1" spc="-10" dirty="0">
                <a:solidFill>
                  <a:srgbClr val="FFFFFF"/>
                </a:solidFill>
                <a:latin typeface="Calibri"/>
                <a:cs typeface="Calibri"/>
              </a:rPr>
              <a:t>покращення</a:t>
            </a:r>
            <a:endParaRPr sz="1050">
              <a:latin typeface="Calibri"/>
              <a:cs typeface="Calibri"/>
            </a:endParaRPr>
          </a:p>
          <a:p>
            <a:pPr marL="12700" marR="5080">
              <a:lnSpc>
                <a:spcPct val="101000"/>
              </a:lnSpc>
              <a:spcBef>
                <a:spcPts val="590"/>
              </a:spcBef>
            </a:pPr>
            <a:r>
              <a:rPr sz="1050" b="1" dirty="0">
                <a:solidFill>
                  <a:srgbClr val="FFFFFF"/>
                </a:solidFill>
                <a:latin typeface="Calibri"/>
                <a:cs typeface="Calibri"/>
              </a:rPr>
              <a:t>68%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приймають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менше знеболюючих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191882" y="2612898"/>
              <a:ext cx="2484120" cy="2873375"/>
            </a:xfrm>
            <a:custGeom>
              <a:avLst/>
              <a:gdLst/>
              <a:ahLst/>
              <a:cxnLst/>
              <a:rect l="l" t="t" r="r" b="b"/>
              <a:pathLst>
                <a:path w="2484120" h="2873375">
                  <a:moveTo>
                    <a:pt x="1047115" y="0"/>
                  </a:moveTo>
                  <a:lnTo>
                    <a:pt x="1047115" y="1436624"/>
                  </a:lnTo>
                  <a:lnTo>
                    <a:pt x="0" y="2419985"/>
                  </a:lnTo>
                  <a:lnTo>
                    <a:pt x="34493" y="2455462"/>
                  </a:lnTo>
                  <a:lnTo>
                    <a:pt x="70067" y="2489621"/>
                  </a:lnTo>
                  <a:lnTo>
                    <a:pt x="106683" y="2522445"/>
                  </a:lnTo>
                  <a:lnTo>
                    <a:pt x="144300" y="2553915"/>
                  </a:lnTo>
                  <a:lnTo>
                    <a:pt x="182881" y="2584016"/>
                  </a:lnTo>
                  <a:lnTo>
                    <a:pt x="222386" y="2612731"/>
                  </a:lnTo>
                  <a:lnTo>
                    <a:pt x="262777" y="2640042"/>
                  </a:lnTo>
                  <a:lnTo>
                    <a:pt x="304014" y="2665932"/>
                  </a:lnTo>
                  <a:lnTo>
                    <a:pt x="346058" y="2690384"/>
                  </a:lnTo>
                  <a:lnTo>
                    <a:pt x="388871" y="2713382"/>
                  </a:lnTo>
                  <a:lnTo>
                    <a:pt x="432414" y="2734909"/>
                  </a:lnTo>
                  <a:lnTo>
                    <a:pt x="476646" y="2754947"/>
                  </a:lnTo>
                  <a:lnTo>
                    <a:pt x="521531" y="2773480"/>
                  </a:lnTo>
                  <a:lnTo>
                    <a:pt x="567028" y="2790490"/>
                  </a:lnTo>
                  <a:lnTo>
                    <a:pt x="613098" y="2805960"/>
                  </a:lnTo>
                  <a:lnTo>
                    <a:pt x="659703" y="2819875"/>
                  </a:lnTo>
                  <a:lnTo>
                    <a:pt x="706804" y="2832215"/>
                  </a:lnTo>
                  <a:lnTo>
                    <a:pt x="754362" y="2842966"/>
                  </a:lnTo>
                  <a:lnTo>
                    <a:pt x="802337" y="2852109"/>
                  </a:lnTo>
                  <a:lnTo>
                    <a:pt x="850691" y="2859628"/>
                  </a:lnTo>
                  <a:lnTo>
                    <a:pt x="899384" y="2865505"/>
                  </a:lnTo>
                  <a:lnTo>
                    <a:pt x="948379" y="2869725"/>
                  </a:lnTo>
                  <a:lnTo>
                    <a:pt x="997635" y="2872269"/>
                  </a:lnTo>
                  <a:lnTo>
                    <a:pt x="1047115" y="2873121"/>
                  </a:lnTo>
                  <a:lnTo>
                    <a:pt x="1095496" y="2872321"/>
                  </a:lnTo>
                  <a:lnTo>
                    <a:pt x="1143478" y="2869940"/>
                  </a:lnTo>
                  <a:lnTo>
                    <a:pt x="1191034" y="2866001"/>
                  </a:lnTo>
                  <a:lnTo>
                    <a:pt x="1238140" y="2860531"/>
                  </a:lnTo>
                  <a:lnTo>
                    <a:pt x="1284769" y="2853555"/>
                  </a:lnTo>
                  <a:lnTo>
                    <a:pt x="1330898" y="2845097"/>
                  </a:lnTo>
                  <a:lnTo>
                    <a:pt x="1376501" y="2835182"/>
                  </a:lnTo>
                  <a:lnTo>
                    <a:pt x="1421553" y="2823837"/>
                  </a:lnTo>
                  <a:lnTo>
                    <a:pt x="1466029" y="2811085"/>
                  </a:lnTo>
                  <a:lnTo>
                    <a:pt x="1509903" y="2796952"/>
                  </a:lnTo>
                  <a:lnTo>
                    <a:pt x="1553150" y="2781464"/>
                  </a:lnTo>
                  <a:lnTo>
                    <a:pt x="1595745" y="2764645"/>
                  </a:lnTo>
                  <a:lnTo>
                    <a:pt x="1637664" y="2746521"/>
                  </a:lnTo>
                  <a:lnTo>
                    <a:pt x="1678881" y="2727116"/>
                  </a:lnTo>
                  <a:lnTo>
                    <a:pt x="1719370" y="2706456"/>
                  </a:lnTo>
                  <a:lnTo>
                    <a:pt x="1759107" y="2684565"/>
                  </a:lnTo>
                  <a:lnTo>
                    <a:pt x="1798066" y="2661470"/>
                  </a:lnTo>
                  <a:lnTo>
                    <a:pt x="1836223" y="2637195"/>
                  </a:lnTo>
                  <a:lnTo>
                    <a:pt x="1873552" y="2611765"/>
                  </a:lnTo>
                  <a:lnTo>
                    <a:pt x="1910028" y="2585206"/>
                  </a:lnTo>
                  <a:lnTo>
                    <a:pt x="1945626" y="2557543"/>
                  </a:lnTo>
                  <a:lnTo>
                    <a:pt x="1980320" y="2528800"/>
                  </a:lnTo>
                  <a:lnTo>
                    <a:pt x="2014086" y="2499003"/>
                  </a:lnTo>
                  <a:lnTo>
                    <a:pt x="2046899" y="2468176"/>
                  </a:lnTo>
                  <a:lnTo>
                    <a:pt x="2078733" y="2436346"/>
                  </a:lnTo>
                  <a:lnTo>
                    <a:pt x="2109563" y="2403538"/>
                  </a:lnTo>
                  <a:lnTo>
                    <a:pt x="2139364" y="2369776"/>
                  </a:lnTo>
                  <a:lnTo>
                    <a:pt x="2168111" y="2335085"/>
                  </a:lnTo>
                  <a:lnTo>
                    <a:pt x="2195778" y="2299491"/>
                  </a:lnTo>
                  <a:lnTo>
                    <a:pt x="2222341" y="2263019"/>
                  </a:lnTo>
                  <a:lnTo>
                    <a:pt x="2247774" y="2225693"/>
                  </a:lnTo>
                  <a:lnTo>
                    <a:pt x="2272053" y="2187540"/>
                  </a:lnTo>
                  <a:lnTo>
                    <a:pt x="2295152" y="2148584"/>
                  </a:lnTo>
                  <a:lnTo>
                    <a:pt x="2317045" y="2108851"/>
                  </a:lnTo>
                  <a:lnTo>
                    <a:pt x="2337708" y="2068364"/>
                  </a:lnTo>
                  <a:lnTo>
                    <a:pt x="2357116" y="2027151"/>
                  </a:lnTo>
                  <a:lnTo>
                    <a:pt x="2375244" y="1985235"/>
                  </a:lnTo>
                  <a:lnTo>
                    <a:pt x="2392066" y="1942643"/>
                  </a:lnTo>
                  <a:lnTo>
                    <a:pt x="2407557" y="1899398"/>
                  </a:lnTo>
                  <a:lnTo>
                    <a:pt x="2421692" y="1855526"/>
                  </a:lnTo>
                  <a:lnTo>
                    <a:pt x="2434446" y="1811053"/>
                  </a:lnTo>
                  <a:lnTo>
                    <a:pt x="2445793" y="1766003"/>
                  </a:lnTo>
                  <a:lnTo>
                    <a:pt x="2455709" y="1720402"/>
                  </a:lnTo>
                  <a:lnTo>
                    <a:pt x="2464169" y="1674275"/>
                  </a:lnTo>
                  <a:lnTo>
                    <a:pt x="2471147" y="1627646"/>
                  </a:lnTo>
                  <a:lnTo>
                    <a:pt x="2476618" y="1580542"/>
                  </a:lnTo>
                  <a:lnTo>
                    <a:pt x="2480557" y="1532986"/>
                  </a:lnTo>
                  <a:lnTo>
                    <a:pt x="2482939" y="1485005"/>
                  </a:lnTo>
                  <a:lnTo>
                    <a:pt x="2483739" y="1436624"/>
                  </a:lnTo>
                  <a:lnTo>
                    <a:pt x="2482939" y="1388242"/>
                  </a:lnTo>
                  <a:lnTo>
                    <a:pt x="2480557" y="1340260"/>
                  </a:lnTo>
                  <a:lnTo>
                    <a:pt x="2476618" y="1292704"/>
                  </a:lnTo>
                  <a:lnTo>
                    <a:pt x="2471147" y="1245598"/>
                  </a:lnTo>
                  <a:lnTo>
                    <a:pt x="2464169" y="1198969"/>
                  </a:lnTo>
                  <a:lnTo>
                    <a:pt x="2455709" y="1152840"/>
                  </a:lnTo>
                  <a:lnTo>
                    <a:pt x="2445793" y="1107237"/>
                  </a:lnTo>
                  <a:lnTo>
                    <a:pt x="2434446" y="1062185"/>
                  </a:lnTo>
                  <a:lnTo>
                    <a:pt x="2421692" y="1017709"/>
                  </a:lnTo>
                  <a:lnTo>
                    <a:pt x="2407557" y="973835"/>
                  </a:lnTo>
                  <a:lnTo>
                    <a:pt x="2392066" y="930588"/>
                  </a:lnTo>
                  <a:lnTo>
                    <a:pt x="2375244" y="887993"/>
                  </a:lnTo>
                  <a:lnTo>
                    <a:pt x="2357116" y="846074"/>
                  </a:lnTo>
                  <a:lnTo>
                    <a:pt x="2337708" y="804857"/>
                  </a:lnTo>
                  <a:lnTo>
                    <a:pt x="2317045" y="764368"/>
                  </a:lnTo>
                  <a:lnTo>
                    <a:pt x="2295152" y="724631"/>
                  </a:lnTo>
                  <a:lnTo>
                    <a:pt x="2272053" y="685672"/>
                  </a:lnTo>
                  <a:lnTo>
                    <a:pt x="2247774" y="647515"/>
                  </a:lnTo>
                  <a:lnTo>
                    <a:pt x="2222341" y="610186"/>
                  </a:lnTo>
                  <a:lnTo>
                    <a:pt x="2195778" y="573710"/>
                  </a:lnTo>
                  <a:lnTo>
                    <a:pt x="2168111" y="538112"/>
                  </a:lnTo>
                  <a:lnTo>
                    <a:pt x="2139364" y="503418"/>
                  </a:lnTo>
                  <a:lnTo>
                    <a:pt x="2109563" y="469652"/>
                  </a:lnTo>
                  <a:lnTo>
                    <a:pt x="2078733" y="436839"/>
                  </a:lnTo>
                  <a:lnTo>
                    <a:pt x="2046899" y="405005"/>
                  </a:lnTo>
                  <a:lnTo>
                    <a:pt x="2014086" y="374175"/>
                  </a:lnTo>
                  <a:lnTo>
                    <a:pt x="1980320" y="344374"/>
                  </a:lnTo>
                  <a:lnTo>
                    <a:pt x="1945626" y="315627"/>
                  </a:lnTo>
                  <a:lnTo>
                    <a:pt x="1910028" y="287960"/>
                  </a:lnTo>
                  <a:lnTo>
                    <a:pt x="1873552" y="261397"/>
                  </a:lnTo>
                  <a:lnTo>
                    <a:pt x="1836223" y="235964"/>
                  </a:lnTo>
                  <a:lnTo>
                    <a:pt x="1798066" y="211685"/>
                  </a:lnTo>
                  <a:lnTo>
                    <a:pt x="1759107" y="188586"/>
                  </a:lnTo>
                  <a:lnTo>
                    <a:pt x="1719370" y="166693"/>
                  </a:lnTo>
                  <a:lnTo>
                    <a:pt x="1678881" y="146030"/>
                  </a:lnTo>
                  <a:lnTo>
                    <a:pt x="1637664" y="126622"/>
                  </a:lnTo>
                  <a:lnTo>
                    <a:pt x="1595745" y="108494"/>
                  </a:lnTo>
                  <a:lnTo>
                    <a:pt x="1553150" y="91672"/>
                  </a:lnTo>
                  <a:lnTo>
                    <a:pt x="1509903" y="76181"/>
                  </a:lnTo>
                  <a:lnTo>
                    <a:pt x="1466029" y="62046"/>
                  </a:lnTo>
                  <a:lnTo>
                    <a:pt x="1421553" y="49292"/>
                  </a:lnTo>
                  <a:lnTo>
                    <a:pt x="1376501" y="37945"/>
                  </a:lnTo>
                  <a:lnTo>
                    <a:pt x="1330898" y="28029"/>
                  </a:lnTo>
                  <a:lnTo>
                    <a:pt x="1284769" y="19569"/>
                  </a:lnTo>
                  <a:lnTo>
                    <a:pt x="1238140" y="12591"/>
                  </a:lnTo>
                  <a:lnTo>
                    <a:pt x="1191034" y="7120"/>
                  </a:lnTo>
                  <a:lnTo>
                    <a:pt x="1143478" y="3181"/>
                  </a:lnTo>
                  <a:lnTo>
                    <a:pt x="1095496" y="799"/>
                  </a:lnTo>
                  <a:lnTo>
                    <a:pt x="1047115" y="0"/>
                  </a:lnTo>
                  <a:close/>
                </a:path>
              </a:pathLst>
            </a:custGeom>
            <a:solidFill>
              <a:srgbClr val="2E2E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10419" y="2573020"/>
              <a:ext cx="1436370" cy="2419985"/>
            </a:xfrm>
            <a:custGeom>
              <a:avLst/>
              <a:gdLst/>
              <a:ahLst/>
              <a:cxnLst/>
              <a:rect l="l" t="t" r="r" b="b"/>
              <a:pathLst>
                <a:path w="1436370" h="2419985">
                  <a:moveTo>
                    <a:pt x="1436376" y="0"/>
                  </a:moveTo>
                  <a:lnTo>
                    <a:pt x="1386643" y="860"/>
                  </a:lnTo>
                  <a:lnTo>
                    <a:pt x="1337121" y="3429"/>
                  </a:lnTo>
                  <a:lnTo>
                    <a:pt x="1287849" y="7693"/>
                  </a:lnTo>
                  <a:lnTo>
                    <a:pt x="1238869" y="13634"/>
                  </a:lnTo>
                  <a:lnTo>
                    <a:pt x="1190220" y="21238"/>
                  </a:lnTo>
                  <a:lnTo>
                    <a:pt x="1141943" y="30487"/>
                  </a:lnTo>
                  <a:lnTo>
                    <a:pt x="1094078" y="41367"/>
                  </a:lnTo>
                  <a:lnTo>
                    <a:pt x="1046665" y="53860"/>
                  </a:lnTo>
                  <a:lnTo>
                    <a:pt x="999746" y="67953"/>
                  </a:lnTo>
                  <a:lnTo>
                    <a:pt x="953360" y="83628"/>
                  </a:lnTo>
                  <a:lnTo>
                    <a:pt x="907548" y="100869"/>
                  </a:lnTo>
                  <a:lnTo>
                    <a:pt x="862349" y="119662"/>
                  </a:lnTo>
                  <a:lnTo>
                    <a:pt x="817805" y="139989"/>
                  </a:lnTo>
                  <a:lnTo>
                    <a:pt x="773956" y="161835"/>
                  </a:lnTo>
                  <a:lnTo>
                    <a:pt x="730841" y="185184"/>
                  </a:lnTo>
                  <a:lnTo>
                    <a:pt x="688503" y="210021"/>
                  </a:lnTo>
                  <a:lnTo>
                    <a:pt x="646980" y="236328"/>
                  </a:lnTo>
                  <a:lnTo>
                    <a:pt x="606313" y="264092"/>
                  </a:lnTo>
                  <a:lnTo>
                    <a:pt x="566542" y="293295"/>
                  </a:lnTo>
                  <a:lnTo>
                    <a:pt x="527709" y="323921"/>
                  </a:lnTo>
                  <a:lnTo>
                    <a:pt x="489853" y="355955"/>
                  </a:lnTo>
                  <a:lnTo>
                    <a:pt x="453015" y="389381"/>
                  </a:lnTo>
                  <a:lnTo>
                    <a:pt x="418292" y="423081"/>
                  </a:lnTo>
                  <a:lnTo>
                    <a:pt x="384944" y="457660"/>
                  </a:lnTo>
                  <a:lnTo>
                    <a:pt x="352973" y="493082"/>
                  </a:lnTo>
                  <a:lnTo>
                    <a:pt x="322379" y="529312"/>
                  </a:lnTo>
                  <a:lnTo>
                    <a:pt x="293163" y="566315"/>
                  </a:lnTo>
                  <a:lnTo>
                    <a:pt x="265327" y="604055"/>
                  </a:lnTo>
                  <a:lnTo>
                    <a:pt x="238871" y="642496"/>
                  </a:lnTo>
                  <a:lnTo>
                    <a:pt x="213797" y="681603"/>
                  </a:lnTo>
                  <a:lnTo>
                    <a:pt x="190105" y="721341"/>
                  </a:lnTo>
                  <a:lnTo>
                    <a:pt x="167798" y="761673"/>
                  </a:lnTo>
                  <a:lnTo>
                    <a:pt x="146875" y="802565"/>
                  </a:lnTo>
                  <a:lnTo>
                    <a:pt x="127339" y="843980"/>
                  </a:lnTo>
                  <a:lnTo>
                    <a:pt x="109190" y="885884"/>
                  </a:lnTo>
                  <a:lnTo>
                    <a:pt x="92429" y="928241"/>
                  </a:lnTo>
                  <a:lnTo>
                    <a:pt x="77058" y="971014"/>
                  </a:lnTo>
                  <a:lnTo>
                    <a:pt x="63078" y="1014170"/>
                  </a:lnTo>
                  <a:lnTo>
                    <a:pt x="50489" y="1057671"/>
                  </a:lnTo>
                  <a:lnTo>
                    <a:pt x="39293" y="1101484"/>
                  </a:lnTo>
                  <a:lnTo>
                    <a:pt x="29490" y="1145571"/>
                  </a:lnTo>
                  <a:lnTo>
                    <a:pt x="21083" y="1189898"/>
                  </a:lnTo>
                  <a:lnTo>
                    <a:pt x="14073" y="1234428"/>
                  </a:lnTo>
                  <a:lnTo>
                    <a:pt x="8459" y="1279128"/>
                  </a:lnTo>
                  <a:lnTo>
                    <a:pt x="4244" y="1323960"/>
                  </a:lnTo>
                  <a:lnTo>
                    <a:pt x="1428" y="1368890"/>
                  </a:lnTo>
                  <a:lnTo>
                    <a:pt x="13" y="1413881"/>
                  </a:lnTo>
                  <a:lnTo>
                    <a:pt x="0" y="1458899"/>
                  </a:lnTo>
                  <a:lnTo>
                    <a:pt x="1389" y="1503908"/>
                  </a:lnTo>
                  <a:lnTo>
                    <a:pt x="4182" y="1548872"/>
                  </a:lnTo>
                  <a:lnTo>
                    <a:pt x="8381" y="1593755"/>
                  </a:lnTo>
                  <a:lnTo>
                    <a:pt x="13986" y="1638523"/>
                  </a:lnTo>
                  <a:lnTo>
                    <a:pt x="20998" y="1683140"/>
                  </a:lnTo>
                  <a:lnTo>
                    <a:pt x="29418" y="1727570"/>
                  </a:lnTo>
                  <a:lnTo>
                    <a:pt x="39248" y="1771777"/>
                  </a:lnTo>
                  <a:lnTo>
                    <a:pt x="50489" y="1815726"/>
                  </a:lnTo>
                  <a:lnTo>
                    <a:pt x="63141" y="1859382"/>
                  </a:lnTo>
                  <a:lnTo>
                    <a:pt x="77206" y="1902709"/>
                  </a:lnTo>
                  <a:lnTo>
                    <a:pt x="92686" y="1945672"/>
                  </a:lnTo>
                  <a:lnTo>
                    <a:pt x="109580" y="1988235"/>
                  </a:lnTo>
                  <a:lnTo>
                    <a:pt x="127891" y="2030362"/>
                  </a:lnTo>
                  <a:lnTo>
                    <a:pt x="147619" y="2072017"/>
                  </a:lnTo>
                  <a:lnTo>
                    <a:pt x="168765" y="2113167"/>
                  </a:lnTo>
                  <a:lnTo>
                    <a:pt x="191331" y="2153774"/>
                  </a:lnTo>
                  <a:lnTo>
                    <a:pt x="215317" y="2193803"/>
                  </a:lnTo>
                  <a:lnTo>
                    <a:pt x="240726" y="2233219"/>
                  </a:lnTo>
                  <a:lnTo>
                    <a:pt x="267557" y="2271986"/>
                  </a:lnTo>
                  <a:lnTo>
                    <a:pt x="295812" y="2310069"/>
                  </a:lnTo>
                  <a:lnTo>
                    <a:pt x="325493" y="2347433"/>
                  </a:lnTo>
                  <a:lnTo>
                    <a:pt x="356599" y="2384041"/>
                  </a:lnTo>
                  <a:lnTo>
                    <a:pt x="389134" y="2419857"/>
                  </a:lnTo>
                  <a:lnTo>
                    <a:pt x="1436376" y="1436496"/>
                  </a:lnTo>
                  <a:lnTo>
                    <a:pt x="14363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750554" y="4252341"/>
            <a:ext cx="421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63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05625" y="1850263"/>
            <a:ext cx="3228340" cy="5791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308100" marR="5080" indent="-1296035">
              <a:lnSpc>
                <a:spcPct val="101699"/>
              </a:lnSpc>
              <a:spcBef>
                <a:spcPts val="60"/>
              </a:spcBef>
            </a:pPr>
            <a:r>
              <a:rPr sz="1800" b="1" dirty="0" err="1">
                <a:solidFill>
                  <a:srgbClr val="FFFFFF"/>
                </a:solidFill>
                <a:latin typeface="Calibri"/>
                <a:cs typeface="Calibri"/>
              </a:rPr>
              <a:t>Відстрочка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 Т</a:t>
            </a:r>
            <a:r>
              <a:rPr lang="uk-UA" sz="1800" b="1" dirty="0">
                <a:solidFill>
                  <a:srgbClr val="FFFFFF"/>
                </a:solidFill>
                <a:latin typeface="Calibri"/>
                <a:cs typeface="Calibri"/>
              </a:rPr>
              <a:t>ЕП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К</a:t>
            </a:r>
            <a:r>
              <a:rPr lang="uk-UA" sz="1800" b="1" dirty="0">
                <a:solidFill>
                  <a:srgbClr val="FFFFFF"/>
                </a:solidFill>
                <a:latin typeface="Calibri"/>
                <a:cs typeface="Calibri"/>
              </a:rPr>
              <a:t>С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 після 1-11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місяців (n=46)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4737" y="4164482"/>
            <a:ext cx="4729352" cy="1970411"/>
          </a:xfrm>
          <a:prstGeom prst="rect">
            <a:avLst/>
          </a:prstGeom>
          <a:solidFill>
            <a:srgbClr val="2E2E81"/>
          </a:solidFill>
        </p:spPr>
        <p:txBody>
          <a:bodyPr vert="horz" wrap="square" lIns="0" tIns="31115" rIns="0" bIns="0" rtlCol="0">
            <a:spAutoFit/>
          </a:bodyPr>
          <a:lstStyle/>
          <a:p>
            <a:pPr marL="91440" marR="82550" algn="just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На думку лікаря,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результати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свідчать про те, що одноразова внутрішньосуглобова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ін'єкція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KioMedinevsOne </a:t>
            </a:r>
            <a:r>
              <a:rPr sz="1800" dirty="0" err="1">
                <a:solidFill>
                  <a:srgbClr val="FFFFFF"/>
                </a:solidFill>
                <a:latin typeface="Calibri"/>
                <a:cs typeface="Calibri"/>
              </a:rPr>
              <a:t>відстрочила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Т</a:t>
            </a:r>
            <a:r>
              <a:rPr lang="uk-UA" sz="1800" dirty="0">
                <a:solidFill>
                  <a:srgbClr val="FFFFFF"/>
                </a:solidFill>
                <a:latin typeface="Calibri"/>
                <a:cs typeface="Calibri"/>
              </a:rPr>
              <a:t>ЕП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К</a:t>
            </a:r>
            <a:r>
              <a:rPr lang="uk-UA" sz="1800" dirty="0">
                <a:solidFill>
                  <a:srgbClr val="FFFFFF"/>
                </a:solidFill>
                <a:latin typeface="Calibri"/>
                <a:cs typeface="Calibri"/>
              </a:rPr>
              <a:t>С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Calibri"/>
                <a:cs typeface="Calibri"/>
              </a:rPr>
              <a:t>у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 63%</a:t>
            </a:r>
            <a:endParaRPr sz="1800" dirty="0">
              <a:latin typeface="Calibri"/>
              <a:cs typeface="Calibri"/>
            </a:endParaRPr>
          </a:p>
          <a:p>
            <a:pPr marL="91440" marR="82550" algn="just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46  пацієнтів  з  рефрактерним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симптоматичним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 остеоартритом колінного суглоба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, що свідчить про хорошу нехірургічну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альтернативу остеоартриту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колінного суглоба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2664" y="1423378"/>
            <a:ext cx="5445089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0" indent="-28575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2385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На основі спостережень бельгійського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центру,</a:t>
            </a:r>
            <a:endParaRPr sz="1800" dirty="0">
              <a:latin typeface="Calibri"/>
              <a:cs typeface="Calibri"/>
            </a:endParaRPr>
          </a:p>
          <a:p>
            <a:pPr marL="324485" marR="55880" algn="just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46   пацієнтів   з   рефрактерним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симптоматичним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остеоартритом колінного суглоба з показаннями </a:t>
            </a:r>
            <a:r>
              <a:rPr sz="1800" spc="-25" dirty="0" err="1">
                <a:solidFill>
                  <a:srgbClr val="FFFFFF"/>
                </a:solidFill>
                <a:latin typeface="Calibri"/>
                <a:cs typeface="Calibri"/>
              </a:rPr>
              <a:t>до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Т</a:t>
            </a:r>
            <a:r>
              <a:rPr lang="uk-UA" dirty="0">
                <a:solidFill>
                  <a:srgbClr val="FFFFFF"/>
                </a:solidFill>
                <a:latin typeface="Calibri"/>
                <a:cs typeface="Calibri"/>
              </a:rPr>
              <a:t>ЕП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К</a:t>
            </a:r>
            <a:r>
              <a:rPr lang="uk-UA" sz="1800" dirty="0">
                <a:solidFill>
                  <a:srgbClr val="FFFFFF"/>
                </a:solidFill>
                <a:latin typeface="Calibri"/>
                <a:cs typeface="Calibri"/>
              </a:rPr>
              <a:t>С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були проліковані </a:t>
            </a:r>
            <a:r>
              <a:rPr sz="1800" dirty="0" err="1">
                <a:solidFill>
                  <a:srgbClr val="FFFFFF"/>
                </a:solidFill>
                <a:latin typeface="Calibri"/>
                <a:cs typeface="Calibri"/>
              </a:rPr>
              <a:t>препаратом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 err="1">
                <a:solidFill>
                  <a:srgbClr val="FFFFFF"/>
                </a:solidFill>
                <a:latin typeface="Calibri"/>
                <a:cs typeface="Calibri"/>
              </a:rPr>
              <a:t>KioMedine</a:t>
            </a:r>
            <a:r>
              <a:rPr sz="1800" spc="-15" baseline="25462" dirty="0" err="1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lang="en-US" spc="-10" dirty="0" err="1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2664" y="2792133"/>
            <a:ext cx="5463336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5080" indent="-28575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Оцінка хірурга через 1–11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місяців 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після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ін'єкції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, </a:t>
            </a:r>
            <a:r>
              <a:rPr sz="1800" spc="30" dirty="0">
                <a:solidFill>
                  <a:srgbClr val="FFFFFF"/>
                </a:solidFill>
                <a:latin typeface="Calibri"/>
                <a:cs typeface="Calibri"/>
              </a:rPr>
              <a:t>залежно 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від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випадку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, 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щодо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відстрочки 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проведення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тотального ендопротезування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колінного суглоба (ТЕ</a:t>
            </a:r>
            <a:r>
              <a:rPr lang="uk-UA" sz="1800" spc="-20" dirty="0">
                <a:solidFill>
                  <a:srgbClr val="FFFFFF"/>
                </a:solidFill>
                <a:latin typeface="Calibri"/>
                <a:cs typeface="Calibri"/>
              </a:rPr>
              <a:t>П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КС)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3055" y="6417055"/>
            <a:ext cx="105022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6. Конгрес Orthopaedica Belgica 2022 — Van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Overschelde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P, Chausson M, Schifflers M,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Portelange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N, Відтермінування тотального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ендопротезування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колінного суглоба у пацієнтів із симптоматичним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остеоартритом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колінного суглоба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після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одноразової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внутрішньосуглобової ін'єкції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KiOmedine®CM-Chitosan. Тези та постер представлені на конгресі Orthopaedica Belgica; 19-20 травня 2022 р.; Брюгге,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Бельгія.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814559" y="3193795"/>
            <a:ext cx="1868170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2085" indent="-13398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72085" algn="l"/>
              </a:tabLst>
            </a:pPr>
            <a:r>
              <a:rPr sz="1600" b="1" dirty="0">
                <a:solidFill>
                  <a:srgbClr val="312783"/>
                </a:solidFill>
                <a:latin typeface="Calibri"/>
                <a:cs typeface="Calibri"/>
              </a:rPr>
              <a:t>Одноразова ін'єкція</a:t>
            </a:r>
            <a:endParaRPr sz="1600" dirty="0">
              <a:latin typeface="Calibri"/>
              <a:cs typeface="Calibri"/>
            </a:endParaRPr>
          </a:p>
          <a:p>
            <a:pPr marL="172085">
              <a:lnSpc>
                <a:spcPct val="100000"/>
              </a:lnSpc>
            </a:pPr>
            <a:r>
              <a:rPr sz="1600" b="1" spc="-10" dirty="0" err="1">
                <a:solidFill>
                  <a:srgbClr val="312783"/>
                </a:solidFill>
                <a:latin typeface="Calibri"/>
                <a:cs typeface="Calibri"/>
              </a:rPr>
              <a:t>KioMedine</a:t>
            </a:r>
            <a:r>
              <a:rPr sz="1575" b="1" spc="-15" baseline="26455" dirty="0" err="1">
                <a:solidFill>
                  <a:srgbClr val="312783"/>
                </a:solidFill>
                <a:latin typeface="Calibri"/>
                <a:cs typeface="Calibri"/>
              </a:rPr>
              <a:t>vs</a:t>
            </a:r>
            <a:r>
              <a:rPr lang="en-US" sz="1600" b="1" spc="-10" dirty="0" err="1">
                <a:solidFill>
                  <a:srgbClr val="312783"/>
                </a:solidFill>
                <a:latin typeface="Calibri"/>
                <a:cs typeface="Calibri"/>
              </a:rPr>
              <a:t>one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839959" y="3925570"/>
            <a:ext cx="207708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685" marR="5080" indent="-13462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46685" algn="l"/>
              </a:tabLst>
            </a:pPr>
            <a:r>
              <a:rPr sz="1600" b="1" dirty="0">
                <a:solidFill>
                  <a:srgbClr val="312783"/>
                </a:solidFill>
                <a:latin typeface="Calibri"/>
                <a:cs typeface="Calibri"/>
              </a:rPr>
              <a:t>Повторні візити через</a:t>
            </a:r>
            <a:r>
              <a:rPr sz="1600" b="1" spc="-50" dirty="0">
                <a:solidFill>
                  <a:srgbClr val="312783"/>
                </a:solidFill>
                <a:latin typeface="Calibri"/>
                <a:cs typeface="Calibri"/>
              </a:rPr>
              <a:t> 1</a:t>
            </a:r>
            <a:r>
              <a:rPr sz="1600" b="1" dirty="0">
                <a:solidFill>
                  <a:srgbClr val="312783"/>
                </a:solidFill>
                <a:latin typeface="Calibri"/>
                <a:cs typeface="Calibri"/>
              </a:rPr>
              <a:t>–11 місяців </a:t>
            </a:r>
            <a:r>
              <a:rPr sz="1600" b="1" spc="-20" dirty="0">
                <a:solidFill>
                  <a:srgbClr val="312783"/>
                </a:solidFill>
                <a:latin typeface="Calibri"/>
                <a:cs typeface="Calibri"/>
              </a:rPr>
              <a:t>після </a:t>
            </a:r>
            <a:r>
              <a:rPr sz="1600" b="1" spc="-10" dirty="0">
                <a:solidFill>
                  <a:srgbClr val="312783"/>
                </a:solidFill>
                <a:latin typeface="Calibri"/>
                <a:cs typeface="Calibri"/>
              </a:rPr>
              <a:t>ін’єкції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98071" y="-15494"/>
            <a:ext cx="4121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6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28807" y="107887"/>
            <a:ext cx="734695" cy="6750684"/>
            <a:chOff x="228807" y="107887"/>
            <a:chExt cx="734695" cy="6750684"/>
          </a:xfrm>
        </p:grpSpPr>
        <p:sp>
          <p:nvSpPr>
            <p:cNvPr id="16" name="object 16"/>
            <p:cNvSpPr/>
            <p:nvPr/>
          </p:nvSpPr>
          <p:spPr>
            <a:xfrm>
              <a:off x="237821" y="116902"/>
              <a:ext cx="716915" cy="715645"/>
            </a:xfrm>
            <a:custGeom>
              <a:avLst/>
              <a:gdLst/>
              <a:ahLst/>
              <a:cxnLst/>
              <a:rect l="l" t="t" r="r" b="b"/>
              <a:pathLst>
                <a:path w="716915" h="715644">
                  <a:moveTo>
                    <a:pt x="716323" y="358689"/>
                  </a:moveTo>
                  <a:lnTo>
                    <a:pt x="716323" y="358689"/>
                  </a:lnTo>
                  <a:lnTo>
                    <a:pt x="716323" y="371034"/>
                  </a:lnTo>
                </a:path>
                <a:path w="716915" h="715644">
                  <a:moveTo>
                    <a:pt x="707782" y="433656"/>
                  </a:moveTo>
                  <a:lnTo>
                    <a:pt x="707782" y="433656"/>
                  </a:lnTo>
                  <a:lnTo>
                    <a:pt x="705887" y="445989"/>
                  </a:lnTo>
                </a:path>
                <a:path w="716915" h="715644">
                  <a:moveTo>
                    <a:pt x="685016" y="504820"/>
                  </a:moveTo>
                  <a:lnTo>
                    <a:pt x="685016" y="504820"/>
                  </a:lnTo>
                  <a:lnTo>
                    <a:pt x="679318" y="517165"/>
                  </a:lnTo>
                </a:path>
                <a:path w="716915" h="715644">
                  <a:moveTo>
                    <a:pt x="647064" y="570298"/>
                  </a:moveTo>
                  <a:lnTo>
                    <a:pt x="647064" y="570298"/>
                  </a:lnTo>
                  <a:lnTo>
                    <a:pt x="638524" y="580735"/>
                  </a:lnTo>
                </a:path>
                <a:path w="716915" h="715644">
                  <a:moveTo>
                    <a:pt x="595822" y="626287"/>
                  </a:moveTo>
                  <a:lnTo>
                    <a:pt x="595822" y="626287"/>
                  </a:lnTo>
                  <a:lnTo>
                    <a:pt x="586334" y="634827"/>
                  </a:lnTo>
                </a:path>
                <a:path w="716915" h="715644">
                  <a:moveTo>
                    <a:pt x="534156" y="669937"/>
                  </a:moveTo>
                  <a:lnTo>
                    <a:pt x="526563" y="674681"/>
                  </a:lnTo>
                  <a:lnTo>
                    <a:pt x="522773" y="676579"/>
                  </a:lnTo>
                </a:path>
                <a:path w="716915" h="715644">
                  <a:moveTo>
                    <a:pt x="464898" y="700301"/>
                  </a:moveTo>
                  <a:lnTo>
                    <a:pt x="464898" y="700301"/>
                  </a:lnTo>
                  <a:lnTo>
                    <a:pt x="452567" y="704097"/>
                  </a:lnTo>
                </a:path>
                <a:path w="716915" h="715644">
                  <a:moveTo>
                    <a:pt x="390889" y="714535"/>
                  </a:moveTo>
                  <a:lnTo>
                    <a:pt x="390889" y="714535"/>
                  </a:lnTo>
                  <a:lnTo>
                    <a:pt x="378558" y="715484"/>
                  </a:lnTo>
                </a:path>
                <a:path w="716915" h="715644">
                  <a:moveTo>
                    <a:pt x="314985" y="714535"/>
                  </a:moveTo>
                  <a:lnTo>
                    <a:pt x="313090" y="714535"/>
                  </a:lnTo>
                  <a:lnTo>
                    <a:pt x="302655" y="712637"/>
                  </a:lnTo>
                </a:path>
                <a:path w="716915" h="715644">
                  <a:moveTo>
                    <a:pt x="241937" y="697454"/>
                  </a:moveTo>
                  <a:lnTo>
                    <a:pt x="241937" y="697454"/>
                  </a:lnTo>
                  <a:lnTo>
                    <a:pt x="229606" y="692710"/>
                  </a:lnTo>
                </a:path>
                <a:path w="716915" h="715644">
                  <a:moveTo>
                    <a:pt x="173626" y="665192"/>
                  </a:moveTo>
                  <a:lnTo>
                    <a:pt x="173626" y="665192"/>
                  </a:lnTo>
                  <a:lnTo>
                    <a:pt x="162243" y="658549"/>
                  </a:lnTo>
                </a:path>
                <a:path w="716915" h="715644">
                  <a:moveTo>
                    <a:pt x="112903" y="619644"/>
                  </a:moveTo>
                  <a:lnTo>
                    <a:pt x="112903" y="619644"/>
                  </a:lnTo>
                  <a:lnTo>
                    <a:pt x="104364" y="610154"/>
                  </a:lnTo>
                </a:path>
                <a:path w="716915" h="715644">
                  <a:moveTo>
                    <a:pt x="63567" y="562704"/>
                  </a:moveTo>
                  <a:lnTo>
                    <a:pt x="63567" y="562704"/>
                  </a:lnTo>
                  <a:lnTo>
                    <a:pt x="56925" y="551319"/>
                  </a:lnTo>
                </a:path>
                <a:path w="716915" h="715644">
                  <a:moveTo>
                    <a:pt x="27514" y="496291"/>
                  </a:moveTo>
                  <a:lnTo>
                    <a:pt x="23718" y="487749"/>
                  </a:lnTo>
                  <a:lnTo>
                    <a:pt x="22770" y="483945"/>
                  </a:lnTo>
                </a:path>
                <a:path w="716915" h="715644">
                  <a:moveTo>
                    <a:pt x="5693" y="423218"/>
                  </a:moveTo>
                  <a:lnTo>
                    <a:pt x="5693" y="423218"/>
                  </a:lnTo>
                  <a:lnTo>
                    <a:pt x="3795" y="410886"/>
                  </a:lnTo>
                </a:path>
                <a:path w="716915" h="715644">
                  <a:moveTo>
                    <a:pt x="0" y="348251"/>
                  </a:moveTo>
                  <a:lnTo>
                    <a:pt x="0" y="348251"/>
                  </a:lnTo>
                  <a:lnTo>
                    <a:pt x="948" y="335919"/>
                  </a:lnTo>
                </a:path>
                <a:path w="716915" h="715644">
                  <a:moveTo>
                    <a:pt x="9488" y="273296"/>
                  </a:moveTo>
                  <a:lnTo>
                    <a:pt x="10437" y="270440"/>
                  </a:lnTo>
                  <a:lnTo>
                    <a:pt x="13282" y="260951"/>
                  </a:lnTo>
                </a:path>
                <a:path w="716915" h="715644">
                  <a:moveTo>
                    <a:pt x="36053" y="202119"/>
                  </a:moveTo>
                  <a:lnTo>
                    <a:pt x="36053" y="202119"/>
                  </a:lnTo>
                  <a:lnTo>
                    <a:pt x="40797" y="190735"/>
                  </a:lnTo>
                </a:path>
                <a:path w="716915" h="715644">
                  <a:moveTo>
                    <a:pt x="75901" y="138549"/>
                  </a:moveTo>
                  <a:lnTo>
                    <a:pt x="75901" y="138549"/>
                  </a:lnTo>
                  <a:lnTo>
                    <a:pt x="83491" y="128112"/>
                  </a:lnTo>
                </a:path>
                <a:path w="716915" h="715644">
                  <a:moveTo>
                    <a:pt x="128081" y="83508"/>
                  </a:moveTo>
                  <a:lnTo>
                    <a:pt x="128081" y="83508"/>
                  </a:lnTo>
                  <a:lnTo>
                    <a:pt x="138517" y="75914"/>
                  </a:lnTo>
                </a:path>
                <a:path w="716915" h="715644">
                  <a:moveTo>
                    <a:pt x="190707" y="40813"/>
                  </a:moveTo>
                  <a:lnTo>
                    <a:pt x="190707" y="40813"/>
                  </a:lnTo>
                  <a:lnTo>
                    <a:pt x="202090" y="36062"/>
                  </a:lnTo>
                </a:path>
                <a:path w="716915" h="715644">
                  <a:moveTo>
                    <a:pt x="260913" y="13292"/>
                  </a:moveTo>
                  <a:lnTo>
                    <a:pt x="269453" y="10449"/>
                  </a:lnTo>
                  <a:lnTo>
                    <a:pt x="273243" y="10449"/>
                  </a:lnTo>
                </a:path>
                <a:path w="716915" h="715644">
                  <a:moveTo>
                    <a:pt x="335869" y="960"/>
                  </a:moveTo>
                  <a:lnTo>
                    <a:pt x="335869" y="960"/>
                  </a:lnTo>
                  <a:lnTo>
                    <a:pt x="348199" y="0"/>
                  </a:lnTo>
                </a:path>
                <a:path w="716915" h="715644">
                  <a:moveTo>
                    <a:pt x="410812" y="3803"/>
                  </a:moveTo>
                  <a:lnTo>
                    <a:pt x="410812" y="3803"/>
                  </a:lnTo>
                  <a:lnTo>
                    <a:pt x="423156" y="6646"/>
                  </a:lnTo>
                </a:path>
                <a:path w="716915" h="715644">
                  <a:moveTo>
                    <a:pt x="483874" y="22782"/>
                  </a:moveTo>
                  <a:lnTo>
                    <a:pt x="487664" y="23729"/>
                  </a:lnTo>
                  <a:lnTo>
                    <a:pt x="496204" y="27520"/>
                  </a:lnTo>
                </a:path>
                <a:path w="716915" h="715644">
                  <a:moveTo>
                    <a:pt x="551237" y="56936"/>
                  </a:moveTo>
                  <a:lnTo>
                    <a:pt x="551237" y="56936"/>
                  </a:lnTo>
                  <a:lnTo>
                    <a:pt x="562620" y="63582"/>
                  </a:lnTo>
                </a:path>
                <a:path w="716915" h="715644">
                  <a:moveTo>
                    <a:pt x="610060" y="104383"/>
                  </a:moveTo>
                  <a:lnTo>
                    <a:pt x="610060" y="104383"/>
                  </a:lnTo>
                  <a:lnTo>
                    <a:pt x="619548" y="112925"/>
                  </a:lnTo>
                </a:path>
                <a:path w="716915" h="715644">
                  <a:moveTo>
                    <a:pt x="658447" y="163215"/>
                  </a:moveTo>
                  <a:lnTo>
                    <a:pt x="658447" y="163215"/>
                  </a:lnTo>
                  <a:lnTo>
                    <a:pt x="665093" y="173652"/>
                  </a:lnTo>
                </a:path>
                <a:path w="716915" h="715644">
                  <a:moveTo>
                    <a:pt x="692596" y="229641"/>
                  </a:moveTo>
                  <a:lnTo>
                    <a:pt x="692596" y="229641"/>
                  </a:lnTo>
                  <a:lnTo>
                    <a:pt x="696399" y="241973"/>
                  </a:lnTo>
                </a:path>
                <a:path w="716915" h="715644">
                  <a:moveTo>
                    <a:pt x="711572" y="303660"/>
                  </a:moveTo>
                  <a:lnTo>
                    <a:pt x="713480" y="313150"/>
                  </a:lnTo>
                  <a:lnTo>
                    <a:pt x="714428" y="315993"/>
                  </a:lnTo>
                </a:path>
              </a:pathLst>
            </a:custGeom>
            <a:ln w="18028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6633" y="852551"/>
              <a:ext cx="0" cy="6005830"/>
            </a:xfrm>
            <a:custGeom>
              <a:avLst/>
              <a:gdLst/>
              <a:ahLst/>
              <a:cxnLst/>
              <a:rect l="l" t="t" r="r" b="b"/>
              <a:pathLst>
                <a:path h="6005830">
                  <a:moveTo>
                    <a:pt x="0" y="0"/>
                  </a:moveTo>
                  <a:lnTo>
                    <a:pt x="0" y="600544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043736" y="1130785"/>
            <a:ext cx="10515600" cy="337272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sz="1600" b="0" dirty="0">
                <a:solidFill>
                  <a:srgbClr val="FFFFFF"/>
                </a:solidFill>
                <a:latin typeface="Calibri"/>
                <a:cs typeface="Calibri"/>
              </a:rPr>
              <a:t>У пацієнтів з </a:t>
            </a:r>
            <a:r>
              <a:rPr sz="1600" b="0" spc="-10" dirty="0">
                <a:solidFill>
                  <a:srgbClr val="FFFFFF"/>
                </a:solidFill>
                <a:latin typeface="Calibri"/>
                <a:cs typeface="Calibri"/>
              </a:rPr>
              <a:t>рефрактерним остеоартритом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C68A05-5BD4-6A0F-90A3-8DA083C39118}"/>
              </a:ext>
            </a:extLst>
          </p:cNvPr>
          <p:cNvSpPr txBox="1"/>
          <p:nvPr/>
        </p:nvSpPr>
        <p:spPr>
          <a:xfrm>
            <a:off x="1273287" y="298984"/>
            <a:ext cx="81247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 err="1">
                <a:solidFill>
                  <a:srgbClr val="FFFFFF"/>
                </a:solidFill>
              </a:rPr>
              <a:t>Ін'єкції</a:t>
            </a:r>
            <a:r>
              <a:rPr lang="ru-RU" sz="3600" dirty="0">
                <a:solidFill>
                  <a:srgbClr val="FFFFFF"/>
                </a:solidFill>
              </a:rPr>
              <a:t> в </a:t>
            </a:r>
            <a:r>
              <a:rPr lang="ru-RU" sz="3600" dirty="0" err="1">
                <a:solidFill>
                  <a:srgbClr val="FFFFFF"/>
                </a:solidFill>
              </a:rPr>
              <a:t>реальних</a:t>
            </a:r>
            <a:r>
              <a:rPr lang="ru-RU" sz="3600" dirty="0">
                <a:solidFill>
                  <a:srgbClr val="FFFFFF"/>
                </a:solidFill>
              </a:rPr>
              <a:t> </a:t>
            </a:r>
            <a:r>
              <a:rPr lang="ru-RU" sz="3600" dirty="0" err="1">
                <a:solidFill>
                  <a:srgbClr val="FFFFFF"/>
                </a:solidFill>
              </a:rPr>
              <a:t>умовах</a:t>
            </a:r>
            <a:r>
              <a:rPr lang="ru-RU" sz="3600" dirty="0">
                <a:solidFill>
                  <a:srgbClr val="FFFFFF"/>
                </a:solidFill>
              </a:rPr>
              <a:t> – </a:t>
            </a:r>
            <a:r>
              <a:rPr lang="ru-RU" sz="3600" spc="-10" dirty="0">
                <a:solidFill>
                  <a:srgbClr val="FFFFFF"/>
                </a:solidFill>
              </a:rPr>
              <a:t>Бельгія</a:t>
            </a:r>
            <a:r>
              <a:rPr lang="ru-RU" sz="3600" spc="-15" baseline="25000" dirty="0">
                <a:solidFill>
                  <a:srgbClr val="FFFFFF"/>
                </a:solidFill>
              </a:rPr>
              <a:t>6</a:t>
            </a:r>
            <a:endParaRPr lang="uk-UA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38618" y="6396329"/>
            <a:ext cx="110655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*Raman R, et al.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Алгоритми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прийняття рішень щодо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повторного лікування віскосуплементацією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пацієнтів, які страждають на остеоартрит колінного суглоба: від Європейської групи консенсусу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з віскосуплементації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(EUROVISCO). Cartilage. 2018;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9(3):263–275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88528" y="-111609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</a:rPr>
              <a:t>Дослідження PIONEER — перше в світі </a:t>
            </a:r>
            <a:r>
              <a:rPr sz="3000" spc="-10" dirty="0">
                <a:solidFill>
                  <a:srgbClr val="FFFFFF"/>
                </a:solidFill>
              </a:rPr>
              <a:t>дослідницьке </a:t>
            </a:r>
            <a:r>
              <a:rPr sz="3000" dirty="0">
                <a:solidFill>
                  <a:srgbClr val="FFFFFF"/>
                </a:solidFill>
              </a:rPr>
              <a:t>дослідження </a:t>
            </a:r>
            <a:r>
              <a:rPr sz="3000" spc="-10" dirty="0">
                <a:solidFill>
                  <a:srgbClr val="FFFFFF"/>
                </a:solidFill>
              </a:rPr>
              <a:t>рефрактерного </a:t>
            </a:r>
            <a:r>
              <a:rPr sz="3000" spc="-25" dirty="0">
                <a:solidFill>
                  <a:srgbClr val="FFFFFF"/>
                </a:solidFill>
              </a:rPr>
              <a:t>ОА</a:t>
            </a:r>
            <a:endParaRPr sz="3000" dirty="0"/>
          </a:p>
        </p:txBody>
      </p:sp>
      <p:grpSp>
        <p:nvGrpSpPr>
          <p:cNvPr id="5" name="object 5"/>
          <p:cNvGrpSpPr/>
          <p:nvPr/>
        </p:nvGrpSpPr>
        <p:grpSpPr>
          <a:xfrm>
            <a:off x="228613" y="107694"/>
            <a:ext cx="11450955" cy="6757034"/>
            <a:chOff x="228613" y="107694"/>
            <a:chExt cx="11450955" cy="6757034"/>
          </a:xfrm>
        </p:grpSpPr>
        <p:sp>
          <p:nvSpPr>
            <p:cNvPr id="6" name="object 6"/>
            <p:cNvSpPr/>
            <p:nvPr/>
          </p:nvSpPr>
          <p:spPr>
            <a:xfrm>
              <a:off x="596633" y="852551"/>
              <a:ext cx="0" cy="6005830"/>
            </a:xfrm>
            <a:custGeom>
              <a:avLst/>
              <a:gdLst/>
              <a:ahLst/>
              <a:cxnLst/>
              <a:rect l="l" t="t" r="r" b="b"/>
              <a:pathLst>
                <a:path h="6005830">
                  <a:moveTo>
                    <a:pt x="0" y="0"/>
                  </a:moveTo>
                  <a:lnTo>
                    <a:pt x="0" y="600544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7821" y="116902"/>
              <a:ext cx="716915" cy="715645"/>
            </a:xfrm>
            <a:custGeom>
              <a:avLst/>
              <a:gdLst/>
              <a:ahLst/>
              <a:cxnLst/>
              <a:rect l="l" t="t" r="r" b="b"/>
              <a:pathLst>
                <a:path w="716915" h="715644">
                  <a:moveTo>
                    <a:pt x="716323" y="358689"/>
                  </a:moveTo>
                  <a:lnTo>
                    <a:pt x="716323" y="358689"/>
                  </a:lnTo>
                  <a:lnTo>
                    <a:pt x="716323" y="371034"/>
                  </a:lnTo>
                </a:path>
                <a:path w="716915" h="715644">
                  <a:moveTo>
                    <a:pt x="707782" y="433656"/>
                  </a:moveTo>
                  <a:lnTo>
                    <a:pt x="707782" y="433656"/>
                  </a:lnTo>
                  <a:lnTo>
                    <a:pt x="705887" y="445989"/>
                  </a:lnTo>
                </a:path>
                <a:path w="716915" h="715644">
                  <a:moveTo>
                    <a:pt x="685016" y="504820"/>
                  </a:moveTo>
                  <a:lnTo>
                    <a:pt x="685016" y="504820"/>
                  </a:lnTo>
                  <a:lnTo>
                    <a:pt x="679318" y="517165"/>
                  </a:lnTo>
                </a:path>
                <a:path w="716915" h="715644">
                  <a:moveTo>
                    <a:pt x="647064" y="570298"/>
                  </a:moveTo>
                  <a:lnTo>
                    <a:pt x="647064" y="570298"/>
                  </a:lnTo>
                  <a:lnTo>
                    <a:pt x="638524" y="580735"/>
                  </a:lnTo>
                </a:path>
                <a:path w="716915" h="715644">
                  <a:moveTo>
                    <a:pt x="595822" y="626287"/>
                  </a:moveTo>
                  <a:lnTo>
                    <a:pt x="595822" y="626287"/>
                  </a:lnTo>
                  <a:lnTo>
                    <a:pt x="586334" y="634827"/>
                  </a:lnTo>
                </a:path>
                <a:path w="716915" h="715644">
                  <a:moveTo>
                    <a:pt x="534156" y="669937"/>
                  </a:moveTo>
                  <a:lnTo>
                    <a:pt x="526563" y="674681"/>
                  </a:lnTo>
                  <a:lnTo>
                    <a:pt x="522773" y="676579"/>
                  </a:lnTo>
                </a:path>
                <a:path w="716915" h="715644">
                  <a:moveTo>
                    <a:pt x="464898" y="700301"/>
                  </a:moveTo>
                  <a:lnTo>
                    <a:pt x="464898" y="700301"/>
                  </a:lnTo>
                  <a:lnTo>
                    <a:pt x="452567" y="704097"/>
                  </a:lnTo>
                </a:path>
                <a:path w="716915" h="715644">
                  <a:moveTo>
                    <a:pt x="390889" y="714535"/>
                  </a:moveTo>
                  <a:lnTo>
                    <a:pt x="390889" y="714535"/>
                  </a:lnTo>
                  <a:lnTo>
                    <a:pt x="378558" y="715484"/>
                  </a:lnTo>
                </a:path>
                <a:path w="716915" h="715644">
                  <a:moveTo>
                    <a:pt x="314985" y="714535"/>
                  </a:moveTo>
                  <a:lnTo>
                    <a:pt x="313090" y="714535"/>
                  </a:lnTo>
                  <a:lnTo>
                    <a:pt x="302655" y="712637"/>
                  </a:lnTo>
                </a:path>
                <a:path w="716915" h="715644">
                  <a:moveTo>
                    <a:pt x="241937" y="697454"/>
                  </a:moveTo>
                  <a:lnTo>
                    <a:pt x="241937" y="697454"/>
                  </a:lnTo>
                  <a:lnTo>
                    <a:pt x="229606" y="692710"/>
                  </a:lnTo>
                </a:path>
                <a:path w="716915" h="715644">
                  <a:moveTo>
                    <a:pt x="173626" y="665192"/>
                  </a:moveTo>
                  <a:lnTo>
                    <a:pt x="173626" y="665192"/>
                  </a:lnTo>
                  <a:lnTo>
                    <a:pt x="162243" y="658549"/>
                  </a:lnTo>
                </a:path>
                <a:path w="716915" h="715644">
                  <a:moveTo>
                    <a:pt x="112903" y="619644"/>
                  </a:moveTo>
                  <a:lnTo>
                    <a:pt x="112903" y="619644"/>
                  </a:lnTo>
                  <a:lnTo>
                    <a:pt x="104364" y="610154"/>
                  </a:lnTo>
                </a:path>
                <a:path w="716915" h="715644">
                  <a:moveTo>
                    <a:pt x="63567" y="562704"/>
                  </a:moveTo>
                  <a:lnTo>
                    <a:pt x="63567" y="562704"/>
                  </a:lnTo>
                  <a:lnTo>
                    <a:pt x="56925" y="551319"/>
                  </a:lnTo>
                </a:path>
                <a:path w="716915" h="715644">
                  <a:moveTo>
                    <a:pt x="27514" y="496291"/>
                  </a:moveTo>
                  <a:lnTo>
                    <a:pt x="23718" y="487749"/>
                  </a:lnTo>
                  <a:lnTo>
                    <a:pt x="22770" y="483945"/>
                  </a:lnTo>
                </a:path>
                <a:path w="716915" h="715644">
                  <a:moveTo>
                    <a:pt x="5693" y="423218"/>
                  </a:moveTo>
                  <a:lnTo>
                    <a:pt x="5693" y="423218"/>
                  </a:lnTo>
                  <a:lnTo>
                    <a:pt x="3795" y="410886"/>
                  </a:lnTo>
                </a:path>
                <a:path w="716915" h="715644">
                  <a:moveTo>
                    <a:pt x="0" y="348251"/>
                  </a:moveTo>
                  <a:lnTo>
                    <a:pt x="0" y="348251"/>
                  </a:lnTo>
                  <a:lnTo>
                    <a:pt x="948" y="335919"/>
                  </a:lnTo>
                </a:path>
                <a:path w="716915" h="715644">
                  <a:moveTo>
                    <a:pt x="9488" y="273296"/>
                  </a:moveTo>
                  <a:lnTo>
                    <a:pt x="10437" y="270440"/>
                  </a:lnTo>
                  <a:lnTo>
                    <a:pt x="13282" y="260951"/>
                  </a:lnTo>
                </a:path>
                <a:path w="716915" h="715644">
                  <a:moveTo>
                    <a:pt x="36053" y="202119"/>
                  </a:moveTo>
                  <a:lnTo>
                    <a:pt x="36053" y="202119"/>
                  </a:lnTo>
                  <a:lnTo>
                    <a:pt x="40797" y="190735"/>
                  </a:lnTo>
                </a:path>
                <a:path w="716915" h="715644">
                  <a:moveTo>
                    <a:pt x="75901" y="138549"/>
                  </a:moveTo>
                  <a:lnTo>
                    <a:pt x="75901" y="138549"/>
                  </a:lnTo>
                  <a:lnTo>
                    <a:pt x="83491" y="128112"/>
                  </a:lnTo>
                </a:path>
                <a:path w="716915" h="715644">
                  <a:moveTo>
                    <a:pt x="128081" y="83508"/>
                  </a:moveTo>
                  <a:lnTo>
                    <a:pt x="128081" y="83508"/>
                  </a:lnTo>
                  <a:lnTo>
                    <a:pt x="138517" y="75914"/>
                  </a:lnTo>
                </a:path>
                <a:path w="716915" h="715644">
                  <a:moveTo>
                    <a:pt x="190707" y="40813"/>
                  </a:moveTo>
                  <a:lnTo>
                    <a:pt x="190707" y="40813"/>
                  </a:lnTo>
                  <a:lnTo>
                    <a:pt x="202090" y="36062"/>
                  </a:lnTo>
                </a:path>
                <a:path w="716915" h="715644">
                  <a:moveTo>
                    <a:pt x="260913" y="13292"/>
                  </a:moveTo>
                  <a:lnTo>
                    <a:pt x="269453" y="10449"/>
                  </a:lnTo>
                  <a:lnTo>
                    <a:pt x="273243" y="10449"/>
                  </a:lnTo>
                </a:path>
                <a:path w="716915" h="715644">
                  <a:moveTo>
                    <a:pt x="335869" y="960"/>
                  </a:moveTo>
                  <a:lnTo>
                    <a:pt x="335869" y="960"/>
                  </a:lnTo>
                  <a:lnTo>
                    <a:pt x="348199" y="0"/>
                  </a:lnTo>
                </a:path>
                <a:path w="716915" h="715644">
                  <a:moveTo>
                    <a:pt x="410812" y="3803"/>
                  </a:moveTo>
                  <a:lnTo>
                    <a:pt x="410812" y="3803"/>
                  </a:lnTo>
                  <a:lnTo>
                    <a:pt x="423156" y="6646"/>
                  </a:lnTo>
                </a:path>
                <a:path w="716915" h="715644">
                  <a:moveTo>
                    <a:pt x="483874" y="22782"/>
                  </a:moveTo>
                  <a:lnTo>
                    <a:pt x="487664" y="23729"/>
                  </a:lnTo>
                  <a:lnTo>
                    <a:pt x="496204" y="27520"/>
                  </a:lnTo>
                </a:path>
                <a:path w="716915" h="715644">
                  <a:moveTo>
                    <a:pt x="551237" y="56936"/>
                  </a:moveTo>
                  <a:lnTo>
                    <a:pt x="551237" y="56936"/>
                  </a:lnTo>
                  <a:lnTo>
                    <a:pt x="562620" y="63582"/>
                  </a:lnTo>
                </a:path>
                <a:path w="716915" h="715644">
                  <a:moveTo>
                    <a:pt x="610060" y="104383"/>
                  </a:moveTo>
                  <a:lnTo>
                    <a:pt x="610060" y="104383"/>
                  </a:lnTo>
                  <a:lnTo>
                    <a:pt x="619548" y="112925"/>
                  </a:lnTo>
                </a:path>
                <a:path w="716915" h="715644">
                  <a:moveTo>
                    <a:pt x="658447" y="163215"/>
                  </a:moveTo>
                  <a:lnTo>
                    <a:pt x="658447" y="163215"/>
                  </a:lnTo>
                  <a:lnTo>
                    <a:pt x="665093" y="173652"/>
                  </a:lnTo>
                </a:path>
                <a:path w="716915" h="715644">
                  <a:moveTo>
                    <a:pt x="692596" y="229641"/>
                  </a:moveTo>
                  <a:lnTo>
                    <a:pt x="692596" y="229641"/>
                  </a:lnTo>
                  <a:lnTo>
                    <a:pt x="696399" y="241973"/>
                  </a:lnTo>
                </a:path>
                <a:path w="716915" h="715644">
                  <a:moveTo>
                    <a:pt x="711572" y="303660"/>
                  </a:moveTo>
                  <a:lnTo>
                    <a:pt x="713480" y="313150"/>
                  </a:lnTo>
                  <a:lnTo>
                    <a:pt x="714428" y="315993"/>
                  </a:lnTo>
                </a:path>
              </a:pathLst>
            </a:custGeom>
            <a:ln w="18028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9287" y="1513966"/>
              <a:ext cx="295275" cy="278765"/>
            </a:xfrm>
            <a:custGeom>
              <a:avLst/>
              <a:gdLst/>
              <a:ahLst/>
              <a:cxnLst/>
              <a:rect l="l" t="t" r="r" b="b"/>
              <a:pathLst>
                <a:path w="295275" h="278764">
                  <a:moveTo>
                    <a:pt x="0" y="139319"/>
                  </a:moveTo>
                  <a:lnTo>
                    <a:pt x="7511" y="95276"/>
                  </a:lnTo>
                  <a:lnTo>
                    <a:pt x="28427" y="57031"/>
                  </a:lnTo>
                  <a:lnTo>
                    <a:pt x="60322" y="26875"/>
                  </a:lnTo>
                  <a:lnTo>
                    <a:pt x="100770" y="7100"/>
                  </a:lnTo>
                  <a:lnTo>
                    <a:pt x="147345" y="0"/>
                  </a:lnTo>
                  <a:lnTo>
                    <a:pt x="193914" y="7100"/>
                  </a:lnTo>
                  <a:lnTo>
                    <a:pt x="234362" y="26875"/>
                  </a:lnTo>
                  <a:lnTo>
                    <a:pt x="266259" y="57031"/>
                  </a:lnTo>
                  <a:lnTo>
                    <a:pt x="287178" y="95276"/>
                  </a:lnTo>
                  <a:lnTo>
                    <a:pt x="294690" y="139319"/>
                  </a:lnTo>
                  <a:lnTo>
                    <a:pt x="287178" y="183361"/>
                  </a:lnTo>
                  <a:lnTo>
                    <a:pt x="266259" y="221606"/>
                  </a:lnTo>
                  <a:lnTo>
                    <a:pt x="234362" y="251762"/>
                  </a:lnTo>
                  <a:lnTo>
                    <a:pt x="193914" y="271537"/>
                  </a:lnTo>
                  <a:lnTo>
                    <a:pt x="147345" y="278638"/>
                  </a:lnTo>
                  <a:lnTo>
                    <a:pt x="100770" y="271537"/>
                  </a:lnTo>
                  <a:lnTo>
                    <a:pt x="60322" y="251762"/>
                  </a:lnTo>
                  <a:lnTo>
                    <a:pt x="28427" y="221606"/>
                  </a:lnTo>
                  <a:lnTo>
                    <a:pt x="7511" y="183361"/>
                  </a:lnTo>
                  <a:lnTo>
                    <a:pt x="0" y="13931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4201" y="3902709"/>
              <a:ext cx="10675620" cy="297815"/>
            </a:xfrm>
            <a:custGeom>
              <a:avLst/>
              <a:gdLst/>
              <a:ahLst/>
              <a:cxnLst/>
              <a:rect l="l" t="t" r="r" b="b"/>
              <a:pathLst>
                <a:path w="10675620" h="297814">
                  <a:moveTo>
                    <a:pt x="10526636" y="0"/>
                  </a:moveTo>
                  <a:lnTo>
                    <a:pt x="0" y="0"/>
                  </a:lnTo>
                  <a:lnTo>
                    <a:pt x="148678" y="148589"/>
                  </a:lnTo>
                  <a:lnTo>
                    <a:pt x="0" y="297306"/>
                  </a:lnTo>
                  <a:lnTo>
                    <a:pt x="10526636" y="297306"/>
                  </a:lnTo>
                  <a:lnTo>
                    <a:pt x="10675353" y="148589"/>
                  </a:lnTo>
                  <a:lnTo>
                    <a:pt x="10526636" y="0"/>
                  </a:lnTo>
                  <a:close/>
                </a:path>
              </a:pathLst>
            </a:custGeom>
            <a:solidFill>
              <a:srgbClr val="2E2E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11702" y="3624453"/>
              <a:ext cx="0" cy="556895"/>
            </a:xfrm>
            <a:custGeom>
              <a:avLst/>
              <a:gdLst/>
              <a:ahLst/>
              <a:cxnLst/>
              <a:rect l="l" t="t" r="r" b="b"/>
              <a:pathLst>
                <a:path h="556895">
                  <a:moveTo>
                    <a:pt x="0" y="0"/>
                  </a:moveTo>
                  <a:lnTo>
                    <a:pt x="0" y="556641"/>
                  </a:lnTo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46962" y="1235328"/>
            <a:ext cx="10279380" cy="12073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2E2E81"/>
                </a:solidFill>
                <a:latin typeface="Calibri"/>
                <a:cs typeface="Calibri"/>
              </a:rPr>
              <a:t>Порівняльне, </a:t>
            </a:r>
            <a:r>
              <a:rPr sz="2200" b="1" dirty="0">
                <a:solidFill>
                  <a:srgbClr val="2E2E81"/>
                </a:solidFill>
                <a:latin typeface="Calibri"/>
                <a:cs typeface="Calibri"/>
              </a:rPr>
              <a:t>односліпе, </a:t>
            </a:r>
            <a:r>
              <a:rPr sz="2200" b="1" spc="-10" dirty="0">
                <a:solidFill>
                  <a:srgbClr val="2E2E81"/>
                </a:solidFill>
                <a:latin typeface="Calibri"/>
                <a:cs typeface="Calibri"/>
              </a:rPr>
              <a:t>рандомізоване </a:t>
            </a:r>
            <a:r>
              <a:rPr sz="2200" spc="-10" dirty="0">
                <a:solidFill>
                  <a:srgbClr val="2E2E81"/>
                </a:solidFill>
                <a:latin typeface="Calibri"/>
                <a:cs typeface="Calibri"/>
              </a:rPr>
              <a:t>контрольоване </a:t>
            </a:r>
            <a:r>
              <a:rPr sz="2200" dirty="0">
                <a:solidFill>
                  <a:srgbClr val="2E2E81"/>
                </a:solidFill>
                <a:latin typeface="Calibri"/>
                <a:cs typeface="Calibri"/>
              </a:rPr>
              <a:t>дослідження</a:t>
            </a:r>
            <a:r>
              <a:rPr sz="2200" spc="-25" dirty="0">
                <a:solidFill>
                  <a:srgbClr val="2E2E81"/>
                </a:solidFill>
                <a:latin typeface="Calibri"/>
                <a:cs typeface="Calibri"/>
              </a:rPr>
              <a:t>, </a:t>
            </a:r>
            <a:r>
              <a:rPr sz="2200" spc="-10" dirty="0">
                <a:solidFill>
                  <a:srgbClr val="2E2E81"/>
                </a:solidFill>
                <a:latin typeface="Calibri"/>
                <a:cs typeface="Calibri"/>
              </a:rPr>
              <a:t>призначене </a:t>
            </a:r>
            <a:r>
              <a:rPr sz="2200" dirty="0" err="1">
                <a:solidFill>
                  <a:srgbClr val="2E2E81"/>
                </a:solidFill>
                <a:latin typeface="Calibri"/>
                <a:cs typeface="Calibri"/>
              </a:rPr>
              <a:t>для</a:t>
            </a:r>
            <a:r>
              <a:rPr sz="2200" dirty="0">
                <a:solidFill>
                  <a:srgbClr val="2E2E81"/>
                </a:solidFill>
                <a:latin typeface="Calibri"/>
                <a:cs typeface="Calibri"/>
              </a:rPr>
              <a:t> </a:t>
            </a:r>
            <a:r>
              <a:rPr sz="2200" spc="-10" dirty="0" err="1">
                <a:solidFill>
                  <a:srgbClr val="2E2E81"/>
                </a:solidFill>
                <a:latin typeface="Calibri"/>
                <a:cs typeface="Calibri"/>
              </a:rPr>
              <a:t>оцінки</a:t>
            </a:r>
            <a:r>
              <a:rPr lang="uk-UA" sz="2200" spc="-10" dirty="0">
                <a:latin typeface="Calibri"/>
                <a:cs typeface="Calibri"/>
              </a:rPr>
              <a:t> </a:t>
            </a:r>
            <a:r>
              <a:rPr sz="2200" dirty="0" err="1">
                <a:solidFill>
                  <a:srgbClr val="2E2E81"/>
                </a:solidFill>
                <a:latin typeface="Calibri"/>
                <a:cs typeface="Calibri"/>
              </a:rPr>
              <a:t>безпек</a:t>
            </a:r>
            <a:r>
              <a:rPr lang="uk-UA" sz="2200" dirty="0">
                <a:solidFill>
                  <a:srgbClr val="2E2E81"/>
                </a:solidFill>
                <a:latin typeface="Calibri"/>
                <a:cs typeface="Calibri"/>
              </a:rPr>
              <a:t>и</a:t>
            </a:r>
            <a:r>
              <a:rPr sz="2200" dirty="0">
                <a:solidFill>
                  <a:srgbClr val="2E2E81"/>
                </a:solidFill>
                <a:latin typeface="Calibri"/>
                <a:cs typeface="Calibri"/>
              </a:rPr>
              <a:t> та </a:t>
            </a:r>
            <a:r>
              <a:rPr sz="2200" b="1" spc="-10" dirty="0">
                <a:solidFill>
                  <a:srgbClr val="2E2E81"/>
                </a:solidFill>
                <a:latin typeface="Calibri"/>
                <a:cs typeface="Calibri"/>
              </a:rPr>
              <a:t>ефективність </a:t>
            </a:r>
            <a:r>
              <a:rPr sz="2200" b="1" dirty="0">
                <a:solidFill>
                  <a:srgbClr val="2E2E81"/>
                </a:solidFill>
                <a:latin typeface="Calibri"/>
                <a:cs typeface="Calibri"/>
              </a:rPr>
              <a:t>одноразової внутрішньосуглобової ін'єкції </a:t>
            </a:r>
            <a:r>
              <a:rPr sz="2200" spc="-20" dirty="0">
                <a:solidFill>
                  <a:srgbClr val="2E2E81"/>
                </a:solidFill>
                <a:latin typeface="Calibri"/>
                <a:cs typeface="Calibri"/>
              </a:rPr>
              <a:t>IMD.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4 пацієнти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були розподілені на дві групи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1600" dirty="0">
              <a:latin typeface="Calibri"/>
              <a:cs typeface="Calibri"/>
            </a:endParaRPr>
          </a:p>
          <a:p>
            <a:pPr marL="299085" indent="-103505">
              <a:lnSpc>
                <a:spcPct val="100000"/>
              </a:lnSpc>
              <a:spcBef>
                <a:spcPts val="75"/>
              </a:spcBef>
              <a:buFont typeface="Arial"/>
              <a:buChar char="•"/>
              <a:tabLst>
                <a:tab pos="299085" algn="l"/>
              </a:tabLst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52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особи, які отримували </a:t>
            </a:r>
            <a:r>
              <a:rPr sz="1600" b="1" dirty="0" err="1">
                <a:solidFill>
                  <a:srgbClr val="FFFFFF"/>
                </a:solidFill>
                <a:latin typeface="Calibri"/>
                <a:cs typeface="Calibri"/>
              </a:rPr>
              <a:t>KiOmedine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uk-UA" sz="1600" b="1" spc="-10" dirty="0">
                <a:solidFill>
                  <a:srgbClr val="FFFFFF"/>
                </a:solidFill>
                <a:latin typeface="Calibri"/>
                <a:cs typeface="Calibri"/>
              </a:rPr>
              <a:t>К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M-</a:t>
            </a:r>
            <a:r>
              <a:rPr lang="uk-UA" sz="1600" b="1" spc="-10" dirty="0" err="1">
                <a:solidFill>
                  <a:srgbClr val="FFFFFF"/>
                </a:solidFill>
                <a:latin typeface="Calibri"/>
                <a:cs typeface="Calibri"/>
              </a:rPr>
              <a:t>хітозан</a:t>
            </a:r>
            <a:r>
              <a:rPr lang="uk-UA" sz="16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52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пацієнти, які отримували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Synvisc-One®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(компаратор)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90294" y="4413835"/>
            <a:ext cx="3339465" cy="18703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2E2E81"/>
                </a:solidFill>
                <a:latin typeface="Calibri"/>
                <a:cs typeface="Calibri"/>
              </a:rPr>
              <a:t>ПОПУЛЯЦІЯ </a:t>
            </a:r>
            <a:r>
              <a:rPr sz="1400" b="1" dirty="0">
                <a:solidFill>
                  <a:srgbClr val="2E2E81"/>
                </a:solidFill>
                <a:latin typeface="Calibri"/>
                <a:cs typeface="Calibri"/>
              </a:rPr>
              <a:t>- </a:t>
            </a:r>
            <a:r>
              <a:rPr sz="1400" b="1" spc="-10" dirty="0">
                <a:solidFill>
                  <a:srgbClr val="2E2E81"/>
                </a:solidFill>
                <a:latin typeface="Calibri"/>
                <a:cs typeface="Calibri"/>
              </a:rPr>
              <a:t>Рефрактерний </a:t>
            </a:r>
            <a:r>
              <a:rPr sz="1400" b="1" spc="-25" dirty="0">
                <a:solidFill>
                  <a:srgbClr val="2E2E81"/>
                </a:solidFill>
                <a:latin typeface="Calibri"/>
                <a:cs typeface="Calibri"/>
              </a:rPr>
              <a:t>ОА</a:t>
            </a:r>
            <a:endParaRPr sz="1400" dirty="0">
              <a:latin typeface="Calibri"/>
              <a:cs typeface="Calibri"/>
            </a:endParaRPr>
          </a:p>
          <a:p>
            <a:pPr marL="12700" marR="5080">
              <a:lnSpc>
                <a:spcPts val="1200"/>
              </a:lnSpc>
              <a:spcBef>
                <a:spcPts val="26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На основі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прогностичних факторів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невдачі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віскосуплементації*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пацієнт повинен відповідати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принаймні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одному або декільком з таких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критеріїв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відбору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1200" dirty="0">
              <a:latin typeface="Calibri"/>
              <a:cs typeface="Calibri"/>
            </a:endParaRPr>
          </a:p>
          <a:p>
            <a:pPr marL="184150" indent="-81915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184150" algn="l"/>
              </a:tabLst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Тяжке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ураження пателлофеморального суглоба</a:t>
            </a:r>
            <a:endParaRPr sz="1200" dirty="0">
              <a:latin typeface="Calibri"/>
              <a:cs typeface="Calibri"/>
            </a:endParaRPr>
          </a:p>
          <a:p>
            <a:pPr marL="184150" indent="-81915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184150" algn="l"/>
              </a:tabLst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Ізольований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пателлофеморальний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ОА</a:t>
            </a:r>
            <a:endParaRPr sz="1200" dirty="0">
              <a:latin typeface="Calibri"/>
              <a:cs typeface="Calibri"/>
            </a:endParaRPr>
          </a:p>
          <a:p>
            <a:pPr marL="184150" indent="-81915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184150" algn="l"/>
              </a:tabLst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Трикомпартаментний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ОА</a:t>
            </a:r>
            <a:endParaRPr sz="1200" dirty="0">
              <a:latin typeface="Calibri"/>
              <a:cs typeface="Calibri"/>
            </a:endParaRPr>
          </a:p>
          <a:p>
            <a:pPr marL="184150" indent="-81915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184150" algn="l"/>
              </a:tabLst>
            </a:pPr>
            <a:r>
              <a:rPr lang="uk-UA" sz="1200" spc="-10" dirty="0">
                <a:solidFill>
                  <a:srgbClr val="FFFFFF"/>
                </a:solidFill>
                <a:latin typeface="Calibri"/>
                <a:cs typeface="Calibri"/>
              </a:rPr>
              <a:t>ОА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III або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IV</a:t>
            </a:r>
            <a:endParaRPr sz="1200" dirty="0">
              <a:latin typeface="Calibri"/>
              <a:cs typeface="Calibri"/>
            </a:endParaRPr>
          </a:p>
          <a:p>
            <a:pPr marL="184150" indent="-81915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184150" algn="l"/>
              </a:tabLst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Ожиріння (ІМТ ˃ 30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кг/м²)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96156" y="4413835"/>
            <a:ext cx="1885314" cy="615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2E2E81"/>
                </a:solidFill>
                <a:latin typeface="Calibri"/>
                <a:cs typeface="Calibri"/>
              </a:rPr>
              <a:t>ТЕРМІНИ </a:t>
            </a:r>
            <a:r>
              <a:rPr sz="1400" b="1" dirty="0">
                <a:solidFill>
                  <a:srgbClr val="2E2E81"/>
                </a:solidFill>
                <a:latin typeface="Calibri"/>
                <a:cs typeface="Calibri"/>
              </a:rPr>
              <a:t>КОНТРОЛЬНИХ ОГЛЯДІВ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2 тижні, 3 місяці, 6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місяців,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9 місяців та 12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місяців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89901" y="4413835"/>
            <a:ext cx="2837180" cy="730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2E2E81"/>
                </a:solidFill>
                <a:latin typeface="Calibri"/>
                <a:cs typeface="Calibri"/>
              </a:rPr>
              <a:t>ЦІЛІ / </a:t>
            </a:r>
            <a:r>
              <a:rPr sz="1400" b="1" spc="-10" dirty="0">
                <a:solidFill>
                  <a:srgbClr val="2E2E81"/>
                </a:solidFill>
                <a:latin typeface="Calibri"/>
                <a:cs typeface="Calibri"/>
              </a:rPr>
              <a:t>ВИМІРЮВАННЯ</a:t>
            </a:r>
            <a:endParaRPr sz="1400" dirty="0">
              <a:latin typeface="Calibri"/>
              <a:cs typeface="Calibri"/>
            </a:endParaRPr>
          </a:p>
          <a:p>
            <a:pPr marL="12700" marR="5080">
              <a:lnSpc>
                <a:spcPts val="1200"/>
              </a:lnSpc>
              <a:spcBef>
                <a:spcPts val="26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Шкала WOMAC, NRS для оцінки болю, NRS для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загальної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оцінки,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задоволеність пацієнта, задоволеність лікаря,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NRS для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оцінки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місцевого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ефекту, безпека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58914" y="3201866"/>
            <a:ext cx="1423542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Критерії відбору </a:t>
            </a: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та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4736" y="3424705"/>
            <a:ext cx="1700485" cy="166712"/>
          </a:xfrm>
          <a:prstGeom prst="rect">
            <a:avLst/>
          </a:prstGeom>
          <a:solidFill>
            <a:srgbClr val="0000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95"/>
              </a:lnSpc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Ін'єкція кортикостероїдів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4426" y="3550943"/>
            <a:ext cx="110553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Скринінговий візит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(V0)</a:t>
            </a:r>
            <a:endParaRPr sz="1100" dirty="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667510" y="3611371"/>
            <a:ext cx="9397365" cy="994410"/>
            <a:chOff x="1667510" y="3611371"/>
            <a:chExt cx="9397365" cy="994410"/>
          </a:xfrm>
        </p:grpSpPr>
        <p:sp>
          <p:nvSpPr>
            <p:cNvPr id="19" name="object 19"/>
            <p:cNvSpPr/>
            <p:nvPr/>
          </p:nvSpPr>
          <p:spPr>
            <a:xfrm>
              <a:off x="1670685" y="3611371"/>
              <a:ext cx="9218295" cy="985519"/>
            </a:xfrm>
            <a:custGeom>
              <a:avLst/>
              <a:gdLst/>
              <a:ahLst/>
              <a:cxnLst/>
              <a:rect l="l" t="t" r="r" b="b"/>
              <a:pathLst>
                <a:path w="9218295" h="985520">
                  <a:moveTo>
                    <a:pt x="3075178" y="13080"/>
                  </a:moveTo>
                  <a:lnTo>
                    <a:pt x="3075178" y="604265"/>
                  </a:lnTo>
                </a:path>
                <a:path w="9218295" h="985520">
                  <a:moveTo>
                    <a:pt x="4605274" y="13080"/>
                  </a:moveTo>
                  <a:lnTo>
                    <a:pt x="4605274" y="579246"/>
                  </a:lnTo>
                </a:path>
                <a:path w="9218295" h="985520">
                  <a:moveTo>
                    <a:pt x="9218167" y="13080"/>
                  </a:moveTo>
                  <a:lnTo>
                    <a:pt x="9218167" y="985011"/>
                  </a:lnTo>
                </a:path>
                <a:path w="9218295" h="985520">
                  <a:moveTo>
                    <a:pt x="6125971" y="13080"/>
                  </a:moveTo>
                  <a:lnTo>
                    <a:pt x="6125971" y="604265"/>
                  </a:lnTo>
                </a:path>
                <a:path w="9218295" h="985520">
                  <a:moveTo>
                    <a:pt x="7666990" y="13080"/>
                  </a:moveTo>
                  <a:lnTo>
                    <a:pt x="7666990" y="588644"/>
                  </a:lnTo>
                </a:path>
                <a:path w="9218295" h="985520">
                  <a:moveTo>
                    <a:pt x="0" y="0"/>
                  </a:moveTo>
                  <a:lnTo>
                    <a:pt x="0" y="588644"/>
                  </a:lnTo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88853" y="4435020"/>
              <a:ext cx="175641" cy="170263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2818002" y="3391280"/>
            <a:ext cx="78740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Ін'єкція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(V1)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114023" y="4460240"/>
            <a:ext cx="5721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Результати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через 12 місяців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62678" y="3391280"/>
            <a:ext cx="17589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V2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86932" y="3391280"/>
            <a:ext cx="17589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V3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703946" y="3391280"/>
            <a:ext cx="17589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256521" y="3391280"/>
            <a:ext cx="17589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794872" y="3391280"/>
            <a:ext cx="17589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2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44648" y="3944239"/>
            <a:ext cx="5740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7-14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днів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740022" y="3944239"/>
            <a:ext cx="4889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2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тижні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227701" y="3944239"/>
            <a:ext cx="5651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3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місяці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744716" y="3944239"/>
            <a:ext cx="5651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6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місяців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290052" y="3944239"/>
            <a:ext cx="5651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9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місяців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792081" y="3944239"/>
            <a:ext cx="6350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12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місяців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498071" y="-15494"/>
            <a:ext cx="4121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6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96633" y="852550"/>
              <a:ext cx="0" cy="6005830"/>
            </a:xfrm>
            <a:custGeom>
              <a:avLst/>
              <a:gdLst/>
              <a:ahLst/>
              <a:cxnLst/>
              <a:rect l="l" t="t" r="r" b="b"/>
              <a:pathLst>
                <a:path h="6005830">
                  <a:moveTo>
                    <a:pt x="0" y="0"/>
                  </a:moveTo>
                  <a:lnTo>
                    <a:pt x="0" y="600544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7820" y="116902"/>
              <a:ext cx="716915" cy="715645"/>
            </a:xfrm>
            <a:custGeom>
              <a:avLst/>
              <a:gdLst/>
              <a:ahLst/>
              <a:cxnLst/>
              <a:rect l="l" t="t" r="r" b="b"/>
              <a:pathLst>
                <a:path w="716915" h="715644">
                  <a:moveTo>
                    <a:pt x="716323" y="358689"/>
                  </a:moveTo>
                  <a:lnTo>
                    <a:pt x="716323" y="358689"/>
                  </a:lnTo>
                  <a:lnTo>
                    <a:pt x="716323" y="371034"/>
                  </a:lnTo>
                </a:path>
                <a:path w="716915" h="715644">
                  <a:moveTo>
                    <a:pt x="707782" y="433656"/>
                  </a:moveTo>
                  <a:lnTo>
                    <a:pt x="707782" y="433656"/>
                  </a:lnTo>
                  <a:lnTo>
                    <a:pt x="705887" y="445989"/>
                  </a:lnTo>
                </a:path>
                <a:path w="716915" h="715644">
                  <a:moveTo>
                    <a:pt x="685016" y="504820"/>
                  </a:moveTo>
                  <a:lnTo>
                    <a:pt x="685016" y="504820"/>
                  </a:lnTo>
                  <a:lnTo>
                    <a:pt x="679318" y="517165"/>
                  </a:lnTo>
                </a:path>
                <a:path w="716915" h="715644">
                  <a:moveTo>
                    <a:pt x="647064" y="570298"/>
                  </a:moveTo>
                  <a:lnTo>
                    <a:pt x="647064" y="570298"/>
                  </a:lnTo>
                  <a:lnTo>
                    <a:pt x="638524" y="580735"/>
                  </a:lnTo>
                </a:path>
                <a:path w="716915" h="715644">
                  <a:moveTo>
                    <a:pt x="595822" y="626287"/>
                  </a:moveTo>
                  <a:lnTo>
                    <a:pt x="595822" y="626287"/>
                  </a:lnTo>
                  <a:lnTo>
                    <a:pt x="586334" y="634827"/>
                  </a:lnTo>
                </a:path>
                <a:path w="716915" h="715644">
                  <a:moveTo>
                    <a:pt x="534156" y="669937"/>
                  </a:moveTo>
                  <a:lnTo>
                    <a:pt x="526563" y="674681"/>
                  </a:lnTo>
                  <a:lnTo>
                    <a:pt x="522773" y="676579"/>
                  </a:lnTo>
                </a:path>
                <a:path w="716915" h="715644">
                  <a:moveTo>
                    <a:pt x="464898" y="700301"/>
                  </a:moveTo>
                  <a:lnTo>
                    <a:pt x="464898" y="700301"/>
                  </a:lnTo>
                  <a:lnTo>
                    <a:pt x="452567" y="704097"/>
                  </a:lnTo>
                </a:path>
                <a:path w="716915" h="715644">
                  <a:moveTo>
                    <a:pt x="390889" y="714535"/>
                  </a:moveTo>
                  <a:lnTo>
                    <a:pt x="390889" y="714535"/>
                  </a:lnTo>
                  <a:lnTo>
                    <a:pt x="378558" y="715484"/>
                  </a:lnTo>
                </a:path>
                <a:path w="716915" h="715644">
                  <a:moveTo>
                    <a:pt x="314985" y="714535"/>
                  </a:moveTo>
                  <a:lnTo>
                    <a:pt x="313090" y="714535"/>
                  </a:lnTo>
                  <a:lnTo>
                    <a:pt x="302655" y="712637"/>
                  </a:lnTo>
                </a:path>
                <a:path w="716915" h="715644">
                  <a:moveTo>
                    <a:pt x="241937" y="697454"/>
                  </a:moveTo>
                  <a:lnTo>
                    <a:pt x="241937" y="697454"/>
                  </a:lnTo>
                  <a:lnTo>
                    <a:pt x="229606" y="692710"/>
                  </a:lnTo>
                </a:path>
                <a:path w="716915" h="715644">
                  <a:moveTo>
                    <a:pt x="173626" y="665192"/>
                  </a:moveTo>
                  <a:lnTo>
                    <a:pt x="173626" y="665192"/>
                  </a:lnTo>
                  <a:lnTo>
                    <a:pt x="162243" y="658549"/>
                  </a:lnTo>
                </a:path>
                <a:path w="716915" h="715644">
                  <a:moveTo>
                    <a:pt x="112903" y="619644"/>
                  </a:moveTo>
                  <a:lnTo>
                    <a:pt x="112903" y="619644"/>
                  </a:lnTo>
                  <a:lnTo>
                    <a:pt x="104364" y="610154"/>
                  </a:lnTo>
                </a:path>
                <a:path w="716915" h="715644">
                  <a:moveTo>
                    <a:pt x="63567" y="562704"/>
                  </a:moveTo>
                  <a:lnTo>
                    <a:pt x="63567" y="562704"/>
                  </a:lnTo>
                  <a:lnTo>
                    <a:pt x="56925" y="551319"/>
                  </a:lnTo>
                </a:path>
                <a:path w="716915" h="715644">
                  <a:moveTo>
                    <a:pt x="27514" y="496291"/>
                  </a:moveTo>
                  <a:lnTo>
                    <a:pt x="23718" y="487749"/>
                  </a:lnTo>
                  <a:lnTo>
                    <a:pt x="22770" y="483945"/>
                  </a:lnTo>
                </a:path>
                <a:path w="716915" h="715644">
                  <a:moveTo>
                    <a:pt x="5693" y="423218"/>
                  </a:moveTo>
                  <a:lnTo>
                    <a:pt x="5693" y="423218"/>
                  </a:lnTo>
                  <a:lnTo>
                    <a:pt x="3795" y="410886"/>
                  </a:lnTo>
                </a:path>
                <a:path w="716915" h="715644">
                  <a:moveTo>
                    <a:pt x="0" y="348251"/>
                  </a:moveTo>
                  <a:lnTo>
                    <a:pt x="0" y="348251"/>
                  </a:lnTo>
                  <a:lnTo>
                    <a:pt x="948" y="335919"/>
                  </a:lnTo>
                </a:path>
                <a:path w="716915" h="715644">
                  <a:moveTo>
                    <a:pt x="9488" y="273296"/>
                  </a:moveTo>
                  <a:lnTo>
                    <a:pt x="10437" y="270440"/>
                  </a:lnTo>
                  <a:lnTo>
                    <a:pt x="13282" y="260951"/>
                  </a:lnTo>
                </a:path>
                <a:path w="716915" h="715644">
                  <a:moveTo>
                    <a:pt x="36053" y="202119"/>
                  </a:moveTo>
                  <a:lnTo>
                    <a:pt x="36053" y="202119"/>
                  </a:lnTo>
                  <a:lnTo>
                    <a:pt x="40797" y="190735"/>
                  </a:lnTo>
                </a:path>
                <a:path w="716915" h="715644">
                  <a:moveTo>
                    <a:pt x="75901" y="138549"/>
                  </a:moveTo>
                  <a:lnTo>
                    <a:pt x="75901" y="138549"/>
                  </a:lnTo>
                  <a:lnTo>
                    <a:pt x="83491" y="128112"/>
                  </a:lnTo>
                </a:path>
                <a:path w="716915" h="715644">
                  <a:moveTo>
                    <a:pt x="128081" y="83508"/>
                  </a:moveTo>
                  <a:lnTo>
                    <a:pt x="128081" y="83508"/>
                  </a:lnTo>
                  <a:lnTo>
                    <a:pt x="138517" y="75914"/>
                  </a:lnTo>
                </a:path>
                <a:path w="716915" h="715644">
                  <a:moveTo>
                    <a:pt x="190707" y="40813"/>
                  </a:moveTo>
                  <a:lnTo>
                    <a:pt x="190707" y="40813"/>
                  </a:lnTo>
                  <a:lnTo>
                    <a:pt x="202090" y="36062"/>
                  </a:lnTo>
                </a:path>
                <a:path w="716915" h="715644">
                  <a:moveTo>
                    <a:pt x="260913" y="13292"/>
                  </a:moveTo>
                  <a:lnTo>
                    <a:pt x="269453" y="10449"/>
                  </a:lnTo>
                  <a:lnTo>
                    <a:pt x="273243" y="10449"/>
                  </a:lnTo>
                </a:path>
                <a:path w="716915" h="715644">
                  <a:moveTo>
                    <a:pt x="335869" y="960"/>
                  </a:moveTo>
                  <a:lnTo>
                    <a:pt x="335869" y="960"/>
                  </a:lnTo>
                  <a:lnTo>
                    <a:pt x="348199" y="0"/>
                  </a:lnTo>
                </a:path>
                <a:path w="716915" h="715644">
                  <a:moveTo>
                    <a:pt x="410812" y="3803"/>
                  </a:moveTo>
                  <a:lnTo>
                    <a:pt x="410812" y="3803"/>
                  </a:lnTo>
                  <a:lnTo>
                    <a:pt x="423156" y="6646"/>
                  </a:lnTo>
                </a:path>
                <a:path w="716915" h="715644">
                  <a:moveTo>
                    <a:pt x="483874" y="22782"/>
                  </a:moveTo>
                  <a:lnTo>
                    <a:pt x="487664" y="23729"/>
                  </a:lnTo>
                  <a:lnTo>
                    <a:pt x="496204" y="27520"/>
                  </a:lnTo>
                </a:path>
                <a:path w="716915" h="715644">
                  <a:moveTo>
                    <a:pt x="551237" y="56936"/>
                  </a:moveTo>
                  <a:lnTo>
                    <a:pt x="551237" y="56936"/>
                  </a:lnTo>
                  <a:lnTo>
                    <a:pt x="562620" y="63582"/>
                  </a:lnTo>
                </a:path>
                <a:path w="716915" h="715644">
                  <a:moveTo>
                    <a:pt x="610060" y="104383"/>
                  </a:moveTo>
                  <a:lnTo>
                    <a:pt x="610060" y="104383"/>
                  </a:lnTo>
                  <a:lnTo>
                    <a:pt x="619548" y="112925"/>
                  </a:lnTo>
                </a:path>
                <a:path w="716915" h="715644">
                  <a:moveTo>
                    <a:pt x="658447" y="163215"/>
                  </a:moveTo>
                  <a:lnTo>
                    <a:pt x="658447" y="163215"/>
                  </a:lnTo>
                  <a:lnTo>
                    <a:pt x="665093" y="173652"/>
                  </a:lnTo>
                </a:path>
                <a:path w="716915" h="715644">
                  <a:moveTo>
                    <a:pt x="692596" y="229641"/>
                  </a:moveTo>
                  <a:lnTo>
                    <a:pt x="692596" y="229641"/>
                  </a:lnTo>
                  <a:lnTo>
                    <a:pt x="696399" y="241973"/>
                  </a:lnTo>
                </a:path>
                <a:path w="716915" h="715644">
                  <a:moveTo>
                    <a:pt x="711572" y="303660"/>
                  </a:moveTo>
                  <a:lnTo>
                    <a:pt x="713480" y="313150"/>
                  </a:lnTo>
                  <a:lnTo>
                    <a:pt x="714428" y="315993"/>
                  </a:lnTo>
                </a:path>
              </a:pathLst>
            </a:custGeom>
            <a:ln w="18028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83054" y="276605"/>
            <a:ext cx="84673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000" b="1" dirty="0">
                <a:solidFill>
                  <a:srgbClr val="FFFFFF"/>
                </a:solidFill>
                <a:latin typeface="Calibri"/>
                <a:cs typeface="Calibri"/>
              </a:rPr>
              <a:t>PIONEER </a:t>
            </a:r>
            <a:r>
              <a:rPr sz="3000" b="1" dirty="0" err="1">
                <a:solidFill>
                  <a:srgbClr val="FFFFFF"/>
                </a:solidFill>
                <a:latin typeface="Calibri"/>
                <a:cs typeface="Calibri"/>
              </a:rPr>
              <a:t>дослідження</a:t>
            </a:r>
            <a:r>
              <a:rPr sz="3000" b="1" dirty="0">
                <a:solidFill>
                  <a:srgbClr val="FFFFFF"/>
                </a:solidFill>
                <a:latin typeface="Calibri"/>
                <a:cs typeface="Calibri"/>
              </a:rPr>
              <a:t> - </a:t>
            </a:r>
            <a:r>
              <a:rPr sz="3000" b="1" spc="-10" dirty="0">
                <a:solidFill>
                  <a:srgbClr val="FFFFFF"/>
                </a:solidFill>
                <a:latin typeface="Calibri"/>
                <a:cs typeface="Calibri"/>
              </a:rPr>
              <a:t>Демографічні дані</a:t>
            </a:r>
            <a:endParaRPr sz="3000" dirty="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159002" y="1725548"/>
          <a:ext cx="6343015" cy="4311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1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2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4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6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A4A4A4"/>
                      </a:solidFill>
                      <a:prstDash val="solid"/>
                    </a:lnT>
                    <a:solidFill>
                      <a:srgbClr val="2E2E81"/>
                    </a:solidFill>
                  </a:tcPr>
                </a:tc>
                <a:tc>
                  <a:txBody>
                    <a:bodyPr/>
                    <a:lstStyle/>
                    <a:p>
                      <a:pPr marL="59944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KioMedine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7790" marB="0">
                    <a:lnT w="12700">
                      <a:solidFill>
                        <a:srgbClr val="A4A4A4"/>
                      </a:solidFill>
                      <a:prstDash val="solid"/>
                    </a:lnT>
                    <a:solidFill>
                      <a:srgbClr val="2E2E81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Synvisc-One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7790" marB="0">
                    <a:lnT w="12700">
                      <a:solidFill>
                        <a:srgbClr val="A4A4A4"/>
                      </a:solidFill>
                      <a:prstDash val="solid"/>
                    </a:lnT>
                    <a:solidFill>
                      <a:srgbClr val="2E2E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104">
                <a:tc gridSpan="3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Жінки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solidFill>
                      <a:srgbClr val="AEABA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104">
                <a:tc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Середнє </a:t>
                      </a:r>
                      <a:r>
                        <a:rPr sz="1100" dirty="0">
                          <a:latin typeface="MS Gothic"/>
                          <a:cs typeface="MS Gothic"/>
                        </a:rPr>
                        <a:t>±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SD 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(N)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51117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69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73,1%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(38/52)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104">
                <a:tc gridSpan="3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Вік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(роки)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AEABA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Середнє </a:t>
                      </a:r>
                      <a:r>
                        <a:rPr sz="1100" dirty="0">
                          <a:latin typeface="MS Gothic"/>
                          <a:cs typeface="MS Gothic"/>
                        </a:rPr>
                        <a:t>±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SD 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(N)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61,9 </a:t>
                      </a:r>
                      <a:r>
                        <a:rPr sz="1100" dirty="0">
                          <a:latin typeface="MS Gothic"/>
                          <a:cs typeface="MS Gothic"/>
                        </a:rPr>
                        <a:t>±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 9,92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(52)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5654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61,7 </a:t>
                      </a:r>
                      <a:r>
                        <a:rPr sz="1100" dirty="0">
                          <a:latin typeface="MS Gothic"/>
                          <a:cs typeface="MS Gothic"/>
                        </a:rPr>
                        <a:t>±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 9,53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(52)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104">
                <a:tc gridSpan="3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ІМТ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(кг/м²)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AEABA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Середнє ± SD 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(N)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46990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28,8 ± 4,38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(52)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914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28,3 ± 4,73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(51)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104">
                <a:tc>
                  <a:txBody>
                    <a:bodyPr/>
                    <a:lstStyle/>
                    <a:p>
                      <a:pPr marL="196215">
                        <a:lnSpc>
                          <a:spcPts val="130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Медіана (Q1, 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Q3)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448309">
                        <a:lnSpc>
                          <a:spcPts val="130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28,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ts val="130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27,5 (24,9,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30,7)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marL="196215">
                        <a:lnSpc>
                          <a:spcPts val="130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(Мін,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Макс)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589915">
                        <a:lnSpc>
                          <a:spcPts val="130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(20,0,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39,6)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(20,7,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42,4)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104">
                <a:tc gridSpan="3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Підходить для тотального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ендопротезування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колінного суглоба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AEABA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104">
                <a:tc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Так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51117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76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78,8%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(41/52)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FFF1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4470">
                <a:tc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Ні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51117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23,5%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(12/51)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21,2%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(11/52)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104">
                <a:tc gridSpan="3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Рефрактерний фенотип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остеоартриту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AEABA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Трикомпартаментний остеоартрит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50482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80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73,1%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(38/52)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4470">
                <a:tc>
                  <a:txBody>
                    <a:bodyPr/>
                    <a:lstStyle/>
                    <a:p>
                      <a:pPr marL="196215">
                        <a:lnSpc>
                          <a:spcPts val="130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Ізольований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остеоартрит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колінної чашечки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582295">
                        <a:lnSpc>
                          <a:spcPts val="130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9,6%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(5/52)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5,8%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(3/52)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5104">
                <a:tc>
                  <a:txBody>
                    <a:bodyPr/>
                    <a:lstStyle/>
                    <a:p>
                      <a:pPr marL="196215">
                        <a:lnSpc>
                          <a:spcPts val="130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Тяжкий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остеоартрит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колінної чашечки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511175">
                        <a:lnSpc>
                          <a:spcPts val="130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42,3%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(22/52)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0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57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5104">
                <a:tc>
                  <a:txBody>
                    <a:bodyPr/>
                    <a:lstStyle/>
                    <a:p>
                      <a:pPr marL="196215">
                        <a:lnSpc>
                          <a:spcPts val="130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ІМТ ≥ 30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кг/м²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511175">
                        <a:lnSpc>
                          <a:spcPts val="130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34,6%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(18/52)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26,9%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(14/52)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5104">
                <a:tc>
                  <a:txBody>
                    <a:bodyPr/>
                    <a:lstStyle/>
                    <a:p>
                      <a:pPr marL="196215">
                        <a:lnSpc>
                          <a:spcPts val="1305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Класифікація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за шкалою Келгрена і Лоуренса, III ступінь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511175">
                        <a:lnSpc>
                          <a:spcPts val="130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36,5%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(19/52)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38,5%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(20/52)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6215">
                <a:tc>
                  <a:txBody>
                    <a:bodyPr/>
                    <a:lstStyle/>
                    <a:p>
                      <a:pPr marL="196215">
                        <a:lnSpc>
                          <a:spcPts val="1305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Класифікація за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Келлгреном і Лоуренсом, IV ступінь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511175">
                        <a:lnSpc>
                          <a:spcPts val="130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51,9%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(27/52)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59,6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(31/52)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7760334" y="1980946"/>
            <a:ext cx="4046220" cy="1251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Демографічні та вихідні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характеристики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були подібними в обох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групах</a:t>
            </a:r>
            <a:endParaRPr sz="1800">
              <a:latin typeface="Calibri"/>
              <a:cs typeface="Calibri"/>
            </a:endParaRPr>
          </a:p>
          <a:p>
            <a:pPr marL="12700" marR="270510">
              <a:lnSpc>
                <a:spcPct val="100000"/>
              </a:lnSpc>
              <a:spcBef>
                <a:spcPts val="101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Більшість пацієнтів 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ма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ли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множинні фенотипи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60334" y="3781755"/>
            <a:ext cx="4029075" cy="223843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2E2E81"/>
                </a:solidFill>
                <a:latin typeface="Calibri"/>
                <a:cs typeface="Calibri"/>
              </a:rPr>
              <a:t>&amp;</a:t>
            </a:r>
            <a:r>
              <a:rPr sz="1600" b="1" dirty="0">
                <a:solidFill>
                  <a:srgbClr val="2E2E81"/>
                </a:solidFill>
                <a:latin typeface="Calibri"/>
                <a:cs typeface="Calibri"/>
              </a:rPr>
              <a:t>gt;75% </a:t>
            </a:r>
            <a:r>
              <a:rPr sz="1600" dirty="0">
                <a:solidFill>
                  <a:srgbClr val="2E2E81"/>
                </a:solidFill>
                <a:latin typeface="Calibri"/>
                <a:cs typeface="Calibri"/>
              </a:rPr>
              <a:t>пацієнтів були </a:t>
            </a:r>
            <a:r>
              <a:rPr sz="1600" spc="-10" dirty="0">
                <a:solidFill>
                  <a:srgbClr val="2E2E81"/>
                </a:solidFill>
                <a:latin typeface="Calibri"/>
                <a:cs typeface="Calibri"/>
              </a:rPr>
              <a:t>визнані </a:t>
            </a:r>
            <a:r>
              <a:rPr sz="1600" b="1" spc="-10" dirty="0">
                <a:solidFill>
                  <a:srgbClr val="2E2E81"/>
                </a:solidFill>
                <a:latin typeface="Calibri"/>
                <a:cs typeface="Calibri"/>
              </a:rPr>
              <a:t>придатними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dirty="0" err="1">
                <a:solidFill>
                  <a:srgbClr val="2E2E81"/>
                </a:solidFill>
                <a:latin typeface="Calibri"/>
                <a:cs typeface="Calibri"/>
              </a:rPr>
              <a:t>для</a:t>
            </a:r>
            <a:r>
              <a:rPr sz="1600" b="1" dirty="0">
                <a:solidFill>
                  <a:srgbClr val="2E2E81"/>
                </a:solidFill>
                <a:latin typeface="Calibri"/>
                <a:cs typeface="Calibri"/>
              </a:rPr>
              <a:t> Т</a:t>
            </a:r>
            <a:r>
              <a:rPr lang="uk-UA" sz="1600" b="1" dirty="0">
                <a:solidFill>
                  <a:srgbClr val="2E2E81"/>
                </a:solidFill>
                <a:latin typeface="Calibri"/>
                <a:cs typeface="Calibri"/>
              </a:rPr>
              <a:t>ЕП</a:t>
            </a:r>
            <a:r>
              <a:rPr sz="1600" b="1" dirty="0">
                <a:solidFill>
                  <a:srgbClr val="2E2E81"/>
                </a:solidFill>
                <a:latin typeface="Calibri"/>
                <a:cs typeface="Calibri"/>
              </a:rPr>
              <a:t>К</a:t>
            </a:r>
            <a:r>
              <a:rPr lang="uk-UA" sz="1600" b="1" dirty="0">
                <a:solidFill>
                  <a:srgbClr val="2E2E81"/>
                </a:solidFill>
                <a:latin typeface="Calibri"/>
                <a:cs typeface="Calibri"/>
              </a:rPr>
              <a:t>С</a:t>
            </a:r>
            <a:r>
              <a:rPr sz="1600" b="1" dirty="0">
                <a:solidFill>
                  <a:srgbClr val="2E2E8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E81"/>
                </a:solidFill>
                <a:latin typeface="Calibri"/>
                <a:cs typeface="Calibri"/>
              </a:rPr>
              <a:t>у кожній групі на </a:t>
            </a:r>
            <a:r>
              <a:rPr sz="1600" spc="-10" dirty="0">
                <a:solidFill>
                  <a:srgbClr val="2E2E81"/>
                </a:solidFill>
                <a:latin typeface="Calibri"/>
                <a:cs typeface="Calibri"/>
              </a:rPr>
              <a:t>початку дослідження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600" dirty="0">
                <a:solidFill>
                  <a:srgbClr val="2E2E81"/>
                </a:solidFill>
                <a:latin typeface="Calibri"/>
                <a:cs typeface="Calibri"/>
              </a:rPr>
              <a:t>&amp;</a:t>
            </a:r>
            <a:r>
              <a:rPr sz="1600" b="1" dirty="0">
                <a:solidFill>
                  <a:srgbClr val="2E2E81"/>
                </a:solidFill>
                <a:latin typeface="Calibri"/>
                <a:cs typeface="Calibri"/>
              </a:rPr>
              <a:t>gt; 75% </a:t>
            </a:r>
            <a:r>
              <a:rPr sz="1600" dirty="0">
                <a:solidFill>
                  <a:srgbClr val="2E2E81"/>
                </a:solidFill>
                <a:latin typeface="Calibri"/>
                <a:cs typeface="Calibri"/>
              </a:rPr>
              <a:t>пацієнтів мали </a:t>
            </a:r>
            <a:r>
              <a:rPr sz="1600" b="1" spc="-10" dirty="0">
                <a:solidFill>
                  <a:srgbClr val="2E2E81"/>
                </a:solidFill>
                <a:latin typeface="Calibri"/>
                <a:cs typeface="Calibri"/>
              </a:rPr>
              <a:t>трикомпартаментний </a:t>
            </a:r>
            <a:r>
              <a:rPr sz="1600" b="1" spc="-25" dirty="0">
                <a:solidFill>
                  <a:srgbClr val="2E2E81"/>
                </a:solidFill>
                <a:latin typeface="Calibri"/>
                <a:cs typeface="Calibri"/>
              </a:rPr>
              <a:t>ОА</a:t>
            </a:r>
            <a:endParaRPr sz="1600" dirty="0">
              <a:latin typeface="Calibri"/>
              <a:cs typeface="Calibri"/>
            </a:endParaRPr>
          </a:p>
          <a:p>
            <a:pPr marL="12700" marR="226060">
              <a:lnSpc>
                <a:spcPct val="100000"/>
              </a:lnSpc>
              <a:spcBef>
                <a:spcPts val="1010"/>
              </a:spcBef>
            </a:pPr>
            <a:r>
              <a:rPr sz="1600" spc="-10" dirty="0">
                <a:solidFill>
                  <a:srgbClr val="2E2E81"/>
                </a:solidFill>
                <a:latin typeface="Calibri"/>
                <a:cs typeface="Calibri"/>
              </a:rPr>
              <a:t>Ретроспективна оцінка </a:t>
            </a:r>
            <a:r>
              <a:rPr sz="1600" dirty="0">
                <a:solidFill>
                  <a:srgbClr val="2E2E81"/>
                </a:solidFill>
                <a:latin typeface="Calibri"/>
                <a:cs typeface="Calibri"/>
              </a:rPr>
              <a:t>показала</a:t>
            </a:r>
            <a:r>
              <a:rPr sz="1600" spc="-10" dirty="0">
                <a:solidFill>
                  <a:srgbClr val="2E2E81"/>
                </a:solidFill>
                <a:latin typeface="Calibri"/>
                <a:cs typeface="Calibri"/>
              </a:rPr>
              <a:t>, </a:t>
            </a:r>
            <a:r>
              <a:rPr sz="1600" spc="-20" dirty="0">
                <a:solidFill>
                  <a:srgbClr val="2E2E81"/>
                </a:solidFill>
                <a:latin typeface="Calibri"/>
                <a:cs typeface="Calibri"/>
              </a:rPr>
              <a:t>що</a:t>
            </a:r>
            <a:r>
              <a:rPr sz="1600" b="1" dirty="0">
                <a:solidFill>
                  <a:srgbClr val="2E2E81"/>
                </a:solidFill>
                <a:latin typeface="Calibri"/>
                <a:cs typeface="Calibri"/>
              </a:rPr>
              <a:t> 100% пацієнтів мали </a:t>
            </a:r>
            <a:r>
              <a:rPr sz="1600" b="1" spc="-10" dirty="0">
                <a:solidFill>
                  <a:srgbClr val="2E2E81"/>
                </a:solidFill>
                <a:latin typeface="Calibri"/>
                <a:cs typeface="Calibri"/>
              </a:rPr>
              <a:t>ураження пателло-феморального суглоба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1498071" y="-15494"/>
            <a:ext cx="4121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50" dirty="0">
                <a:solidFill>
                  <a:srgbClr val="FFFFFF"/>
                </a:solidFill>
              </a:rPr>
              <a:t>4</a:t>
            </a:r>
            <a:endParaRPr sz="6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53794" y="1887092"/>
              <a:ext cx="4180840" cy="2819400"/>
            </a:xfrm>
            <a:custGeom>
              <a:avLst/>
              <a:gdLst/>
              <a:ahLst/>
              <a:cxnLst/>
              <a:rect l="l" t="t" r="r" b="b"/>
              <a:pathLst>
                <a:path w="4180840" h="2819400">
                  <a:moveTo>
                    <a:pt x="4180331" y="0"/>
                  </a:moveTo>
                  <a:lnTo>
                    <a:pt x="0" y="0"/>
                  </a:lnTo>
                  <a:lnTo>
                    <a:pt x="0" y="2819399"/>
                  </a:lnTo>
                  <a:lnTo>
                    <a:pt x="4180331" y="2819399"/>
                  </a:lnTo>
                  <a:lnTo>
                    <a:pt x="41803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610739" y="1258951"/>
            <a:ext cx="2263775" cy="516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WOMAC Біль з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часом</a:t>
            </a:r>
            <a:endParaRPr sz="1800">
              <a:latin typeface="Calibri"/>
              <a:cs typeface="Calibri"/>
            </a:endParaRPr>
          </a:p>
          <a:p>
            <a:pPr marL="4445" algn="ctr">
              <a:lnSpc>
                <a:spcPct val="100000"/>
              </a:lnSpc>
              <a:spcBef>
                <a:spcPts val="2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Популяція ITT (середнє ±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SD)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28613" y="107694"/>
            <a:ext cx="5681980" cy="6757034"/>
            <a:chOff x="228613" y="107694"/>
            <a:chExt cx="5681980" cy="6757034"/>
          </a:xfrm>
        </p:grpSpPr>
        <p:sp>
          <p:nvSpPr>
            <p:cNvPr id="7" name="object 7"/>
            <p:cNvSpPr/>
            <p:nvPr/>
          </p:nvSpPr>
          <p:spPr>
            <a:xfrm>
              <a:off x="596633" y="852551"/>
              <a:ext cx="0" cy="6005830"/>
            </a:xfrm>
            <a:custGeom>
              <a:avLst/>
              <a:gdLst/>
              <a:ahLst/>
              <a:cxnLst/>
              <a:rect l="l" t="t" r="r" b="b"/>
              <a:pathLst>
                <a:path h="6005830">
                  <a:moveTo>
                    <a:pt x="0" y="0"/>
                  </a:moveTo>
                  <a:lnTo>
                    <a:pt x="0" y="600544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7821" y="116902"/>
              <a:ext cx="716915" cy="715645"/>
            </a:xfrm>
            <a:custGeom>
              <a:avLst/>
              <a:gdLst/>
              <a:ahLst/>
              <a:cxnLst/>
              <a:rect l="l" t="t" r="r" b="b"/>
              <a:pathLst>
                <a:path w="716915" h="715644">
                  <a:moveTo>
                    <a:pt x="716323" y="358689"/>
                  </a:moveTo>
                  <a:lnTo>
                    <a:pt x="716323" y="358689"/>
                  </a:lnTo>
                  <a:lnTo>
                    <a:pt x="716323" y="371034"/>
                  </a:lnTo>
                </a:path>
                <a:path w="716915" h="715644">
                  <a:moveTo>
                    <a:pt x="707782" y="433656"/>
                  </a:moveTo>
                  <a:lnTo>
                    <a:pt x="707782" y="433656"/>
                  </a:lnTo>
                  <a:lnTo>
                    <a:pt x="705887" y="445989"/>
                  </a:lnTo>
                </a:path>
                <a:path w="716915" h="715644">
                  <a:moveTo>
                    <a:pt x="685016" y="504820"/>
                  </a:moveTo>
                  <a:lnTo>
                    <a:pt x="685016" y="504820"/>
                  </a:lnTo>
                  <a:lnTo>
                    <a:pt x="679318" y="517165"/>
                  </a:lnTo>
                </a:path>
                <a:path w="716915" h="715644">
                  <a:moveTo>
                    <a:pt x="647064" y="570298"/>
                  </a:moveTo>
                  <a:lnTo>
                    <a:pt x="647064" y="570298"/>
                  </a:lnTo>
                  <a:lnTo>
                    <a:pt x="638524" y="580735"/>
                  </a:lnTo>
                </a:path>
                <a:path w="716915" h="715644">
                  <a:moveTo>
                    <a:pt x="595822" y="626287"/>
                  </a:moveTo>
                  <a:lnTo>
                    <a:pt x="595822" y="626287"/>
                  </a:lnTo>
                  <a:lnTo>
                    <a:pt x="586334" y="634827"/>
                  </a:lnTo>
                </a:path>
                <a:path w="716915" h="715644">
                  <a:moveTo>
                    <a:pt x="534156" y="669937"/>
                  </a:moveTo>
                  <a:lnTo>
                    <a:pt x="526563" y="674681"/>
                  </a:lnTo>
                  <a:lnTo>
                    <a:pt x="522773" y="676579"/>
                  </a:lnTo>
                </a:path>
                <a:path w="716915" h="715644">
                  <a:moveTo>
                    <a:pt x="464898" y="700301"/>
                  </a:moveTo>
                  <a:lnTo>
                    <a:pt x="464898" y="700301"/>
                  </a:lnTo>
                  <a:lnTo>
                    <a:pt x="452567" y="704097"/>
                  </a:lnTo>
                </a:path>
                <a:path w="716915" h="715644">
                  <a:moveTo>
                    <a:pt x="390889" y="714535"/>
                  </a:moveTo>
                  <a:lnTo>
                    <a:pt x="390889" y="714535"/>
                  </a:lnTo>
                  <a:lnTo>
                    <a:pt x="378558" y="715484"/>
                  </a:lnTo>
                </a:path>
                <a:path w="716915" h="715644">
                  <a:moveTo>
                    <a:pt x="314985" y="714535"/>
                  </a:moveTo>
                  <a:lnTo>
                    <a:pt x="313090" y="714535"/>
                  </a:lnTo>
                  <a:lnTo>
                    <a:pt x="302655" y="712637"/>
                  </a:lnTo>
                </a:path>
                <a:path w="716915" h="715644">
                  <a:moveTo>
                    <a:pt x="241937" y="697454"/>
                  </a:moveTo>
                  <a:lnTo>
                    <a:pt x="241937" y="697454"/>
                  </a:lnTo>
                  <a:lnTo>
                    <a:pt x="229606" y="692710"/>
                  </a:lnTo>
                </a:path>
                <a:path w="716915" h="715644">
                  <a:moveTo>
                    <a:pt x="173626" y="665192"/>
                  </a:moveTo>
                  <a:lnTo>
                    <a:pt x="173626" y="665192"/>
                  </a:lnTo>
                  <a:lnTo>
                    <a:pt x="162243" y="658549"/>
                  </a:lnTo>
                </a:path>
                <a:path w="716915" h="715644">
                  <a:moveTo>
                    <a:pt x="112903" y="619644"/>
                  </a:moveTo>
                  <a:lnTo>
                    <a:pt x="112903" y="619644"/>
                  </a:lnTo>
                  <a:lnTo>
                    <a:pt x="104364" y="610154"/>
                  </a:lnTo>
                </a:path>
                <a:path w="716915" h="715644">
                  <a:moveTo>
                    <a:pt x="63567" y="562704"/>
                  </a:moveTo>
                  <a:lnTo>
                    <a:pt x="63567" y="562704"/>
                  </a:lnTo>
                  <a:lnTo>
                    <a:pt x="56925" y="551319"/>
                  </a:lnTo>
                </a:path>
                <a:path w="716915" h="715644">
                  <a:moveTo>
                    <a:pt x="27514" y="496291"/>
                  </a:moveTo>
                  <a:lnTo>
                    <a:pt x="23718" y="487749"/>
                  </a:lnTo>
                  <a:lnTo>
                    <a:pt x="22770" y="483945"/>
                  </a:lnTo>
                </a:path>
                <a:path w="716915" h="715644">
                  <a:moveTo>
                    <a:pt x="5693" y="423218"/>
                  </a:moveTo>
                  <a:lnTo>
                    <a:pt x="5693" y="423218"/>
                  </a:lnTo>
                  <a:lnTo>
                    <a:pt x="3795" y="410886"/>
                  </a:lnTo>
                </a:path>
                <a:path w="716915" h="715644">
                  <a:moveTo>
                    <a:pt x="0" y="348251"/>
                  </a:moveTo>
                  <a:lnTo>
                    <a:pt x="0" y="348251"/>
                  </a:lnTo>
                  <a:lnTo>
                    <a:pt x="948" y="335919"/>
                  </a:lnTo>
                </a:path>
                <a:path w="716915" h="715644">
                  <a:moveTo>
                    <a:pt x="9488" y="273296"/>
                  </a:moveTo>
                  <a:lnTo>
                    <a:pt x="10437" y="270440"/>
                  </a:lnTo>
                  <a:lnTo>
                    <a:pt x="13282" y="260951"/>
                  </a:lnTo>
                </a:path>
                <a:path w="716915" h="715644">
                  <a:moveTo>
                    <a:pt x="36053" y="202119"/>
                  </a:moveTo>
                  <a:lnTo>
                    <a:pt x="36053" y="202119"/>
                  </a:lnTo>
                  <a:lnTo>
                    <a:pt x="40797" y="190735"/>
                  </a:lnTo>
                </a:path>
                <a:path w="716915" h="715644">
                  <a:moveTo>
                    <a:pt x="75901" y="138549"/>
                  </a:moveTo>
                  <a:lnTo>
                    <a:pt x="75901" y="138549"/>
                  </a:lnTo>
                  <a:lnTo>
                    <a:pt x="83491" y="128112"/>
                  </a:lnTo>
                </a:path>
                <a:path w="716915" h="715644">
                  <a:moveTo>
                    <a:pt x="128081" y="83508"/>
                  </a:moveTo>
                  <a:lnTo>
                    <a:pt x="128081" y="83508"/>
                  </a:lnTo>
                  <a:lnTo>
                    <a:pt x="138517" y="75914"/>
                  </a:lnTo>
                </a:path>
                <a:path w="716915" h="715644">
                  <a:moveTo>
                    <a:pt x="190707" y="40813"/>
                  </a:moveTo>
                  <a:lnTo>
                    <a:pt x="190707" y="40813"/>
                  </a:lnTo>
                  <a:lnTo>
                    <a:pt x="202090" y="36062"/>
                  </a:lnTo>
                </a:path>
                <a:path w="716915" h="715644">
                  <a:moveTo>
                    <a:pt x="260913" y="13292"/>
                  </a:moveTo>
                  <a:lnTo>
                    <a:pt x="269453" y="10449"/>
                  </a:lnTo>
                  <a:lnTo>
                    <a:pt x="273243" y="10449"/>
                  </a:lnTo>
                </a:path>
                <a:path w="716915" h="715644">
                  <a:moveTo>
                    <a:pt x="335869" y="960"/>
                  </a:moveTo>
                  <a:lnTo>
                    <a:pt x="335869" y="960"/>
                  </a:lnTo>
                  <a:lnTo>
                    <a:pt x="348199" y="0"/>
                  </a:lnTo>
                </a:path>
                <a:path w="716915" h="715644">
                  <a:moveTo>
                    <a:pt x="410812" y="3803"/>
                  </a:moveTo>
                  <a:lnTo>
                    <a:pt x="410812" y="3803"/>
                  </a:lnTo>
                  <a:lnTo>
                    <a:pt x="423156" y="6646"/>
                  </a:lnTo>
                </a:path>
                <a:path w="716915" h="715644">
                  <a:moveTo>
                    <a:pt x="483874" y="22782"/>
                  </a:moveTo>
                  <a:lnTo>
                    <a:pt x="487664" y="23729"/>
                  </a:lnTo>
                  <a:lnTo>
                    <a:pt x="496204" y="27520"/>
                  </a:lnTo>
                </a:path>
                <a:path w="716915" h="715644">
                  <a:moveTo>
                    <a:pt x="551237" y="56936"/>
                  </a:moveTo>
                  <a:lnTo>
                    <a:pt x="551237" y="56936"/>
                  </a:lnTo>
                  <a:lnTo>
                    <a:pt x="562620" y="63582"/>
                  </a:lnTo>
                </a:path>
                <a:path w="716915" h="715644">
                  <a:moveTo>
                    <a:pt x="610060" y="104383"/>
                  </a:moveTo>
                  <a:lnTo>
                    <a:pt x="610060" y="104383"/>
                  </a:lnTo>
                  <a:lnTo>
                    <a:pt x="619548" y="112925"/>
                  </a:lnTo>
                </a:path>
                <a:path w="716915" h="715644">
                  <a:moveTo>
                    <a:pt x="658447" y="163215"/>
                  </a:moveTo>
                  <a:lnTo>
                    <a:pt x="658447" y="163215"/>
                  </a:lnTo>
                  <a:lnTo>
                    <a:pt x="665093" y="173652"/>
                  </a:lnTo>
                </a:path>
                <a:path w="716915" h="715644">
                  <a:moveTo>
                    <a:pt x="692596" y="229641"/>
                  </a:moveTo>
                  <a:lnTo>
                    <a:pt x="692596" y="229641"/>
                  </a:lnTo>
                  <a:lnTo>
                    <a:pt x="696399" y="241973"/>
                  </a:lnTo>
                </a:path>
                <a:path w="716915" h="715644">
                  <a:moveTo>
                    <a:pt x="711572" y="303660"/>
                  </a:moveTo>
                  <a:lnTo>
                    <a:pt x="713480" y="313150"/>
                  </a:lnTo>
                  <a:lnTo>
                    <a:pt x="714428" y="315993"/>
                  </a:lnTo>
                </a:path>
              </a:pathLst>
            </a:custGeom>
            <a:ln w="18028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7631" y="4943881"/>
              <a:ext cx="4282440" cy="61109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74748" y="4922507"/>
              <a:ext cx="3157728" cy="65228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192557" y="138520"/>
            <a:ext cx="6871688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FFFFFF"/>
                </a:solidFill>
                <a:latin typeface="Calibri"/>
                <a:cs typeface="Calibri"/>
              </a:rPr>
              <a:t>Результати – Функціональна активність (</a:t>
            </a:r>
            <a:r>
              <a:rPr sz="3000" b="1" spc="-10" dirty="0">
                <a:solidFill>
                  <a:srgbClr val="FFFFFF"/>
                </a:solidFill>
                <a:latin typeface="Calibri"/>
                <a:cs typeface="Calibri"/>
              </a:rPr>
              <a:t>біль </a:t>
            </a:r>
            <a:r>
              <a:rPr sz="3000" b="1" dirty="0">
                <a:solidFill>
                  <a:srgbClr val="FFFFFF"/>
                </a:solidFill>
                <a:latin typeface="Calibri"/>
                <a:cs typeface="Calibri"/>
              </a:rPr>
              <a:t>за шкалою WOMAC</a:t>
            </a:r>
            <a:r>
              <a:rPr sz="3000" b="1" spc="-1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6633" y="5988215"/>
            <a:ext cx="11595367" cy="586058"/>
          </a:xfrm>
          <a:prstGeom prst="rect">
            <a:avLst/>
          </a:prstGeom>
          <a:solidFill>
            <a:srgbClr val="2E2E81"/>
          </a:solidFill>
        </p:spPr>
        <p:txBody>
          <a:bodyPr vert="horz" wrap="square" lIns="0" tIns="3175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25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KioMedine значно зменшив показник болю за шкалою WOMAC протягом 12 місяців у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пацієнтів з рефрактерним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ОА</a:t>
            </a:r>
            <a:endParaRPr sz="1800" dirty="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Знеболення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зберігалося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від 2 тижнів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до щонайменше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 12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місяців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53794" y="4970945"/>
            <a:ext cx="4180840" cy="50800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36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Середнє зниження на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 73,5%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через 12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місяців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(n=32)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64245" y="1258951"/>
            <a:ext cx="2263775" cy="516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WOMAC Біль у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часі</a:t>
            </a:r>
            <a:endParaRPr sz="18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2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Популяція ITT (бокс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-діаграма)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080504" y="4922532"/>
            <a:ext cx="4282440" cy="632460"/>
            <a:chOff x="7080504" y="4922532"/>
            <a:chExt cx="4282440" cy="63246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80504" y="4943881"/>
              <a:ext cx="4282440" cy="6110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87996" y="4922532"/>
              <a:ext cx="3273552" cy="58215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106539" y="4970945"/>
            <a:ext cx="4180840" cy="50800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365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65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81,7%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середнє зниження через 12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місяців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897760" y="1887092"/>
            <a:ext cx="9396095" cy="2819400"/>
            <a:chOff x="1897760" y="1887092"/>
            <a:chExt cx="9396095" cy="2819400"/>
          </a:xfrm>
        </p:grpSpPr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7760" y="2160015"/>
              <a:ext cx="3568319" cy="227342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113270" y="1887092"/>
              <a:ext cx="4180840" cy="2819400"/>
            </a:xfrm>
            <a:custGeom>
              <a:avLst/>
              <a:gdLst/>
              <a:ahLst/>
              <a:cxnLst/>
              <a:rect l="l" t="t" r="r" b="b"/>
              <a:pathLst>
                <a:path w="4180840" h="2819400">
                  <a:moveTo>
                    <a:pt x="4180331" y="0"/>
                  </a:moveTo>
                  <a:lnTo>
                    <a:pt x="0" y="0"/>
                  </a:lnTo>
                  <a:lnTo>
                    <a:pt x="0" y="2819399"/>
                  </a:lnTo>
                  <a:lnTo>
                    <a:pt x="4180331" y="2819399"/>
                  </a:lnTo>
                  <a:lnTo>
                    <a:pt x="41803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53070" y="2255646"/>
              <a:ext cx="3287395" cy="2082291"/>
            </a:xfrm>
            <a:prstGeom prst="rect">
              <a:avLst/>
            </a:prstGeom>
          </p:spPr>
        </p:pic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11498071" y="-15494"/>
            <a:ext cx="4121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50" dirty="0">
                <a:solidFill>
                  <a:srgbClr val="FFFFFF"/>
                </a:solidFill>
              </a:rPr>
              <a:t>4</a:t>
            </a:r>
            <a:endParaRPr sz="6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7654" y="-175839"/>
            <a:ext cx="10515600" cy="1325563"/>
          </a:xfrm>
          <a:prstGeom prst="rect">
            <a:avLst/>
          </a:prstGeom>
        </p:spPr>
        <p:txBody>
          <a:bodyPr vert="horz" wrap="square" lIns="0" tIns="90046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</a:rPr>
              <a:t>Клінічно важливі </a:t>
            </a:r>
            <a:r>
              <a:rPr sz="3000" spc="-10" dirty="0">
                <a:solidFill>
                  <a:srgbClr val="FFFFFF"/>
                </a:solidFill>
              </a:rPr>
              <a:t>відмінності </a:t>
            </a:r>
            <a:r>
              <a:rPr sz="3000" dirty="0">
                <a:solidFill>
                  <a:srgbClr val="FFFFFF"/>
                </a:solidFill>
              </a:rPr>
              <a:t>- Загальна </a:t>
            </a:r>
            <a:r>
              <a:rPr sz="3000" spc="-10" dirty="0">
                <a:solidFill>
                  <a:srgbClr val="FFFFFF"/>
                </a:solidFill>
              </a:rPr>
              <a:t>популяція</a:t>
            </a:r>
            <a:endParaRPr sz="3000" dirty="0"/>
          </a:p>
        </p:txBody>
      </p:sp>
      <p:grpSp>
        <p:nvGrpSpPr>
          <p:cNvPr id="4" name="object 4"/>
          <p:cNvGrpSpPr/>
          <p:nvPr/>
        </p:nvGrpSpPr>
        <p:grpSpPr>
          <a:xfrm>
            <a:off x="228613" y="107694"/>
            <a:ext cx="5949315" cy="6757034"/>
            <a:chOff x="228613" y="107694"/>
            <a:chExt cx="5949315" cy="6757034"/>
          </a:xfrm>
        </p:grpSpPr>
        <p:sp>
          <p:nvSpPr>
            <p:cNvPr id="5" name="object 5"/>
            <p:cNvSpPr/>
            <p:nvPr/>
          </p:nvSpPr>
          <p:spPr>
            <a:xfrm>
              <a:off x="596633" y="852551"/>
              <a:ext cx="0" cy="6005830"/>
            </a:xfrm>
            <a:custGeom>
              <a:avLst/>
              <a:gdLst/>
              <a:ahLst/>
              <a:cxnLst/>
              <a:rect l="l" t="t" r="r" b="b"/>
              <a:pathLst>
                <a:path h="6005830">
                  <a:moveTo>
                    <a:pt x="0" y="0"/>
                  </a:moveTo>
                  <a:lnTo>
                    <a:pt x="0" y="600544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7821" y="116902"/>
              <a:ext cx="716915" cy="715645"/>
            </a:xfrm>
            <a:custGeom>
              <a:avLst/>
              <a:gdLst/>
              <a:ahLst/>
              <a:cxnLst/>
              <a:rect l="l" t="t" r="r" b="b"/>
              <a:pathLst>
                <a:path w="716915" h="715644">
                  <a:moveTo>
                    <a:pt x="716323" y="358689"/>
                  </a:moveTo>
                  <a:lnTo>
                    <a:pt x="716323" y="358689"/>
                  </a:lnTo>
                  <a:lnTo>
                    <a:pt x="716323" y="371034"/>
                  </a:lnTo>
                </a:path>
                <a:path w="716915" h="715644">
                  <a:moveTo>
                    <a:pt x="707782" y="433656"/>
                  </a:moveTo>
                  <a:lnTo>
                    <a:pt x="707782" y="433656"/>
                  </a:lnTo>
                  <a:lnTo>
                    <a:pt x="705887" y="445989"/>
                  </a:lnTo>
                </a:path>
                <a:path w="716915" h="715644">
                  <a:moveTo>
                    <a:pt x="685016" y="504820"/>
                  </a:moveTo>
                  <a:lnTo>
                    <a:pt x="685016" y="504820"/>
                  </a:lnTo>
                  <a:lnTo>
                    <a:pt x="679318" y="517165"/>
                  </a:lnTo>
                </a:path>
                <a:path w="716915" h="715644">
                  <a:moveTo>
                    <a:pt x="647064" y="570298"/>
                  </a:moveTo>
                  <a:lnTo>
                    <a:pt x="647064" y="570298"/>
                  </a:lnTo>
                  <a:lnTo>
                    <a:pt x="638524" y="580735"/>
                  </a:lnTo>
                </a:path>
                <a:path w="716915" h="715644">
                  <a:moveTo>
                    <a:pt x="595822" y="626287"/>
                  </a:moveTo>
                  <a:lnTo>
                    <a:pt x="595822" y="626287"/>
                  </a:lnTo>
                  <a:lnTo>
                    <a:pt x="586334" y="634827"/>
                  </a:lnTo>
                </a:path>
                <a:path w="716915" h="715644">
                  <a:moveTo>
                    <a:pt x="534156" y="669937"/>
                  </a:moveTo>
                  <a:lnTo>
                    <a:pt x="526563" y="674681"/>
                  </a:lnTo>
                  <a:lnTo>
                    <a:pt x="522773" y="676579"/>
                  </a:lnTo>
                </a:path>
                <a:path w="716915" h="715644">
                  <a:moveTo>
                    <a:pt x="464898" y="700301"/>
                  </a:moveTo>
                  <a:lnTo>
                    <a:pt x="464898" y="700301"/>
                  </a:lnTo>
                  <a:lnTo>
                    <a:pt x="452567" y="704097"/>
                  </a:lnTo>
                </a:path>
                <a:path w="716915" h="715644">
                  <a:moveTo>
                    <a:pt x="390889" y="714535"/>
                  </a:moveTo>
                  <a:lnTo>
                    <a:pt x="390889" y="714535"/>
                  </a:lnTo>
                  <a:lnTo>
                    <a:pt x="378558" y="715484"/>
                  </a:lnTo>
                </a:path>
                <a:path w="716915" h="715644">
                  <a:moveTo>
                    <a:pt x="314985" y="714535"/>
                  </a:moveTo>
                  <a:lnTo>
                    <a:pt x="313090" y="714535"/>
                  </a:lnTo>
                  <a:lnTo>
                    <a:pt x="302655" y="712637"/>
                  </a:lnTo>
                </a:path>
                <a:path w="716915" h="715644">
                  <a:moveTo>
                    <a:pt x="241937" y="697454"/>
                  </a:moveTo>
                  <a:lnTo>
                    <a:pt x="241937" y="697454"/>
                  </a:lnTo>
                  <a:lnTo>
                    <a:pt x="229606" y="692710"/>
                  </a:lnTo>
                </a:path>
                <a:path w="716915" h="715644">
                  <a:moveTo>
                    <a:pt x="173626" y="665192"/>
                  </a:moveTo>
                  <a:lnTo>
                    <a:pt x="173626" y="665192"/>
                  </a:lnTo>
                  <a:lnTo>
                    <a:pt x="162243" y="658549"/>
                  </a:lnTo>
                </a:path>
                <a:path w="716915" h="715644">
                  <a:moveTo>
                    <a:pt x="112903" y="619644"/>
                  </a:moveTo>
                  <a:lnTo>
                    <a:pt x="112903" y="619644"/>
                  </a:lnTo>
                  <a:lnTo>
                    <a:pt x="104364" y="610154"/>
                  </a:lnTo>
                </a:path>
                <a:path w="716915" h="715644">
                  <a:moveTo>
                    <a:pt x="63567" y="562704"/>
                  </a:moveTo>
                  <a:lnTo>
                    <a:pt x="63567" y="562704"/>
                  </a:lnTo>
                  <a:lnTo>
                    <a:pt x="56925" y="551319"/>
                  </a:lnTo>
                </a:path>
                <a:path w="716915" h="715644">
                  <a:moveTo>
                    <a:pt x="27514" y="496291"/>
                  </a:moveTo>
                  <a:lnTo>
                    <a:pt x="23718" y="487749"/>
                  </a:lnTo>
                  <a:lnTo>
                    <a:pt x="22770" y="483945"/>
                  </a:lnTo>
                </a:path>
                <a:path w="716915" h="715644">
                  <a:moveTo>
                    <a:pt x="5693" y="423218"/>
                  </a:moveTo>
                  <a:lnTo>
                    <a:pt x="5693" y="423218"/>
                  </a:lnTo>
                  <a:lnTo>
                    <a:pt x="3795" y="410886"/>
                  </a:lnTo>
                </a:path>
                <a:path w="716915" h="715644">
                  <a:moveTo>
                    <a:pt x="0" y="348251"/>
                  </a:moveTo>
                  <a:lnTo>
                    <a:pt x="0" y="348251"/>
                  </a:lnTo>
                  <a:lnTo>
                    <a:pt x="948" y="335919"/>
                  </a:lnTo>
                </a:path>
                <a:path w="716915" h="715644">
                  <a:moveTo>
                    <a:pt x="9488" y="273296"/>
                  </a:moveTo>
                  <a:lnTo>
                    <a:pt x="10437" y="270440"/>
                  </a:lnTo>
                  <a:lnTo>
                    <a:pt x="13282" y="260951"/>
                  </a:lnTo>
                </a:path>
                <a:path w="716915" h="715644">
                  <a:moveTo>
                    <a:pt x="36053" y="202119"/>
                  </a:moveTo>
                  <a:lnTo>
                    <a:pt x="36053" y="202119"/>
                  </a:lnTo>
                  <a:lnTo>
                    <a:pt x="40797" y="190735"/>
                  </a:lnTo>
                </a:path>
                <a:path w="716915" h="715644">
                  <a:moveTo>
                    <a:pt x="75901" y="138549"/>
                  </a:moveTo>
                  <a:lnTo>
                    <a:pt x="75901" y="138549"/>
                  </a:lnTo>
                  <a:lnTo>
                    <a:pt x="83491" y="128112"/>
                  </a:lnTo>
                </a:path>
                <a:path w="716915" h="715644">
                  <a:moveTo>
                    <a:pt x="128081" y="83508"/>
                  </a:moveTo>
                  <a:lnTo>
                    <a:pt x="128081" y="83508"/>
                  </a:lnTo>
                  <a:lnTo>
                    <a:pt x="138517" y="75914"/>
                  </a:lnTo>
                </a:path>
                <a:path w="716915" h="715644">
                  <a:moveTo>
                    <a:pt x="190707" y="40813"/>
                  </a:moveTo>
                  <a:lnTo>
                    <a:pt x="190707" y="40813"/>
                  </a:lnTo>
                  <a:lnTo>
                    <a:pt x="202090" y="36062"/>
                  </a:lnTo>
                </a:path>
                <a:path w="716915" h="715644">
                  <a:moveTo>
                    <a:pt x="260913" y="13292"/>
                  </a:moveTo>
                  <a:lnTo>
                    <a:pt x="269453" y="10449"/>
                  </a:lnTo>
                  <a:lnTo>
                    <a:pt x="273243" y="10449"/>
                  </a:lnTo>
                </a:path>
                <a:path w="716915" h="715644">
                  <a:moveTo>
                    <a:pt x="335869" y="960"/>
                  </a:moveTo>
                  <a:lnTo>
                    <a:pt x="335869" y="960"/>
                  </a:lnTo>
                  <a:lnTo>
                    <a:pt x="348199" y="0"/>
                  </a:lnTo>
                </a:path>
                <a:path w="716915" h="715644">
                  <a:moveTo>
                    <a:pt x="410812" y="3803"/>
                  </a:moveTo>
                  <a:lnTo>
                    <a:pt x="410812" y="3803"/>
                  </a:lnTo>
                  <a:lnTo>
                    <a:pt x="423156" y="6646"/>
                  </a:lnTo>
                </a:path>
                <a:path w="716915" h="715644">
                  <a:moveTo>
                    <a:pt x="483874" y="22782"/>
                  </a:moveTo>
                  <a:lnTo>
                    <a:pt x="487664" y="23729"/>
                  </a:lnTo>
                  <a:lnTo>
                    <a:pt x="496204" y="27520"/>
                  </a:lnTo>
                </a:path>
                <a:path w="716915" h="715644">
                  <a:moveTo>
                    <a:pt x="551237" y="56936"/>
                  </a:moveTo>
                  <a:lnTo>
                    <a:pt x="551237" y="56936"/>
                  </a:lnTo>
                  <a:lnTo>
                    <a:pt x="562620" y="63582"/>
                  </a:lnTo>
                </a:path>
                <a:path w="716915" h="715644">
                  <a:moveTo>
                    <a:pt x="610060" y="104383"/>
                  </a:moveTo>
                  <a:lnTo>
                    <a:pt x="610060" y="104383"/>
                  </a:lnTo>
                  <a:lnTo>
                    <a:pt x="619548" y="112925"/>
                  </a:lnTo>
                </a:path>
                <a:path w="716915" h="715644">
                  <a:moveTo>
                    <a:pt x="658447" y="163215"/>
                  </a:moveTo>
                  <a:lnTo>
                    <a:pt x="658447" y="163215"/>
                  </a:lnTo>
                  <a:lnTo>
                    <a:pt x="665093" y="173652"/>
                  </a:lnTo>
                </a:path>
                <a:path w="716915" h="715644">
                  <a:moveTo>
                    <a:pt x="692596" y="229641"/>
                  </a:moveTo>
                  <a:lnTo>
                    <a:pt x="692596" y="229641"/>
                  </a:lnTo>
                  <a:lnTo>
                    <a:pt x="696399" y="241973"/>
                  </a:lnTo>
                </a:path>
                <a:path w="716915" h="715644">
                  <a:moveTo>
                    <a:pt x="711572" y="303660"/>
                  </a:moveTo>
                  <a:lnTo>
                    <a:pt x="713480" y="313150"/>
                  </a:lnTo>
                  <a:lnTo>
                    <a:pt x="714428" y="315993"/>
                  </a:lnTo>
                </a:path>
              </a:pathLst>
            </a:custGeom>
            <a:ln w="18028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16203" y="2442006"/>
              <a:ext cx="5061585" cy="3221355"/>
            </a:xfrm>
            <a:custGeom>
              <a:avLst/>
              <a:gdLst/>
              <a:ahLst/>
              <a:cxnLst/>
              <a:rect l="l" t="t" r="r" b="b"/>
              <a:pathLst>
                <a:path w="5061585" h="3221354">
                  <a:moveTo>
                    <a:pt x="5061458" y="0"/>
                  </a:moveTo>
                  <a:lnTo>
                    <a:pt x="0" y="0"/>
                  </a:lnTo>
                  <a:lnTo>
                    <a:pt x="0" y="3220974"/>
                  </a:lnTo>
                  <a:lnTo>
                    <a:pt x="5061458" y="3220974"/>
                  </a:lnTo>
                  <a:lnTo>
                    <a:pt x="50614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2037" y="2538602"/>
              <a:ext cx="4702302" cy="298729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133918" y="1834144"/>
            <a:ext cx="3058540" cy="516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WOMAC Біль у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динаміці</a:t>
            </a:r>
            <a:endParaRPr sz="1800" dirty="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2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Середнє +- SD,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популяція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ITT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16202" y="2442006"/>
            <a:ext cx="5061585" cy="3221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750">
              <a:latin typeface="Times New Roman"/>
              <a:cs typeface="Times New Roman"/>
            </a:endParaRPr>
          </a:p>
          <a:p>
            <a:pPr marL="3731260">
              <a:lnSpc>
                <a:spcPct val="100000"/>
              </a:lnSpc>
            </a:pPr>
            <a:r>
              <a:rPr sz="750" spc="-10" dirty="0">
                <a:latin typeface="Calibri"/>
                <a:cs typeface="Calibri"/>
              </a:rPr>
              <a:t>(n=32)</a:t>
            </a:r>
            <a:endParaRPr sz="750">
              <a:latin typeface="Calibri"/>
              <a:cs typeface="Calibri"/>
            </a:endParaRPr>
          </a:p>
          <a:p>
            <a:pPr marL="3814445">
              <a:lnSpc>
                <a:spcPct val="100000"/>
              </a:lnSpc>
              <a:spcBef>
                <a:spcPts val="384"/>
              </a:spcBef>
            </a:pPr>
            <a:r>
              <a:rPr sz="750" spc="-10" dirty="0">
                <a:latin typeface="Calibri"/>
                <a:cs typeface="Calibri"/>
              </a:rPr>
              <a:t>(n=29)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113776" y="1837956"/>
            <a:ext cx="2204085" cy="582295"/>
            <a:chOff x="8113776" y="1837956"/>
            <a:chExt cx="2204085" cy="58229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13776" y="1860803"/>
              <a:ext cx="2203704" cy="4709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94548" y="1837956"/>
              <a:ext cx="2090927" cy="58215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677213" y="1886401"/>
            <a:ext cx="3076830" cy="31034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3019" rIns="0" bIns="0" rtlCol="0">
            <a:spAutoFit/>
          </a:bodyPr>
          <a:lstStyle/>
          <a:p>
            <a:pPr marL="219075">
              <a:lnSpc>
                <a:spcPct val="100000"/>
              </a:lnSpc>
              <a:spcBef>
                <a:spcPts val="259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Результати через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12 місяців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82790" y="2460497"/>
            <a:ext cx="37452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225" indent="-13652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4922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Зменшення болю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зберігалося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від 2 тижнів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до</a:t>
            </a:r>
            <a:endParaRPr sz="1800">
              <a:latin typeface="Calibri"/>
              <a:cs typeface="Calibri"/>
            </a:endParaRPr>
          </a:p>
          <a:p>
            <a:pPr marL="149225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щонайменше 12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місяців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82790" y="3237433"/>
            <a:ext cx="29578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225" indent="-13652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49225" algn="l"/>
              </a:tabLst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Не менша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ефективність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(p=0,024)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82790" y="3740911"/>
            <a:ext cx="43192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225" marR="5080" indent="-13716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49225" algn="l"/>
              </a:tabLst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Перевага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на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 11,8% на користь KioMedine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у порівнянні з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лікуванням у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цього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важко піддається лікуванню пацієнта з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ураженням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ПФ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82790" y="4792726"/>
            <a:ext cx="37858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225" marR="5080" indent="-13716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49225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Різниця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була підтверджена в популяції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PP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(13,6%) та в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різних фенотипах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498071" y="-15494"/>
            <a:ext cx="4121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6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3130" y="-143448"/>
            <a:ext cx="10515600" cy="1325563"/>
          </a:xfrm>
          <a:prstGeom prst="rect">
            <a:avLst/>
          </a:prstGeom>
        </p:spPr>
        <p:txBody>
          <a:bodyPr vert="horz" wrap="square" lIns="0" tIns="90046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</a:rPr>
              <a:t>Клінічно важливі </a:t>
            </a:r>
            <a:r>
              <a:rPr sz="3000" spc="-10" dirty="0">
                <a:solidFill>
                  <a:srgbClr val="FFFFFF"/>
                </a:solidFill>
              </a:rPr>
              <a:t>відмінності </a:t>
            </a:r>
            <a:r>
              <a:rPr sz="3000" dirty="0">
                <a:solidFill>
                  <a:srgbClr val="FFFFFF"/>
                </a:solidFill>
              </a:rPr>
              <a:t>у всіх </a:t>
            </a:r>
            <a:r>
              <a:rPr sz="3000" spc="-10" dirty="0">
                <a:solidFill>
                  <a:srgbClr val="FFFFFF"/>
                </a:solidFill>
              </a:rPr>
              <a:t>фенотипах </a:t>
            </a:r>
            <a:r>
              <a:rPr sz="3000" dirty="0">
                <a:solidFill>
                  <a:srgbClr val="FFFFFF"/>
                </a:solidFill>
              </a:rPr>
              <a:t>пацієнтів з ОА</a:t>
            </a:r>
            <a:endParaRPr sz="3000" dirty="0"/>
          </a:p>
        </p:txBody>
      </p:sp>
      <p:grpSp>
        <p:nvGrpSpPr>
          <p:cNvPr id="4" name="object 4"/>
          <p:cNvGrpSpPr/>
          <p:nvPr/>
        </p:nvGrpSpPr>
        <p:grpSpPr>
          <a:xfrm>
            <a:off x="228613" y="107694"/>
            <a:ext cx="11575415" cy="6757034"/>
            <a:chOff x="228613" y="107694"/>
            <a:chExt cx="11575415" cy="6757034"/>
          </a:xfrm>
        </p:grpSpPr>
        <p:sp>
          <p:nvSpPr>
            <p:cNvPr id="5" name="object 5"/>
            <p:cNvSpPr/>
            <p:nvPr/>
          </p:nvSpPr>
          <p:spPr>
            <a:xfrm>
              <a:off x="596633" y="852551"/>
              <a:ext cx="0" cy="6005830"/>
            </a:xfrm>
            <a:custGeom>
              <a:avLst/>
              <a:gdLst/>
              <a:ahLst/>
              <a:cxnLst/>
              <a:rect l="l" t="t" r="r" b="b"/>
              <a:pathLst>
                <a:path h="6005830">
                  <a:moveTo>
                    <a:pt x="0" y="0"/>
                  </a:moveTo>
                  <a:lnTo>
                    <a:pt x="0" y="600544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7821" y="116902"/>
              <a:ext cx="716915" cy="715645"/>
            </a:xfrm>
            <a:custGeom>
              <a:avLst/>
              <a:gdLst/>
              <a:ahLst/>
              <a:cxnLst/>
              <a:rect l="l" t="t" r="r" b="b"/>
              <a:pathLst>
                <a:path w="716915" h="715644">
                  <a:moveTo>
                    <a:pt x="716323" y="358689"/>
                  </a:moveTo>
                  <a:lnTo>
                    <a:pt x="716323" y="358689"/>
                  </a:lnTo>
                  <a:lnTo>
                    <a:pt x="716323" y="371034"/>
                  </a:lnTo>
                </a:path>
                <a:path w="716915" h="715644">
                  <a:moveTo>
                    <a:pt x="707782" y="433656"/>
                  </a:moveTo>
                  <a:lnTo>
                    <a:pt x="707782" y="433656"/>
                  </a:lnTo>
                  <a:lnTo>
                    <a:pt x="705887" y="445989"/>
                  </a:lnTo>
                </a:path>
                <a:path w="716915" h="715644">
                  <a:moveTo>
                    <a:pt x="685016" y="504820"/>
                  </a:moveTo>
                  <a:lnTo>
                    <a:pt x="685016" y="504820"/>
                  </a:lnTo>
                  <a:lnTo>
                    <a:pt x="679318" y="517165"/>
                  </a:lnTo>
                </a:path>
                <a:path w="716915" h="715644">
                  <a:moveTo>
                    <a:pt x="647064" y="570298"/>
                  </a:moveTo>
                  <a:lnTo>
                    <a:pt x="647064" y="570298"/>
                  </a:lnTo>
                  <a:lnTo>
                    <a:pt x="638524" y="580735"/>
                  </a:lnTo>
                </a:path>
                <a:path w="716915" h="715644">
                  <a:moveTo>
                    <a:pt x="595822" y="626287"/>
                  </a:moveTo>
                  <a:lnTo>
                    <a:pt x="595822" y="626287"/>
                  </a:lnTo>
                  <a:lnTo>
                    <a:pt x="586334" y="634827"/>
                  </a:lnTo>
                </a:path>
                <a:path w="716915" h="715644">
                  <a:moveTo>
                    <a:pt x="534156" y="669937"/>
                  </a:moveTo>
                  <a:lnTo>
                    <a:pt x="526563" y="674681"/>
                  </a:lnTo>
                  <a:lnTo>
                    <a:pt x="522773" y="676579"/>
                  </a:lnTo>
                </a:path>
                <a:path w="716915" h="715644">
                  <a:moveTo>
                    <a:pt x="464898" y="700301"/>
                  </a:moveTo>
                  <a:lnTo>
                    <a:pt x="464898" y="700301"/>
                  </a:lnTo>
                  <a:lnTo>
                    <a:pt x="452567" y="704097"/>
                  </a:lnTo>
                </a:path>
                <a:path w="716915" h="715644">
                  <a:moveTo>
                    <a:pt x="390889" y="714535"/>
                  </a:moveTo>
                  <a:lnTo>
                    <a:pt x="390889" y="714535"/>
                  </a:lnTo>
                  <a:lnTo>
                    <a:pt x="378558" y="715484"/>
                  </a:lnTo>
                </a:path>
                <a:path w="716915" h="715644">
                  <a:moveTo>
                    <a:pt x="314985" y="714535"/>
                  </a:moveTo>
                  <a:lnTo>
                    <a:pt x="313090" y="714535"/>
                  </a:lnTo>
                  <a:lnTo>
                    <a:pt x="302655" y="712637"/>
                  </a:lnTo>
                </a:path>
                <a:path w="716915" h="715644">
                  <a:moveTo>
                    <a:pt x="241937" y="697454"/>
                  </a:moveTo>
                  <a:lnTo>
                    <a:pt x="241937" y="697454"/>
                  </a:lnTo>
                  <a:lnTo>
                    <a:pt x="229606" y="692710"/>
                  </a:lnTo>
                </a:path>
                <a:path w="716915" h="715644">
                  <a:moveTo>
                    <a:pt x="173626" y="665192"/>
                  </a:moveTo>
                  <a:lnTo>
                    <a:pt x="173626" y="665192"/>
                  </a:lnTo>
                  <a:lnTo>
                    <a:pt x="162243" y="658549"/>
                  </a:lnTo>
                </a:path>
                <a:path w="716915" h="715644">
                  <a:moveTo>
                    <a:pt x="112903" y="619644"/>
                  </a:moveTo>
                  <a:lnTo>
                    <a:pt x="112903" y="619644"/>
                  </a:lnTo>
                  <a:lnTo>
                    <a:pt x="104364" y="610154"/>
                  </a:lnTo>
                </a:path>
                <a:path w="716915" h="715644">
                  <a:moveTo>
                    <a:pt x="63567" y="562704"/>
                  </a:moveTo>
                  <a:lnTo>
                    <a:pt x="63567" y="562704"/>
                  </a:lnTo>
                  <a:lnTo>
                    <a:pt x="56925" y="551319"/>
                  </a:lnTo>
                </a:path>
                <a:path w="716915" h="715644">
                  <a:moveTo>
                    <a:pt x="27514" y="496291"/>
                  </a:moveTo>
                  <a:lnTo>
                    <a:pt x="23718" y="487749"/>
                  </a:lnTo>
                  <a:lnTo>
                    <a:pt x="22770" y="483945"/>
                  </a:lnTo>
                </a:path>
                <a:path w="716915" h="715644">
                  <a:moveTo>
                    <a:pt x="5693" y="423218"/>
                  </a:moveTo>
                  <a:lnTo>
                    <a:pt x="5693" y="423218"/>
                  </a:lnTo>
                  <a:lnTo>
                    <a:pt x="3795" y="410886"/>
                  </a:lnTo>
                </a:path>
                <a:path w="716915" h="715644">
                  <a:moveTo>
                    <a:pt x="0" y="348251"/>
                  </a:moveTo>
                  <a:lnTo>
                    <a:pt x="0" y="348251"/>
                  </a:lnTo>
                  <a:lnTo>
                    <a:pt x="948" y="335919"/>
                  </a:lnTo>
                </a:path>
                <a:path w="716915" h="715644">
                  <a:moveTo>
                    <a:pt x="9488" y="273296"/>
                  </a:moveTo>
                  <a:lnTo>
                    <a:pt x="10437" y="270440"/>
                  </a:lnTo>
                  <a:lnTo>
                    <a:pt x="13282" y="260951"/>
                  </a:lnTo>
                </a:path>
                <a:path w="716915" h="715644">
                  <a:moveTo>
                    <a:pt x="36053" y="202119"/>
                  </a:moveTo>
                  <a:lnTo>
                    <a:pt x="36053" y="202119"/>
                  </a:lnTo>
                  <a:lnTo>
                    <a:pt x="40797" y="190735"/>
                  </a:lnTo>
                </a:path>
                <a:path w="716915" h="715644">
                  <a:moveTo>
                    <a:pt x="75901" y="138549"/>
                  </a:moveTo>
                  <a:lnTo>
                    <a:pt x="75901" y="138549"/>
                  </a:lnTo>
                  <a:lnTo>
                    <a:pt x="83491" y="128112"/>
                  </a:lnTo>
                </a:path>
                <a:path w="716915" h="715644">
                  <a:moveTo>
                    <a:pt x="128081" y="83508"/>
                  </a:moveTo>
                  <a:lnTo>
                    <a:pt x="128081" y="83508"/>
                  </a:lnTo>
                  <a:lnTo>
                    <a:pt x="138517" y="75914"/>
                  </a:lnTo>
                </a:path>
                <a:path w="716915" h="715644">
                  <a:moveTo>
                    <a:pt x="190707" y="40813"/>
                  </a:moveTo>
                  <a:lnTo>
                    <a:pt x="190707" y="40813"/>
                  </a:lnTo>
                  <a:lnTo>
                    <a:pt x="202090" y="36062"/>
                  </a:lnTo>
                </a:path>
                <a:path w="716915" h="715644">
                  <a:moveTo>
                    <a:pt x="260913" y="13292"/>
                  </a:moveTo>
                  <a:lnTo>
                    <a:pt x="269453" y="10449"/>
                  </a:lnTo>
                  <a:lnTo>
                    <a:pt x="273243" y="10449"/>
                  </a:lnTo>
                </a:path>
                <a:path w="716915" h="715644">
                  <a:moveTo>
                    <a:pt x="335869" y="960"/>
                  </a:moveTo>
                  <a:lnTo>
                    <a:pt x="335869" y="960"/>
                  </a:lnTo>
                  <a:lnTo>
                    <a:pt x="348199" y="0"/>
                  </a:lnTo>
                </a:path>
                <a:path w="716915" h="715644">
                  <a:moveTo>
                    <a:pt x="410812" y="3803"/>
                  </a:moveTo>
                  <a:lnTo>
                    <a:pt x="410812" y="3803"/>
                  </a:lnTo>
                  <a:lnTo>
                    <a:pt x="423156" y="6646"/>
                  </a:lnTo>
                </a:path>
                <a:path w="716915" h="715644">
                  <a:moveTo>
                    <a:pt x="483874" y="22782"/>
                  </a:moveTo>
                  <a:lnTo>
                    <a:pt x="487664" y="23729"/>
                  </a:lnTo>
                  <a:lnTo>
                    <a:pt x="496204" y="27520"/>
                  </a:lnTo>
                </a:path>
                <a:path w="716915" h="715644">
                  <a:moveTo>
                    <a:pt x="551237" y="56936"/>
                  </a:moveTo>
                  <a:lnTo>
                    <a:pt x="551237" y="56936"/>
                  </a:lnTo>
                  <a:lnTo>
                    <a:pt x="562620" y="63582"/>
                  </a:lnTo>
                </a:path>
                <a:path w="716915" h="715644">
                  <a:moveTo>
                    <a:pt x="610060" y="104383"/>
                  </a:moveTo>
                  <a:lnTo>
                    <a:pt x="610060" y="104383"/>
                  </a:lnTo>
                  <a:lnTo>
                    <a:pt x="619548" y="112925"/>
                  </a:lnTo>
                </a:path>
                <a:path w="716915" h="715644">
                  <a:moveTo>
                    <a:pt x="658447" y="163215"/>
                  </a:moveTo>
                  <a:lnTo>
                    <a:pt x="658447" y="163215"/>
                  </a:lnTo>
                  <a:lnTo>
                    <a:pt x="665093" y="173652"/>
                  </a:lnTo>
                </a:path>
                <a:path w="716915" h="715644">
                  <a:moveTo>
                    <a:pt x="692596" y="229641"/>
                  </a:moveTo>
                  <a:lnTo>
                    <a:pt x="692596" y="229641"/>
                  </a:lnTo>
                  <a:lnTo>
                    <a:pt x="696399" y="241973"/>
                  </a:lnTo>
                </a:path>
                <a:path w="716915" h="715644">
                  <a:moveTo>
                    <a:pt x="711572" y="303660"/>
                  </a:moveTo>
                  <a:lnTo>
                    <a:pt x="713480" y="313150"/>
                  </a:lnTo>
                  <a:lnTo>
                    <a:pt x="714428" y="315993"/>
                  </a:lnTo>
                </a:path>
              </a:pathLst>
            </a:custGeom>
            <a:ln w="18028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41996" y="2029332"/>
              <a:ext cx="10761980" cy="2504440"/>
            </a:xfrm>
            <a:custGeom>
              <a:avLst/>
              <a:gdLst/>
              <a:ahLst/>
              <a:cxnLst/>
              <a:rect l="l" t="t" r="r" b="b"/>
              <a:pathLst>
                <a:path w="10761980" h="2504440">
                  <a:moveTo>
                    <a:pt x="2544826" y="0"/>
                  </a:moveTo>
                  <a:lnTo>
                    <a:pt x="0" y="0"/>
                  </a:lnTo>
                  <a:lnTo>
                    <a:pt x="0" y="2504059"/>
                  </a:lnTo>
                  <a:lnTo>
                    <a:pt x="2544826" y="2504059"/>
                  </a:lnTo>
                  <a:lnTo>
                    <a:pt x="2544826" y="0"/>
                  </a:lnTo>
                  <a:close/>
                </a:path>
                <a:path w="10761980" h="2504440">
                  <a:moveTo>
                    <a:pt x="5281587" y="0"/>
                  </a:moveTo>
                  <a:lnTo>
                    <a:pt x="2736761" y="0"/>
                  </a:lnTo>
                  <a:lnTo>
                    <a:pt x="2736761" y="2504059"/>
                  </a:lnTo>
                  <a:lnTo>
                    <a:pt x="5281587" y="2504059"/>
                  </a:lnTo>
                  <a:lnTo>
                    <a:pt x="5281587" y="0"/>
                  </a:lnTo>
                  <a:close/>
                </a:path>
                <a:path w="10761980" h="2504440">
                  <a:moveTo>
                    <a:pt x="8024787" y="0"/>
                  </a:moveTo>
                  <a:lnTo>
                    <a:pt x="5479948" y="0"/>
                  </a:lnTo>
                  <a:lnTo>
                    <a:pt x="5479948" y="2504059"/>
                  </a:lnTo>
                  <a:lnTo>
                    <a:pt x="8024787" y="2504059"/>
                  </a:lnTo>
                  <a:lnTo>
                    <a:pt x="8024787" y="0"/>
                  </a:lnTo>
                  <a:close/>
                </a:path>
                <a:path w="10761980" h="2504440">
                  <a:moveTo>
                    <a:pt x="10761510" y="0"/>
                  </a:moveTo>
                  <a:lnTo>
                    <a:pt x="8216684" y="0"/>
                  </a:lnTo>
                  <a:lnTo>
                    <a:pt x="8216684" y="2504059"/>
                  </a:lnTo>
                  <a:lnTo>
                    <a:pt x="10761510" y="2504059"/>
                  </a:lnTo>
                  <a:lnTo>
                    <a:pt x="107615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5315" y="4837214"/>
              <a:ext cx="1906524" cy="40991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81912" y="4831041"/>
              <a:ext cx="1557527" cy="47552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80719" y="5605957"/>
            <a:ext cx="11229463" cy="766235"/>
          </a:xfrm>
          <a:prstGeom prst="rect">
            <a:avLst/>
          </a:prstGeom>
          <a:solidFill>
            <a:srgbClr val="2E2E81"/>
          </a:solidFill>
        </p:spPr>
        <p:txBody>
          <a:bodyPr vert="horz" wrap="square" lIns="0" tIns="27305" rIns="0" bIns="0" rtlCol="0">
            <a:spAutoFit/>
          </a:bodyPr>
          <a:lstStyle/>
          <a:p>
            <a:pPr marL="182563" marR="190500" indent="17463">
              <a:lnSpc>
                <a:spcPct val="100000"/>
              </a:lnSpc>
              <a:spcBef>
                <a:spcPts val="215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Клінічно важливі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відмінності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з тенденцією до </a:t>
            </a:r>
            <a:r>
              <a:rPr sz="2400" b="1" spc="-10" dirty="0" err="1">
                <a:solidFill>
                  <a:srgbClr val="FFFFFF"/>
                </a:solidFill>
                <a:latin typeface="Calibri"/>
                <a:cs typeface="Calibri"/>
              </a:rPr>
              <a:t>переваги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uk-UA" sz="2400" b="1" spc="-10" dirty="0">
                <a:solidFill>
                  <a:srgbClr val="FFFFFF"/>
                </a:solidFill>
                <a:latin typeface="Calibri"/>
                <a:cs typeface="Calibri"/>
              </a:rPr>
              <a:t>К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M-</a:t>
            </a:r>
            <a:r>
              <a:rPr sz="2400" b="1" dirty="0" err="1">
                <a:solidFill>
                  <a:srgbClr val="FFFFFF"/>
                </a:solidFill>
                <a:latin typeface="Calibri"/>
                <a:cs typeface="Calibri"/>
              </a:rPr>
              <a:t>хітозану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у </a:t>
            </a:r>
            <a:r>
              <a:rPr sz="2400" b="1" spc="-25" dirty="0" err="1">
                <a:solidFill>
                  <a:srgbClr val="FFFFFF"/>
                </a:solidFill>
                <a:latin typeface="Calibri"/>
                <a:cs typeface="Calibri"/>
              </a:rPr>
              <a:t>пацієнтів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 з</a:t>
            </a:r>
            <a:r>
              <a:rPr lang="uk-UA" sz="2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 err="1">
                <a:solidFill>
                  <a:srgbClr val="FFFFFF"/>
                </a:solidFill>
                <a:latin typeface="Calibri"/>
                <a:cs typeface="Calibri"/>
              </a:rPr>
              <a:t>пателло-феморальним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, трикомпартаментним,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ожирінням та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кандидатів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на ТКР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3055" y="6501790"/>
            <a:ext cx="20713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Середнє відсоткове зниження,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популяція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ITT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60094" y="1379346"/>
            <a:ext cx="214630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0480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Загальна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популяція/</a:t>
            </a:r>
            <a:endParaRPr sz="14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Ураження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пателло-феморального суглоба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48879" y="1488855"/>
            <a:ext cx="21463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 err="1">
                <a:solidFill>
                  <a:srgbClr val="FFFFFF"/>
                </a:solidFill>
                <a:latin typeface="Calibri"/>
                <a:cs typeface="Calibri"/>
              </a:rPr>
              <a:t>Трикомпартаментн</a:t>
            </a:r>
            <a:r>
              <a:rPr lang="uk-UA" sz="1400" b="1" spc="-10" dirty="0" err="1">
                <a:solidFill>
                  <a:srgbClr val="FFFFFF"/>
                </a:solidFill>
                <a:latin typeface="Calibri"/>
                <a:cs typeface="Calibri"/>
              </a:rPr>
              <a:t>ий</a:t>
            </a:r>
            <a:r>
              <a:rPr lang="uk-UA" sz="1400" b="1" spc="-10" dirty="0">
                <a:solidFill>
                  <a:srgbClr val="FFFFFF"/>
                </a:solidFill>
                <a:latin typeface="Calibri"/>
                <a:cs typeface="Calibri"/>
              </a:rPr>
              <a:t> ОА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72070" y="1379346"/>
            <a:ext cx="124777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76555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Ожиріння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(ІМТ &gt; 30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кг/м²)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822306" y="1379346"/>
            <a:ext cx="1686941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0985" marR="5080" indent="-24892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Кандидати </a:t>
            </a:r>
            <a:r>
              <a:rPr sz="1400" b="1" dirty="0" err="1">
                <a:solidFill>
                  <a:srgbClr val="FFFFFF"/>
                </a:solidFill>
                <a:latin typeface="Calibri"/>
                <a:cs typeface="Calibri"/>
              </a:rPr>
              <a:t>на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Т</a:t>
            </a:r>
            <a:r>
              <a:rPr lang="uk-UA" sz="1400" b="1" spc="-25" dirty="0">
                <a:solidFill>
                  <a:srgbClr val="FFFFFF"/>
                </a:solidFill>
                <a:latin typeface="Calibri"/>
                <a:cs typeface="Calibri"/>
              </a:rPr>
              <a:t>ЕП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К</a:t>
            </a:r>
            <a:r>
              <a:rPr lang="uk-UA" sz="1400" b="1" spc="-25" dirty="0">
                <a:solidFill>
                  <a:srgbClr val="FFFFFF"/>
                </a:solidFill>
                <a:latin typeface="Calibri"/>
                <a:cs typeface="Calibri"/>
              </a:rPr>
              <a:t>С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при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скринінгу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12238" y="4863668"/>
            <a:ext cx="1994155" cy="251992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6195" rIns="0" bIns="0" rtlCol="0">
            <a:spAutoFit/>
          </a:bodyPr>
          <a:lstStyle/>
          <a:p>
            <a:pPr marL="301625">
              <a:lnSpc>
                <a:spcPct val="100000"/>
              </a:lnSpc>
              <a:spcBef>
                <a:spcPts val="28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Δ -11,5%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за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12 місяців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122420" y="4831041"/>
            <a:ext cx="1906905" cy="475615"/>
            <a:chOff x="4122420" y="4831041"/>
            <a:chExt cx="1906905" cy="475615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22420" y="4837214"/>
              <a:ext cx="1906524" cy="40991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17492" y="4831041"/>
              <a:ext cx="1557527" cy="475526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148962" y="4863669"/>
            <a:ext cx="2033903" cy="251992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619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8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Δ -12,9%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за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12 місяців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865619" y="4831041"/>
            <a:ext cx="1906905" cy="475615"/>
            <a:chOff x="6865619" y="4831041"/>
            <a:chExt cx="1906905" cy="475615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65619" y="4837214"/>
              <a:ext cx="1906524" cy="40991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60691" y="4831041"/>
              <a:ext cx="1557527" cy="475526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892163" y="4863669"/>
            <a:ext cx="2048762" cy="251992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619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28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Δ -21,7%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за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12 місяців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602723" y="4831041"/>
            <a:ext cx="1906905" cy="475615"/>
            <a:chOff x="9602723" y="4831041"/>
            <a:chExt cx="1906905" cy="475615"/>
          </a:xfrm>
        </p:grpSpPr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02723" y="4837214"/>
              <a:ext cx="1906524" cy="40991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797795" y="4831041"/>
              <a:ext cx="1557527" cy="475526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9629013" y="4863669"/>
            <a:ext cx="1966354" cy="251992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6195" rIns="0" bIns="0" rtlCol="0">
            <a:spAutoFit/>
          </a:bodyPr>
          <a:lstStyle/>
          <a:p>
            <a:pPr marL="302895">
              <a:lnSpc>
                <a:spcPct val="100000"/>
              </a:lnSpc>
              <a:spcBef>
                <a:spcPts val="28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Δ -13,5%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за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12 місяців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264602" y="2136775"/>
            <a:ext cx="2315845" cy="2223135"/>
            <a:chOff x="1264602" y="2136775"/>
            <a:chExt cx="2315845" cy="2223135"/>
          </a:xfrm>
        </p:grpSpPr>
        <p:sp>
          <p:nvSpPr>
            <p:cNvPr id="30" name="object 30"/>
            <p:cNvSpPr/>
            <p:nvPr/>
          </p:nvSpPr>
          <p:spPr>
            <a:xfrm>
              <a:off x="2933064" y="3563150"/>
              <a:ext cx="230504" cy="420370"/>
            </a:xfrm>
            <a:custGeom>
              <a:avLst/>
              <a:gdLst/>
              <a:ahLst/>
              <a:cxnLst/>
              <a:rect l="l" t="t" r="r" b="b"/>
              <a:pathLst>
                <a:path w="230505" h="420370">
                  <a:moveTo>
                    <a:pt x="230022" y="0"/>
                  </a:moveTo>
                  <a:lnTo>
                    <a:pt x="0" y="0"/>
                  </a:lnTo>
                  <a:lnTo>
                    <a:pt x="0" y="420331"/>
                  </a:lnTo>
                  <a:lnTo>
                    <a:pt x="230022" y="420331"/>
                  </a:lnTo>
                  <a:lnTo>
                    <a:pt x="230022" y="0"/>
                  </a:lnTo>
                  <a:close/>
                </a:path>
              </a:pathLst>
            </a:custGeom>
            <a:solidFill>
              <a:srgbClr val="C5DFB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64602" y="2136775"/>
              <a:ext cx="2315718" cy="2223135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089990" y="2741723"/>
            <a:ext cx="277495" cy="10420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ts val="955"/>
              </a:lnSpc>
            </a:pPr>
            <a:r>
              <a:rPr sz="900" b="1" spc="-10" dirty="0">
                <a:latin typeface="Calibri"/>
                <a:cs typeface="Calibri"/>
              </a:rPr>
              <a:t>Відсоток зниження</a:t>
            </a:r>
            <a:endParaRPr sz="900">
              <a:latin typeface="Calibri"/>
              <a:cs typeface="Calibri"/>
            </a:endParaRPr>
          </a:p>
          <a:p>
            <a:pPr marL="29845" algn="ctr">
              <a:lnSpc>
                <a:spcPct val="100000"/>
              </a:lnSpc>
            </a:pPr>
            <a:r>
              <a:rPr sz="900" b="1" spc="-20" dirty="0">
                <a:latin typeface="Calibri"/>
                <a:cs typeface="Calibri"/>
              </a:rPr>
              <a:t>Біль </a:t>
            </a:r>
            <a:r>
              <a:rPr sz="900" b="1" spc="-10" dirty="0">
                <a:latin typeface="Calibri"/>
                <a:cs typeface="Calibri"/>
              </a:rPr>
              <a:t>за шкалою WOMAC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41996" y="2029332"/>
            <a:ext cx="2545080" cy="2504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900" dirty="0">
              <a:latin typeface="Times New Roman"/>
              <a:cs typeface="Times New Roman"/>
            </a:endParaRPr>
          </a:p>
          <a:p>
            <a:pPr marL="167640" algn="ctr">
              <a:lnSpc>
                <a:spcPct val="100000"/>
              </a:lnSpc>
            </a:pPr>
            <a:r>
              <a:rPr sz="900" b="1" dirty="0">
                <a:latin typeface="Calibri"/>
                <a:cs typeface="Calibri"/>
              </a:rPr>
              <a:t>Час </a:t>
            </a:r>
            <a:r>
              <a:rPr sz="900" b="1" spc="-10" dirty="0">
                <a:latin typeface="Calibri"/>
                <a:cs typeface="Calibri"/>
              </a:rPr>
              <a:t>(тижні)</a:t>
            </a:r>
            <a:endParaRPr sz="900" dirty="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920744" y="2284222"/>
            <a:ext cx="7801609" cy="2073275"/>
            <a:chOff x="3920744" y="2284222"/>
            <a:chExt cx="7801609" cy="2073275"/>
          </a:xfrm>
        </p:grpSpPr>
        <p:sp>
          <p:nvSpPr>
            <p:cNvPr id="35" name="object 35"/>
            <p:cNvSpPr/>
            <p:nvPr/>
          </p:nvSpPr>
          <p:spPr>
            <a:xfrm>
              <a:off x="5593207" y="3495840"/>
              <a:ext cx="230504" cy="420370"/>
            </a:xfrm>
            <a:custGeom>
              <a:avLst/>
              <a:gdLst/>
              <a:ahLst/>
              <a:cxnLst/>
              <a:rect l="l" t="t" r="r" b="b"/>
              <a:pathLst>
                <a:path w="230504" h="420370">
                  <a:moveTo>
                    <a:pt x="230022" y="0"/>
                  </a:moveTo>
                  <a:lnTo>
                    <a:pt x="0" y="0"/>
                  </a:lnTo>
                  <a:lnTo>
                    <a:pt x="0" y="420331"/>
                  </a:lnTo>
                  <a:lnTo>
                    <a:pt x="230022" y="420331"/>
                  </a:lnTo>
                  <a:lnTo>
                    <a:pt x="230022" y="0"/>
                  </a:lnTo>
                  <a:close/>
                </a:path>
              </a:pathLst>
            </a:custGeom>
            <a:solidFill>
              <a:srgbClr val="C5DFB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20744" y="2284222"/>
              <a:ext cx="2315718" cy="2063114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8385809" y="3484105"/>
              <a:ext cx="230504" cy="579120"/>
            </a:xfrm>
            <a:custGeom>
              <a:avLst/>
              <a:gdLst/>
              <a:ahLst/>
              <a:cxnLst/>
              <a:rect l="l" t="t" r="r" b="b"/>
              <a:pathLst>
                <a:path w="230504" h="579120">
                  <a:moveTo>
                    <a:pt x="230022" y="0"/>
                  </a:moveTo>
                  <a:lnTo>
                    <a:pt x="0" y="0"/>
                  </a:lnTo>
                  <a:lnTo>
                    <a:pt x="0" y="578878"/>
                  </a:lnTo>
                  <a:lnTo>
                    <a:pt x="230022" y="578878"/>
                  </a:lnTo>
                  <a:lnTo>
                    <a:pt x="230022" y="0"/>
                  </a:lnTo>
                  <a:close/>
                </a:path>
              </a:pathLst>
            </a:custGeom>
            <a:solidFill>
              <a:srgbClr val="C5DFB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07251" y="2284476"/>
              <a:ext cx="2315718" cy="206311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1042776" y="3575672"/>
              <a:ext cx="230504" cy="468630"/>
            </a:xfrm>
            <a:custGeom>
              <a:avLst/>
              <a:gdLst/>
              <a:ahLst/>
              <a:cxnLst/>
              <a:rect l="l" t="t" r="r" b="b"/>
              <a:pathLst>
                <a:path w="230504" h="468629">
                  <a:moveTo>
                    <a:pt x="230022" y="0"/>
                  </a:moveTo>
                  <a:lnTo>
                    <a:pt x="0" y="0"/>
                  </a:lnTo>
                  <a:lnTo>
                    <a:pt x="0" y="468261"/>
                  </a:lnTo>
                  <a:lnTo>
                    <a:pt x="230022" y="468261"/>
                  </a:lnTo>
                  <a:lnTo>
                    <a:pt x="230022" y="0"/>
                  </a:lnTo>
                  <a:close/>
                </a:path>
              </a:pathLst>
            </a:custGeom>
            <a:solidFill>
              <a:srgbClr val="C5DFB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406382" y="2294001"/>
              <a:ext cx="2315718" cy="206311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294365" y="2499144"/>
              <a:ext cx="971689" cy="435825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9258681" y="2029332"/>
            <a:ext cx="2545080" cy="2504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750">
              <a:latin typeface="Times New Roman"/>
              <a:cs typeface="Times New Roman"/>
            </a:endParaRPr>
          </a:p>
          <a:p>
            <a:pPr marR="454659" algn="r">
              <a:lnSpc>
                <a:spcPct val="100000"/>
              </a:lnSpc>
            </a:pPr>
            <a:r>
              <a:rPr sz="750" spc="-10" dirty="0">
                <a:latin typeface="Calibri"/>
                <a:cs typeface="Calibri"/>
              </a:rPr>
              <a:t>(n=32)</a:t>
            </a:r>
            <a:endParaRPr sz="750">
              <a:latin typeface="Calibri"/>
              <a:cs typeface="Calibri"/>
            </a:endParaRPr>
          </a:p>
          <a:p>
            <a:pPr marR="358775" algn="r">
              <a:lnSpc>
                <a:spcPct val="100000"/>
              </a:lnSpc>
              <a:spcBef>
                <a:spcPts val="585"/>
              </a:spcBef>
            </a:pPr>
            <a:r>
              <a:rPr sz="750" spc="-10" dirty="0">
                <a:latin typeface="Calibri"/>
                <a:cs typeface="Calibri"/>
              </a:rPr>
              <a:t>(n=29)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498071" y="-15494"/>
            <a:ext cx="4121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6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7654" y="51480"/>
            <a:ext cx="10068601" cy="1014255"/>
          </a:xfrm>
          <a:prstGeom prst="rect">
            <a:avLst/>
          </a:prstGeom>
        </p:spPr>
        <p:txBody>
          <a:bodyPr vert="horz" wrap="square" lIns="0" tIns="90046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</a:rPr>
              <a:t>Клінічно значущі </a:t>
            </a:r>
            <a:r>
              <a:rPr sz="3000" spc="-10" dirty="0">
                <a:solidFill>
                  <a:srgbClr val="FFFFFF"/>
                </a:solidFill>
              </a:rPr>
              <a:t>відмінності </a:t>
            </a:r>
            <a:r>
              <a:rPr sz="3000" dirty="0">
                <a:solidFill>
                  <a:srgbClr val="FFFFFF"/>
                </a:solidFill>
              </a:rPr>
              <a:t>навіть у </a:t>
            </a:r>
            <a:r>
              <a:rPr sz="3000" spc="-10" dirty="0">
                <a:solidFill>
                  <a:srgbClr val="FFFFFF"/>
                </a:solidFill>
              </a:rPr>
              <a:t>пацієнтів </a:t>
            </a:r>
            <a:r>
              <a:rPr sz="3000" dirty="0">
                <a:solidFill>
                  <a:srgbClr val="FFFFFF"/>
                </a:solidFill>
              </a:rPr>
              <a:t>з ОА IV ступеня </a:t>
            </a:r>
            <a:r>
              <a:rPr sz="3000" dirty="0" err="1">
                <a:solidFill>
                  <a:srgbClr val="FFFFFF"/>
                </a:solidFill>
              </a:rPr>
              <a:t>за</a:t>
            </a:r>
            <a:r>
              <a:rPr sz="3000" dirty="0">
                <a:solidFill>
                  <a:srgbClr val="FFFFFF"/>
                </a:solidFill>
              </a:rPr>
              <a:t> </a:t>
            </a:r>
            <a:r>
              <a:rPr lang="uk-UA" sz="3000" dirty="0" err="1">
                <a:solidFill>
                  <a:srgbClr val="FFFFFF"/>
                </a:solidFill>
              </a:rPr>
              <a:t>ренгенографічною</a:t>
            </a:r>
            <a:r>
              <a:rPr lang="uk-UA" sz="3000" dirty="0">
                <a:solidFill>
                  <a:srgbClr val="FFFFFF"/>
                </a:solidFill>
              </a:rPr>
              <a:t> шкалою К</a:t>
            </a:r>
            <a:r>
              <a:rPr lang="en-US" sz="3000" dirty="0">
                <a:solidFill>
                  <a:srgbClr val="FFFFFF"/>
                </a:solidFill>
              </a:rPr>
              <a:t>L (OA)</a:t>
            </a:r>
            <a:endParaRPr sz="3000" dirty="0"/>
          </a:p>
        </p:txBody>
      </p:sp>
      <p:grpSp>
        <p:nvGrpSpPr>
          <p:cNvPr id="4" name="object 4"/>
          <p:cNvGrpSpPr/>
          <p:nvPr/>
        </p:nvGrpSpPr>
        <p:grpSpPr>
          <a:xfrm>
            <a:off x="228613" y="107694"/>
            <a:ext cx="11367135" cy="6757034"/>
            <a:chOff x="228613" y="107694"/>
            <a:chExt cx="11367135" cy="6757034"/>
          </a:xfrm>
        </p:grpSpPr>
        <p:sp>
          <p:nvSpPr>
            <p:cNvPr id="5" name="object 5"/>
            <p:cNvSpPr/>
            <p:nvPr/>
          </p:nvSpPr>
          <p:spPr>
            <a:xfrm>
              <a:off x="596633" y="852551"/>
              <a:ext cx="0" cy="6005830"/>
            </a:xfrm>
            <a:custGeom>
              <a:avLst/>
              <a:gdLst/>
              <a:ahLst/>
              <a:cxnLst/>
              <a:rect l="l" t="t" r="r" b="b"/>
              <a:pathLst>
                <a:path h="6005830">
                  <a:moveTo>
                    <a:pt x="0" y="0"/>
                  </a:moveTo>
                  <a:lnTo>
                    <a:pt x="0" y="600544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7821" y="116902"/>
              <a:ext cx="716915" cy="715645"/>
            </a:xfrm>
            <a:custGeom>
              <a:avLst/>
              <a:gdLst/>
              <a:ahLst/>
              <a:cxnLst/>
              <a:rect l="l" t="t" r="r" b="b"/>
              <a:pathLst>
                <a:path w="716915" h="715644">
                  <a:moveTo>
                    <a:pt x="716323" y="358689"/>
                  </a:moveTo>
                  <a:lnTo>
                    <a:pt x="716323" y="358689"/>
                  </a:lnTo>
                  <a:lnTo>
                    <a:pt x="716323" y="371034"/>
                  </a:lnTo>
                </a:path>
                <a:path w="716915" h="715644">
                  <a:moveTo>
                    <a:pt x="707782" y="433656"/>
                  </a:moveTo>
                  <a:lnTo>
                    <a:pt x="707782" y="433656"/>
                  </a:lnTo>
                  <a:lnTo>
                    <a:pt x="705887" y="445989"/>
                  </a:lnTo>
                </a:path>
                <a:path w="716915" h="715644">
                  <a:moveTo>
                    <a:pt x="685016" y="504820"/>
                  </a:moveTo>
                  <a:lnTo>
                    <a:pt x="685016" y="504820"/>
                  </a:lnTo>
                  <a:lnTo>
                    <a:pt x="679318" y="517165"/>
                  </a:lnTo>
                </a:path>
                <a:path w="716915" h="715644">
                  <a:moveTo>
                    <a:pt x="647064" y="570298"/>
                  </a:moveTo>
                  <a:lnTo>
                    <a:pt x="647064" y="570298"/>
                  </a:lnTo>
                  <a:lnTo>
                    <a:pt x="638524" y="580735"/>
                  </a:lnTo>
                </a:path>
                <a:path w="716915" h="715644">
                  <a:moveTo>
                    <a:pt x="595822" y="626287"/>
                  </a:moveTo>
                  <a:lnTo>
                    <a:pt x="595822" y="626287"/>
                  </a:lnTo>
                  <a:lnTo>
                    <a:pt x="586334" y="634827"/>
                  </a:lnTo>
                </a:path>
                <a:path w="716915" h="715644">
                  <a:moveTo>
                    <a:pt x="534156" y="669937"/>
                  </a:moveTo>
                  <a:lnTo>
                    <a:pt x="526563" y="674681"/>
                  </a:lnTo>
                  <a:lnTo>
                    <a:pt x="522773" y="676579"/>
                  </a:lnTo>
                </a:path>
                <a:path w="716915" h="715644">
                  <a:moveTo>
                    <a:pt x="464898" y="700301"/>
                  </a:moveTo>
                  <a:lnTo>
                    <a:pt x="464898" y="700301"/>
                  </a:lnTo>
                  <a:lnTo>
                    <a:pt x="452567" y="704097"/>
                  </a:lnTo>
                </a:path>
                <a:path w="716915" h="715644">
                  <a:moveTo>
                    <a:pt x="390889" y="714535"/>
                  </a:moveTo>
                  <a:lnTo>
                    <a:pt x="390889" y="714535"/>
                  </a:lnTo>
                  <a:lnTo>
                    <a:pt x="378558" y="715484"/>
                  </a:lnTo>
                </a:path>
                <a:path w="716915" h="715644">
                  <a:moveTo>
                    <a:pt x="314985" y="714535"/>
                  </a:moveTo>
                  <a:lnTo>
                    <a:pt x="313090" y="714535"/>
                  </a:lnTo>
                  <a:lnTo>
                    <a:pt x="302655" y="712637"/>
                  </a:lnTo>
                </a:path>
                <a:path w="716915" h="715644">
                  <a:moveTo>
                    <a:pt x="241937" y="697454"/>
                  </a:moveTo>
                  <a:lnTo>
                    <a:pt x="241937" y="697454"/>
                  </a:lnTo>
                  <a:lnTo>
                    <a:pt x="229606" y="692710"/>
                  </a:lnTo>
                </a:path>
                <a:path w="716915" h="715644">
                  <a:moveTo>
                    <a:pt x="173626" y="665192"/>
                  </a:moveTo>
                  <a:lnTo>
                    <a:pt x="173626" y="665192"/>
                  </a:lnTo>
                  <a:lnTo>
                    <a:pt x="162243" y="658549"/>
                  </a:lnTo>
                </a:path>
                <a:path w="716915" h="715644">
                  <a:moveTo>
                    <a:pt x="112903" y="619644"/>
                  </a:moveTo>
                  <a:lnTo>
                    <a:pt x="112903" y="619644"/>
                  </a:lnTo>
                  <a:lnTo>
                    <a:pt x="104364" y="610154"/>
                  </a:lnTo>
                </a:path>
                <a:path w="716915" h="715644">
                  <a:moveTo>
                    <a:pt x="63567" y="562704"/>
                  </a:moveTo>
                  <a:lnTo>
                    <a:pt x="63567" y="562704"/>
                  </a:lnTo>
                  <a:lnTo>
                    <a:pt x="56925" y="551319"/>
                  </a:lnTo>
                </a:path>
                <a:path w="716915" h="715644">
                  <a:moveTo>
                    <a:pt x="27514" y="496291"/>
                  </a:moveTo>
                  <a:lnTo>
                    <a:pt x="23718" y="487749"/>
                  </a:lnTo>
                  <a:lnTo>
                    <a:pt x="22770" y="483945"/>
                  </a:lnTo>
                </a:path>
                <a:path w="716915" h="715644">
                  <a:moveTo>
                    <a:pt x="5693" y="423218"/>
                  </a:moveTo>
                  <a:lnTo>
                    <a:pt x="5693" y="423218"/>
                  </a:lnTo>
                  <a:lnTo>
                    <a:pt x="3795" y="410886"/>
                  </a:lnTo>
                </a:path>
                <a:path w="716915" h="715644">
                  <a:moveTo>
                    <a:pt x="0" y="348251"/>
                  </a:moveTo>
                  <a:lnTo>
                    <a:pt x="0" y="348251"/>
                  </a:lnTo>
                  <a:lnTo>
                    <a:pt x="948" y="335919"/>
                  </a:lnTo>
                </a:path>
                <a:path w="716915" h="715644">
                  <a:moveTo>
                    <a:pt x="9488" y="273296"/>
                  </a:moveTo>
                  <a:lnTo>
                    <a:pt x="10437" y="270440"/>
                  </a:lnTo>
                  <a:lnTo>
                    <a:pt x="13282" y="260951"/>
                  </a:lnTo>
                </a:path>
                <a:path w="716915" h="715644">
                  <a:moveTo>
                    <a:pt x="36053" y="202119"/>
                  </a:moveTo>
                  <a:lnTo>
                    <a:pt x="36053" y="202119"/>
                  </a:lnTo>
                  <a:lnTo>
                    <a:pt x="40797" y="190735"/>
                  </a:lnTo>
                </a:path>
                <a:path w="716915" h="715644">
                  <a:moveTo>
                    <a:pt x="75901" y="138549"/>
                  </a:moveTo>
                  <a:lnTo>
                    <a:pt x="75901" y="138549"/>
                  </a:lnTo>
                  <a:lnTo>
                    <a:pt x="83491" y="128112"/>
                  </a:lnTo>
                </a:path>
                <a:path w="716915" h="715644">
                  <a:moveTo>
                    <a:pt x="128081" y="83508"/>
                  </a:moveTo>
                  <a:lnTo>
                    <a:pt x="128081" y="83508"/>
                  </a:lnTo>
                  <a:lnTo>
                    <a:pt x="138517" y="75914"/>
                  </a:lnTo>
                </a:path>
                <a:path w="716915" h="715644">
                  <a:moveTo>
                    <a:pt x="190707" y="40813"/>
                  </a:moveTo>
                  <a:lnTo>
                    <a:pt x="190707" y="40813"/>
                  </a:lnTo>
                  <a:lnTo>
                    <a:pt x="202090" y="36062"/>
                  </a:lnTo>
                </a:path>
                <a:path w="716915" h="715644">
                  <a:moveTo>
                    <a:pt x="260913" y="13292"/>
                  </a:moveTo>
                  <a:lnTo>
                    <a:pt x="269453" y="10449"/>
                  </a:lnTo>
                  <a:lnTo>
                    <a:pt x="273243" y="10449"/>
                  </a:lnTo>
                </a:path>
                <a:path w="716915" h="715644">
                  <a:moveTo>
                    <a:pt x="335869" y="960"/>
                  </a:moveTo>
                  <a:lnTo>
                    <a:pt x="335869" y="960"/>
                  </a:lnTo>
                  <a:lnTo>
                    <a:pt x="348199" y="0"/>
                  </a:lnTo>
                </a:path>
                <a:path w="716915" h="715644">
                  <a:moveTo>
                    <a:pt x="410812" y="3803"/>
                  </a:moveTo>
                  <a:lnTo>
                    <a:pt x="410812" y="3803"/>
                  </a:lnTo>
                  <a:lnTo>
                    <a:pt x="423156" y="6646"/>
                  </a:lnTo>
                </a:path>
                <a:path w="716915" h="715644">
                  <a:moveTo>
                    <a:pt x="483874" y="22782"/>
                  </a:moveTo>
                  <a:lnTo>
                    <a:pt x="487664" y="23729"/>
                  </a:lnTo>
                  <a:lnTo>
                    <a:pt x="496204" y="27520"/>
                  </a:lnTo>
                </a:path>
                <a:path w="716915" h="715644">
                  <a:moveTo>
                    <a:pt x="551237" y="56936"/>
                  </a:moveTo>
                  <a:lnTo>
                    <a:pt x="551237" y="56936"/>
                  </a:lnTo>
                  <a:lnTo>
                    <a:pt x="562620" y="63582"/>
                  </a:lnTo>
                </a:path>
                <a:path w="716915" h="715644">
                  <a:moveTo>
                    <a:pt x="610060" y="104383"/>
                  </a:moveTo>
                  <a:lnTo>
                    <a:pt x="610060" y="104383"/>
                  </a:lnTo>
                  <a:lnTo>
                    <a:pt x="619548" y="112925"/>
                  </a:lnTo>
                </a:path>
                <a:path w="716915" h="715644">
                  <a:moveTo>
                    <a:pt x="658447" y="163215"/>
                  </a:moveTo>
                  <a:lnTo>
                    <a:pt x="658447" y="163215"/>
                  </a:lnTo>
                  <a:lnTo>
                    <a:pt x="665093" y="173652"/>
                  </a:lnTo>
                </a:path>
                <a:path w="716915" h="715644">
                  <a:moveTo>
                    <a:pt x="692596" y="229641"/>
                  </a:moveTo>
                  <a:lnTo>
                    <a:pt x="692596" y="229641"/>
                  </a:lnTo>
                  <a:lnTo>
                    <a:pt x="696399" y="241973"/>
                  </a:lnTo>
                </a:path>
                <a:path w="716915" h="715644">
                  <a:moveTo>
                    <a:pt x="711572" y="303660"/>
                  </a:moveTo>
                  <a:lnTo>
                    <a:pt x="713480" y="313150"/>
                  </a:lnTo>
                  <a:lnTo>
                    <a:pt x="714428" y="315993"/>
                  </a:lnTo>
                </a:path>
              </a:pathLst>
            </a:custGeom>
            <a:ln w="18028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16203" y="2065400"/>
              <a:ext cx="10479405" cy="3221355"/>
            </a:xfrm>
            <a:custGeom>
              <a:avLst/>
              <a:gdLst/>
              <a:ahLst/>
              <a:cxnLst/>
              <a:rect l="l" t="t" r="r" b="b"/>
              <a:pathLst>
                <a:path w="10479405" h="3221354">
                  <a:moveTo>
                    <a:pt x="4526153" y="0"/>
                  </a:moveTo>
                  <a:lnTo>
                    <a:pt x="0" y="0"/>
                  </a:lnTo>
                  <a:lnTo>
                    <a:pt x="0" y="3220974"/>
                  </a:lnTo>
                  <a:lnTo>
                    <a:pt x="4526153" y="3220974"/>
                  </a:lnTo>
                  <a:lnTo>
                    <a:pt x="4526153" y="0"/>
                  </a:lnTo>
                  <a:close/>
                </a:path>
                <a:path w="10479405" h="3221354">
                  <a:moveTo>
                    <a:pt x="10479151" y="0"/>
                  </a:moveTo>
                  <a:lnTo>
                    <a:pt x="5245354" y="0"/>
                  </a:lnTo>
                  <a:lnTo>
                    <a:pt x="5245354" y="3220974"/>
                  </a:lnTo>
                  <a:lnTo>
                    <a:pt x="10479151" y="3220974"/>
                  </a:lnTo>
                  <a:lnTo>
                    <a:pt x="104791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830312" y="2689098"/>
              <a:ext cx="3516629" cy="2140585"/>
            </a:xfrm>
            <a:custGeom>
              <a:avLst/>
              <a:gdLst/>
              <a:ahLst/>
              <a:cxnLst/>
              <a:rect l="l" t="t" r="r" b="b"/>
              <a:pathLst>
                <a:path w="3516629" h="2140585">
                  <a:moveTo>
                    <a:pt x="0" y="0"/>
                  </a:moveTo>
                  <a:lnTo>
                    <a:pt x="0" y="2140204"/>
                  </a:lnTo>
                </a:path>
                <a:path w="3516629" h="2140585">
                  <a:moveTo>
                    <a:pt x="391668" y="2033777"/>
                  </a:moveTo>
                  <a:lnTo>
                    <a:pt x="391668" y="2140204"/>
                  </a:lnTo>
                </a:path>
                <a:path w="3516629" h="2140585">
                  <a:moveTo>
                    <a:pt x="391668" y="1677162"/>
                  </a:moveTo>
                  <a:lnTo>
                    <a:pt x="391668" y="1890521"/>
                  </a:lnTo>
                </a:path>
                <a:path w="3516629" h="2140585">
                  <a:moveTo>
                    <a:pt x="391668" y="0"/>
                  </a:moveTo>
                  <a:lnTo>
                    <a:pt x="391668" y="1533906"/>
                  </a:lnTo>
                </a:path>
                <a:path w="3516629" h="2140585">
                  <a:moveTo>
                    <a:pt x="781812" y="2033777"/>
                  </a:moveTo>
                  <a:lnTo>
                    <a:pt x="781812" y="2140204"/>
                  </a:lnTo>
                </a:path>
                <a:path w="3516629" h="2140585">
                  <a:moveTo>
                    <a:pt x="781812" y="1677162"/>
                  </a:moveTo>
                  <a:lnTo>
                    <a:pt x="781812" y="1890521"/>
                  </a:lnTo>
                </a:path>
                <a:path w="3516629" h="2140585">
                  <a:moveTo>
                    <a:pt x="781812" y="0"/>
                  </a:moveTo>
                  <a:lnTo>
                    <a:pt x="781812" y="1533906"/>
                  </a:lnTo>
                </a:path>
                <a:path w="3516629" h="2140585">
                  <a:moveTo>
                    <a:pt x="1171956" y="2033777"/>
                  </a:moveTo>
                  <a:lnTo>
                    <a:pt x="1171956" y="2140204"/>
                  </a:lnTo>
                </a:path>
                <a:path w="3516629" h="2140585">
                  <a:moveTo>
                    <a:pt x="1171956" y="1677162"/>
                  </a:moveTo>
                  <a:lnTo>
                    <a:pt x="1171956" y="1890521"/>
                  </a:lnTo>
                </a:path>
                <a:path w="3516629" h="2140585">
                  <a:moveTo>
                    <a:pt x="1171956" y="249174"/>
                  </a:moveTo>
                  <a:lnTo>
                    <a:pt x="1171956" y="1533906"/>
                  </a:lnTo>
                </a:path>
                <a:path w="3516629" h="2140585">
                  <a:moveTo>
                    <a:pt x="1171956" y="0"/>
                  </a:moveTo>
                  <a:lnTo>
                    <a:pt x="1171956" y="107441"/>
                  </a:lnTo>
                </a:path>
                <a:path w="3516629" h="2140585">
                  <a:moveTo>
                    <a:pt x="1563624" y="2033777"/>
                  </a:moveTo>
                  <a:lnTo>
                    <a:pt x="1563624" y="2140204"/>
                  </a:lnTo>
                </a:path>
                <a:path w="3516629" h="2140585">
                  <a:moveTo>
                    <a:pt x="1563624" y="1677162"/>
                  </a:moveTo>
                  <a:lnTo>
                    <a:pt x="1563624" y="1890521"/>
                  </a:lnTo>
                </a:path>
                <a:path w="3516629" h="2140585">
                  <a:moveTo>
                    <a:pt x="1563624" y="1319021"/>
                  </a:moveTo>
                  <a:lnTo>
                    <a:pt x="1563624" y="1533906"/>
                  </a:lnTo>
                </a:path>
                <a:path w="3516629" h="2140585">
                  <a:moveTo>
                    <a:pt x="1563624" y="249174"/>
                  </a:moveTo>
                  <a:lnTo>
                    <a:pt x="1563624" y="1177289"/>
                  </a:lnTo>
                </a:path>
                <a:path w="3516629" h="2140585">
                  <a:moveTo>
                    <a:pt x="1563624" y="0"/>
                  </a:moveTo>
                  <a:lnTo>
                    <a:pt x="1563624" y="107441"/>
                  </a:lnTo>
                </a:path>
                <a:path w="3516629" h="2140585">
                  <a:moveTo>
                    <a:pt x="1953768" y="2033777"/>
                  </a:moveTo>
                  <a:lnTo>
                    <a:pt x="1953768" y="2140204"/>
                  </a:lnTo>
                </a:path>
                <a:path w="3516629" h="2140585">
                  <a:moveTo>
                    <a:pt x="1953768" y="1677162"/>
                  </a:moveTo>
                  <a:lnTo>
                    <a:pt x="1953768" y="1890521"/>
                  </a:lnTo>
                </a:path>
                <a:path w="3516629" h="2140585">
                  <a:moveTo>
                    <a:pt x="1953768" y="1319021"/>
                  </a:moveTo>
                  <a:lnTo>
                    <a:pt x="1953768" y="1533906"/>
                  </a:lnTo>
                </a:path>
                <a:path w="3516629" h="2140585">
                  <a:moveTo>
                    <a:pt x="1953768" y="962406"/>
                  </a:moveTo>
                  <a:lnTo>
                    <a:pt x="1953768" y="1177289"/>
                  </a:lnTo>
                </a:path>
                <a:path w="3516629" h="2140585">
                  <a:moveTo>
                    <a:pt x="1953768" y="605789"/>
                  </a:moveTo>
                  <a:lnTo>
                    <a:pt x="1953768" y="820674"/>
                  </a:lnTo>
                </a:path>
                <a:path w="3516629" h="2140585">
                  <a:moveTo>
                    <a:pt x="1953768" y="249174"/>
                  </a:moveTo>
                  <a:lnTo>
                    <a:pt x="1953768" y="464057"/>
                  </a:lnTo>
                </a:path>
                <a:path w="3516629" h="2140585">
                  <a:moveTo>
                    <a:pt x="1953768" y="0"/>
                  </a:moveTo>
                  <a:lnTo>
                    <a:pt x="1953768" y="107441"/>
                  </a:lnTo>
                </a:path>
                <a:path w="3516629" h="2140585">
                  <a:moveTo>
                    <a:pt x="2343912" y="2033777"/>
                  </a:moveTo>
                  <a:lnTo>
                    <a:pt x="2343912" y="2140204"/>
                  </a:lnTo>
                </a:path>
                <a:path w="3516629" h="2140585">
                  <a:moveTo>
                    <a:pt x="2343912" y="1677162"/>
                  </a:moveTo>
                  <a:lnTo>
                    <a:pt x="2343912" y="1890521"/>
                  </a:lnTo>
                </a:path>
                <a:path w="3516629" h="2140585">
                  <a:moveTo>
                    <a:pt x="2343912" y="1319021"/>
                  </a:moveTo>
                  <a:lnTo>
                    <a:pt x="2343912" y="1533906"/>
                  </a:lnTo>
                </a:path>
                <a:path w="3516629" h="2140585">
                  <a:moveTo>
                    <a:pt x="2343912" y="962406"/>
                  </a:moveTo>
                  <a:lnTo>
                    <a:pt x="2343912" y="1177289"/>
                  </a:lnTo>
                </a:path>
                <a:path w="3516629" h="2140585">
                  <a:moveTo>
                    <a:pt x="2343912" y="605789"/>
                  </a:moveTo>
                  <a:lnTo>
                    <a:pt x="2343912" y="820674"/>
                  </a:lnTo>
                </a:path>
                <a:path w="3516629" h="2140585">
                  <a:moveTo>
                    <a:pt x="2343912" y="249174"/>
                  </a:moveTo>
                  <a:lnTo>
                    <a:pt x="2343912" y="464057"/>
                  </a:lnTo>
                </a:path>
                <a:path w="3516629" h="2140585">
                  <a:moveTo>
                    <a:pt x="2343912" y="0"/>
                  </a:moveTo>
                  <a:lnTo>
                    <a:pt x="2343912" y="107441"/>
                  </a:lnTo>
                </a:path>
                <a:path w="3516629" h="2140585">
                  <a:moveTo>
                    <a:pt x="2735580" y="2033777"/>
                  </a:moveTo>
                  <a:lnTo>
                    <a:pt x="2735580" y="2140204"/>
                  </a:lnTo>
                </a:path>
                <a:path w="3516629" h="2140585">
                  <a:moveTo>
                    <a:pt x="2735580" y="1677162"/>
                  </a:moveTo>
                  <a:lnTo>
                    <a:pt x="2735580" y="1890521"/>
                  </a:lnTo>
                </a:path>
                <a:path w="3516629" h="2140585">
                  <a:moveTo>
                    <a:pt x="2735580" y="1319021"/>
                  </a:moveTo>
                  <a:lnTo>
                    <a:pt x="2735580" y="1533906"/>
                  </a:lnTo>
                </a:path>
                <a:path w="3516629" h="2140585">
                  <a:moveTo>
                    <a:pt x="2735580" y="962406"/>
                  </a:moveTo>
                  <a:lnTo>
                    <a:pt x="2735580" y="1177289"/>
                  </a:lnTo>
                </a:path>
                <a:path w="3516629" h="2140585">
                  <a:moveTo>
                    <a:pt x="2735580" y="605789"/>
                  </a:moveTo>
                  <a:lnTo>
                    <a:pt x="2735580" y="820674"/>
                  </a:lnTo>
                </a:path>
                <a:path w="3516629" h="2140585">
                  <a:moveTo>
                    <a:pt x="2735580" y="249174"/>
                  </a:moveTo>
                  <a:lnTo>
                    <a:pt x="2735580" y="464057"/>
                  </a:lnTo>
                </a:path>
                <a:path w="3516629" h="2140585">
                  <a:moveTo>
                    <a:pt x="2735580" y="0"/>
                  </a:moveTo>
                  <a:lnTo>
                    <a:pt x="2735580" y="107441"/>
                  </a:lnTo>
                </a:path>
                <a:path w="3516629" h="2140585">
                  <a:moveTo>
                    <a:pt x="3125724" y="2033777"/>
                  </a:moveTo>
                  <a:lnTo>
                    <a:pt x="3125724" y="2140204"/>
                  </a:lnTo>
                </a:path>
                <a:path w="3516629" h="2140585">
                  <a:moveTo>
                    <a:pt x="3125724" y="1677162"/>
                  </a:moveTo>
                  <a:lnTo>
                    <a:pt x="3125724" y="1890521"/>
                  </a:lnTo>
                </a:path>
                <a:path w="3516629" h="2140585">
                  <a:moveTo>
                    <a:pt x="3125724" y="1319021"/>
                  </a:moveTo>
                  <a:lnTo>
                    <a:pt x="3125724" y="1533906"/>
                  </a:lnTo>
                </a:path>
                <a:path w="3516629" h="2140585">
                  <a:moveTo>
                    <a:pt x="3125724" y="962406"/>
                  </a:moveTo>
                  <a:lnTo>
                    <a:pt x="3125724" y="1177289"/>
                  </a:lnTo>
                </a:path>
                <a:path w="3516629" h="2140585">
                  <a:moveTo>
                    <a:pt x="3125724" y="605789"/>
                  </a:moveTo>
                  <a:lnTo>
                    <a:pt x="3125724" y="820674"/>
                  </a:lnTo>
                </a:path>
                <a:path w="3516629" h="2140585">
                  <a:moveTo>
                    <a:pt x="3125724" y="249174"/>
                  </a:moveTo>
                  <a:lnTo>
                    <a:pt x="3125724" y="464057"/>
                  </a:lnTo>
                </a:path>
                <a:path w="3516629" h="2140585">
                  <a:moveTo>
                    <a:pt x="3125724" y="0"/>
                  </a:moveTo>
                  <a:lnTo>
                    <a:pt x="3125724" y="107441"/>
                  </a:lnTo>
                </a:path>
                <a:path w="3516629" h="2140585">
                  <a:moveTo>
                    <a:pt x="3516503" y="0"/>
                  </a:moveTo>
                  <a:lnTo>
                    <a:pt x="3516503" y="2140204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89748" y="2796539"/>
              <a:ext cx="3456940" cy="1926589"/>
            </a:xfrm>
            <a:custGeom>
              <a:avLst/>
              <a:gdLst/>
              <a:ahLst/>
              <a:cxnLst/>
              <a:rect l="l" t="t" r="r" b="b"/>
              <a:pathLst>
                <a:path w="3456940" h="1926589">
                  <a:moveTo>
                    <a:pt x="3456432" y="1783080"/>
                  </a:moveTo>
                  <a:lnTo>
                    <a:pt x="97536" y="1783080"/>
                  </a:lnTo>
                  <a:lnTo>
                    <a:pt x="97536" y="1926336"/>
                  </a:lnTo>
                  <a:lnTo>
                    <a:pt x="3456432" y="1926336"/>
                  </a:lnTo>
                  <a:lnTo>
                    <a:pt x="3456432" y="1783080"/>
                  </a:lnTo>
                  <a:close/>
                </a:path>
                <a:path w="3456940" h="1926589">
                  <a:moveTo>
                    <a:pt x="3456432" y="1426464"/>
                  </a:moveTo>
                  <a:lnTo>
                    <a:pt x="0" y="1426464"/>
                  </a:lnTo>
                  <a:lnTo>
                    <a:pt x="0" y="1569720"/>
                  </a:lnTo>
                  <a:lnTo>
                    <a:pt x="3456432" y="1569720"/>
                  </a:lnTo>
                  <a:lnTo>
                    <a:pt x="3456432" y="1426464"/>
                  </a:lnTo>
                  <a:close/>
                </a:path>
                <a:path w="3456940" h="1926589">
                  <a:moveTo>
                    <a:pt x="3456432" y="1069848"/>
                  </a:moveTo>
                  <a:lnTo>
                    <a:pt x="1229868" y="1069848"/>
                  </a:lnTo>
                  <a:lnTo>
                    <a:pt x="1229868" y="1211580"/>
                  </a:lnTo>
                  <a:lnTo>
                    <a:pt x="3456432" y="1211580"/>
                  </a:lnTo>
                  <a:lnTo>
                    <a:pt x="3456432" y="1069848"/>
                  </a:lnTo>
                  <a:close/>
                </a:path>
                <a:path w="3456940" h="1926589">
                  <a:moveTo>
                    <a:pt x="3456432" y="713232"/>
                  </a:moveTo>
                  <a:lnTo>
                    <a:pt x="1639824" y="713232"/>
                  </a:lnTo>
                  <a:lnTo>
                    <a:pt x="1639824" y="854964"/>
                  </a:lnTo>
                  <a:lnTo>
                    <a:pt x="3456432" y="854964"/>
                  </a:lnTo>
                  <a:lnTo>
                    <a:pt x="3456432" y="713232"/>
                  </a:lnTo>
                  <a:close/>
                </a:path>
                <a:path w="3456940" h="1926589">
                  <a:moveTo>
                    <a:pt x="3456432" y="356616"/>
                  </a:moveTo>
                  <a:lnTo>
                    <a:pt x="1679448" y="356616"/>
                  </a:lnTo>
                  <a:lnTo>
                    <a:pt x="1679448" y="498348"/>
                  </a:lnTo>
                  <a:lnTo>
                    <a:pt x="3456432" y="498348"/>
                  </a:lnTo>
                  <a:lnTo>
                    <a:pt x="3456432" y="356616"/>
                  </a:lnTo>
                  <a:close/>
                </a:path>
                <a:path w="3456940" h="1926589">
                  <a:moveTo>
                    <a:pt x="3456432" y="0"/>
                  </a:moveTo>
                  <a:lnTo>
                    <a:pt x="937260" y="0"/>
                  </a:lnTo>
                  <a:lnTo>
                    <a:pt x="937260" y="141732"/>
                  </a:lnTo>
                  <a:lnTo>
                    <a:pt x="3456432" y="141732"/>
                  </a:lnTo>
                  <a:lnTo>
                    <a:pt x="3456432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89748" y="2796539"/>
              <a:ext cx="3456940" cy="1926589"/>
            </a:xfrm>
            <a:custGeom>
              <a:avLst/>
              <a:gdLst/>
              <a:ahLst/>
              <a:cxnLst/>
              <a:rect l="l" t="t" r="r" b="b"/>
              <a:pathLst>
                <a:path w="3456940" h="1926589">
                  <a:moveTo>
                    <a:pt x="937259" y="0"/>
                  </a:moveTo>
                  <a:lnTo>
                    <a:pt x="3456431" y="0"/>
                  </a:lnTo>
                  <a:lnTo>
                    <a:pt x="3456431" y="141732"/>
                  </a:lnTo>
                  <a:lnTo>
                    <a:pt x="937259" y="141732"/>
                  </a:lnTo>
                  <a:lnTo>
                    <a:pt x="937259" y="0"/>
                  </a:lnTo>
                  <a:close/>
                </a:path>
                <a:path w="3456940" h="1926589">
                  <a:moveTo>
                    <a:pt x="1679448" y="356615"/>
                  </a:moveTo>
                  <a:lnTo>
                    <a:pt x="3456431" y="356615"/>
                  </a:lnTo>
                  <a:lnTo>
                    <a:pt x="3456431" y="498348"/>
                  </a:lnTo>
                  <a:lnTo>
                    <a:pt x="1679448" y="498348"/>
                  </a:lnTo>
                  <a:lnTo>
                    <a:pt x="1679448" y="356615"/>
                  </a:lnTo>
                  <a:close/>
                </a:path>
                <a:path w="3456940" h="1926589">
                  <a:moveTo>
                    <a:pt x="1639824" y="713232"/>
                  </a:moveTo>
                  <a:lnTo>
                    <a:pt x="3456431" y="713232"/>
                  </a:lnTo>
                  <a:lnTo>
                    <a:pt x="3456431" y="854964"/>
                  </a:lnTo>
                  <a:lnTo>
                    <a:pt x="1639824" y="854964"/>
                  </a:lnTo>
                  <a:lnTo>
                    <a:pt x="1639824" y="713232"/>
                  </a:lnTo>
                  <a:close/>
                </a:path>
                <a:path w="3456940" h="1926589">
                  <a:moveTo>
                    <a:pt x="1229868" y="1069848"/>
                  </a:moveTo>
                  <a:lnTo>
                    <a:pt x="3456431" y="1069848"/>
                  </a:lnTo>
                  <a:lnTo>
                    <a:pt x="3456431" y="1211580"/>
                  </a:lnTo>
                  <a:lnTo>
                    <a:pt x="1229868" y="1211580"/>
                  </a:lnTo>
                  <a:lnTo>
                    <a:pt x="1229868" y="1069848"/>
                  </a:lnTo>
                  <a:close/>
                </a:path>
                <a:path w="3456940" h="1926589">
                  <a:moveTo>
                    <a:pt x="0" y="1426464"/>
                  </a:moveTo>
                  <a:lnTo>
                    <a:pt x="3456431" y="1426464"/>
                  </a:lnTo>
                  <a:lnTo>
                    <a:pt x="3456431" y="1569720"/>
                  </a:lnTo>
                  <a:lnTo>
                    <a:pt x="0" y="1569720"/>
                  </a:lnTo>
                  <a:lnTo>
                    <a:pt x="0" y="1426464"/>
                  </a:lnTo>
                  <a:close/>
                </a:path>
                <a:path w="3456940" h="1926589">
                  <a:moveTo>
                    <a:pt x="97535" y="1783080"/>
                  </a:moveTo>
                  <a:lnTo>
                    <a:pt x="3456431" y="1783080"/>
                  </a:lnTo>
                  <a:lnTo>
                    <a:pt x="3456431" y="1926336"/>
                  </a:lnTo>
                  <a:lnTo>
                    <a:pt x="97535" y="1926336"/>
                  </a:lnTo>
                  <a:lnTo>
                    <a:pt x="97535" y="178308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40040" y="2689098"/>
              <a:ext cx="0" cy="2140585"/>
            </a:xfrm>
            <a:custGeom>
              <a:avLst/>
              <a:gdLst/>
              <a:ahLst/>
              <a:cxnLst/>
              <a:rect l="l" t="t" r="r" b="b"/>
              <a:pathLst>
                <a:path h="2140585">
                  <a:moveTo>
                    <a:pt x="0" y="0"/>
                  </a:moveTo>
                  <a:lnTo>
                    <a:pt x="0" y="2140204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59658" y="6128549"/>
            <a:ext cx="6012180" cy="396904"/>
          </a:xfrm>
          <a:prstGeom prst="rect">
            <a:avLst/>
          </a:prstGeom>
          <a:solidFill>
            <a:srgbClr val="2E2E81"/>
          </a:solidFill>
        </p:spPr>
        <p:txBody>
          <a:bodyPr vert="horz" wrap="square" lIns="0" tIns="27305" rIns="0" bIns="0" rtlCol="0">
            <a:spAutoFit/>
          </a:bodyPr>
          <a:lstStyle/>
          <a:p>
            <a:pPr marL="273685">
              <a:lnSpc>
                <a:spcPct val="100000"/>
              </a:lnSpc>
              <a:spcBef>
                <a:spcPts val="215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Тенденції до </a:t>
            </a:r>
            <a:r>
              <a:rPr sz="2400" b="1" spc="-10" dirty="0" err="1">
                <a:solidFill>
                  <a:srgbClr val="FFFFFF"/>
                </a:solidFill>
                <a:latin typeface="Calibri"/>
                <a:cs typeface="Calibri"/>
              </a:rPr>
              <a:t>перева</a:t>
            </a:r>
            <a:r>
              <a:rPr sz="2400" b="1" dirty="0" err="1">
                <a:solidFill>
                  <a:srgbClr val="FFFFFF"/>
                </a:solidFill>
                <a:latin typeface="Calibri"/>
                <a:cs typeface="Calibri"/>
              </a:rPr>
              <a:t>ги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uk-UA" sz="2400" b="1" spc="-10" dirty="0">
                <a:solidFill>
                  <a:srgbClr val="FFFFFF"/>
                </a:solidFill>
                <a:latin typeface="Calibri"/>
                <a:cs typeface="Calibri"/>
              </a:rPr>
              <a:t>К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M-</a:t>
            </a:r>
            <a:r>
              <a:rPr sz="2400" b="1" spc="-10" dirty="0" err="1">
                <a:solidFill>
                  <a:srgbClr val="FFFFFF"/>
                </a:solidFill>
                <a:latin typeface="Calibri"/>
                <a:cs typeface="Calibri"/>
              </a:rPr>
              <a:t>хітозану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44407" y="1456182"/>
            <a:ext cx="2933315" cy="516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3020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WOMAC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Біль</a:t>
            </a:r>
            <a:endParaRPr sz="18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Різниця між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методами лікування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03207" y="2787142"/>
            <a:ext cx="22606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645650" y="3144138"/>
            <a:ext cx="17462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06660" y="3500754"/>
            <a:ext cx="17462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96069" y="3857625"/>
            <a:ext cx="22606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65313" y="4213936"/>
            <a:ext cx="226060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63230" y="4571238"/>
            <a:ext cx="22606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-17,2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65492" y="2446146"/>
            <a:ext cx="21177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90525" algn="l"/>
                <a:tab pos="781050" algn="l"/>
                <a:tab pos="1171575" algn="l"/>
                <a:tab pos="1562735" algn="l"/>
                <a:tab pos="1953260" algn="l"/>
              </a:tabLst>
            </a:pP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-20 -18 -16 -14 -12 -10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738994" y="2446146"/>
            <a:ext cx="1060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585858"/>
                </a:solidFill>
                <a:latin typeface="Calibri"/>
                <a:cs typeface="Calibri"/>
              </a:rPr>
              <a:t>-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129773" y="2446146"/>
            <a:ext cx="1060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585858"/>
                </a:solidFill>
                <a:latin typeface="Calibri"/>
                <a:cs typeface="Calibri"/>
              </a:rPr>
              <a:t>-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520426" y="2446146"/>
            <a:ext cx="1060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585858"/>
                </a:solidFill>
                <a:latin typeface="Calibri"/>
                <a:cs typeface="Calibri"/>
              </a:rPr>
              <a:t>-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910951" y="2446146"/>
            <a:ext cx="1060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585858"/>
                </a:solidFill>
                <a:latin typeface="Calibri"/>
                <a:cs typeface="Calibri"/>
              </a:rPr>
              <a:t>-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319382" y="2446146"/>
            <a:ext cx="711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07656" y="2773171"/>
            <a:ext cx="4394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KL IV - </a:t>
            </a:r>
            <a:r>
              <a:rPr sz="900" spc="-25" dirty="0">
                <a:solidFill>
                  <a:srgbClr val="585858"/>
                </a:solidFill>
                <a:latin typeface="Calibri"/>
                <a:cs typeface="Calibri"/>
              </a:rPr>
              <a:t>T0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645275" y="3130041"/>
            <a:ext cx="7023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KL IV - 2 </a:t>
            </a: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тижні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82791" y="3486657"/>
            <a:ext cx="7639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КЛ IV - 3 </a:t>
            </a: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місяці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82791" y="3843654"/>
            <a:ext cx="7639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KL IV - 6 </a:t>
            </a: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місяців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582791" y="4200270"/>
            <a:ext cx="7639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KL IV - 9 </a:t>
            </a: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місяців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524879" y="4557141"/>
            <a:ext cx="8223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KL IV - 12 </a:t>
            </a: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місяців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016495" y="5437632"/>
            <a:ext cx="3973195" cy="620395"/>
            <a:chOff x="7016495" y="5437632"/>
            <a:chExt cx="3973195" cy="620395"/>
          </a:xfrm>
        </p:grpSpPr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16495" y="5442204"/>
              <a:ext cx="3973067" cy="57913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64907" y="5437632"/>
              <a:ext cx="3512820" cy="620242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7043293" y="5468963"/>
            <a:ext cx="3870325" cy="47752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746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29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Δ -17,2%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різниця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на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кори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сть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KioMedine</a:t>
            </a:r>
            <a:endParaRPr sz="14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25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(з врахуванням відсутніх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даних)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696209" y="1518284"/>
            <a:ext cx="94106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uk-UA" sz="1800" b="1" dirty="0">
                <a:solidFill>
                  <a:srgbClr val="FFFFFF"/>
                </a:solidFill>
                <a:latin typeface="Calibri"/>
                <a:cs typeface="Calibri"/>
              </a:rPr>
              <a:t>ОА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Calibri"/>
                <a:cs typeface="Calibri"/>
              </a:rPr>
              <a:t>IV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607438" y="2089657"/>
            <a:ext cx="4122420" cy="2925445"/>
            <a:chOff x="1607438" y="2089657"/>
            <a:chExt cx="4122420" cy="2925445"/>
          </a:xfrm>
        </p:grpSpPr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07438" y="2089657"/>
              <a:ext cx="4122166" cy="292544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95368" y="2338323"/>
              <a:ext cx="1128788" cy="412368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1116202" y="2065401"/>
            <a:ext cx="4526280" cy="3221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900">
              <a:latin typeface="Times New Roman"/>
              <a:cs typeface="Times New Roman"/>
            </a:endParaRPr>
          </a:p>
          <a:p>
            <a:pPr marL="578485" algn="ctr">
              <a:lnSpc>
                <a:spcPct val="100000"/>
              </a:lnSpc>
            </a:pPr>
            <a:r>
              <a:rPr sz="900" b="1" dirty="0">
                <a:latin typeface="Calibri"/>
                <a:cs typeface="Calibri"/>
              </a:rPr>
              <a:t>Час </a:t>
            </a:r>
            <a:r>
              <a:rPr sz="900" b="1" spc="-10" dirty="0">
                <a:latin typeface="Calibri"/>
                <a:cs typeface="Calibri"/>
              </a:rPr>
              <a:t>(тижні)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71016" y="3046523"/>
            <a:ext cx="276860" cy="104266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ts val="955"/>
              </a:lnSpc>
            </a:pPr>
            <a:r>
              <a:rPr sz="900" b="1" spc="-10" dirty="0">
                <a:latin typeface="Calibri"/>
                <a:cs typeface="Calibri"/>
              </a:rPr>
              <a:t>Відсоток зменшення</a:t>
            </a:r>
            <a:endParaRPr sz="900">
              <a:latin typeface="Calibri"/>
              <a:cs typeface="Calibri"/>
            </a:endParaRPr>
          </a:p>
          <a:p>
            <a:pPr marL="26670" algn="ctr">
              <a:lnSpc>
                <a:spcPct val="100000"/>
              </a:lnSpc>
            </a:pPr>
            <a:r>
              <a:rPr sz="900" b="1" spc="-20" dirty="0">
                <a:latin typeface="Calibri"/>
                <a:cs typeface="Calibri"/>
              </a:rPr>
              <a:t>Біль </a:t>
            </a:r>
            <a:r>
              <a:rPr sz="900" b="1" spc="-10" dirty="0">
                <a:latin typeface="Calibri"/>
                <a:cs typeface="Calibri"/>
              </a:rPr>
              <a:t>за шкалою WOMAC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498071" y="-15494"/>
            <a:ext cx="4121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6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83054" y="276605"/>
            <a:ext cx="46268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FFFFFF"/>
                </a:solidFill>
                <a:latin typeface="Calibri"/>
                <a:cs typeface="Calibri"/>
              </a:rPr>
              <a:t>Безпека та </a:t>
            </a:r>
            <a:r>
              <a:rPr sz="3000" b="1" spc="-10" dirty="0">
                <a:solidFill>
                  <a:srgbClr val="FFFFFF"/>
                </a:solidFill>
                <a:latin typeface="Calibri"/>
                <a:cs typeface="Calibri"/>
              </a:rPr>
              <a:t>переносимість</a:t>
            </a:r>
            <a:endParaRPr sz="30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8807" y="107887"/>
            <a:ext cx="734695" cy="6750684"/>
            <a:chOff x="228807" y="107887"/>
            <a:chExt cx="734695" cy="6750684"/>
          </a:xfrm>
        </p:grpSpPr>
        <p:sp>
          <p:nvSpPr>
            <p:cNvPr id="5" name="object 5"/>
            <p:cNvSpPr/>
            <p:nvPr/>
          </p:nvSpPr>
          <p:spPr>
            <a:xfrm>
              <a:off x="596633" y="852551"/>
              <a:ext cx="0" cy="6005830"/>
            </a:xfrm>
            <a:custGeom>
              <a:avLst/>
              <a:gdLst/>
              <a:ahLst/>
              <a:cxnLst/>
              <a:rect l="l" t="t" r="r" b="b"/>
              <a:pathLst>
                <a:path h="6005830">
                  <a:moveTo>
                    <a:pt x="0" y="0"/>
                  </a:moveTo>
                  <a:lnTo>
                    <a:pt x="0" y="600544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7821" y="116902"/>
              <a:ext cx="716915" cy="715645"/>
            </a:xfrm>
            <a:custGeom>
              <a:avLst/>
              <a:gdLst/>
              <a:ahLst/>
              <a:cxnLst/>
              <a:rect l="l" t="t" r="r" b="b"/>
              <a:pathLst>
                <a:path w="716915" h="715644">
                  <a:moveTo>
                    <a:pt x="716323" y="358689"/>
                  </a:moveTo>
                  <a:lnTo>
                    <a:pt x="716323" y="358689"/>
                  </a:lnTo>
                  <a:lnTo>
                    <a:pt x="716323" y="371034"/>
                  </a:lnTo>
                </a:path>
                <a:path w="716915" h="715644">
                  <a:moveTo>
                    <a:pt x="707782" y="433656"/>
                  </a:moveTo>
                  <a:lnTo>
                    <a:pt x="707782" y="433656"/>
                  </a:lnTo>
                  <a:lnTo>
                    <a:pt x="705887" y="445989"/>
                  </a:lnTo>
                </a:path>
                <a:path w="716915" h="715644">
                  <a:moveTo>
                    <a:pt x="685016" y="504820"/>
                  </a:moveTo>
                  <a:lnTo>
                    <a:pt x="685016" y="504820"/>
                  </a:lnTo>
                  <a:lnTo>
                    <a:pt x="679318" y="517165"/>
                  </a:lnTo>
                </a:path>
                <a:path w="716915" h="715644">
                  <a:moveTo>
                    <a:pt x="647064" y="570298"/>
                  </a:moveTo>
                  <a:lnTo>
                    <a:pt x="647064" y="570298"/>
                  </a:lnTo>
                  <a:lnTo>
                    <a:pt x="638524" y="580735"/>
                  </a:lnTo>
                </a:path>
                <a:path w="716915" h="715644">
                  <a:moveTo>
                    <a:pt x="595822" y="626287"/>
                  </a:moveTo>
                  <a:lnTo>
                    <a:pt x="595822" y="626287"/>
                  </a:lnTo>
                  <a:lnTo>
                    <a:pt x="586334" y="634827"/>
                  </a:lnTo>
                </a:path>
                <a:path w="716915" h="715644">
                  <a:moveTo>
                    <a:pt x="534156" y="669937"/>
                  </a:moveTo>
                  <a:lnTo>
                    <a:pt x="526563" y="674681"/>
                  </a:lnTo>
                  <a:lnTo>
                    <a:pt x="522773" y="676579"/>
                  </a:lnTo>
                </a:path>
                <a:path w="716915" h="715644">
                  <a:moveTo>
                    <a:pt x="464898" y="700301"/>
                  </a:moveTo>
                  <a:lnTo>
                    <a:pt x="464898" y="700301"/>
                  </a:lnTo>
                  <a:lnTo>
                    <a:pt x="452567" y="704097"/>
                  </a:lnTo>
                </a:path>
                <a:path w="716915" h="715644">
                  <a:moveTo>
                    <a:pt x="390889" y="714535"/>
                  </a:moveTo>
                  <a:lnTo>
                    <a:pt x="390889" y="714535"/>
                  </a:lnTo>
                  <a:lnTo>
                    <a:pt x="378558" y="715484"/>
                  </a:lnTo>
                </a:path>
                <a:path w="716915" h="715644">
                  <a:moveTo>
                    <a:pt x="314985" y="714535"/>
                  </a:moveTo>
                  <a:lnTo>
                    <a:pt x="313090" y="714535"/>
                  </a:lnTo>
                  <a:lnTo>
                    <a:pt x="302655" y="712637"/>
                  </a:lnTo>
                </a:path>
                <a:path w="716915" h="715644">
                  <a:moveTo>
                    <a:pt x="241937" y="697454"/>
                  </a:moveTo>
                  <a:lnTo>
                    <a:pt x="241937" y="697454"/>
                  </a:lnTo>
                  <a:lnTo>
                    <a:pt x="229606" y="692710"/>
                  </a:lnTo>
                </a:path>
                <a:path w="716915" h="715644">
                  <a:moveTo>
                    <a:pt x="173626" y="665192"/>
                  </a:moveTo>
                  <a:lnTo>
                    <a:pt x="173626" y="665192"/>
                  </a:lnTo>
                  <a:lnTo>
                    <a:pt x="162243" y="658549"/>
                  </a:lnTo>
                </a:path>
                <a:path w="716915" h="715644">
                  <a:moveTo>
                    <a:pt x="112903" y="619644"/>
                  </a:moveTo>
                  <a:lnTo>
                    <a:pt x="112903" y="619644"/>
                  </a:lnTo>
                  <a:lnTo>
                    <a:pt x="104364" y="610154"/>
                  </a:lnTo>
                </a:path>
                <a:path w="716915" h="715644">
                  <a:moveTo>
                    <a:pt x="63567" y="562704"/>
                  </a:moveTo>
                  <a:lnTo>
                    <a:pt x="63567" y="562704"/>
                  </a:lnTo>
                  <a:lnTo>
                    <a:pt x="56925" y="551319"/>
                  </a:lnTo>
                </a:path>
                <a:path w="716915" h="715644">
                  <a:moveTo>
                    <a:pt x="27514" y="496291"/>
                  </a:moveTo>
                  <a:lnTo>
                    <a:pt x="23718" y="487749"/>
                  </a:lnTo>
                  <a:lnTo>
                    <a:pt x="22770" y="483945"/>
                  </a:lnTo>
                </a:path>
                <a:path w="716915" h="715644">
                  <a:moveTo>
                    <a:pt x="5693" y="423218"/>
                  </a:moveTo>
                  <a:lnTo>
                    <a:pt x="5693" y="423218"/>
                  </a:lnTo>
                  <a:lnTo>
                    <a:pt x="3795" y="410886"/>
                  </a:lnTo>
                </a:path>
                <a:path w="716915" h="715644">
                  <a:moveTo>
                    <a:pt x="0" y="348251"/>
                  </a:moveTo>
                  <a:lnTo>
                    <a:pt x="0" y="348251"/>
                  </a:lnTo>
                  <a:lnTo>
                    <a:pt x="948" y="335919"/>
                  </a:lnTo>
                </a:path>
                <a:path w="716915" h="715644">
                  <a:moveTo>
                    <a:pt x="9488" y="273296"/>
                  </a:moveTo>
                  <a:lnTo>
                    <a:pt x="10437" y="270440"/>
                  </a:lnTo>
                  <a:lnTo>
                    <a:pt x="13282" y="260951"/>
                  </a:lnTo>
                </a:path>
                <a:path w="716915" h="715644">
                  <a:moveTo>
                    <a:pt x="36053" y="202119"/>
                  </a:moveTo>
                  <a:lnTo>
                    <a:pt x="36053" y="202119"/>
                  </a:lnTo>
                  <a:lnTo>
                    <a:pt x="40797" y="190735"/>
                  </a:lnTo>
                </a:path>
                <a:path w="716915" h="715644">
                  <a:moveTo>
                    <a:pt x="75901" y="138549"/>
                  </a:moveTo>
                  <a:lnTo>
                    <a:pt x="75901" y="138549"/>
                  </a:lnTo>
                  <a:lnTo>
                    <a:pt x="83491" y="128112"/>
                  </a:lnTo>
                </a:path>
                <a:path w="716915" h="715644">
                  <a:moveTo>
                    <a:pt x="128081" y="83508"/>
                  </a:moveTo>
                  <a:lnTo>
                    <a:pt x="128081" y="83508"/>
                  </a:lnTo>
                  <a:lnTo>
                    <a:pt x="138517" y="75914"/>
                  </a:lnTo>
                </a:path>
                <a:path w="716915" h="715644">
                  <a:moveTo>
                    <a:pt x="190707" y="40813"/>
                  </a:moveTo>
                  <a:lnTo>
                    <a:pt x="190707" y="40813"/>
                  </a:lnTo>
                  <a:lnTo>
                    <a:pt x="202090" y="36062"/>
                  </a:lnTo>
                </a:path>
                <a:path w="716915" h="715644">
                  <a:moveTo>
                    <a:pt x="260913" y="13292"/>
                  </a:moveTo>
                  <a:lnTo>
                    <a:pt x="269453" y="10449"/>
                  </a:lnTo>
                  <a:lnTo>
                    <a:pt x="273243" y="10449"/>
                  </a:lnTo>
                </a:path>
                <a:path w="716915" h="715644">
                  <a:moveTo>
                    <a:pt x="335869" y="960"/>
                  </a:moveTo>
                  <a:lnTo>
                    <a:pt x="335869" y="960"/>
                  </a:lnTo>
                  <a:lnTo>
                    <a:pt x="348199" y="0"/>
                  </a:lnTo>
                </a:path>
                <a:path w="716915" h="715644">
                  <a:moveTo>
                    <a:pt x="410812" y="3803"/>
                  </a:moveTo>
                  <a:lnTo>
                    <a:pt x="410812" y="3803"/>
                  </a:lnTo>
                  <a:lnTo>
                    <a:pt x="423156" y="6646"/>
                  </a:lnTo>
                </a:path>
                <a:path w="716915" h="715644">
                  <a:moveTo>
                    <a:pt x="483874" y="22782"/>
                  </a:moveTo>
                  <a:lnTo>
                    <a:pt x="487664" y="23729"/>
                  </a:lnTo>
                  <a:lnTo>
                    <a:pt x="496204" y="27520"/>
                  </a:lnTo>
                </a:path>
                <a:path w="716915" h="715644">
                  <a:moveTo>
                    <a:pt x="551237" y="56936"/>
                  </a:moveTo>
                  <a:lnTo>
                    <a:pt x="551237" y="56936"/>
                  </a:lnTo>
                  <a:lnTo>
                    <a:pt x="562620" y="63582"/>
                  </a:lnTo>
                </a:path>
                <a:path w="716915" h="715644">
                  <a:moveTo>
                    <a:pt x="610060" y="104383"/>
                  </a:moveTo>
                  <a:lnTo>
                    <a:pt x="610060" y="104383"/>
                  </a:lnTo>
                  <a:lnTo>
                    <a:pt x="619548" y="112925"/>
                  </a:lnTo>
                </a:path>
                <a:path w="716915" h="715644">
                  <a:moveTo>
                    <a:pt x="658447" y="163215"/>
                  </a:moveTo>
                  <a:lnTo>
                    <a:pt x="658447" y="163215"/>
                  </a:lnTo>
                  <a:lnTo>
                    <a:pt x="665093" y="173652"/>
                  </a:lnTo>
                </a:path>
                <a:path w="716915" h="715644">
                  <a:moveTo>
                    <a:pt x="692596" y="229641"/>
                  </a:moveTo>
                  <a:lnTo>
                    <a:pt x="692596" y="229641"/>
                  </a:lnTo>
                  <a:lnTo>
                    <a:pt x="696399" y="241973"/>
                  </a:lnTo>
                </a:path>
                <a:path w="716915" h="715644">
                  <a:moveTo>
                    <a:pt x="711572" y="303660"/>
                  </a:moveTo>
                  <a:lnTo>
                    <a:pt x="713480" y="313150"/>
                  </a:lnTo>
                  <a:lnTo>
                    <a:pt x="714428" y="315993"/>
                  </a:lnTo>
                </a:path>
              </a:pathLst>
            </a:custGeom>
            <a:ln w="18028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287" y="1513967"/>
              <a:ext cx="295275" cy="278765"/>
            </a:xfrm>
            <a:custGeom>
              <a:avLst/>
              <a:gdLst/>
              <a:ahLst/>
              <a:cxnLst/>
              <a:rect l="l" t="t" r="r" b="b"/>
              <a:pathLst>
                <a:path w="295275" h="278764">
                  <a:moveTo>
                    <a:pt x="0" y="139319"/>
                  </a:moveTo>
                  <a:lnTo>
                    <a:pt x="7511" y="95276"/>
                  </a:lnTo>
                  <a:lnTo>
                    <a:pt x="28427" y="57031"/>
                  </a:lnTo>
                  <a:lnTo>
                    <a:pt x="60322" y="26875"/>
                  </a:lnTo>
                  <a:lnTo>
                    <a:pt x="100770" y="7100"/>
                  </a:lnTo>
                  <a:lnTo>
                    <a:pt x="147345" y="0"/>
                  </a:lnTo>
                  <a:lnTo>
                    <a:pt x="193914" y="7100"/>
                  </a:lnTo>
                  <a:lnTo>
                    <a:pt x="234362" y="26875"/>
                  </a:lnTo>
                  <a:lnTo>
                    <a:pt x="266259" y="57031"/>
                  </a:lnTo>
                  <a:lnTo>
                    <a:pt x="287178" y="95276"/>
                  </a:lnTo>
                  <a:lnTo>
                    <a:pt x="294690" y="139319"/>
                  </a:lnTo>
                  <a:lnTo>
                    <a:pt x="287178" y="183361"/>
                  </a:lnTo>
                  <a:lnTo>
                    <a:pt x="266259" y="221606"/>
                  </a:lnTo>
                  <a:lnTo>
                    <a:pt x="234362" y="251762"/>
                  </a:lnTo>
                  <a:lnTo>
                    <a:pt x="193914" y="271537"/>
                  </a:lnTo>
                  <a:lnTo>
                    <a:pt x="147345" y="278638"/>
                  </a:lnTo>
                  <a:lnTo>
                    <a:pt x="100770" y="271537"/>
                  </a:lnTo>
                  <a:lnTo>
                    <a:pt x="60322" y="251762"/>
                  </a:lnTo>
                  <a:lnTo>
                    <a:pt x="28427" y="221606"/>
                  </a:lnTo>
                  <a:lnTo>
                    <a:pt x="7511" y="183361"/>
                  </a:lnTo>
                  <a:lnTo>
                    <a:pt x="0" y="13931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3054" y="1419605"/>
            <a:ext cx="5307583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20" dirty="0">
                <a:solidFill>
                  <a:srgbClr val="2E2E81"/>
                </a:solidFill>
                <a:latin typeface="Calibri"/>
                <a:cs typeface="Calibri"/>
              </a:rPr>
              <a:t>Дані </a:t>
            </a:r>
            <a:r>
              <a:rPr sz="2200" b="1" dirty="0">
                <a:solidFill>
                  <a:srgbClr val="2E2E81"/>
                </a:solidFill>
                <a:latin typeface="Calibri"/>
                <a:cs typeface="Calibri"/>
              </a:rPr>
              <a:t>про побічні ефекти за 12 місяців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3055" y="4540122"/>
            <a:ext cx="10261600" cy="2105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685" marR="5715" indent="-13462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46685" algn="l"/>
              </a:tabLst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Результати аналізу побічних ефектів: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абсолютна кількість побічних ефектів становила 69 у групі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KiOmedine® </a:t>
            </a:r>
            <a:r>
              <a:rPr lang="uk-UA" spc="-10" dirty="0">
                <a:solidFill>
                  <a:srgbClr val="FFFFFF"/>
                </a:solidFill>
                <a:latin typeface="Calibri"/>
                <a:cs typeface="Calibri"/>
              </a:rPr>
              <a:t>КМ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lang="uk-UA" sz="1800" dirty="0" err="1">
                <a:solidFill>
                  <a:srgbClr val="FFFFFF"/>
                </a:solidFill>
                <a:latin typeface="Calibri"/>
                <a:cs typeface="Calibri"/>
              </a:rPr>
              <a:t>Хітозан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та 65 у групі Synvisc-One®. Більшість побічних ефектів була пов'язана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з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артралгією.</a:t>
            </a:r>
            <a:endParaRPr sz="1800" dirty="0">
              <a:latin typeface="Calibri"/>
              <a:cs typeface="Calibri"/>
            </a:endParaRPr>
          </a:p>
          <a:p>
            <a:pPr marL="146685" marR="5080" indent="-134620" algn="just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146685" algn="l"/>
              </a:tabLst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Більшість побічних ефектів не були пов'язані з </a:t>
            </a:r>
            <a:r>
              <a:rPr lang="uk-UA" b="1" dirty="0">
                <a:solidFill>
                  <a:srgbClr val="FFFFFF"/>
                </a:solidFill>
                <a:latin typeface="Calibri"/>
                <a:cs typeface="Calibri"/>
              </a:rPr>
              <a:t>препаратом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у групі KiOmedine® </a:t>
            </a:r>
            <a:r>
              <a:rPr lang="uk-UA" dirty="0">
                <a:solidFill>
                  <a:srgbClr val="FFFFFF"/>
                </a:solidFill>
                <a:latin typeface="Calibri"/>
                <a:cs typeface="Calibri"/>
              </a:rPr>
              <a:t>КМ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lang="uk-UA" sz="1800" dirty="0" err="1">
                <a:solidFill>
                  <a:srgbClr val="FFFFFF"/>
                </a:solidFill>
                <a:latin typeface="Calibri"/>
                <a:cs typeface="Calibri"/>
              </a:rPr>
              <a:t>Хітозан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(n =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45)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та Synvisc-One® (n = 58) або з процедурою (n = 57 та n = 60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відповідно).</a:t>
            </a:r>
            <a:endParaRPr sz="1800" dirty="0">
              <a:latin typeface="Calibri"/>
              <a:cs typeface="Calibri"/>
            </a:endParaRPr>
          </a:p>
          <a:p>
            <a:pPr marL="146685" marR="5715" indent="-134620" algn="just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14668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У жодній з груп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не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було зареєстровано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несподіваних серйозних побічних ефектів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,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пов'язаних з </a:t>
            </a:r>
            <a:r>
              <a:rPr lang="uk-UA" b="1" dirty="0">
                <a:solidFill>
                  <a:srgbClr val="FFFFFF"/>
                </a:solidFill>
                <a:latin typeface="Calibri"/>
                <a:cs typeface="Calibri"/>
              </a:rPr>
              <a:t>препаратом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. Крім того, у жодній з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груп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не було зареєстровано випадків смерті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755771" y="2044331"/>
          <a:ext cx="5220332" cy="24396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3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6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1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2E2E81"/>
                      </a:solidFill>
                      <a:prstDash val="solid"/>
                    </a:lnB>
                    <a:solidFill>
                      <a:srgbClr val="9ECCD2"/>
                    </a:solidFill>
                  </a:tcPr>
                </a:tc>
                <a:tc>
                  <a:txBody>
                    <a:bodyPr/>
                    <a:lstStyle/>
                    <a:p>
                      <a:pPr marL="660400" marR="490220" indent="-17526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Кіомедін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N=51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39065" marB="0">
                    <a:lnB w="19050">
                      <a:solidFill>
                        <a:srgbClr val="2E2E81"/>
                      </a:solidFill>
                      <a:prstDash val="solid"/>
                    </a:lnB>
                    <a:solidFill>
                      <a:srgbClr val="9ECCD2"/>
                    </a:solidFill>
                  </a:tcPr>
                </a:tc>
                <a:tc>
                  <a:txBody>
                    <a:bodyPr/>
                    <a:lstStyle/>
                    <a:p>
                      <a:pPr marL="673100" marR="466725" indent="-20891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Synvisc 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One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N=50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39065" marB="0">
                    <a:lnB w="19050">
                      <a:solidFill>
                        <a:srgbClr val="2E2E81"/>
                      </a:solidFill>
                      <a:prstDash val="solid"/>
                    </a:lnB>
                    <a:solidFill>
                      <a:srgbClr val="9ECC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Пацієнти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з ≥ 1 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ПД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T w="19050">
                      <a:solidFill>
                        <a:srgbClr val="2E2E81"/>
                      </a:solidFill>
                      <a:prstDash val="solid"/>
                    </a:lnT>
                    <a:solidFill>
                      <a:srgbClr val="2E2E81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83</a:t>
                      </a:r>
                      <a:r>
                        <a:rPr sz="1200" spc="-1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sz="120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T w="19050">
                      <a:solidFill>
                        <a:srgbClr val="2E2E81"/>
                      </a:solidFill>
                      <a:prstDash val="solid"/>
                    </a:lnT>
                    <a:solidFill>
                      <a:srgbClr val="DEE1E7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74</a:t>
                      </a:r>
                      <a:r>
                        <a:rPr sz="1200" spc="-1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sz="120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T w="19050">
                      <a:solidFill>
                        <a:srgbClr val="2E2E81"/>
                      </a:solidFill>
                      <a:prstDash val="solid"/>
                    </a:lnT>
                    <a:solidFill>
                      <a:srgbClr val="DE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251460">
                        <a:lnSpc>
                          <a:spcPts val="1260"/>
                        </a:lnSpc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Лікування 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коліна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2E2E81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260"/>
                        </a:lnSpc>
                      </a:pPr>
                      <a:r>
                        <a:rPr sz="120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66,0 </a:t>
                      </a:r>
                      <a:r>
                        <a:rPr sz="1200" spc="-1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(35/53)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DEE1E7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260"/>
                        </a:lnSpc>
                      </a:pPr>
                      <a:r>
                        <a:rPr sz="120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58,8% </a:t>
                      </a:r>
                      <a:r>
                        <a:rPr sz="1200" spc="-1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(30/51)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DE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marL="251460">
                        <a:lnSpc>
                          <a:spcPts val="1260"/>
                        </a:lnSpc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Інші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ділянки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тіла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12700">
                      <a:solidFill>
                        <a:srgbClr val="E7E6E6"/>
                      </a:solidFill>
                      <a:prstDash val="solid"/>
                    </a:lnB>
                    <a:solidFill>
                      <a:srgbClr val="2E2E81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260"/>
                        </a:lnSpc>
                      </a:pPr>
                      <a:r>
                        <a:rPr sz="120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37,7% </a:t>
                      </a:r>
                      <a:r>
                        <a:rPr sz="1200" spc="-1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(20/53)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12700">
                      <a:solidFill>
                        <a:srgbClr val="2E2E81"/>
                      </a:solidFill>
                      <a:prstDash val="solid"/>
                    </a:lnB>
                    <a:solidFill>
                      <a:srgbClr val="DEE1E7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260"/>
                        </a:lnSpc>
                      </a:pPr>
                      <a:r>
                        <a:rPr sz="1200" spc="-1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sz="120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12700">
                      <a:solidFill>
                        <a:srgbClr val="2E2E81"/>
                      </a:solidFill>
                      <a:prstDash val="solid"/>
                    </a:lnB>
                    <a:solidFill>
                      <a:srgbClr val="DE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Серйозні побічні ефекти в будь-якій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локалізації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T w="12700">
                      <a:solidFill>
                        <a:srgbClr val="E7E6E6"/>
                      </a:solidFill>
                      <a:prstDash val="solid"/>
                    </a:lnT>
                    <a:solidFill>
                      <a:srgbClr val="2E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2E2E81"/>
                      </a:solidFill>
                      <a:prstDash val="solid"/>
                    </a:lnT>
                    <a:solidFill>
                      <a:srgbClr val="DEE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2E2E81"/>
                      </a:solidFill>
                      <a:prstDash val="solid"/>
                    </a:lnT>
                    <a:solidFill>
                      <a:srgbClr val="DE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251460">
                        <a:lnSpc>
                          <a:spcPts val="1260"/>
                        </a:lnSpc>
                      </a:pPr>
                      <a:r>
                        <a:rPr sz="12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Легкі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2E2E81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260"/>
                        </a:lnSpc>
                      </a:pPr>
                      <a:r>
                        <a:rPr sz="120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4</a:t>
                      </a:r>
                      <a:r>
                        <a:rPr sz="1200" spc="-1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sz="120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,4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DEE1E7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260"/>
                        </a:lnSpc>
                      </a:pPr>
                      <a:r>
                        <a:rPr sz="120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45,1% </a:t>
                      </a:r>
                      <a:r>
                        <a:rPr sz="1200" spc="-1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(23/51)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DE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251460">
                        <a:lnSpc>
                          <a:spcPts val="1260"/>
                        </a:lnSpc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Помірні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2E2E81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260"/>
                        </a:lnSpc>
                      </a:pPr>
                      <a:r>
                        <a:rPr sz="1200" spc="-1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4</a:t>
                      </a:r>
                      <a:r>
                        <a:rPr sz="120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7,2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DEE1E7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260"/>
                        </a:lnSpc>
                      </a:pPr>
                      <a:r>
                        <a:rPr sz="120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35,3% </a:t>
                      </a:r>
                      <a:r>
                        <a:rPr sz="1200" spc="-1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(18/51)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DE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251460">
                        <a:lnSpc>
                          <a:spcPts val="1260"/>
                        </a:lnSpc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Важкий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2E2E81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260"/>
                        </a:lnSpc>
                      </a:pPr>
                      <a:r>
                        <a:rPr sz="120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26,4% </a:t>
                      </a:r>
                      <a:r>
                        <a:rPr sz="1200" spc="-1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(14/53)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DEE1E7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260"/>
                        </a:lnSpc>
                      </a:pPr>
                      <a:r>
                        <a:rPr sz="120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19,6% </a:t>
                      </a:r>
                      <a:r>
                        <a:rPr sz="1200" spc="-1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(10/51)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DE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1498071" y="-15494"/>
            <a:ext cx="4121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50" dirty="0">
                <a:solidFill>
                  <a:srgbClr val="FFFFFF"/>
                </a:solidFill>
              </a:rPr>
              <a:t>4</a:t>
            </a:r>
            <a:endParaRPr sz="6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83054" y="276605"/>
            <a:ext cx="52415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FFFFFF"/>
                </a:solidFill>
                <a:latin typeface="Calibri"/>
                <a:cs typeface="Calibri"/>
              </a:rPr>
              <a:t>Безпека та </a:t>
            </a:r>
            <a:r>
              <a:rPr sz="3000" b="1" spc="-10" dirty="0">
                <a:solidFill>
                  <a:srgbClr val="FFFFFF"/>
                </a:solidFill>
                <a:latin typeface="Calibri"/>
                <a:cs typeface="Calibri"/>
              </a:rPr>
              <a:t>переносимість</a:t>
            </a:r>
            <a:endParaRPr sz="30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8807" y="107887"/>
            <a:ext cx="4736465" cy="6750684"/>
            <a:chOff x="228807" y="107887"/>
            <a:chExt cx="4736465" cy="6750684"/>
          </a:xfrm>
        </p:grpSpPr>
        <p:sp>
          <p:nvSpPr>
            <p:cNvPr id="5" name="object 5"/>
            <p:cNvSpPr/>
            <p:nvPr/>
          </p:nvSpPr>
          <p:spPr>
            <a:xfrm>
              <a:off x="596633" y="852551"/>
              <a:ext cx="0" cy="6005830"/>
            </a:xfrm>
            <a:custGeom>
              <a:avLst/>
              <a:gdLst/>
              <a:ahLst/>
              <a:cxnLst/>
              <a:rect l="l" t="t" r="r" b="b"/>
              <a:pathLst>
                <a:path h="6005830">
                  <a:moveTo>
                    <a:pt x="0" y="0"/>
                  </a:moveTo>
                  <a:lnTo>
                    <a:pt x="0" y="600544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7821" y="116902"/>
              <a:ext cx="716915" cy="715645"/>
            </a:xfrm>
            <a:custGeom>
              <a:avLst/>
              <a:gdLst/>
              <a:ahLst/>
              <a:cxnLst/>
              <a:rect l="l" t="t" r="r" b="b"/>
              <a:pathLst>
                <a:path w="716915" h="715644">
                  <a:moveTo>
                    <a:pt x="716323" y="358689"/>
                  </a:moveTo>
                  <a:lnTo>
                    <a:pt x="716323" y="358689"/>
                  </a:lnTo>
                  <a:lnTo>
                    <a:pt x="716323" y="371034"/>
                  </a:lnTo>
                </a:path>
                <a:path w="716915" h="715644">
                  <a:moveTo>
                    <a:pt x="707782" y="433656"/>
                  </a:moveTo>
                  <a:lnTo>
                    <a:pt x="707782" y="433656"/>
                  </a:lnTo>
                  <a:lnTo>
                    <a:pt x="705887" y="445989"/>
                  </a:lnTo>
                </a:path>
                <a:path w="716915" h="715644">
                  <a:moveTo>
                    <a:pt x="685016" y="504820"/>
                  </a:moveTo>
                  <a:lnTo>
                    <a:pt x="685016" y="504820"/>
                  </a:lnTo>
                  <a:lnTo>
                    <a:pt x="679318" y="517165"/>
                  </a:lnTo>
                </a:path>
                <a:path w="716915" h="715644">
                  <a:moveTo>
                    <a:pt x="647064" y="570298"/>
                  </a:moveTo>
                  <a:lnTo>
                    <a:pt x="647064" y="570298"/>
                  </a:lnTo>
                  <a:lnTo>
                    <a:pt x="638524" y="580735"/>
                  </a:lnTo>
                </a:path>
                <a:path w="716915" h="715644">
                  <a:moveTo>
                    <a:pt x="595822" y="626287"/>
                  </a:moveTo>
                  <a:lnTo>
                    <a:pt x="595822" y="626287"/>
                  </a:lnTo>
                  <a:lnTo>
                    <a:pt x="586334" y="634827"/>
                  </a:lnTo>
                </a:path>
                <a:path w="716915" h="715644">
                  <a:moveTo>
                    <a:pt x="534156" y="669937"/>
                  </a:moveTo>
                  <a:lnTo>
                    <a:pt x="526563" y="674681"/>
                  </a:lnTo>
                  <a:lnTo>
                    <a:pt x="522773" y="676579"/>
                  </a:lnTo>
                </a:path>
                <a:path w="716915" h="715644">
                  <a:moveTo>
                    <a:pt x="464898" y="700301"/>
                  </a:moveTo>
                  <a:lnTo>
                    <a:pt x="464898" y="700301"/>
                  </a:lnTo>
                  <a:lnTo>
                    <a:pt x="452567" y="704097"/>
                  </a:lnTo>
                </a:path>
                <a:path w="716915" h="715644">
                  <a:moveTo>
                    <a:pt x="390889" y="714535"/>
                  </a:moveTo>
                  <a:lnTo>
                    <a:pt x="390889" y="714535"/>
                  </a:lnTo>
                  <a:lnTo>
                    <a:pt x="378558" y="715484"/>
                  </a:lnTo>
                </a:path>
                <a:path w="716915" h="715644">
                  <a:moveTo>
                    <a:pt x="314985" y="714535"/>
                  </a:moveTo>
                  <a:lnTo>
                    <a:pt x="313090" y="714535"/>
                  </a:lnTo>
                  <a:lnTo>
                    <a:pt x="302655" y="712637"/>
                  </a:lnTo>
                </a:path>
                <a:path w="716915" h="715644">
                  <a:moveTo>
                    <a:pt x="241937" y="697454"/>
                  </a:moveTo>
                  <a:lnTo>
                    <a:pt x="241937" y="697454"/>
                  </a:lnTo>
                  <a:lnTo>
                    <a:pt x="229606" y="692710"/>
                  </a:lnTo>
                </a:path>
                <a:path w="716915" h="715644">
                  <a:moveTo>
                    <a:pt x="173626" y="665192"/>
                  </a:moveTo>
                  <a:lnTo>
                    <a:pt x="173626" y="665192"/>
                  </a:lnTo>
                  <a:lnTo>
                    <a:pt x="162243" y="658549"/>
                  </a:lnTo>
                </a:path>
                <a:path w="716915" h="715644">
                  <a:moveTo>
                    <a:pt x="112903" y="619644"/>
                  </a:moveTo>
                  <a:lnTo>
                    <a:pt x="112903" y="619644"/>
                  </a:lnTo>
                  <a:lnTo>
                    <a:pt x="104364" y="610154"/>
                  </a:lnTo>
                </a:path>
                <a:path w="716915" h="715644">
                  <a:moveTo>
                    <a:pt x="63567" y="562704"/>
                  </a:moveTo>
                  <a:lnTo>
                    <a:pt x="63567" y="562704"/>
                  </a:lnTo>
                  <a:lnTo>
                    <a:pt x="56925" y="551319"/>
                  </a:lnTo>
                </a:path>
                <a:path w="716915" h="715644">
                  <a:moveTo>
                    <a:pt x="27514" y="496291"/>
                  </a:moveTo>
                  <a:lnTo>
                    <a:pt x="23718" y="487749"/>
                  </a:lnTo>
                  <a:lnTo>
                    <a:pt x="22770" y="483945"/>
                  </a:lnTo>
                </a:path>
                <a:path w="716915" h="715644">
                  <a:moveTo>
                    <a:pt x="5693" y="423218"/>
                  </a:moveTo>
                  <a:lnTo>
                    <a:pt x="5693" y="423218"/>
                  </a:lnTo>
                  <a:lnTo>
                    <a:pt x="3795" y="410886"/>
                  </a:lnTo>
                </a:path>
                <a:path w="716915" h="715644">
                  <a:moveTo>
                    <a:pt x="0" y="348251"/>
                  </a:moveTo>
                  <a:lnTo>
                    <a:pt x="0" y="348251"/>
                  </a:lnTo>
                  <a:lnTo>
                    <a:pt x="948" y="335919"/>
                  </a:lnTo>
                </a:path>
                <a:path w="716915" h="715644">
                  <a:moveTo>
                    <a:pt x="9488" y="273296"/>
                  </a:moveTo>
                  <a:lnTo>
                    <a:pt x="10437" y="270440"/>
                  </a:lnTo>
                  <a:lnTo>
                    <a:pt x="13282" y="260951"/>
                  </a:lnTo>
                </a:path>
                <a:path w="716915" h="715644">
                  <a:moveTo>
                    <a:pt x="36053" y="202119"/>
                  </a:moveTo>
                  <a:lnTo>
                    <a:pt x="36053" y="202119"/>
                  </a:lnTo>
                  <a:lnTo>
                    <a:pt x="40797" y="190735"/>
                  </a:lnTo>
                </a:path>
                <a:path w="716915" h="715644">
                  <a:moveTo>
                    <a:pt x="75901" y="138549"/>
                  </a:moveTo>
                  <a:lnTo>
                    <a:pt x="75901" y="138549"/>
                  </a:lnTo>
                  <a:lnTo>
                    <a:pt x="83491" y="128112"/>
                  </a:lnTo>
                </a:path>
                <a:path w="716915" h="715644">
                  <a:moveTo>
                    <a:pt x="128081" y="83508"/>
                  </a:moveTo>
                  <a:lnTo>
                    <a:pt x="128081" y="83508"/>
                  </a:lnTo>
                  <a:lnTo>
                    <a:pt x="138517" y="75914"/>
                  </a:lnTo>
                </a:path>
                <a:path w="716915" h="715644">
                  <a:moveTo>
                    <a:pt x="190707" y="40813"/>
                  </a:moveTo>
                  <a:lnTo>
                    <a:pt x="190707" y="40813"/>
                  </a:lnTo>
                  <a:lnTo>
                    <a:pt x="202090" y="36062"/>
                  </a:lnTo>
                </a:path>
                <a:path w="716915" h="715644">
                  <a:moveTo>
                    <a:pt x="260913" y="13292"/>
                  </a:moveTo>
                  <a:lnTo>
                    <a:pt x="269453" y="10449"/>
                  </a:lnTo>
                  <a:lnTo>
                    <a:pt x="273243" y="10449"/>
                  </a:lnTo>
                </a:path>
                <a:path w="716915" h="715644">
                  <a:moveTo>
                    <a:pt x="335869" y="960"/>
                  </a:moveTo>
                  <a:lnTo>
                    <a:pt x="335869" y="960"/>
                  </a:lnTo>
                  <a:lnTo>
                    <a:pt x="348199" y="0"/>
                  </a:lnTo>
                </a:path>
                <a:path w="716915" h="715644">
                  <a:moveTo>
                    <a:pt x="410812" y="3803"/>
                  </a:moveTo>
                  <a:lnTo>
                    <a:pt x="410812" y="3803"/>
                  </a:lnTo>
                  <a:lnTo>
                    <a:pt x="423156" y="6646"/>
                  </a:lnTo>
                </a:path>
                <a:path w="716915" h="715644">
                  <a:moveTo>
                    <a:pt x="483874" y="22782"/>
                  </a:moveTo>
                  <a:lnTo>
                    <a:pt x="487664" y="23729"/>
                  </a:lnTo>
                  <a:lnTo>
                    <a:pt x="496204" y="27520"/>
                  </a:lnTo>
                </a:path>
                <a:path w="716915" h="715644">
                  <a:moveTo>
                    <a:pt x="551237" y="56936"/>
                  </a:moveTo>
                  <a:lnTo>
                    <a:pt x="551237" y="56936"/>
                  </a:lnTo>
                  <a:lnTo>
                    <a:pt x="562620" y="63582"/>
                  </a:lnTo>
                </a:path>
                <a:path w="716915" h="715644">
                  <a:moveTo>
                    <a:pt x="610060" y="104383"/>
                  </a:moveTo>
                  <a:lnTo>
                    <a:pt x="610060" y="104383"/>
                  </a:lnTo>
                  <a:lnTo>
                    <a:pt x="619548" y="112925"/>
                  </a:lnTo>
                </a:path>
                <a:path w="716915" h="715644">
                  <a:moveTo>
                    <a:pt x="658447" y="163215"/>
                  </a:moveTo>
                  <a:lnTo>
                    <a:pt x="658447" y="163215"/>
                  </a:lnTo>
                  <a:lnTo>
                    <a:pt x="665093" y="173652"/>
                  </a:lnTo>
                </a:path>
                <a:path w="716915" h="715644">
                  <a:moveTo>
                    <a:pt x="692596" y="229641"/>
                  </a:moveTo>
                  <a:lnTo>
                    <a:pt x="692596" y="229641"/>
                  </a:lnTo>
                  <a:lnTo>
                    <a:pt x="696399" y="241973"/>
                  </a:lnTo>
                </a:path>
                <a:path w="716915" h="715644">
                  <a:moveTo>
                    <a:pt x="711572" y="303660"/>
                  </a:moveTo>
                  <a:lnTo>
                    <a:pt x="713480" y="313150"/>
                  </a:lnTo>
                  <a:lnTo>
                    <a:pt x="714428" y="315993"/>
                  </a:lnTo>
                </a:path>
              </a:pathLst>
            </a:custGeom>
            <a:ln w="18028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287" y="1513967"/>
              <a:ext cx="295275" cy="278765"/>
            </a:xfrm>
            <a:custGeom>
              <a:avLst/>
              <a:gdLst/>
              <a:ahLst/>
              <a:cxnLst/>
              <a:rect l="l" t="t" r="r" b="b"/>
              <a:pathLst>
                <a:path w="295275" h="278764">
                  <a:moveTo>
                    <a:pt x="0" y="139319"/>
                  </a:moveTo>
                  <a:lnTo>
                    <a:pt x="7511" y="95276"/>
                  </a:lnTo>
                  <a:lnTo>
                    <a:pt x="28427" y="57031"/>
                  </a:lnTo>
                  <a:lnTo>
                    <a:pt x="60322" y="26875"/>
                  </a:lnTo>
                  <a:lnTo>
                    <a:pt x="100770" y="7100"/>
                  </a:lnTo>
                  <a:lnTo>
                    <a:pt x="147345" y="0"/>
                  </a:lnTo>
                  <a:lnTo>
                    <a:pt x="193914" y="7100"/>
                  </a:lnTo>
                  <a:lnTo>
                    <a:pt x="234362" y="26875"/>
                  </a:lnTo>
                  <a:lnTo>
                    <a:pt x="266259" y="57031"/>
                  </a:lnTo>
                  <a:lnTo>
                    <a:pt x="287178" y="95276"/>
                  </a:lnTo>
                  <a:lnTo>
                    <a:pt x="294690" y="139319"/>
                  </a:lnTo>
                  <a:lnTo>
                    <a:pt x="287178" y="183361"/>
                  </a:lnTo>
                  <a:lnTo>
                    <a:pt x="266259" y="221606"/>
                  </a:lnTo>
                  <a:lnTo>
                    <a:pt x="234362" y="251762"/>
                  </a:lnTo>
                  <a:lnTo>
                    <a:pt x="193914" y="271537"/>
                  </a:lnTo>
                  <a:lnTo>
                    <a:pt x="147345" y="278638"/>
                  </a:lnTo>
                  <a:lnTo>
                    <a:pt x="100770" y="271537"/>
                  </a:lnTo>
                  <a:lnTo>
                    <a:pt x="60322" y="251762"/>
                  </a:lnTo>
                  <a:lnTo>
                    <a:pt x="28427" y="221606"/>
                  </a:lnTo>
                  <a:lnTo>
                    <a:pt x="7511" y="183361"/>
                  </a:lnTo>
                  <a:lnTo>
                    <a:pt x="0" y="13931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09060" y="3395726"/>
              <a:ext cx="927735" cy="1146810"/>
            </a:xfrm>
            <a:custGeom>
              <a:avLst/>
              <a:gdLst/>
              <a:ahLst/>
              <a:cxnLst/>
              <a:rect l="l" t="t" r="r" b="b"/>
              <a:pathLst>
                <a:path w="927735" h="1146810">
                  <a:moveTo>
                    <a:pt x="0" y="0"/>
                  </a:moveTo>
                  <a:lnTo>
                    <a:pt x="0" y="1146302"/>
                  </a:lnTo>
                  <a:lnTo>
                    <a:pt x="927480" y="472567"/>
                  </a:lnTo>
                  <a:lnTo>
                    <a:pt x="897268" y="432849"/>
                  </a:lnTo>
                  <a:lnTo>
                    <a:pt x="865517" y="394663"/>
                  </a:lnTo>
                  <a:lnTo>
                    <a:pt x="832289" y="358039"/>
                  </a:lnTo>
                  <a:lnTo>
                    <a:pt x="797643" y="323008"/>
                  </a:lnTo>
                  <a:lnTo>
                    <a:pt x="761638" y="289601"/>
                  </a:lnTo>
                  <a:lnTo>
                    <a:pt x="724337" y="257848"/>
                  </a:lnTo>
                  <a:lnTo>
                    <a:pt x="685797" y="227781"/>
                  </a:lnTo>
                  <a:lnTo>
                    <a:pt x="646079" y="199430"/>
                  </a:lnTo>
                  <a:lnTo>
                    <a:pt x="605244" y="172826"/>
                  </a:lnTo>
                  <a:lnTo>
                    <a:pt x="563352" y="148000"/>
                  </a:lnTo>
                  <a:lnTo>
                    <a:pt x="520461" y="124983"/>
                  </a:lnTo>
                  <a:lnTo>
                    <a:pt x="476634" y="103806"/>
                  </a:lnTo>
                  <a:lnTo>
                    <a:pt x="431928" y="84499"/>
                  </a:lnTo>
                  <a:lnTo>
                    <a:pt x="386405" y="67094"/>
                  </a:lnTo>
                  <a:lnTo>
                    <a:pt x="340125" y="51620"/>
                  </a:lnTo>
                  <a:lnTo>
                    <a:pt x="293148" y="38110"/>
                  </a:lnTo>
                  <a:lnTo>
                    <a:pt x="245533" y="26594"/>
                  </a:lnTo>
                  <a:lnTo>
                    <a:pt x="197341" y="17102"/>
                  </a:lnTo>
                  <a:lnTo>
                    <a:pt x="148631" y="9666"/>
                  </a:lnTo>
                  <a:lnTo>
                    <a:pt x="99464" y="4316"/>
                  </a:lnTo>
                  <a:lnTo>
                    <a:pt x="49900" y="10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09060" y="3395726"/>
              <a:ext cx="927735" cy="1146810"/>
            </a:xfrm>
            <a:custGeom>
              <a:avLst/>
              <a:gdLst/>
              <a:ahLst/>
              <a:cxnLst/>
              <a:rect l="l" t="t" r="r" b="b"/>
              <a:pathLst>
                <a:path w="927735" h="1146810">
                  <a:moveTo>
                    <a:pt x="0" y="0"/>
                  </a:moveTo>
                  <a:lnTo>
                    <a:pt x="49900" y="1084"/>
                  </a:lnTo>
                  <a:lnTo>
                    <a:pt x="99464" y="4316"/>
                  </a:lnTo>
                  <a:lnTo>
                    <a:pt x="148631" y="9666"/>
                  </a:lnTo>
                  <a:lnTo>
                    <a:pt x="197341" y="17102"/>
                  </a:lnTo>
                  <a:lnTo>
                    <a:pt x="245533" y="26594"/>
                  </a:lnTo>
                  <a:lnTo>
                    <a:pt x="293148" y="38110"/>
                  </a:lnTo>
                  <a:lnTo>
                    <a:pt x="340125" y="51620"/>
                  </a:lnTo>
                  <a:lnTo>
                    <a:pt x="386405" y="67094"/>
                  </a:lnTo>
                  <a:lnTo>
                    <a:pt x="431928" y="84499"/>
                  </a:lnTo>
                  <a:lnTo>
                    <a:pt x="476634" y="103806"/>
                  </a:lnTo>
                  <a:lnTo>
                    <a:pt x="520461" y="124983"/>
                  </a:lnTo>
                  <a:lnTo>
                    <a:pt x="563352" y="148000"/>
                  </a:lnTo>
                  <a:lnTo>
                    <a:pt x="605244" y="172826"/>
                  </a:lnTo>
                  <a:lnTo>
                    <a:pt x="646079" y="199430"/>
                  </a:lnTo>
                  <a:lnTo>
                    <a:pt x="685797" y="227781"/>
                  </a:lnTo>
                  <a:lnTo>
                    <a:pt x="724337" y="257848"/>
                  </a:lnTo>
                  <a:lnTo>
                    <a:pt x="761638" y="289601"/>
                  </a:lnTo>
                  <a:lnTo>
                    <a:pt x="797643" y="323008"/>
                  </a:lnTo>
                  <a:lnTo>
                    <a:pt x="832289" y="358039"/>
                  </a:lnTo>
                  <a:lnTo>
                    <a:pt x="865517" y="394663"/>
                  </a:lnTo>
                  <a:lnTo>
                    <a:pt x="897268" y="432849"/>
                  </a:lnTo>
                  <a:lnTo>
                    <a:pt x="927480" y="472567"/>
                  </a:lnTo>
                  <a:lnTo>
                    <a:pt x="0" y="1146302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62923" y="3395726"/>
              <a:ext cx="2292985" cy="2292985"/>
            </a:xfrm>
            <a:custGeom>
              <a:avLst/>
              <a:gdLst/>
              <a:ahLst/>
              <a:cxnLst/>
              <a:rect l="l" t="t" r="r" b="b"/>
              <a:pathLst>
                <a:path w="2292985" h="2292985">
                  <a:moveTo>
                    <a:pt x="1146137" y="0"/>
                  </a:moveTo>
                  <a:lnTo>
                    <a:pt x="1094374" y="1170"/>
                  </a:lnTo>
                  <a:lnTo>
                    <a:pt x="1042875" y="4663"/>
                  </a:lnTo>
                  <a:lnTo>
                    <a:pt x="991715" y="10456"/>
                  </a:lnTo>
                  <a:lnTo>
                    <a:pt x="940967" y="18524"/>
                  </a:lnTo>
                  <a:lnTo>
                    <a:pt x="890705" y="28843"/>
                  </a:lnTo>
                  <a:lnTo>
                    <a:pt x="841002" y="41387"/>
                  </a:lnTo>
                  <a:lnTo>
                    <a:pt x="791934" y="56134"/>
                  </a:lnTo>
                  <a:lnTo>
                    <a:pt x="743572" y="73057"/>
                  </a:lnTo>
                  <a:lnTo>
                    <a:pt x="695993" y="92133"/>
                  </a:lnTo>
                  <a:lnTo>
                    <a:pt x="649269" y="113337"/>
                  </a:lnTo>
                  <a:lnTo>
                    <a:pt x="603473" y="136645"/>
                  </a:lnTo>
                  <a:lnTo>
                    <a:pt x="558681" y="162032"/>
                  </a:lnTo>
                  <a:lnTo>
                    <a:pt x="514966" y="189475"/>
                  </a:lnTo>
                  <a:lnTo>
                    <a:pt x="472402" y="218948"/>
                  </a:lnTo>
                  <a:lnTo>
                    <a:pt x="433790" y="248242"/>
                  </a:lnTo>
                  <a:lnTo>
                    <a:pt x="396760" y="278841"/>
                  </a:lnTo>
                  <a:lnTo>
                    <a:pt x="361320" y="310690"/>
                  </a:lnTo>
                  <a:lnTo>
                    <a:pt x="327479" y="343731"/>
                  </a:lnTo>
                  <a:lnTo>
                    <a:pt x="295246" y="377911"/>
                  </a:lnTo>
                  <a:lnTo>
                    <a:pt x="264629" y="413173"/>
                  </a:lnTo>
                  <a:lnTo>
                    <a:pt x="235638" y="449461"/>
                  </a:lnTo>
                  <a:lnTo>
                    <a:pt x="208281" y="486721"/>
                  </a:lnTo>
                  <a:lnTo>
                    <a:pt x="182567" y="524896"/>
                  </a:lnTo>
                  <a:lnTo>
                    <a:pt x="158505" y="563931"/>
                  </a:lnTo>
                  <a:lnTo>
                    <a:pt x="136103" y="603770"/>
                  </a:lnTo>
                  <a:lnTo>
                    <a:pt x="115371" y="644358"/>
                  </a:lnTo>
                  <a:lnTo>
                    <a:pt x="96317" y="685640"/>
                  </a:lnTo>
                  <a:lnTo>
                    <a:pt x="78950" y="727558"/>
                  </a:lnTo>
                  <a:lnTo>
                    <a:pt x="63279" y="770059"/>
                  </a:lnTo>
                  <a:lnTo>
                    <a:pt x="49312" y="813087"/>
                  </a:lnTo>
                  <a:lnTo>
                    <a:pt x="37059" y="856585"/>
                  </a:lnTo>
                  <a:lnTo>
                    <a:pt x="26528" y="900498"/>
                  </a:lnTo>
                  <a:lnTo>
                    <a:pt x="17727" y="944771"/>
                  </a:lnTo>
                  <a:lnTo>
                    <a:pt x="10667" y="989348"/>
                  </a:lnTo>
                  <a:lnTo>
                    <a:pt x="5355" y="1034174"/>
                  </a:lnTo>
                  <a:lnTo>
                    <a:pt x="1801" y="1079192"/>
                  </a:lnTo>
                  <a:lnTo>
                    <a:pt x="13" y="1124348"/>
                  </a:lnTo>
                  <a:lnTo>
                    <a:pt x="0" y="1169586"/>
                  </a:lnTo>
                  <a:lnTo>
                    <a:pt x="1770" y="1214850"/>
                  </a:lnTo>
                  <a:lnTo>
                    <a:pt x="5333" y="1260084"/>
                  </a:lnTo>
                  <a:lnTo>
                    <a:pt x="10698" y="1305233"/>
                  </a:lnTo>
                  <a:lnTo>
                    <a:pt x="17872" y="1350242"/>
                  </a:lnTo>
                  <a:lnTo>
                    <a:pt x="26866" y="1395055"/>
                  </a:lnTo>
                  <a:lnTo>
                    <a:pt x="37688" y="1439616"/>
                  </a:lnTo>
                  <a:lnTo>
                    <a:pt x="50346" y="1483869"/>
                  </a:lnTo>
                  <a:lnTo>
                    <a:pt x="64849" y="1527760"/>
                  </a:lnTo>
                  <a:lnTo>
                    <a:pt x="81207" y="1571232"/>
                  </a:lnTo>
                  <a:lnTo>
                    <a:pt x="99427" y="1614230"/>
                  </a:lnTo>
                  <a:lnTo>
                    <a:pt x="119520" y="1656698"/>
                  </a:lnTo>
                  <a:lnTo>
                    <a:pt x="141492" y="1698582"/>
                  </a:lnTo>
                  <a:lnTo>
                    <a:pt x="165355" y="1739824"/>
                  </a:lnTo>
                  <a:lnTo>
                    <a:pt x="191115" y="1780370"/>
                  </a:lnTo>
                  <a:lnTo>
                    <a:pt x="218783" y="1820164"/>
                  </a:lnTo>
                  <a:lnTo>
                    <a:pt x="248077" y="1858774"/>
                  </a:lnTo>
                  <a:lnTo>
                    <a:pt x="278677" y="1895803"/>
                  </a:lnTo>
                  <a:lnTo>
                    <a:pt x="310525" y="1931242"/>
                  </a:lnTo>
                  <a:lnTo>
                    <a:pt x="343566" y="1965083"/>
                  </a:lnTo>
                  <a:lnTo>
                    <a:pt x="377746" y="1997315"/>
                  </a:lnTo>
                  <a:lnTo>
                    <a:pt x="413008" y="2027931"/>
                  </a:lnTo>
                  <a:lnTo>
                    <a:pt x="449296" y="2056921"/>
                  </a:lnTo>
                  <a:lnTo>
                    <a:pt x="486556" y="2084278"/>
                  </a:lnTo>
                  <a:lnTo>
                    <a:pt x="524731" y="2109991"/>
                  </a:lnTo>
                  <a:lnTo>
                    <a:pt x="563766" y="2134053"/>
                  </a:lnTo>
                  <a:lnTo>
                    <a:pt x="603605" y="2156454"/>
                  </a:lnTo>
                  <a:lnTo>
                    <a:pt x="644193" y="2177186"/>
                  </a:lnTo>
                  <a:lnTo>
                    <a:pt x="685475" y="2196240"/>
                  </a:lnTo>
                  <a:lnTo>
                    <a:pt x="727394" y="2213606"/>
                  </a:lnTo>
                  <a:lnTo>
                    <a:pt x="769894" y="2229277"/>
                  </a:lnTo>
                  <a:lnTo>
                    <a:pt x="812922" y="2243244"/>
                  </a:lnTo>
                  <a:lnTo>
                    <a:pt x="856420" y="2255497"/>
                  </a:lnTo>
                  <a:lnTo>
                    <a:pt x="900333" y="2266028"/>
                  </a:lnTo>
                  <a:lnTo>
                    <a:pt x="944606" y="2274828"/>
                  </a:lnTo>
                  <a:lnTo>
                    <a:pt x="989183" y="2281889"/>
                  </a:lnTo>
                  <a:lnTo>
                    <a:pt x="1034009" y="2287200"/>
                  </a:lnTo>
                  <a:lnTo>
                    <a:pt x="1079027" y="2290755"/>
                  </a:lnTo>
                  <a:lnTo>
                    <a:pt x="1124183" y="2292543"/>
                  </a:lnTo>
                  <a:lnTo>
                    <a:pt x="1169421" y="2292557"/>
                  </a:lnTo>
                  <a:lnTo>
                    <a:pt x="1214685" y="2290786"/>
                  </a:lnTo>
                  <a:lnTo>
                    <a:pt x="1259919" y="2287223"/>
                  </a:lnTo>
                  <a:lnTo>
                    <a:pt x="1305069" y="2281859"/>
                  </a:lnTo>
                  <a:lnTo>
                    <a:pt x="1350077" y="2274685"/>
                  </a:lnTo>
                  <a:lnTo>
                    <a:pt x="1394890" y="2265692"/>
                  </a:lnTo>
                  <a:lnTo>
                    <a:pt x="1439451" y="2254871"/>
                  </a:lnTo>
                  <a:lnTo>
                    <a:pt x="1483704" y="2242213"/>
                  </a:lnTo>
                  <a:lnTo>
                    <a:pt x="1527595" y="2227710"/>
                  </a:lnTo>
                  <a:lnTo>
                    <a:pt x="1571067" y="2211354"/>
                  </a:lnTo>
                  <a:lnTo>
                    <a:pt x="1614065" y="2193134"/>
                  </a:lnTo>
                  <a:lnTo>
                    <a:pt x="1656534" y="2173042"/>
                  </a:lnTo>
                  <a:lnTo>
                    <a:pt x="1698417" y="2151070"/>
                  </a:lnTo>
                  <a:lnTo>
                    <a:pt x="1739659" y="2127209"/>
                  </a:lnTo>
                  <a:lnTo>
                    <a:pt x="1780205" y="2101449"/>
                  </a:lnTo>
                  <a:lnTo>
                    <a:pt x="1819999" y="2073783"/>
                  </a:lnTo>
                  <a:lnTo>
                    <a:pt x="1858610" y="2044488"/>
                  </a:lnTo>
                  <a:lnTo>
                    <a:pt x="1895640" y="2013889"/>
                  </a:lnTo>
                  <a:lnTo>
                    <a:pt x="1931080" y="1982040"/>
                  </a:lnTo>
                  <a:lnTo>
                    <a:pt x="1964921" y="1948999"/>
                  </a:lnTo>
                  <a:lnTo>
                    <a:pt x="1997154" y="1914819"/>
                  </a:lnTo>
                  <a:lnTo>
                    <a:pt x="2027771" y="1879557"/>
                  </a:lnTo>
                  <a:lnTo>
                    <a:pt x="2056762" y="1843269"/>
                  </a:lnTo>
                  <a:lnTo>
                    <a:pt x="2084119" y="1806009"/>
                  </a:lnTo>
                  <a:lnTo>
                    <a:pt x="2109833" y="1767834"/>
                  </a:lnTo>
                  <a:lnTo>
                    <a:pt x="2133895" y="1728799"/>
                  </a:lnTo>
                  <a:lnTo>
                    <a:pt x="2156297" y="1688960"/>
                  </a:lnTo>
                  <a:lnTo>
                    <a:pt x="2177029" y="1648372"/>
                  </a:lnTo>
                  <a:lnTo>
                    <a:pt x="2196083" y="1607090"/>
                  </a:lnTo>
                  <a:lnTo>
                    <a:pt x="2213450" y="1565172"/>
                  </a:lnTo>
                  <a:lnTo>
                    <a:pt x="2229122" y="1522671"/>
                  </a:lnTo>
                  <a:lnTo>
                    <a:pt x="2243088" y="1479643"/>
                  </a:lnTo>
                  <a:lnTo>
                    <a:pt x="2255342" y="1436145"/>
                  </a:lnTo>
                  <a:lnTo>
                    <a:pt x="2265873" y="1392232"/>
                  </a:lnTo>
                  <a:lnTo>
                    <a:pt x="2274673" y="1347959"/>
                  </a:lnTo>
                  <a:lnTo>
                    <a:pt x="2281733" y="1303382"/>
                  </a:lnTo>
                  <a:lnTo>
                    <a:pt x="2287045" y="1258556"/>
                  </a:lnTo>
                  <a:lnTo>
                    <a:pt x="2290599" y="1213538"/>
                  </a:lnTo>
                  <a:lnTo>
                    <a:pt x="2292387" y="1168382"/>
                  </a:lnTo>
                  <a:lnTo>
                    <a:pt x="2292401" y="1123144"/>
                  </a:lnTo>
                  <a:lnTo>
                    <a:pt x="2290630" y="1077880"/>
                  </a:lnTo>
                  <a:lnTo>
                    <a:pt x="2287067" y="1032646"/>
                  </a:lnTo>
                  <a:lnTo>
                    <a:pt x="2281702" y="987497"/>
                  </a:lnTo>
                  <a:lnTo>
                    <a:pt x="2274528" y="942488"/>
                  </a:lnTo>
                  <a:lnTo>
                    <a:pt x="2265534" y="897675"/>
                  </a:lnTo>
                  <a:lnTo>
                    <a:pt x="2254713" y="853114"/>
                  </a:lnTo>
                  <a:lnTo>
                    <a:pt x="2242055" y="808861"/>
                  </a:lnTo>
                  <a:lnTo>
                    <a:pt x="2227551" y="764970"/>
                  </a:lnTo>
                  <a:lnTo>
                    <a:pt x="2211194" y="721498"/>
                  </a:lnTo>
                  <a:lnTo>
                    <a:pt x="2192973" y="678500"/>
                  </a:lnTo>
                  <a:lnTo>
                    <a:pt x="2172881" y="636032"/>
                  </a:lnTo>
                  <a:lnTo>
                    <a:pt x="2150908" y="594148"/>
                  </a:lnTo>
                  <a:lnTo>
                    <a:pt x="2127045" y="552906"/>
                  </a:lnTo>
                  <a:lnTo>
                    <a:pt x="2101285" y="512360"/>
                  </a:lnTo>
                  <a:lnTo>
                    <a:pt x="2073618" y="472567"/>
                  </a:lnTo>
                  <a:lnTo>
                    <a:pt x="1146137" y="1146302"/>
                  </a:lnTo>
                  <a:lnTo>
                    <a:pt x="11461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62923" y="3395726"/>
              <a:ext cx="2292985" cy="2292985"/>
            </a:xfrm>
            <a:custGeom>
              <a:avLst/>
              <a:gdLst/>
              <a:ahLst/>
              <a:cxnLst/>
              <a:rect l="l" t="t" r="r" b="b"/>
              <a:pathLst>
                <a:path w="2292985" h="2292985">
                  <a:moveTo>
                    <a:pt x="2073618" y="472567"/>
                  </a:moveTo>
                  <a:lnTo>
                    <a:pt x="2101285" y="512360"/>
                  </a:lnTo>
                  <a:lnTo>
                    <a:pt x="2127045" y="552906"/>
                  </a:lnTo>
                  <a:lnTo>
                    <a:pt x="2150908" y="594148"/>
                  </a:lnTo>
                  <a:lnTo>
                    <a:pt x="2172881" y="636032"/>
                  </a:lnTo>
                  <a:lnTo>
                    <a:pt x="2192973" y="678500"/>
                  </a:lnTo>
                  <a:lnTo>
                    <a:pt x="2211194" y="721498"/>
                  </a:lnTo>
                  <a:lnTo>
                    <a:pt x="2227551" y="764970"/>
                  </a:lnTo>
                  <a:lnTo>
                    <a:pt x="2242055" y="808861"/>
                  </a:lnTo>
                  <a:lnTo>
                    <a:pt x="2254713" y="853114"/>
                  </a:lnTo>
                  <a:lnTo>
                    <a:pt x="2265534" y="897675"/>
                  </a:lnTo>
                  <a:lnTo>
                    <a:pt x="2274528" y="942488"/>
                  </a:lnTo>
                  <a:lnTo>
                    <a:pt x="2281702" y="987497"/>
                  </a:lnTo>
                  <a:lnTo>
                    <a:pt x="2287067" y="1032646"/>
                  </a:lnTo>
                  <a:lnTo>
                    <a:pt x="2290630" y="1077880"/>
                  </a:lnTo>
                  <a:lnTo>
                    <a:pt x="2292401" y="1123144"/>
                  </a:lnTo>
                  <a:lnTo>
                    <a:pt x="2292387" y="1168382"/>
                  </a:lnTo>
                  <a:lnTo>
                    <a:pt x="2290599" y="1213538"/>
                  </a:lnTo>
                  <a:lnTo>
                    <a:pt x="2287045" y="1258556"/>
                  </a:lnTo>
                  <a:lnTo>
                    <a:pt x="2281733" y="1303382"/>
                  </a:lnTo>
                  <a:lnTo>
                    <a:pt x="2274673" y="1347959"/>
                  </a:lnTo>
                  <a:lnTo>
                    <a:pt x="2265873" y="1392232"/>
                  </a:lnTo>
                  <a:lnTo>
                    <a:pt x="2255342" y="1436145"/>
                  </a:lnTo>
                  <a:lnTo>
                    <a:pt x="2243088" y="1479643"/>
                  </a:lnTo>
                  <a:lnTo>
                    <a:pt x="2229122" y="1522671"/>
                  </a:lnTo>
                  <a:lnTo>
                    <a:pt x="2213450" y="1565172"/>
                  </a:lnTo>
                  <a:lnTo>
                    <a:pt x="2196083" y="1607090"/>
                  </a:lnTo>
                  <a:lnTo>
                    <a:pt x="2177029" y="1648372"/>
                  </a:lnTo>
                  <a:lnTo>
                    <a:pt x="2156297" y="1688960"/>
                  </a:lnTo>
                  <a:lnTo>
                    <a:pt x="2133895" y="1728799"/>
                  </a:lnTo>
                  <a:lnTo>
                    <a:pt x="2109833" y="1767834"/>
                  </a:lnTo>
                  <a:lnTo>
                    <a:pt x="2084119" y="1806009"/>
                  </a:lnTo>
                  <a:lnTo>
                    <a:pt x="2056762" y="1843269"/>
                  </a:lnTo>
                  <a:lnTo>
                    <a:pt x="2027771" y="1879557"/>
                  </a:lnTo>
                  <a:lnTo>
                    <a:pt x="1997154" y="1914819"/>
                  </a:lnTo>
                  <a:lnTo>
                    <a:pt x="1964921" y="1948999"/>
                  </a:lnTo>
                  <a:lnTo>
                    <a:pt x="1931080" y="1982040"/>
                  </a:lnTo>
                  <a:lnTo>
                    <a:pt x="1895640" y="2013889"/>
                  </a:lnTo>
                  <a:lnTo>
                    <a:pt x="1858610" y="2044488"/>
                  </a:lnTo>
                  <a:lnTo>
                    <a:pt x="1819999" y="2073783"/>
                  </a:lnTo>
                  <a:lnTo>
                    <a:pt x="1780205" y="2101449"/>
                  </a:lnTo>
                  <a:lnTo>
                    <a:pt x="1739659" y="2127209"/>
                  </a:lnTo>
                  <a:lnTo>
                    <a:pt x="1698417" y="2151070"/>
                  </a:lnTo>
                  <a:lnTo>
                    <a:pt x="1656534" y="2173042"/>
                  </a:lnTo>
                  <a:lnTo>
                    <a:pt x="1614065" y="2193134"/>
                  </a:lnTo>
                  <a:lnTo>
                    <a:pt x="1571067" y="2211354"/>
                  </a:lnTo>
                  <a:lnTo>
                    <a:pt x="1527595" y="2227710"/>
                  </a:lnTo>
                  <a:lnTo>
                    <a:pt x="1483704" y="2242213"/>
                  </a:lnTo>
                  <a:lnTo>
                    <a:pt x="1439451" y="2254871"/>
                  </a:lnTo>
                  <a:lnTo>
                    <a:pt x="1394890" y="2265692"/>
                  </a:lnTo>
                  <a:lnTo>
                    <a:pt x="1350077" y="2274685"/>
                  </a:lnTo>
                  <a:lnTo>
                    <a:pt x="1305069" y="2281859"/>
                  </a:lnTo>
                  <a:lnTo>
                    <a:pt x="1259919" y="2287223"/>
                  </a:lnTo>
                  <a:lnTo>
                    <a:pt x="1214685" y="2290786"/>
                  </a:lnTo>
                  <a:lnTo>
                    <a:pt x="1169421" y="2292557"/>
                  </a:lnTo>
                  <a:lnTo>
                    <a:pt x="1124183" y="2292543"/>
                  </a:lnTo>
                  <a:lnTo>
                    <a:pt x="1079027" y="2290755"/>
                  </a:lnTo>
                  <a:lnTo>
                    <a:pt x="1034009" y="2287200"/>
                  </a:lnTo>
                  <a:lnTo>
                    <a:pt x="989183" y="2281889"/>
                  </a:lnTo>
                  <a:lnTo>
                    <a:pt x="944606" y="2274828"/>
                  </a:lnTo>
                  <a:lnTo>
                    <a:pt x="900333" y="2266028"/>
                  </a:lnTo>
                  <a:lnTo>
                    <a:pt x="856420" y="2255497"/>
                  </a:lnTo>
                  <a:lnTo>
                    <a:pt x="812922" y="2243244"/>
                  </a:lnTo>
                  <a:lnTo>
                    <a:pt x="769894" y="2229277"/>
                  </a:lnTo>
                  <a:lnTo>
                    <a:pt x="727394" y="2213606"/>
                  </a:lnTo>
                  <a:lnTo>
                    <a:pt x="685475" y="2196240"/>
                  </a:lnTo>
                  <a:lnTo>
                    <a:pt x="644193" y="2177186"/>
                  </a:lnTo>
                  <a:lnTo>
                    <a:pt x="603605" y="2156454"/>
                  </a:lnTo>
                  <a:lnTo>
                    <a:pt x="563766" y="2134053"/>
                  </a:lnTo>
                  <a:lnTo>
                    <a:pt x="524731" y="2109991"/>
                  </a:lnTo>
                  <a:lnTo>
                    <a:pt x="486556" y="2084278"/>
                  </a:lnTo>
                  <a:lnTo>
                    <a:pt x="449296" y="2056921"/>
                  </a:lnTo>
                  <a:lnTo>
                    <a:pt x="413008" y="2027931"/>
                  </a:lnTo>
                  <a:lnTo>
                    <a:pt x="377746" y="1997315"/>
                  </a:lnTo>
                  <a:lnTo>
                    <a:pt x="343566" y="1965083"/>
                  </a:lnTo>
                  <a:lnTo>
                    <a:pt x="310525" y="1931242"/>
                  </a:lnTo>
                  <a:lnTo>
                    <a:pt x="278677" y="1895803"/>
                  </a:lnTo>
                  <a:lnTo>
                    <a:pt x="248077" y="1858774"/>
                  </a:lnTo>
                  <a:lnTo>
                    <a:pt x="218783" y="1820164"/>
                  </a:lnTo>
                  <a:lnTo>
                    <a:pt x="191115" y="1780370"/>
                  </a:lnTo>
                  <a:lnTo>
                    <a:pt x="165355" y="1739824"/>
                  </a:lnTo>
                  <a:lnTo>
                    <a:pt x="141492" y="1698582"/>
                  </a:lnTo>
                  <a:lnTo>
                    <a:pt x="119520" y="1656698"/>
                  </a:lnTo>
                  <a:lnTo>
                    <a:pt x="99427" y="1614230"/>
                  </a:lnTo>
                  <a:lnTo>
                    <a:pt x="81207" y="1571232"/>
                  </a:lnTo>
                  <a:lnTo>
                    <a:pt x="64849" y="1527760"/>
                  </a:lnTo>
                  <a:lnTo>
                    <a:pt x="50346" y="1483869"/>
                  </a:lnTo>
                  <a:lnTo>
                    <a:pt x="37688" y="1439616"/>
                  </a:lnTo>
                  <a:lnTo>
                    <a:pt x="26866" y="1395055"/>
                  </a:lnTo>
                  <a:lnTo>
                    <a:pt x="17872" y="1350242"/>
                  </a:lnTo>
                  <a:lnTo>
                    <a:pt x="10698" y="1305233"/>
                  </a:lnTo>
                  <a:lnTo>
                    <a:pt x="5333" y="1260084"/>
                  </a:lnTo>
                  <a:lnTo>
                    <a:pt x="1770" y="1214850"/>
                  </a:lnTo>
                  <a:lnTo>
                    <a:pt x="0" y="1169586"/>
                  </a:lnTo>
                  <a:lnTo>
                    <a:pt x="13" y="1124348"/>
                  </a:lnTo>
                  <a:lnTo>
                    <a:pt x="1801" y="1079192"/>
                  </a:lnTo>
                  <a:lnTo>
                    <a:pt x="5355" y="1034174"/>
                  </a:lnTo>
                  <a:lnTo>
                    <a:pt x="10667" y="989348"/>
                  </a:lnTo>
                  <a:lnTo>
                    <a:pt x="17727" y="944771"/>
                  </a:lnTo>
                  <a:lnTo>
                    <a:pt x="26528" y="900498"/>
                  </a:lnTo>
                  <a:lnTo>
                    <a:pt x="37059" y="856585"/>
                  </a:lnTo>
                  <a:lnTo>
                    <a:pt x="49312" y="813087"/>
                  </a:lnTo>
                  <a:lnTo>
                    <a:pt x="63279" y="770059"/>
                  </a:lnTo>
                  <a:lnTo>
                    <a:pt x="78950" y="727558"/>
                  </a:lnTo>
                  <a:lnTo>
                    <a:pt x="96317" y="685640"/>
                  </a:lnTo>
                  <a:lnTo>
                    <a:pt x="115371" y="644358"/>
                  </a:lnTo>
                  <a:lnTo>
                    <a:pt x="136103" y="603770"/>
                  </a:lnTo>
                  <a:lnTo>
                    <a:pt x="158505" y="563931"/>
                  </a:lnTo>
                  <a:lnTo>
                    <a:pt x="182567" y="524896"/>
                  </a:lnTo>
                  <a:lnTo>
                    <a:pt x="208281" y="486721"/>
                  </a:lnTo>
                  <a:lnTo>
                    <a:pt x="235638" y="449461"/>
                  </a:lnTo>
                  <a:lnTo>
                    <a:pt x="264629" y="413173"/>
                  </a:lnTo>
                  <a:lnTo>
                    <a:pt x="295246" y="377911"/>
                  </a:lnTo>
                  <a:lnTo>
                    <a:pt x="327479" y="343731"/>
                  </a:lnTo>
                  <a:lnTo>
                    <a:pt x="361320" y="310690"/>
                  </a:lnTo>
                  <a:lnTo>
                    <a:pt x="396760" y="278841"/>
                  </a:lnTo>
                  <a:lnTo>
                    <a:pt x="433790" y="248242"/>
                  </a:lnTo>
                  <a:lnTo>
                    <a:pt x="472402" y="218948"/>
                  </a:lnTo>
                  <a:lnTo>
                    <a:pt x="514966" y="189475"/>
                  </a:lnTo>
                  <a:lnTo>
                    <a:pt x="558681" y="162032"/>
                  </a:lnTo>
                  <a:lnTo>
                    <a:pt x="603473" y="136645"/>
                  </a:lnTo>
                  <a:lnTo>
                    <a:pt x="649269" y="113337"/>
                  </a:lnTo>
                  <a:lnTo>
                    <a:pt x="695993" y="92133"/>
                  </a:lnTo>
                  <a:lnTo>
                    <a:pt x="743572" y="73057"/>
                  </a:lnTo>
                  <a:lnTo>
                    <a:pt x="791934" y="56134"/>
                  </a:lnTo>
                  <a:lnTo>
                    <a:pt x="841002" y="41387"/>
                  </a:lnTo>
                  <a:lnTo>
                    <a:pt x="890705" y="28843"/>
                  </a:lnTo>
                  <a:lnTo>
                    <a:pt x="940967" y="18524"/>
                  </a:lnTo>
                  <a:lnTo>
                    <a:pt x="991715" y="10456"/>
                  </a:lnTo>
                  <a:lnTo>
                    <a:pt x="1042875" y="4663"/>
                  </a:lnTo>
                  <a:lnTo>
                    <a:pt x="1094374" y="1170"/>
                  </a:lnTo>
                  <a:lnTo>
                    <a:pt x="1146137" y="0"/>
                  </a:lnTo>
                  <a:lnTo>
                    <a:pt x="1146137" y="1146302"/>
                  </a:lnTo>
                  <a:lnTo>
                    <a:pt x="2073618" y="472567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09060" y="3395726"/>
              <a:ext cx="0" cy="1146810"/>
            </a:xfrm>
            <a:custGeom>
              <a:avLst/>
              <a:gdLst/>
              <a:ahLst/>
              <a:cxnLst/>
              <a:rect l="l" t="t" r="r" b="b"/>
              <a:pathLst>
                <a:path h="1146810">
                  <a:moveTo>
                    <a:pt x="0" y="0"/>
                  </a:moveTo>
                  <a:lnTo>
                    <a:pt x="0" y="1146302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84143" y="3537458"/>
              <a:ext cx="1281430" cy="2020570"/>
            </a:xfrm>
            <a:custGeom>
              <a:avLst/>
              <a:gdLst/>
              <a:ahLst/>
              <a:cxnLst/>
              <a:rect l="l" t="t" r="r" b="b"/>
              <a:pathLst>
                <a:path w="1281429" h="2020570">
                  <a:moveTo>
                    <a:pt x="222250" y="3175"/>
                  </a:moveTo>
                  <a:lnTo>
                    <a:pt x="1122299" y="3175"/>
                  </a:lnTo>
                </a:path>
                <a:path w="1281429" h="2020570">
                  <a:moveTo>
                    <a:pt x="0" y="178434"/>
                  </a:moveTo>
                  <a:lnTo>
                    <a:pt x="228600" y="0"/>
                  </a:lnTo>
                </a:path>
                <a:path w="1281429" h="2020570">
                  <a:moveTo>
                    <a:pt x="381000" y="2017776"/>
                  </a:moveTo>
                  <a:lnTo>
                    <a:pt x="1281049" y="2017776"/>
                  </a:lnTo>
                </a:path>
                <a:path w="1281429" h="2020570">
                  <a:moveTo>
                    <a:pt x="158750" y="1861439"/>
                  </a:moveTo>
                  <a:lnTo>
                    <a:pt x="387350" y="202056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1498071" y="-15494"/>
            <a:ext cx="4121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50" dirty="0">
                <a:solidFill>
                  <a:srgbClr val="FFFFFF"/>
                </a:solidFill>
              </a:rPr>
              <a:t>4</a:t>
            </a:r>
            <a:endParaRPr sz="6000"/>
          </a:p>
        </p:txBody>
      </p:sp>
      <p:grpSp>
        <p:nvGrpSpPr>
          <p:cNvPr id="15" name="object 15"/>
          <p:cNvGrpSpPr/>
          <p:nvPr/>
        </p:nvGrpSpPr>
        <p:grpSpPr>
          <a:xfrm>
            <a:off x="677595" y="4873536"/>
            <a:ext cx="183515" cy="186055"/>
            <a:chOff x="677595" y="4873536"/>
            <a:chExt cx="183515" cy="186055"/>
          </a:xfrm>
        </p:grpSpPr>
        <p:sp>
          <p:nvSpPr>
            <p:cNvPr id="16" name="object 16"/>
            <p:cNvSpPr/>
            <p:nvPr/>
          </p:nvSpPr>
          <p:spPr>
            <a:xfrm>
              <a:off x="683945" y="4879886"/>
              <a:ext cx="170815" cy="173355"/>
            </a:xfrm>
            <a:custGeom>
              <a:avLst/>
              <a:gdLst/>
              <a:ahLst/>
              <a:cxnLst/>
              <a:rect l="l" t="t" r="r" b="b"/>
              <a:pathLst>
                <a:path w="170815" h="173354">
                  <a:moveTo>
                    <a:pt x="170332" y="0"/>
                  </a:moveTo>
                  <a:lnTo>
                    <a:pt x="0" y="0"/>
                  </a:lnTo>
                  <a:lnTo>
                    <a:pt x="0" y="172935"/>
                  </a:lnTo>
                  <a:lnTo>
                    <a:pt x="170332" y="172935"/>
                  </a:lnTo>
                  <a:lnTo>
                    <a:pt x="170332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3945" y="4879886"/>
              <a:ext cx="170815" cy="173355"/>
            </a:xfrm>
            <a:custGeom>
              <a:avLst/>
              <a:gdLst/>
              <a:ahLst/>
              <a:cxnLst/>
              <a:rect l="l" t="t" r="r" b="b"/>
              <a:pathLst>
                <a:path w="170815" h="173354">
                  <a:moveTo>
                    <a:pt x="0" y="172935"/>
                  </a:moveTo>
                  <a:lnTo>
                    <a:pt x="170332" y="172935"/>
                  </a:lnTo>
                  <a:lnTo>
                    <a:pt x="170332" y="0"/>
                  </a:lnTo>
                  <a:lnTo>
                    <a:pt x="0" y="0"/>
                  </a:lnTo>
                  <a:lnTo>
                    <a:pt x="0" y="17293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677595" y="5250091"/>
            <a:ext cx="183515" cy="186055"/>
            <a:chOff x="677595" y="5250091"/>
            <a:chExt cx="183515" cy="186055"/>
          </a:xfrm>
        </p:grpSpPr>
        <p:sp>
          <p:nvSpPr>
            <p:cNvPr id="19" name="object 19"/>
            <p:cNvSpPr/>
            <p:nvPr/>
          </p:nvSpPr>
          <p:spPr>
            <a:xfrm>
              <a:off x="683945" y="5256441"/>
              <a:ext cx="170815" cy="173355"/>
            </a:xfrm>
            <a:custGeom>
              <a:avLst/>
              <a:gdLst/>
              <a:ahLst/>
              <a:cxnLst/>
              <a:rect l="l" t="t" r="r" b="b"/>
              <a:pathLst>
                <a:path w="170815" h="173354">
                  <a:moveTo>
                    <a:pt x="170332" y="0"/>
                  </a:moveTo>
                  <a:lnTo>
                    <a:pt x="0" y="0"/>
                  </a:lnTo>
                  <a:lnTo>
                    <a:pt x="0" y="172935"/>
                  </a:lnTo>
                  <a:lnTo>
                    <a:pt x="170332" y="172935"/>
                  </a:lnTo>
                  <a:lnTo>
                    <a:pt x="17033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3945" y="5256441"/>
              <a:ext cx="170815" cy="173355"/>
            </a:xfrm>
            <a:custGeom>
              <a:avLst/>
              <a:gdLst/>
              <a:ahLst/>
              <a:cxnLst/>
              <a:rect l="l" t="t" r="r" b="b"/>
              <a:pathLst>
                <a:path w="170815" h="173354">
                  <a:moveTo>
                    <a:pt x="0" y="172935"/>
                  </a:moveTo>
                  <a:lnTo>
                    <a:pt x="170332" y="172935"/>
                  </a:lnTo>
                  <a:lnTo>
                    <a:pt x="170332" y="0"/>
                  </a:lnTo>
                  <a:lnTo>
                    <a:pt x="0" y="0"/>
                  </a:lnTo>
                  <a:lnTo>
                    <a:pt x="0" y="17293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87653" y="4854322"/>
            <a:ext cx="48554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Легка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87653" y="5214620"/>
            <a:ext cx="7442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Помірна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50867" y="5300854"/>
            <a:ext cx="1089788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n = 17 </a:t>
            </a:r>
            <a:r>
              <a:rPr sz="1400" spc="-10" dirty="0">
                <a:latin typeface="Calibri"/>
                <a:cs typeface="Calibri"/>
              </a:rPr>
              <a:t>(85 %)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3980" y="1136727"/>
            <a:ext cx="11441430" cy="2086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958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2E2E81"/>
                </a:solidFill>
                <a:latin typeface="Calibri"/>
                <a:cs typeface="Calibri"/>
              </a:rPr>
              <a:t>Тяжкість та застосування знеболюючих </a:t>
            </a:r>
            <a:r>
              <a:rPr sz="2200" b="1" spc="-10" dirty="0">
                <a:solidFill>
                  <a:srgbClr val="2E2E81"/>
                </a:solidFill>
                <a:latin typeface="Calibri"/>
                <a:cs typeface="Calibri"/>
              </a:rPr>
              <a:t>препаратів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sz="2000" b="1" dirty="0">
                <a:solidFill>
                  <a:srgbClr val="3A3838"/>
                </a:solidFill>
                <a:latin typeface="Calibri"/>
                <a:cs typeface="Calibri"/>
              </a:rPr>
              <a:t>Больові симптоми після ін'єкції (артралгія) були легкими або </a:t>
            </a:r>
            <a:r>
              <a:rPr sz="2000" b="1" spc="-10" dirty="0">
                <a:solidFill>
                  <a:srgbClr val="3A3838"/>
                </a:solidFill>
                <a:latin typeface="Calibri"/>
                <a:cs typeface="Calibri"/>
              </a:rPr>
              <a:t>помірними </a:t>
            </a:r>
            <a:r>
              <a:rPr sz="2000" b="1" dirty="0">
                <a:solidFill>
                  <a:srgbClr val="3A3838"/>
                </a:solidFill>
                <a:latin typeface="Calibri"/>
                <a:cs typeface="Calibri"/>
              </a:rPr>
              <a:t>і добре піддавалися лікуванню </a:t>
            </a:r>
            <a:r>
              <a:rPr sz="2000" b="1" spc="-10" dirty="0">
                <a:solidFill>
                  <a:srgbClr val="3A3838"/>
                </a:solidFill>
                <a:latin typeface="Calibri"/>
                <a:cs typeface="Calibri"/>
              </a:rPr>
              <a:t>парацетамолом.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80"/>
              </a:spcBef>
            </a:pPr>
            <a:endParaRPr sz="2000" dirty="0">
              <a:latin typeface="Calibri"/>
              <a:cs typeface="Calibri"/>
            </a:endParaRPr>
          </a:p>
          <a:p>
            <a:pPr marL="1843405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Calibri"/>
                <a:cs typeface="Calibri"/>
              </a:rPr>
              <a:t>Тяжкість </a:t>
            </a:r>
            <a:r>
              <a:rPr sz="1800" b="1" dirty="0">
                <a:latin typeface="Calibri"/>
                <a:cs typeface="Calibri"/>
              </a:rPr>
              <a:t>артралгії</a:t>
            </a:r>
            <a:endParaRPr sz="1800" dirty="0">
              <a:latin typeface="Calibri"/>
              <a:cs typeface="Calibri"/>
            </a:endParaRPr>
          </a:p>
          <a:p>
            <a:pPr marL="3435985">
              <a:lnSpc>
                <a:spcPct val="100000"/>
              </a:lnSpc>
              <a:spcBef>
                <a:spcPts val="1445"/>
              </a:spcBef>
            </a:pPr>
            <a:r>
              <a:rPr sz="1400" dirty="0">
                <a:latin typeface="Calibri"/>
                <a:cs typeface="Calibri"/>
              </a:rPr>
              <a:t>n = 3 </a:t>
            </a:r>
            <a:r>
              <a:rPr sz="1400" spc="-10" dirty="0">
                <a:latin typeface="Calibri"/>
                <a:cs typeface="Calibri"/>
              </a:rPr>
              <a:t>(15 %)</a:t>
            </a:r>
            <a:endParaRPr sz="1400" dirty="0">
              <a:latin typeface="Calibri"/>
              <a:cs typeface="Calibri"/>
            </a:endParaRPr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6407150" y="3165855"/>
          <a:ext cx="4862194" cy="21183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84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290">
                <a:tc gridSpan="3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Перелік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супутніх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лікарських засобів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7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ПАРАЦЕТАМОЛ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5001 г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62,5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71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ІБУПРОФЕН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400 мг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12,5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71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00" spc="-40" dirty="0">
                          <a:latin typeface="Calibri"/>
                          <a:cs typeface="Calibri"/>
                        </a:rPr>
                        <a:t>ІА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МЕТИЛПРЕДНІЗОЛОН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40 мг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6,3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00" spc="10" dirty="0">
                          <a:latin typeface="Calibri"/>
                          <a:cs typeface="Calibri"/>
                        </a:rPr>
                        <a:t>АЦЕТИЛСАЛІЛОВА 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КИСЛОТА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6,3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100" spc="-30" dirty="0">
                          <a:latin typeface="Calibri"/>
                          <a:cs typeface="Calibri"/>
                        </a:rPr>
                        <a:t>мелоксикам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15 мг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6,3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71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НАПРОКСЕН 550 мг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6,3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71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ВСЬОГО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00" b="1" spc="-25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100" b="1" spc="-20" dirty="0">
                          <a:latin typeface="Calibri"/>
                          <a:cs typeface="Calibri"/>
                        </a:rPr>
                        <a:t>100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" name="object 26"/>
          <p:cNvSpPr txBox="1"/>
          <p:nvPr/>
        </p:nvSpPr>
        <p:spPr>
          <a:xfrm>
            <a:off x="993444" y="5861100"/>
            <a:ext cx="1597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Не </a:t>
            </a:r>
            <a:r>
              <a:rPr sz="1200" spc="-10" dirty="0">
                <a:latin typeface="Calibri"/>
                <a:cs typeface="Calibri"/>
              </a:rPr>
              <a:t>повідомлялося про </a:t>
            </a:r>
            <a:r>
              <a:rPr sz="1200" dirty="0">
                <a:latin typeface="Calibri"/>
                <a:cs typeface="Calibri"/>
              </a:rPr>
              <a:t>тяжкі випадки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83055" y="-188058"/>
            <a:ext cx="10515600" cy="1325563"/>
          </a:xfrm>
          <a:prstGeom prst="rect">
            <a:avLst/>
          </a:prstGeom>
        </p:spPr>
        <p:txBody>
          <a:bodyPr vert="horz" wrap="square" lIns="0" tIns="90046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</a:rPr>
              <a:t>Обговорення та </a:t>
            </a:r>
            <a:r>
              <a:rPr sz="3000" spc="-10" dirty="0">
                <a:solidFill>
                  <a:srgbClr val="FFFFFF"/>
                </a:solidFill>
              </a:rPr>
              <a:t>обмеження </a:t>
            </a:r>
            <a:r>
              <a:rPr sz="3000" dirty="0">
                <a:solidFill>
                  <a:srgbClr val="FFFFFF"/>
                </a:solidFill>
              </a:rPr>
              <a:t>дизайну</a:t>
            </a:r>
            <a:endParaRPr sz="3000" dirty="0"/>
          </a:p>
        </p:txBody>
      </p:sp>
      <p:grpSp>
        <p:nvGrpSpPr>
          <p:cNvPr id="4" name="object 4"/>
          <p:cNvGrpSpPr/>
          <p:nvPr/>
        </p:nvGrpSpPr>
        <p:grpSpPr>
          <a:xfrm>
            <a:off x="228807" y="107887"/>
            <a:ext cx="734695" cy="6750684"/>
            <a:chOff x="228807" y="107887"/>
            <a:chExt cx="734695" cy="6750684"/>
          </a:xfrm>
        </p:grpSpPr>
        <p:sp>
          <p:nvSpPr>
            <p:cNvPr id="5" name="object 5"/>
            <p:cNvSpPr/>
            <p:nvPr/>
          </p:nvSpPr>
          <p:spPr>
            <a:xfrm>
              <a:off x="237821" y="116902"/>
              <a:ext cx="716915" cy="715645"/>
            </a:xfrm>
            <a:custGeom>
              <a:avLst/>
              <a:gdLst/>
              <a:ahLst/>
              <a:cxnLst/>
              <a:rect l="l" t="t" r="r" b="b"/>
              <a:pathLst>
                <a:path w="716915" h="715644">
                  <a:moveTo>
                    <a:pt x="716323" y="358689"/>
                  </a:moveTo>
                  <a:lnTo>
                    <a:pt x="716323" y="358689"/>
                  </a:lnTo>
                  <a:lnTo>
                    <a:pt x="716323" y="371034"/>
                  </a:lnTo>
                </a:path>
                <a:path w="716915" h="715644">
                  <a:moveTo>
                    <a:pt x="707782" y="433656"/>
                  </a:moveTo>
                  <a:lnTo>
                    <a:pt x="707782" y="433656"/>
                  </a:lnTo>
                  <a:lnTo>
                    <a:pt x="705887" y="445989"/>
                  </a:lnTo>
                </a:path>
                <a:path w="716915" h="715644">
                  <a:moveTo>
                    <a:pt x="685016" y="504820"/>
                  </a:moveTo>
                  <a:lnTo>
                    <a:pt x="685016" y="504820"/>
                  </a:lnTo>
                  <a:lnTo>
                    <a:pt x="679318" y="517165"/>
                  </a:lnTo>
                </a:path>
                <a:path w="716915" h="715644">
                  <a:moveTo>
                    <a:pt x="647064" y="570298"/>
                  </a:moveTo>
                  <a:lnTo>
                    <a:pt x="647064" y="570298"/>
                  </a:lnTo>
                  <a:lnTo>
                    <a:pt x="638524" y="580735"/>
                  </a:lnTo>
                </a:path>
                <a:path w="716915" h="715644">
                  <a:moveTo>
                    <a:pt x="595822" y="626287"/>
                  </a:moveTo>
                  <a:lnTo>
                    <a:pt x="595822" y="626287"/>
                  </a:lnTo>
                  <a:lnTo>
                    <a:pt x="586334" y="634827"/>
                  </a:lnTo>
                </a:path>
                <a:path w="716915" h="715644">
                  <a:moveTo>
                    <a:pt x="534156" y="669937"/>
                  </a:moveTo>
                  <a:lnTo>
                    <a:pt x="526563" y="674681"/>
                  </a:lnTo>
                  <a:lnTo>
                    <a:pt x="522773" y="676579"/>
                  </a:lnTo>
                </a:path>
                <a:path w="716915" h="715644">
                  <a:moveTo>
                    <a:pt x="464898" y="700301"/>
                  </a:moveTo>
                  <a:lnTo>
                    <a:pt x="464898" y="700301"/>
                  </a:lnTo>
                  <a:lnTo>
                    <a:pt x="452567" y="704097"/>
                  </a:lnTo>
                </a:path>
                <a:path w="716915" h="715644">
                  <a:moveTo>
                    <a:pt x="390889" y="714535"/>
                  </a:moveTo>
                  <a:lnTo>
                    <a:pt x="390889" y="714535"/>
                  </a:lnTo>
                  <a:lnTo>
                    <a:pt x="378558" y="715484"/>
                  </a:lnTo>
                </a:path>
                <a:path w="716915" h="715644">
                  <a:moveTo>
                    <a:pt x="314985" y="714535"/>
                  </a:moveTo>
                  <a:lnTo>
                    <a:pt x="313090" y="714535"/>
                  </a:lnTo>
                  <a:lnTo>
                    <a:pt x="302655" y="712637"/>
                  </a:lnTo>
                </a:path>
                <a:path w="716915" h="715644">
                  <a:moveTo>
                    <a:pt x="241937" y="697454"/>
                  </a:moveTo>
                  <a:lnTo>
                    <a:pt x="241937" y="697454"/>
                  </a:lnTo>
                  <a:lnTo>
                    <a:pt x="229606" y="692710"/>
                  </a:lnTo>
                </a:path>
                <a:path w="716915" h="715644">
                  <a:moveTo>
                    <a:pt x="173626" y="665192"/>
                  </a:moveTo>
                  <a:lnTo>
                    <a:pt x="173626" y="665192"/>
                  </a:lnTo>
                  <a:lnTo>
                    <a:pt x="162243" y="658549"/>
                  </a:lnTo>
                </a:path>
                <a:path w="716915" h="715644">
                  <a:moveTo>
                    <a:pt x="112903" y="619644"/>
                  </a:moveTo>
                  <a:lnTo>
                    <a:pt x="112903" y="619644"/>
                  </a:lnTo>
                  <a:lnTo>
                    <a:pt x="104364" y="610154"/>
                  </a:lnTo>
                </a:path>
                <a:path w="716915" h="715644">
                  <a:moveTo>
                    <a:pt x="63567" y="562704"/>
                  </a:moveTo>
                  <a:lnTo>
                    <a:pt x="63567" y="562704"/>
                  </a:lnTo>
                  <a:lnTo>
                    <a:pt x="56925" y="551319"/>
                  </a:lnTo>
                </a:path>
                <a:path w="716915" h="715644">
                  <a:moveTo>
                    <a:pt x="27514" y="496291"/>
                  </a:moveTo>
                  <a:lnTo>
                    <a:pt x="23718" y="487749"/>
                  </a:lnTo>
                  <a:lnTo>
                    <a:pt x="22770" y="483945"/>
                  </a:lnTo>
                </a:path>
                <a:path w="716915" h="715644">
                  <a:moveTo>
                    <a:pt x="5693" y="423218"/>
                  </a:moveTo>
                  <a:lnTo>
                    <a:pt x="5693" y="423218"/>
                  </a:lnTo>
                  <a:lnTo>
                    <a:pt x="3795" y="410886"/>
                  </a:lnTo>
                </a:path>
                <a:path w="716915" h="715644">
                  <a:moveTo>
                    <a:pt x="0" y="348251"/>
                  </a:moveTo>
                  <a:lnTo>
                    <a:pt x="0" y="348251"/>
                  </a:lnTo>
                  <a:lnTo>
                    <a:pt x="948" y="335919"/>
                  </a:lnTo>
                </a:path>
                <a:path w="716915" h="715644">
                  <a:moveTo>
                    <a:pt x="9488" y="273296"/>
                  </a:moveTo>
                  <a:lnTo>
                    <a:pt x="10437" y="270440"/>
                  </a:lnTo>
                  <a:lnTo>
                    <a:pt x="13282" y="260951"/>
                  </a:lnTo>
                </a:path>
                <a:path w="716915" h="715644">
                  <a:moveTo>
                    <a:pt x="36053" y="202119"/>
                  </a:moveTo>
                  <a:lnTo>
                    <a:pt x="36053" y="202119"/>
                  </a:lnTo>
                  <a:lnTo>
                    <a:pt x="40797" y="190735"/>
                  </a:lnTo>
                </a:path>
                <a:path w="716915" h="715644">
                  <a:moveTo>
                    <a:pt x="75901" y="138549"/>
                  </a:moveTo>
                  <a:lnTo>
                    <a:pt x="75901" y="138549"/>
                  </a:lnTo>
                  <a:lnTo>
                    <a:pt x="83491" y="128112"/>
                  </a:lnTo>
                </a:path>
                <a:path w="716915" h="715644">
                  <a:moveTo>
                    <a:pt x="128081" y="83508"/>
                  </a:moveTo>
                  <a:lnTo>
                    <a:pt x="128081" y="83508"/>
                  </a:lnTo>
                  <a:lnTo>
                    <a:pt x="138517" y="75914"/>
                  </a:lnTo>
                </a:path>
                <a:path w="716915" h="715644">
                  <a:moveTo>
                    <a:pt x="190707" y="40813"/>
                  </a:moveTo>
                  <a:lnTo>
                    <a:pt x="190707" y="40813"/>
                  </a:lnTo>
                  <a:lnTo>
                    <a:pt x="202090" y="36062"/>
                  </a:lnTo>
                </a:path>
                <a:path w="716915" h="715644">
                  <a:moveTo>
                    <a:pt x="260913" y="13292"/>
                  </a:moveTo>
                  <a:lnTo>
                    <a:pt x="269453" y="10449"/>
                  </a:lnTo>
                  <a:lnTo>
                    <a:pt x="273243" y="10449"/>
                  </a:lnTo>
                </a:path>
                <a:path w="716915" h="715644">
                  <a:moveTo>
                    <a:pt x="335869" y="960"/>
                  </a:moveTo>
                  <a:lnTo>
                    <a:pt x="335869" y="960"/>
                  </a:lnTo>
                  <a:lnTo>
                    <a:pt x="348199" y="0"/>
                  </a:lnTo>
                </a:path>
                <a:path w="716915" h="715644">
                  <a:moveTo>
                    <a:pt x="410812" y="3803"/>
                  </a:moveTo>
                  <a:lnTo>
                    <a:pt x="410812" y="3803"/>
                  </a:lnTo>
                  <a:lnTo>
                    <a:pt x="423156" y="6646"/>
                  </a:lnTo>
                </a:path>
                <a:path w="716915" h="715644">
                  <a:moveTo>
                    <a:pt x="483874" y="22782"/>
                  </a:moveTo>
                  <a:lnTo>
                    <a:pt x="487664" y="23729"/>
                  </a:lnTo>
                  <a:lnTo>
                    <a:pt x="496204" y="27520"/>
                  </a:lnTo>
                </a:path>
                <a:path w="716915" h="715644">
                  <a:moveTo>
                    <a:pt x="551237" y="56936"/>
                  </a:moveTo>
                  <a:lnTo>
                    <a:pt x="551237" y="56936"/>
                  </a:lnTo>
                  <a:lnTo>
                    <a:pt x="562620" y="63582"/>
                  </a:lnTo>
                </a:path>
                <a:path w="716915" h="715644">
                  <a:moveTo>
                    <a:pt x="610060" y="104383"/>
                  </a:moveTo>
                  <a:lnTo>
                    <a:pt x="610060" y="104383"/>
                  </a:lnTo>
                  <a:lnTo>
                    <a:pt x="619548" y="112925"/>
                  </a:lnTo>
                </a:path>
                <a:path w="716915" h="715644">
                  <a:moveTo>
                    <a:pt x="658447" y="163215"/>
                  </a:moveTo>
                  <a:lnTo>
                    <a:pt x="658447" y="163215"/>
                  </a:lnTo>
                  <a:lnTo>
                    <a:pt x="665093" y="173652"/>
                  </a:lnTo>
                </a:path>
                <a:path w="716915" h="715644">
                  <a:moveTo>
                    <a:pt x="692596" y="229641"/>
                  </a:moveTo>
                  <a:lnTo>
                    <a:pt x="692596" y="229641"/>
                  </a:lnTo>
                  <a:lnTo>
                    <a:pt x="696399" y="241973"/>
                  </a:lnTo>
                </a:path>
                <a:path w="716915" h="715644">
                  <a:moveTo>
                    <a:pt x="711572" y="303660"/>
                  </a:moveTo>
                  <a:lnTo>
                    <a:pt x="713480" y="313150"/>
                  </a:lnTo>
                  <a:lnTo>
                    <a:pt x="714428" y="315993"/>
                  </a:lnTo>
                </a:path>
              </a:pathLst>
            </a:custGeom>
            <a:ln w="18028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6633" y="852551"/>
              <a:ext cx="0" cy="6005830"/>
            </a:xfrm>
            <a:custGeom>
              <a:avLst/>
              <a:gdLst/>
              <a:ahLst/>
              <a:cxnLst/>
              <a:rect l="l" t="t" r="r" b="b"/>
              <a:pathLst>
                <a:path h="6005830">
                  <a:moveTo>
                    <a:pt x="0" y="0"/>
                  </a:moveTo>
                  <a:lnTo>
                    <a:pt x="0" y="600544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6737" y="1465579"/>
              <a:ext cx="250812" cy="24714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6737" y="1971548"/>
              <a:ext cx="250812" cy="24701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6737" y="2740660"/>
              <a:ext cx="250812" cy="24701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6737" y="4097909"/>
              <a:ext cx="250812" cy="247142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083055" y="1346819"/>
            <a:ext cx="10261600" cy="34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Рандомізований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контрольований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дизайн </a:t>
            </a:r>
            <a:r>
              <a:rPr sz="1800" b="1" dirty="0" err="1">
                <a:solidFill>
                  <a:srgbClr val="FFFFFF"/>
                </a:solidFill>
                <a:latin typeface="Calibri"/>
                <a:cs typeface="Calibri"/>
              </a:rPr>
              <a:t>та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uk-UA" sz="1800" b="1" dirty="0">
                <a:solidFill>
                  <a:srgbClr val="FFFFFF"/>
                </a:solidFill>
                <a:latin typeface="Calibri"/>
                <a:cs typeface="Calibri"/>
              </a:rPr>
              <a:t>результати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у</a:t>
            </a:r>
            <a:r>
              <a:rPr lang="uk-UA" sz="1800" dirty="0">
                <a:solidFill>
                  <a:srgbClr val="FFFFFF"/>
                </a:solidFill>
                <a:latin typeface="Calibri"/>
                <a:cs typeface="Calibri"/>
              </a:rPr>
              <a:t> пацієнтів, які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uk-UA" sz="1800" dirty="0">
                <a:solidFill>
                  <a:srgbClr val="FFFFFF"/>
                </a:solidFill>
                <a:latin typeface="Calibri"/>
                <a:cs typeface="Calibri"/>
              </a:rPr>
              <a:t>важко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uk-UA" sz="1800" dirty="0">
                <a:solidFill>
                  <a:srgbClr val="FFFFFF"/>
                </a:solidFill>
                <a:latin typeface="Calibri"/>
                <a:cs typeface="Calibri"/>
              </a:rPr>
              <a:t>піддаються лікуванню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(пацієнти з </a:t>
            </a:r>
            <a:r>
              <a:rPr sz="1800" spc="-10" dirty="0" err="1">
                <a:solidFill>
                  <a:srgbClr val="FFFFFF"/>
                </a:solidFill>
                <a:latin typeface="Calibri"/>
                <a:cs typeface="Calibri"/>
              </a:rPr>
              <a:t>рефрактерн</a:t>
            </a:r>
            <a:r>
              <a:rPr lang="uk-UA" sz="1800" spc="-10" dirty="0" err="1">
                <a:solidFill>
                  <a:srgbClr val="FFFFFF"/>
                </a:solidFill>
                <a:latin typeface="Calibri"/>
                <a:cs typeface="Calibri"/>
              </a:rPr>
              <a:t>им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ОА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Відсутність доступних даних та літератури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щодо цієї конкретної групи пацієнтів, що ускладнює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визначення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необхідного </a:t>
            </a:r>
            <a:r>
              <a:rPr sz="1800" dirty="0" err="1">
                <a:solidFill>
                  <a:srgbClr val="FFFFFF"/>
                </a:solidFill>
                <a:latin typeface="Calibri"/>
                <a:cs typeface="Calibri"/>
              </a:rPr>
              <a:t>розміру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Calibri"/>
                <a:cs typeface="Calibri"/>
              </a:rPr>
              <a:t>вибірки</a:t>
            </a:r>
            <a:r>
              <a:rPr lang="uk-UA" sz="180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Пацієнти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з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запальним станом на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початку дослідження</a:t>
            </a:r>
            <a:endParaRPr sz="1800" dirty="0">
              <a:latin typeface="Calibri"/>
              <a:cs typeface="Calibri"/>
            </a:endParaRPr>
          </a:p>
          <a:p>
            <a:pPr marL="591820" indent="-220979">
              <a:lnSpc>
                <a:spcPct val="100000"/>
              </a:lnSpc>
              <a:buFont typeface="Wingdings"/>
              <a:buChar char=""/>
              <a:tabLst>
                <a:tab pos="591820" algn="l"/>
              </a:tabLst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ін'єкція кортикостероїдів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для всіх пацієнтів (Депомедрол 40 мг або 80 мг) за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 11 днів до </a:t>
            </a:r>
            <a:r>
              <a:rPr sz="1800" b="1" dirty="0" err="1">
                <a:solidFill>
                  <a:srgbClr val="FFFFFF"/>
                </a:solidFill>
                <a:latin typeface="Calibri"/>
                <a:cs typeface="Calibri"/>
              </a:rPr>
              <a:t>лікування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в середньому (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7-14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днів)</a:t>
            </a:r>
            <a:endParaRPr sz="1800" dirty="0">
              <a:latin typeface="Calibri"/>
              <a:cs typeface="Calibri"/>
            </a:endParaRPr>
          </a:p>
          <a:p>
            <a:pPr marL="591820" indent="-220979">
              <a:lnSpc>
                <a:spcPct val="100000"/>
              </a:lnSpc>
              <a:buFont typeface="Wingdings"/>
              <a:buChar char=""/>
              <a:tabLst>
                <a:tab pos="59182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-32,8% для всіх пацієнтів під час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візиту для лікування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Високий рівень відсіву: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26% через 6 місяців, 41% через 12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місяців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3765" y="4922507"/>
            <a:ext cx="10889344" cy="586058"/>
          </a:xfrm>
          <a:prstGeom prst="rect">
            <a:avLst/>
          </a:prstGeom>
          <a:solidFill>
            <a:srgbClr val="2E2E81"/>
          </a:solidFill>
        </p:spPr>
        <p:txBody>
          <a:bodyPr vert="horz" wrap="square" lIns="0" tIns="31750" rIns="0" bIns="0" rtlCol="0">
            <a:spAutoFit/>
          </a:bodyPr>
          <a:lstStyle/>
          <a:p>
            <a:pPr marL="184785">
              <a:lnSpc>
                <a:spcPct val="100000"/>
              </a:lnSpc>
              <a:spcBef>
                <a:spcPts val="25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Неоднорідність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була доведена, з тенденцією на користь KioMedine, незважаючи на обмежений розмір вибірки та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потужність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дослідження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83055" y="5823610"/>
            <a:ext cx="1060259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15" indent="1270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139700" algn="l"/>
              </a:tabLst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Van Overschelde P et al., Kiomedine® CM-Chitosan для рефрактерного остеоартриту колінного суглоба: довгострокові переваги після одноразової внутрішньосуглобової ін'єкції в реальних умовах. Остеоартрит і хрящ, 2024;</a:t>
            </a:r>
            <a:r>
              <a:rPr sz="1000" spc="-25" dirty="0">
                <a:solidFill>
                  <a:srgbClr val="FFFFFF"/>
                </a:solidFill>
                <a:latin typeface="Calibri"/>
                <a:cs typeface="Calibri"/>
              </a:rPr>
              <a:t> 32,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додаток 1, S569. doi: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10.1016/j.joca.2024.02.841.</a:t>
            </a:r>
            <a:endParaRPr sz="1000" dirty="0">
              <a:latin typeface="Calibri"/>
              <a:cs typeface="Calibri"/>
            </a:endParaRPr>
          </a:p>
          <a:p>
            <a:pPr marL="12700" marR="5080" indent="131445">
              <a:lnSpc>
                <a:spcPct val="100000"/>
              </a:lnSpc>
              <a:buAutoNum type="arabicPeriod"/>
              <a:tabLst>
                <a:tab pos="144145" algn="l"/>
              </a:tabLst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Van Overschelde P et al., Відстрочка тотального ендопротезування колінного суглоба у пацієнтів із симптоматичним остеоартритом колінного суглоба після одноразової внутрішньосуглобової ін'єкції KiOmedine®CM-Chitosan. Тези </a:t>
            </a:r>
            <a:r>
              <a:rPr sz="1000" spc="-25" dirty="0">
                <a:solidFill>
                  <a:srgbClr val="FFFFFF"/>
                </a:solidFill>
                <a:latin typeface="Calibri"/>
                <a:cs typeface="Calibri"/>
              </a:rPr>
              <a:t>та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постер, представлені на конгресі Orthopaedica Belgica; 19-20 травня 2022 р.; Брюгге,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Бельгія.</a:t>
            </a:r>
            <a:endParaRPr sz="1000" dirty="0">
              <a:latin typeface="Calibri"/>
              <a:cs typeface="Calibri"/>
            </a:endParaRPr>
          </a:p>
          <a:p>
            <a:pPr marL="142240" indent="-129539">
              <a:lnSpc>
                <a:spcPct val="100000"/>
              </a:lnSpc>
              <a:buAutoNum type="arabicPeriod"/>
              <a:tabLst>
                <a:tab pos="142240" algn="l"/>
              </a:tabLst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Дворкін Р. Х. та ін., Інтерпретація клінічного значення результатів лікування в клінічних випробуваннях хронічного болю: рекомендації IMMPACT. J Pain. 2008 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лютого; 9(2)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:105-21. doi: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10.1016/j.jpain.2007.09.005.</a:t>
            </a:r>
            <a:endParaRPr sz="1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Epub 11 грудня 2007 р. PMID:</a:t>
            </a: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 18055266.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98071" y="-15494"/>
            <a:ext cx="4121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6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99323" y="-208376"/>
            <a:ext cx="10515600" cy="1325563"/>
          </a:xfrm>
          <a:prstGeom prst="rect">
            <a:avLst/>
          </a:prstGeom>
        </p:spPr>
        <p:txBody>
          <a:bodyPr vert="horz" wrap="square" lIns="0" tIns="90046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FFFFFF"/>
                </a:solidFill>
              </a:rPr>
              <a:t>Висновки</a:t>
            </a:r>
            <a:endParaRPr sz="3000" dirty="0"/>
          </a:p>
        </p:txBody>
      </p:sp>
      <p:grpSp>
        <p:nvGrpSpPr>
          <p:cNvPr id="4" name="object 4"/>
          <p:cNvGrpSpPr/>
          <p:nvPr/>
        </p:nvGrpSpPr>
        <p:grpSpPr>
          <a:xfrm>
            <a:off x="228807" y="107887"/>
            <a:ext cx="734695" cy="6750684"/>
            <a:chOff x="228807" y="107887"/>
            <a:chExt cx="734695" cy="6750684"/>
          </a:xfrm>
        </p:grpSpPr>
        <p:sp>
          <p:nvSpPr>
            <p:cNvPr id="5" name="object 5"/>
            <p:cNvSpPr/>
            <p:nvPr/>
          </p:nvSpPr>
          <p:spPr>
            <a:xfrm>
              <a:off x="237821" y="116902"/>
              <a:ext cx="716915" cy="715645"/>
            </a:xfrm>
            <a:custGeom>
              <a:avLst/>
              <a:gdLst/>
              <a:ahLst/>
              <a:cxnLst/>
              <a:rect l="l" t="t" r="r" b="b"/>
              <a:pathLst>
                <a:path w="716915" h="715644">
                  <a:moveTo>
                    <a:pt x="716323" y="358689"/>
                  </a:moveTo>
                  <a:lnTo>
                    <a:pt x="716323" y="358689"/>
                  </a:lnTo>
                  <a:lnTo>
                    <a:pt x="716323" y="371034"/>
                  </a:lnTo>
                </a:path>
                <a:path w="716915" h="715644">
                  <a:moveTo>
                    <a:pt x="707782" y="433656"/>
                  </a:moveTo>
                  <a:lnTo>
                    <a:pt x="707782" y="433656"/>
                  </a:lnTo>
                  <a:lnTo>
                    <a:pt x="705887" y="445989"/>
                  </a:lnTo>
                </a:path>
                <a:path w="716915" h="715644">
                  <a:moveTo>
                    <a:pt x="685016" y="504820"/>
                  </a:moveTo>
                  <a:lnTo>
                    <a:pt x="685016" y="504820"/>
                  </a:lnTo>
                  <a:lnTo>
                    <a:pt x="679318" y="517165"/>
                  </a:lnTo>
                </a:path>
                <a:path w="716915" h="715644">
                  <a:moveTo>
                    <a:pt x="647064" y="570298"/>
                  </a:moveTo>
                  <a:lnTo>
                    <a:pt x="647064" y="570298"/>
                  </a:lnTo>
                  <a:lnTo>
                    <a:pt x="638524" y="580735"/>
                  </a:lnTo>
                </a:path>
                <a:path w="716915" h="715644">
                  <a:moveTo>
                    <a:pt x="595822" y="626287"/>
                  </a:moveTo>
                  <a:lnTo>
                    <a:pt x="595822" y="626287"/>
                  </a:lnTo>
                  <a:lnTo>
                    <a:pt x="586334" y="634827"/>
                  </a:lnTo>
                </a:path>
                <a:path w="716915" h="715644">
                  <a:moveTo>
                    <a:pt x="534156" y="669937"/>
                  </a:moveTo>
                  <a:lnTo>
                    <a:pt x="526563" y="674681"/>
                  </a:lnTo>
                  <a:lnTo>
                    <a:pt x="522773" y="676579"/>
                  </a:lnTo>
                </a:path>
                <a:path w="716915" h="715644">
                  <a:moveTo>
                    <a:pt x="464898" y="700301"/>
                  </a:moveTo>
                  <a:lnTo>
                    <a:pt x="464898" y="700301"/>
                  </a:lnTo>
                  <a:lnTo>
                    <a:pt x="452567" y="704097"/>
                  </a:lnTo>
                </a:path>
                <a:path w="716915" h="715644">
                  <a:moveTo>
                    <a:pt x="390889" y="714535"/>
                  </a:moveTo>
                  <a:lnTo>
                    <a:pt x="390889" y="714535"/>
                  </a:lnTo>
                  <a:lnTo>
                    <a:pt x="378558" y="715484"/>
                  </a:lnTo>
                </a:path>
                <a:path w="716915" h="715644">
                  <a:moveTo>
                    <a:pt x="314985" y="714535"/>
                  </a:moveTo>
                  <a:lnTo>
                    <a:pt x="313090" y="714535"/>
                  </a:lnTo>
                  <a:lnTo>
                    <a:pt x="302655" y="712637"/>
                  </a:lnTo>
                </a:path>
                <a:path w="716915" h="715644">
                  <a:moveTo>
                    <a:pt x="241937" y="697454"/>
                  </a:moveTo>
                  <a:lnTo>
                    <a:pt x="241937" y="697454"/>
                  </a:lnTo>
                  <a:lnTo>
                    <a:pt x="229606" y="692710"/>
                  </a:lnTo>
                </a:path>
                <a:path w="716915" h="715644">
                  <a:moveTo>
                    <a:pt x="173626" y="665192"/>
                  </a:moveTo>
                  <a:lnTo>
                    <a:pt x="173626" y="665192"/>
                  </a:lnTo>
                  <a:lnTo>
                    <a:pt x="162243" y="658549"/>
                  </a:lnTo>
                </a:path>
                <a:path w="716915" h="715644">
                  <a:moveTo>
                    <a:pt x="112903" y="619644"/>
                  </a:moveTo>
                  <a:lnTo>
                    <a:pt x="112903" y="619644"/>
                  </a:lnTo>
                  <a:lnTo>
                    <a:pt x="104364" y="610154"/>
                  </a:lnTo>
                </a:path>
                <a:path w="716915" h="715644">
                  <a:moveTo>
                    <a:pt x="63567" y="562704"/>
                  </a:moveTo>
                  <a:lnTo>
                    <a:pt x="63567" y="562704"/>
                  </a:lnTo>
                  <a:lnTo>
                    <a:pt x="56925" y="551319"/>
                  </a:lnTo>
                </a:path>
                <a:path w="716915" h="715644">
                  <a:moveTo>
                    <a:pt x="27514" y="496291"/>
                  </a:moveTo>
                  <a:lnTo>
                    <a:pt x="23718" y="487749"/>
                  </a:lnTo>
                  <a:lnTo>
                    <a:pt x="22770" y="483945"/>
                  </a:lnTo>
                </a:path>
                <a:path w="716915" h="715644">
                  <a:moveTo>
                    <a:pt x="5693" y="423218"/>
                  </a:moveTo>
                  <a:lnTo>
                    <a:pt x="5693" y="423218"/>
                  </a:lnTo>
                  <a:lnTo>
                    <a:pt x="3795" y="410886"/>
                  </a:lnTo>
                </a:path>
                <a:path w="716915" h="715644">
                  <a:moveTo>
                    <a:pt x="0" y="348251"/>
                  </a:moveTo>
                  <a:lnTo>
                    <a:pt x="0" y="348251"/>
                  </a:lnTo>
                  <a:lnTo>
                    <a:pt x="948" y="335919"/>
                  </a:lnTo>
                </a:path>
                <a:path w="716915" h="715644">
                  <a:moveTo>
                    <a:pt x="9488" y="273296"/>
                  </a:moveTo>
                  <a:lnTo>
                    <a:pt x="10437" y="270440"/>
                  </a:lnTo>
                  <a:lnTo>
                    <a:pt x="13282" y="260951"/>
                  </a:lnTo>
                </a:path>
                <a:path w="716915" h="715644">
                  <a:moveTo>
                    <a:pt x="36053" y="202119"/>
                  </a:moveTo>
                  <a:lnTo>
                    <a:pt x="36053" y="202119"/>
                  </a:lnTo>
                  <a:lnTo>
                    <a:pt x="40797" y="190735"/>
                  </a:lnTo>
                </a:path>
                <a:path w="716915" h="715644">
                  <a:moveTo>
                    <a:pt x="75901" y="138549"/>
                  </a:moveTo>
                  <a:lnTo>
                    <a:pt x="75901" y="138549"/>
                  </a:lnTo>
                  <a:lnTo>
                    <a:pt x="83491" y="128112"/>
                  </a:lnTo>
                </a:path>
                <a:path w="716915" h="715644">
                  <a:moveTo>
                    <a:pt x="128081" y="83508"/>
                  </a:moveTo>
                  <a:lnTo>
                    <a:pt x="128081" y="83508"/>
                  </a:lnTo>
                  <a:lnTo>
                    <a:pt x="138517" y="75914"/>
                  </a:lnTo>
                </a:path>
                <a:path w="716915" h="715644">
                  <a:moveTo>
                    <a:pt x="190707" y="40813"/>
                  </a:moveTo>
                  <a:lnTo>
                    <a:pt x="190707" y="40813"/>
                  </a:lnTo>
                  <a:lnTo>
                    <a:pt x="202090" y="36062"/>
                  </a:lnTo>
                </a:path>
                <a:path w="716915" h="715644">
                  <a:moveTo>
                    <a:pt x="260913" y="13292"/>
                  </a:moveTo>
                  <a:lnTo>
                    <a:pt x="269453" y="10449"/>
                  </a:lnTo>
                  <a:lnTo>
                    <a:pt x="273243" y="10449"/>
                  </a:lnTo>
                </a:path>
                <a:path w="716915" h="715644">
                  <a:moveTo>
                    <a:pt x="335869" y="960"/>
                  </a:moveTo>
                  <a:lnTo>
                    <a:pt x="335869" y="960"/>
                  </a:lnTo>
                  <a:lnTo>
                    <a:pt x="348199" y="0"/>
                  </a:lnTo>
                </a:path>
                <a:path w="716915" h="715644">
                  <a:moveTo>
                    <a:pt x="410812" y="3803"/>
                  </a:moveTo>
                  <a:lnTo>
                    <a:pt x="410812" y="3803"/>
                  </a:lnTo>
                  <a:lnTo>
                    <a:pt x="423156" y="6646"/>
                  </a:lnTo>
                </a:path>
                <a:path w="716915" h="715644">
                  <a:moveTo>
                    <a:pt x="483874" y="22782"/>
                  </a:moveTo>
                  <a:lnTo>
                    <a:pt x="487664" y="23729"/>
                  </a:lnTo>
                  <a:lnTo>
                    <a:pt x="496204" y="27520"/>
                  </a:lnTo>
                </a:path>
                <a:path w="716915" h="715644">
                  <a:moveTo>
                    <a:pt x="551237" y="56936"/>
                  </a:moveTo>
                  <a:lnTo>
                    <a:pt x="551237" y="56936"/>
                  </a:lnTo>
                  <a:lnTo>
                    <a:pt x="562620" y="63582"/>
                  </a:lnTo>
                </a:path>
                <a:path w="716915" h="715644">
                  <a:moveTo>
                    <a:pt x="610060" y="104383"/>
                  </a:moveTo>
                  <a:lnTo>
                    <a:pt x="610060" y="104383"/>
                  </a:lnTo>
                  <a:lnTo>
                    <a:pt x="619548" y="112925"/>
                  </a:lnTo>
                </a:path>
                <a:path w="716915" h="715644">
                  <a:moveTo>
                    <a:pt x="658447" y="163215"/>
                  </a:moveTo>
                  <a:lnTo>
                    <a:pt x="658447" y="163215"/>
                  </a:lnTo>
                  <a:lnTo>
                    <a:pt x="665093" y="173652"/>
                  </a:lnTo>
                </a:path>
                <a:path w="716915" h="715644">
                  <a:moveTo>
                    <a:pt x="692596" y="229641"/>
                  </a:moveTo>
                  <a:lnTo>
                    <a:pt x="692596" y="229641"/>
                  </a:lnTo>
                  <a:lnTo>
                    <a:pt x="696399" y="241973"/>
                  </a:lnTo>
                </a:path>
                <a:path w="716915" h="715644">
                  <a:moveTo>
                    <a:pt x="711572" y="303660"/>
                  </a:moveTo>
                  <a:lnTo>
                    <a:pt x="713480" y="313150"/>
                  </a:lnTo>
                  <a:lnTo>
                    <a:pt x="714428" y="315993"/>
                  </a:lnTo>
                </a:path>
              </a:pathLst>
            </a:custGeom>
            <a:ln w="18028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6633" y="852551"/>
              <a:ext cx="0" cy="6005830"/>
            </a:xfrm>
            <a:custGeom>
              <a:avLst/>
              <a:gdLst/>
              <a:ahLst/>
              <a:cxnLst/>
              <a:rect l="l" t="t" r="r" b="b"/>
              <a:pathLst>
                <a:path h="6005830">
                  <a:moveTo>
                    <a:pt x="0" y="0"/>
                  </a:moveTo>
                  <a:lnTo>
                    <a:pt x="0" y="600544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6737" y="1465579"/>
              <a:ext cx="250812" cy="24714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6737" y="2095627"/>
              <a:ext cx="250812" cy="24714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6737" y="2486024"/>
              <a:ext cx="250812" cy="24701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6737" y="3941191"/>
              <a:ext cx="250812" cy="24701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6737" y="4325873"/>
              <a:ext cx="250812" cy="24714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6737" y="5173472"/>
              <a:ext cx="250812" cy="24701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083055" y="1424178"/>
            <a:ext cx="10259695" cy="425949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Одноразова ін'єкція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KioMedineVsOne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призвела до швидкого настання та тривалого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полегшення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болю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,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зі зменшенням болю за шка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лою WOMAC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на 73,5% порівняно з вихідним рівнем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через 12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місяців.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Високий рівень відповіді за шкалою OMERACT-OARSI: 89,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7% через 6 місяців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і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 93,8% через 12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місяців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Клінічно значущі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відмінності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на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кори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сть пацієнтів, які </a:t>
            </a:r>
            <a:r>
              <a:rPr sz="1600" b="1" dirty="0" err="1">
                <a:solidFill>
                  <a:srgbClr val="FFFFFF"/>
                </a:solidFill>
                <a:latin typeface="Calibri"/>
                <a:cs typeface="Calibri"/>
              </a:rPr>
              <a:t>отримували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uk-UA" sz="1600" b="1" dirty="0">
                <a:solidFill>
                  <a:srgbClr val="FFFFFF"/>
                </a:solidFill>
                <a:latin typeface="Calibri"/>
                <a:cs typeface="Calibri"/>
              </a:rPr>
              <a:t>К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M-</a:t>
            </a:r>
            <a:r>
              <a:rPr sz="1600" b="1" dirty="0" err="1">
                <a:solidFill>
                  <a:srgbClr val="FFFFFF"/>
                </a:solidFill>
                <a:latin typeface="Calibri"/>
                <a:cs typeface="Calibri"/>
              </a:rPr>
              <a:t>хітозан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, були виявлені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у всіх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підгрупах рефрактерного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ОА</a:t>
            </a:r>
            <a:endParaRPr sz="1600" dirty="0">
              <a:latin typeface="Calibri"/>
              <a:cs typeface="Calibri"/>
            </a:endParaRPr>
          </a:p>
          <a:p>
            <a:pPr marL="459740" indent="-88900">
              <a:lnSpc>
                <a:spcPct val="100000"/>
              </a:lnSpc>
              <a:spcBef>
                <a:spcPts val="10"/>
              </a:spcBef>
              <a:buFont typeface="Arial"/>
              <a:buChar char="•"/>
              <a:tabLst>
                <a:tab pos="459740" algn="l"/>
              </a:tabLst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Пацієнти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з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ураженням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ПФ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(загальна популяція):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Δ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-11,5%</a:t>
            </a:r>
            <a:endParaRPr sz="1400" dirty="0">
              <a:latin typeface="Calibri"/>
              <a:cs typeface="Calibri"/>
            </a:endParaRPr>
          </a:p>
          <a:p>
            <a:pPr marL="459740" indent="-88900">
              <a:lnSpc>
                <a:spcPct val="100000"/>
              </a:lnSpc>
              <a:buFont typeface="Arial"/>
              <a:buChar char="•"/>
              <a:tabLst>
                <a:tab pos="459740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Пацієнти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з трикомпартантною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ОА: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Δ 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-12,9%</a:t>
            </a:r>
            <a:endParaRPr sz="1400" dirty="0">
              <a:latin typeface="Calibri"/>
              <a:cs typeface="Calibri"/>
            </a:endParaRPr>
          </a:p>
          <a:p>
            <a:pPr marL="459740" indent="-88900">
              <a:lnSpc>
                <a:spcPct val="100000"/>
              </a:lnSpc>
              <a:buFont typeface="Arial"/>
              <a:buChar char="•"/>
              <a:tabLst>
                <a:tab pos="459740" algn="l"/>
              </a:tabLst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Пацієнти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з ожирінням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: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Δ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-21,7%</a:t>
            </a:r>
            <a:endParaRPr sz="1400" dirty="0">
              <a:latin typeface="Calibri"/>
              <a:cs typeface="Calibri"/>
            </a:endParaRPr>
          </a:p>
          <a:p>
            <a:pPr marL="459740" indent="-88900">
              <a:lnSpc>
                <a:spcPct val="100000"/>
              </a:lnSpc>
              <a:buFont typeface="Arial"/>
              <a:buChar char="•"/>
              <a:tabLst>
                <a:tab pos="459740" algn="l"/>
              </a:tabLst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Кандидати </a:t>
            </a:r>
            <a:r>
              <a:rPr sz="1400" b="1" dirty="0" err="1">
                <a:solidFill>
                  <a:srgbClr val="FFFFFF"/>
                </a:solidFill>
                <a:latin typeface="Calibri"/>
                <a:cs typeface="Calibri"/>
              </a:rPr>
              <a:t>на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 Т</a:t>
            </a:r>
            <a:r>
              <a:rPr lang="uk-UA" sz="1400" b="1" dirty="0">
                <a:solidFill>
                  <a:srgbClr val="FFFFFF"/>
                </a:solidFill>
                <a:latin typeface="Calibri"/>
                <a:cs typeface="Calibri"/>
              </a:rPr>
              <a:t>ЕП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К</a:t>
            </a:r>
            <a:r>
              <a:rPr lang="uk-UA" sz="1400" b="1" dirty="0">
                <a:solidFill>
                  <a:srgbClr val="FFFFFF"/>
                </a:solidFill>
                <a:latin typeface="Calibri"/>
                <a:cs typeface="Calibri"/>
              </a:rPr>
              <a:t>С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до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ін'єкції: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Δ 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-13,5%</a:t>
            </a:r>
            <a:endParaRPr sz="1400" dirty="0">
              <a:latin typeface="Calibri"/>
              <a:cs typeface="Calibri"/>
            </a:endParaRPr>
          </a:p>
          <a:p>
            <a:pPr marL="459740" indent="-88900">
              <a:lnSpc>
                <a:spcPct val="100000"/>
              </a:lnSpc>
              <a:buFont typeface="Arial"/>
              <a:buChar char="•"/>
              <a:tabLst>
                <a:tab pos="459740" algn="l"/>
              </a:tabLst>
            </a:pPr>
            <a:r>
              <a:rPr lang="uk-UA" sz="1400" b="1" dirty="0">
                <a:solidFill>
                  <a:srgbClr val="FFFFFF"/>
                </a:solidFill>
                <a:latin typeface="Calibri"/>
                <a:cs typeface="Calibri"/>
              </a:rPr>
              <a:t>ОА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 IV: Δ 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-17,2%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Високий рівень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задоволеності пацієнтів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та лікарів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(&amp;gt;95%)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b="1" dirty="0" err="1">
                <a:solidFill>
                  <a:srgbClr val="FFFFFF"/>
                </a:solidFill>
                <a:latin typeface="Calibri"/>
                <a:cs typeface="Calibri"/>
              </a:rPr>
              <a:t>Аналіз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  <a:cs typeface="Calibri"/>
              </a:rPr>
              <a:t>показує</a:t>
            </a:r>
            <a:r>
              <a:rPr lang="uk-UA" sz="1600" dirty="0">
                <a:solidFill>
                  <a:srgbClr val="FFFFFF"/>
                </a:solidFill>
                <a:latin typeface="Calibri"/>
                <a:cs typeface="Calibri"/>
              </a:rPr>
              <a:t>, що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 багатообіцяючі тенденції переваги </a:t>
            </a:r>
            <a:r>
              <a:rPr sz="1600" spc="-10" dirty="0" err="1">
                <a:solidFill>
                  <a:srgbClr val="FFFFFF"/>
                </a:solidFill>
                <a:latin typeface="Calibri"/>
                <a:cs typeface="Calibri"/>
              </a:rPr>
              <a:t>групи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uk-UA" sz="1600" spc="-10" dirty="0">
                <a:solidFill>
                  <a:srgbClr val="FFFFFF"/>
                </a:solidFill>
                <a:latin typeface="Calibri"/>
                <a:cs typeface="Calibri"/>
              </a:rPr>
              <a:t>К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M-</a:t>
            </a:r>
            <a:r>
              <a:rPr sz="1600" spc="-10" dirty="0" err="1">
                <a:solidFill>
                  <a:srgbClr val="FFFFFF"/>
                </a:solidFill>
                <a:latin typeface="Calibri"/>
                <a:cs typeface="Calibri"/>
              </a:rPr>
              <a:t>хітозану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1600" dirty="0">
              <a:latin typeface="Calibri"/>
              <a:cs typeface="Calibri"/>
            </a:endParaRPr>
          </a:p>
          <a:p>
            <a:pPr marL="493395" indent="-141605">
              <a:lnSpc>
                <a:spcPct val="100000"/>
              </a:lnSpc>
              <a:spcBef>
                <a:spcPts val="5"/>
              </a:spcBef>
              <a:buSzPct val="92857"/>
              <a:buAutoNum type="arabicPeriod"/>
              <a:tabLst>
                <a:tab pos="493395" algn="l"/>
              </a:tabLst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Вища ймовірність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та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коротший час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до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непридатності </a:t>
            </a:r>
            <a:r>
              <a:rPr sz="1400" b="1" dirty="0" err="1">
                <a:solidFill>
                  <a:srgbClr val="FFFFFF"/>
                </a:solidFill>
                <a:latin typeface="Calibri"/>
                <a:cs typeface="Calibri"/>
              </a:rPr>
              <a:t>до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Т</a:t>
            </a:r>
            <a:r>
              <a:rPr lang="uk-UA" sz="1400" b="1" spc="-25" dirty="0">
                <a:solidFill>
                  <a:srgbClr val="FFFFFF"/>
                </a:solidFill>
                <a:latin typeface="Calibri"/>
                <a:cs typeface="Calibri"/>
              </a:rPr>
              <a:t>ЕП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К</a:t>
            </a:r>
            <a:r>
              <a:rPr lang="uk-UA" sz="1400" b="1" spc="-25" dirty="0">
                <a:solidFill>
                  <a:srgbClr val="FFFFFF"/>
                </a:solidFill>
                <a:latin typeface="Calibri"/>
                <a:cs typeface="Calibri"/>
              </a:rPr>
              <a:t>С</a:t>
            </a:r>
            <a:endParaRPr sz="1400" dirty="0">
              <a:latin typeface="Calibri"/>
              <a:cs typeface="Calibri"/>
            </a:endParaRPr>
          </a:p>
          <a:p>
            <a:pPr marL="492759" indent="-140970">
              <a:lnSpc>
                <a:spcPct val="100000"/>
              </a:lnSpc>
              <a:buSzPct val="92857"/>
              <a:buAutoNum type="arabicPeriod"/>
              <a:tabLst>
                <a:tab pos="492759" algn="l"/>
              </a:tabLst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Довший час </a:t>
            </a:r>
            <a:r>
              <a:rPr sz="1400" b="1" dirty="0" err="1">
                <a:solidFill>
                  <a:srgbClr val="FFFFFF"/>
                </a:solidFill>
                <a:latin typeface="Calibri"/>
                <a:cs typeface="Calibri"/>
              </a:rPr>
              <a:t>до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 Т</a:t>
            </a:r>
            <a:r>
              <a:rPr lang="uk-UA" sz="1400" b="1" dirty="0">
                <a:solidFill>
                  <a:srgbClr val="FFFFFF"/>
                </a:solidFill>
                <a:latin typeface="Calibri"/>
                <a:cs typeface="Calibri"/>
              </a:rPr>
              <a:t>ЕП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К</a:t>
            </a:r>
            <a:r>
              <a:rPr lang="uk-UA" sz="1400" b="1" dirty="0">
                <a:solidFill>
                  <a:srgbClr val="FFFFFF"/>
                </a:solidFill>
                <a:latin typeface="Calibri"/>
                <a:cs typeface="Calibri"/>
              </a:rPr>
              <a:t>С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з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меншою кількістю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операцій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Відсутність нових сигналів,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пов'язаних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з безпекою </a:t>
            </a:r>
            <a:r>
              <a:rPr sz="1600" dirty="0" err="1">
                <a:solidFill>
                  <a:srgbClr val="FFFFFF"/>
                </a:solidFill>
                <a:latin typeface="Calibri"/>
                <a:cs typeface="Calibri"/>
              </a:rPr>
              <a:t>ін'єкцій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uk-UA" sz="1600" dirty="0">
                <a:solidFill>
                  <a:srgbClr val="FFFFFF"/>
                </a:solidFill>
                <a:latin typeface="Calibri"/>
                <a:cs typeface="Calibri"/>
              </a:rPr>
              <a:t>К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M-</a:t>
            </a:r>
            <a:r>
              <a:rPr sz="1600" dirty="0" err="1">
                <a:solidFill>
                  <a:srgbClr val="FFFFFF"/>
                </a:solidFill>
                <a:latin typeface="Calibri"/>
                <a:cs typeface="Calibri"/>
              </a:rPr>
              <a:t>хітозану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,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порівняно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з попередніми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даними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1582" y="5988914"/>
            <a:ext cx="11465469" cy="586058"/>
          </a:xfrm>
          <a:prstGeom prst="rect">
            <a:avLst/>
          </a:prstGeom>
          <a:solidFill>
            <a:srgbClr val="2E2E81"/>
          </a:solidFill>
        </p:spPr>
        <p:txBody>
          <a:bodyPr vert="horz" wrap="square" lIns="0" tIns="31750" rIns="0" bIns="0" rtlCol="0">
            <a:spAutoFit/>
          </a:bodyPr>
          <a:lstStyle/>
          <a:p>
            <a:pPr marL="1524000" marR="902969" indent="-612775">
              <a:lnSpc>
                <a:spcPct val="100000"/>
              </a:lnSpc>
              <a:spcBef>
                <a:spcPts val="25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Рандомізоване контрольоване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дослідження з </a:t>
            </a:r>
            <a:r>
              <a:rPr sz="1800" b="1" dirty="0" err="1">
                <a:solidFill>
                  <a:srgbClr val="FFFFFF"/>
                </a:solidFill>
                <a:latin typeface="Calibri"/>
                <a:cs typeface="Calibri"/>
              </a:rPr>
              <a:t>позитивними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Calibri"/>
                <a:cs typeface="Calibri"/>
              </a:rPr>
              <a:t>тенденціями</a:t>
            </a:r>
            <a:r>
              <a:rPr lang="uk-UA" sz="1800" b="1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 переваги незалежно від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параметрів дослідження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, що відкриває шлях для більш масштабного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дослідження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498071" y="-15494"/>
            <a:ext cx="4121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6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75538" y="6335369"/>
            <a:ext cx="51866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2. </a:t>
            </a:r>
            <a:r>
              <a:rPr sz="900" spc="-3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. </a:t>
            </a:r>
            <a:r>
              <a:rPr sz="900" spc="-30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. Emans, 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. Skaliczki, 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.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Haverkamp, 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J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. Bentin,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. Chausson, 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. Schifflers, 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. Hermitte, P. Douette. </a:t>
            </a:r>
            <a:r>
              <a:rPr sz="900" spc="-25" dirty="0">
                <a:solidFill>
                  <a:srgbClr val="FFFFFF"/>
                </a:solidFill>
                <a:latin typeface="Calibri"/>
                <a:cs typeface="Calibri"/>
              </a:rPr>
              <a:t>Перше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дослідження на людях з оцінки одноразового введення KiOmedine®CM-хітозану для лікування симптоматичного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остеоартриту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колінного суглоба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.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The Open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Rheumatology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Journal, 2022;</a:t>
            </a:r>
            <a:r>
              <a:rPr sz="900" spc="-25" dirty="0">
                <a:solidFill>
                  <a:srgbClr val="FFFFFF"/>
                </a:solidFill>
                <a:latin typeface="Calibri"/>
                <a:cs typeface="Calibri"/>
              </a:rPr>
              <a:t> 16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60595" y="1621599"/>
            <a:ext cx="3886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були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59501" y="1621599"/>
            <a:ext cx="117246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локалізовані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7655" y="2051431"/>
            <a:ext cx="4976495" cy="10291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2085" marR="30480" indent="-13462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173355" algn="l"/>
                <a:tab pos="748030" algn="l"/>
                <a:tab pos="1150620" algn="l"/>
                <a:tab pos="1467485" algn="l"/>
                <a:tab pos="2092325" algn="l"/>
                <a:tab pos="2409190" algn="l"/>
                <a:tab pos="3195955" algn="l"/>
                <a:tab pos="3596640" algn="l"/>
                <a:tab pos="4445635" algn="l"/>
              </a:tabLst>
            </a:pP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TRA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E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не мали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впливу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на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середньо-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та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довгострокові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клінічні 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результати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після 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внутрішньосуглобової </a:t>
            </a:r>
            <a:r>
              <a:rPr sz="1400" spc="-10" dirty="0" err="1">
                <a:solidFill>
                  <a:srgbClr val="FFFFFF"/>
                </a:solidFill>
                <a:latin typeface="Calibri"/>
                <a:cs typeface="Calibri"/>
              </a:rPr>
              <a:t>ін'єкції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 err="1">
                <a:solidFill>
                  <a:srgbClr val="FFFFFF"/>
                </a:solidFill>
                <a:latin typeface="Calibri"/>
                <a:cs typeface="Calibri"/>
              </a:rPr>
              <a:t>KioMedine</a:t>
            </a:r>
            <a:r>
              <a:rPr sz="1350" spc="-15" baseline="24691" dirty="0" err="1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lang="en-US" sz="1400" spc="-10" dirty="0" err="1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400" dirty="0">
              <a:latin typeface="Calibri"/>
              <a:cs typeface="Calibri"/>
            </a:endParaRPr>
          </a:p>
          <a:p>
            <a:pPr marL="171450" indent="-13335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171450" algn="l"/>
              </a:tabLst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Початок симптомів зазвичай наставав протягом декількох годин після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ін'єкції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7655" y="3092984"/>
            <a:ext cx="492696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5415" marR="5080" indent="-13335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146685" algn="l"/>
                <a:tab pos="521334" algn="l"/>
                <a:tab pos="1213485" algn="l"/>
                <a:tab pos="1534795" algn="l"/>
                <a:tab pos="2555875" algn="l"/>
                <a:tab pos="3293745" algn="l"/>
                <a:tab pos="3943350" algn="l"/>
                <a:tab pos="4382135" algn="l"/>
              </a:tabLst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Не </a:t>
            </a:r>
            <a:r>
              <a:rPr sz="1400" b="1" spc="-45" dirty="0">
                <a:solidFill>
                  <a:srgbClr val="FFFFFF"/>
                </a:solidFill>
                <a:latin typeface="Calibri"/>
                <a:cs typeface="Calibri"/>
              </a:rPr>
              <a:t>було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повідомлено про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серйозні 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або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несподівані побічні ефекти 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та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припинення лікування пацієнтами, </a:t>
            </a:r>
            <a:r>
              <a:rPr sz="1400" b="1" spc="-45" dirty="0">
                <a:solidFill>
                  <a:srgbClr val="FFFFFF"/>
                </a:solidFill>
                <a:latin typeface="Calibri"/>
                <a:cs typeface="Calibri"/>
              </a:rPr>
              <a:t>пов'язані 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з 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безпекою </a:t>
            </a:r>
            <a:r>
              <a:rPr sz="1400" b="1" spc="-40" dirty="0">
                <a:solidFill>
                  <a:srgbClr val="FFFFFF"/>
                </a:solidFill>
                <a:latin typeface="Calibri"/>
                <a:cs typeface="Calibri"/>
              </a:rPr>
              <a:t>лікування.</a:t>
            </a:r>
            <a:endParaRPr sz="1400" dirty="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109980" y="4029964"/>
          <a:ext cx="4956810" cy="1368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8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8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ТРАНЗИТОРНІ ТА ЛОКАЛЬНІ </a:t>
                      </a:r>
                      <a:r>
                        <a:rPr sz="10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ТРАЕ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12B8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КІОМЕДИН</a:t>
                      </a:r>
                      <a:r>
                        <a:rPr sz="1050" b="1" baseline="23809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VS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ОДИН (% </a:t>
                      </a:r>
                      <a:r>
                        <a:rPr sz="10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ПАЦІЄНТІВ)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12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Артралгія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E2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E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Випіт </a:t>
                      </a:r>
                      <a:r>
                        <a:rPr sz="120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у суглобах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E2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6</a:t>
                      </a:r>
                      <a:r>
                        <a:rPr sz="120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,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E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Набряк </a:t>
                      </a:r>
                      <a:r>
                        <a:rPr sz="120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суглобів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E2E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6</a:t>
                      </a:r>
                      <a:r>
                        <a:rPr sz="120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,3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E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Синовіїт/артрит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E2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4</a:t>
                      </a:r>
                      <a:r>
                        <a:rPr sz="1200" dirty="0">
                          <a:solidFill>
                            <a:srgbClr val="2E2E81"/>
                          </a:solidFill>
                          <a:latin typeface="Calibri"/>
                          <a:cs typeface="Calibri"/>
                        </a:rPr>
                        <a:t>,8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4E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6847967" y="3097148"/>
            <a:ext cx="5083175" cy="2106295"/>
            <a:chOff x="6847967" y="3097148"/>
            <a:chExt cx="5083175" cy="2106295"/>
          </a:xfrm>
        </p:grpSpPr>
        <p:sp>
          <p:nvSpPr>
            <p:cNvPr id="10" name="object 10"/>
            <p:cNvSpPr/>
            <p:nvPr/>
          </p:nvSpPr>
          <p:spPr>
            <a:xfrm>
              <a:off x="6847967" y="3097148"/>
              <a:ext cx="5083175" cy="2106295"/>
            </a:xfrm>
            <a:custGeom>
              <a:avLst/>
              <a:gdLst/>
              <a:ahLst/>
              <a:cxnLst/>
              <a:rect l="l" t="t" r="r" b="b"/>
              <a:pathLst>
                <a:path w="5083175" h="2106295">
                  <a:moveTo>
                    <a:pt x="5082667" y="0"/>
                  </a:moveTo>
                  <a:lnTo>
                    <a:pt x="0" y="0"/>
                  </a:lnTo>
                  <a:lnTo>
                    <a:pt x="0" y="2105914"/>
                  </a:lnTo>
                  <a:lnTo>
                    <a:pt x="5082667" y="2105914"/>
                  </a:lnTo>
                  <a:lnTo>
                    <a:pt x="5082667" y="0"/>
                  </a:lnTo>
                  <a:close/>
                </a:path>
              </a:pathLst>
            </a:custGeom>
            <a:solidFill>
              <a:srgbClr val="E4E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11339" y="3553713"/>
              <a:ext cx="4380230" cy="1027430"/>
            </a:xfrm>
            <a:custGeom>
              <a:avLst/>
              <a:gdLst/>
              <a:ahLst/>
              <a:cxnLst/>
              <a:rect l="l" t="t" r="r" b="b"/>
              <a:pathLst>
                <a:path w="4380230" h="1027429">
                  <a:moveTo>
                    <a:pt x="0" y="1027430"/>
                  </a:moveTo>
                  <a:lnTo>
                    <a:pt x="4379721" y="1027430"/>
                  </a:lnTo>
                </a:path>
                <a:path w="4380230" h="1027429">
                  <a:moveTo>
                    <a:pt x="0" y="771398"/>
                  </a:moveTo>
                  <a:lnTo>
                    <a:pt x="4379721" y="771398"/>
                  </a:lnTo>
                </a:path>
                <a:path w="4380230" h="1027429">
                  <a:moveTo>
                    <a:pt x="0" y="513842"/>
                  </a:moveTo>
                  <a:lnTo>
                    <a:pt x="4379721" y="513842"/>
                  </a:lnTo>
                </a:path>
                <a:path w="4380230" h="1027429">
                  <a:moveTo>
                    <a:pt x="0" y="256286"/>
                  </a:moveTo>
                  <a:lnTo>
                    <a:pt x="4379721" y="256286"/>
                  </a:lnTo>
                </a:path>
                <a:path w="4380230" h="1027429">
                  <a:moveTo>
                    <a:pt x="0" y="0"/>
                  </a:moveTo>
                  <a:lnTo>
                    <a:pt x="4379721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15400" y="4703114"/>
              <a:ext cx="1371600" cy="135890"/>
            </a:xfrm>
            <a:custGeom>
              <a:avLst/>
              <a:gdLst/>
              <a:ahLst/>
              <a:cxnLst/>
              <a:rect l="l" t="t" r="r" b="b"/>
              <a:pathLst>
                <a:path w="1371600" h="135889">
                  <a:moveTo>
                    <a:pt x="1371600" y="0"/>
                  </a:moveTo>
                  <a:lnTo>
                    <a:pt x="0" y="0"/>
                  </a:lnTo>
                  <a:lnTo>
                    <a:pt x="0" y="135458"/>
                  </a:lnTo>
                  <a:lnTo>
                    <a:pt x="1371600" y="135458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312B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11339" y="4838572"/>
              <a:ext cx="4380230" cy="0"/>
            </a:xfrm>
            <a:custGeom>
              <a:avLst/>
              <a:gdLst/>
              <a:ahLst/>
              <a:cxnLst/>
              <a:rect l="l" t="t" r="r" b="b"/>
              <a:pathLst>
                <a:path w="4380230">
                  <a:moveTo>
                    <a:pt x="0" y="0"/>
                  </a:moveTo>
                  <a:lnTo>
                    <a:pt x="4379721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372854" y="4440428"/>
            <a:ext cx="471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04040"/>
                </a:solidFill>
                <a:latin typeface="Calibri"/>
                <a:cs typeface="Calibri"/>
              </a:rPr>
              <a:t>10,6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31406" y="3359023"/>
            <a:ext cx="354330" cy="156781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R="5715" algn="r">
              <a:lnSpc>
                <a:spcPct val="100000"/>
              </a:lnSpc>
              <a:spcBef>
                <a:spcPts val="680"/>
              </a:spcBef>
            </a:pPr>
            <a:r>
              <a:rPr sz="1200" spc="-20" dirty="0">
                <a:solidFill>
                  <a:srgbClr val="58585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  <a:p>
            <a:pPr marR="5715" algn="r">
              <a:lnSpc>
                <a:spcPct val="100000"/>
              </a:lnSpc>
              <a:spcBef>
                <a:spcPts val="585"/>
              </a:spcBef>
            </a:pPr>
            <a:r>
              <a:rPr sz="1200" spc="-25" dirty="0">
                <a:solidFill>
                  <a:srgbClr val="585858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  <a:p>
            <a:pPr marR="5715" algn="r">
              <a:lnSpc>
                <a:spcPct val="100000"/>
              </a:lnSpc>
              <a:spcBef>
                <a:spcPts val="585"/>
              </a:spcBef>
            </a:pPr>
            <a:r>
              <a:rPr sz="1200" spc="-25" dirty="0">
                <a:solidFill>
                  <a:srgbClr val="58585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  <a:p>
            <a:pPr marR="5715" algn="r">
              <a:lnSpc>
                <a:spcPct val="100000"/>
              </a:lnSpc>
              <a:spcBef>
                <a:spcPts val="585"/>
              </a:spcBef>
            </a:pPr>
            <a:r>
              <a:rPr sz="1200" spc="-25" dirty="0">
                <a:solidFill>
                  <a:srgbClr val="585858"/>
                </a:solidFill>
                <a:latin typeface="Calibri"/>
                <a:cs typeface="Calibri"/>
              </a:rPr>
              <a:t>40</a:t>
            </a:r>
            <a:endParaRPr sz="1200">
              <a:latin typeface="Calibri"/>
              <a:cs typeface="Calibri"/>
            </a:endParaRPr>
          </a:p>
          <a:p>
            <a:pPr marR="5715" algn="r">
              <a:lnSpc>
                <a:spcPct val="100000"/>
              </a:lnSpc>
              <a:spcBef>
                <a:spcPts val="580"/>
              </a:spcBef>
            </a:pPr>
            <a:r>
              <a:rPr sz="1200" spc="-25" dirty="0">
                <a:solidFill>
                  <a:srgbClr val="585858"/>
                </a:solidFill>
                <a:latin typeface="Calibri"/>
                <a:cs typeface="Calibri"/>
              </a:rPr>
              <a:t>20</a:t>
            </a:r>
            <a:endParaRPr sz="12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585"/>
              </a:spcBef>
            </a:pPr>
            <a:r>
              <a:rPr sz="1200" spc="-25" dirty="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27595" y="4915916"/>
            <a:ext cx="4926965" cy="12388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44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85858"/>
                </a:solidFill>
                <a:latin typeface="Calibri"/>
                <a:cs typeface="Calibri"/>
              </a:rPr>
              <a:t>Попереднє введення </a:t>
            </a:r>
            <a:r>
              <a:rPr sz="1200" spc="-10" dirty="0">
                <a:solidFill>
                  <a:srgbClr val="585858"/>
                </a:solidFill>
                <a:latin typeface="Calibri"/>
                <a:cs typeface="Calibri"/>
              </a:rPr>
              <a:t>кортикостероїдів (N=94)</a:t>
            </a:r>
            <a:endParaRPr sz="1200" dirty="0">
              <a:latin typeface="Calibri"/>
              <a:cs typeface="Calibri"/>
            </a:endParaRPr>
          </a:p>
          <a:p>
            <a:pPr marL="146050" indent="-133350">
              <a:lnSpc>
                <a:spcPct val="100000"/>
              </a:lnSpc>
              <a:spcBef>
                <a:spcPts val="1360"/>
              </a:spcBef>
              <a:buFont typeface="Arial"/>
              <a:buChar char="•"/>
              <a:tabLst>
                <a:tab pos="146050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Кількість ТРАЕ становила 12 випадків на 133 коліна, яким було введено препарат: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 10,6%</a:t>
            </a:r>
            <a:endParaRPr sz="1400" dirty="0">
              <a:latin typeface="Calibri"/>
              <a:cs typeface="Calibri"/>
            </a:endParaRPr>
          </a:p>
          <a:p>
            <a:pPr marL="145415" marR="5080" indent="-133350">
              <a:lnSpc>
                <a:spcPct val="100000"/>
              </a:lnSpc>
              <a:buFont typeface="Arial"/>
              <a:buChar char="•"/>
              <a:tabLst>
                <a:tab pos="146685" algn="l"/>
              </a:tabLst>
            </a:pPr>
            <a:r>
              <a:rPr sz="1400" b="1" dirty="0" err="1">
                <a:solidFill>
                  <a:srgbClr val="FFFFFF"/>
                </a:solidFill>
                <a:latin typeface="Calibri"/>
                <a:cs typeface="Calibri"/>
              </a:rPr>
              <a:t>Введення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uk-UA" sz="1400" b="1" dirty="0">
                <a:solidFill>
                  <a:srgbClr val="FFFFFF"/>
                </a:solidFill>
                <a:latin typeface="Calibri"/>
                <a:cs typeface="Calibri"/>
              </a:rPr>
              <a:t>КС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 з KioMedinevsOne перед ін'єкцією зменшує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TREAE після ін'єкції.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463660" y="3172714"/>
            <a:ext cx="18643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585858"/>
                </a:solidFill>
                <a:latin typeface="Calibri"/>
                <a:cs typeface="Calibri"/>
              </a:rPr>
              <a:t>Небажані </a:t>
            </a:r>
            <a:r>
              <a:rPr sz="1200" b="1" spc="-10" dirty="0">
                <a:solidFill>
                  <a:srgbClr val="585858"/>
                </a:solidFill>
                <a:latin typeface="Calibri"/>
                <a:cs typeface="Calibri"/>
              </a:rPr>
              <a:t>явища </a:t>
            </a:r>
            <a:r>
              <a:rPr sz="1200" b="1" dirty="0">
                <a:solidFill>
                  <a:srgbClr val="585858"/>
                </a:solidFill>
                <a:latin typeface="Calibri"/>
                <a:cs typeface="Calibri"/>
              </a:rPr>
              <a:t>після ін'єкції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57655" y="892048"/>
            <a:ext cx="3646170" cy="1184299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822450">
              <a:lnSpc>
                <a:spcPct val="100000"/>
              </a:lnSpc>
              <a:spcBef>
                <a:spcPts val="113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Дослідження APROOVE</a:t>
            </a:r>
            <a:r>
              <a:rPr sz="1575" b="1" spc="-15" baseline="2645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575" baseline="26455" dirty="0">
              <a:latin typeface="Calibri"/>
              <a:cs typeface="Calibri"/>
            </a:endParaRPr>
          </a:p>
          <a:p>
            <a:pPr marL="170815" marR="30480" indent="-133350">
              <a:lnSpc>
                <a:spcPct val="100000"/>
              </a:lnSpc>
              <a:spcBef>
                <a:spcPts val="919"/>
              </a:spcBef>
              <a:buFont typeface="Arial"/>
              <a:buChar char="•"/>
              <a:tabLst>
                <a:tab pos="172085" algn="l"/>
                <a:tab pos="1665605" algn="l"/>
                <a:tab pos="2403475" algn="l"/>
                <a:tab pos="3052445" algn="l"/>
              </a:tabLst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Небажані явища, пов'язані з лікуванням (TRAE)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Транзиторні 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місцеві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явища 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після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ін'єкції.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28807" y="107887"/>
            <a:ext cx="734695" cy="6750684"/>
            <a:chOff x="228807" y="107887"/>
            <a:chExt cx="734695" cy="6750684"/>
          </a:xfrm>
        </p:grpSpPr>
        <p:sp>
          <p:nvSpPr>
            <p:cNvPr id="20" name="object 20"/>
            <p:cNvSpPr/>
            <p:nvPr/>
          </p:nvSpPr>
          <p:spPr>
            <a:xfrm>
              <a:off x="237821" y="116902"/>
              <a:ext cx="716915" cy="715645"/>
            </a:xfrm>
            <a:custGeom>
              <a:avLst/>
              <a:gdLst/>
              <a:ahLst/>
              <a:cxnLst/>
              <a:rect l="l" t="t" r="r" b="b"/>
              <a:pathLst>
                <a:path w="716915" h="715644">
                  <a:moveTo>
                    <a:pt x="716323" y="358689"/>
                  </a:moveTo>
                  <a:lnTo>
                    <a:pt x="716323" y="358689"/>
                  </a:lnTo>
                  <a:lnTo>
                    <a:pt x="716323" y="371034"/>
                  </a:lnTo>
                </a:path>
                <a:path w="716915" h="715644">
                  <a:moveTo>
                    <a:pt x="707782" y="433656"/>
                  </a:moveTo>
                  <a:lnTo>
                    <a:pt x="707782" y="433656"/>
                  </a:lnTo>
                  <a:lnTo>
                    <a:pt x="705887" y="445989"/>
                  </a:lnTo>
                </a:path>
                <a:path w="716915" h="715644">
                  <a:moveTo>
                    <a:pt x="685016" y="504820"/>
                  </a:moveTo>
                  <a:lnTo>
                    <a:pt x="685016" y="504820"/>
                  </a:lnTo>
                  <a:lnTo>
                    <a:pt x="679318" y="517165"/>
                  </a:lnTo>
                </a:path>
                <a:path w="716915" h="715644">
                  <a:moveTo>
                    <a:pt x="647064" y="570298"/>
                  </a:moveTo>
                  <a:lnTo>
                    <a:pt x="647064" y="570298"/>
                  </a:lnTo>
                  <a:lnTo>
                    <a:pt x="638524" y="580735"/>
                  </a:lnTo>
                </a:path>
                <a:path w="716915" h="715644">
                  <a:moveTo>
                    <a:pt x="595822" y="626287"/>
                  </a:moveTo>
                  <a:lnTo>
                    <a:pt x="595822" y="626287"/>
                  </a:lnTo>
                  <a:lnTo>
                    <a:pt x="586334" y="634827"/>
                  </a:lnTo>
                </a:path>
                <a:path w="716915" h="715644">
                  <a:moveTo>
                    <a:pt x="534156" y="669937"/>
                  </a:moveTo>
                  <a:lnTo>
                    <a:pt x="526563" y="674681"/>
                  </a:lnTo>
                  <a:lnTo>
                    <a:pt x="522773" y="676579"/>
                  </a:lnTo>
                </a:path>
                <a:path w="716915" h="715644">
                  <a:moveTo>
                    <a:pt x="464898" y="700301"/>
                  </a:moveTo>
                  <a:lnTo>
                    <a:pt x="464898" y="700301"/>
                  </a:lnTo>
                  <a:lnTo>
                    <a:pt x="452567" y="704097"/>
                  </a:lnTo>
                </a:path>
                <a:path w="716915" h="715644">
                  <a:moveTo>
                    <a:pt x="390889" y="714535"/>
                  </a:moveTo>
                  <a:lnTo>
                    <a:pt x="390889" y="714535"/>
                  </a:lnTo>
                  <a:lnTo>
                    <a:pt x="378558" y="715484"/>
                  </a:lnTo>
                </a:path>
                <a:path w="716915" h="715644">
                  <a:moveTo>
                    <a:pt x="314985" y="714535"/>
                  </a:moveTo>
                  <a:lnTo>
                    <a:pt x="313090" y="714535"/>
                  </a:lnTo>
                  <a:lnTo>
                    <a:pt x="302655" y="712637"/>
                  </a:lnTo>
                </a:path>
                <a:path w="716915" h="715644">
                  <a:moveTo>
                    <a:pt x="241937" y="697454"/>
                  </a:moveTo>
                  <a:lnTo>
                    <a:pt x="241937" y="697454"/>
                  </a:lnTo>
                  <a:lnTo>
                    <a:pt x="229606" y="692710"/>
                  </a:lnTo>
                </a:path>
                <a:path w="716915" h="715644">
                  <a:moveTo>
                    <a:pt x="173626" y="665192"/>
                  </a:moveTo>
                  <a:lnTo>
                    <a:pt x="173626" y="665192"/>
                  </a:lnTo>
                  <a:lnTo>
                    <a:pt x="162243" y="658549"/>
                  </a:lnTo>
                </a:path>
                <a:path w="716915" h="715644">
                  <a:moveTo>
                    <a:pt x="112903" y="619644"/>
                  </a:moveTo>
                  <a:lnTo>
                    <a:pt x="112903" y="619644"/>
                  </a:lnTo>
                  <a:lnTo>
                    <a:pt x="104364" y="610154"/>
                  </a:lnTo>
                </a:path>
                <a:path w="716915" h="715644">
                  <a:moveTo>
                    <a:pt x="63567" y="562704"/>
                  </a:moveTo>
                  <a:lnTo>
                    <a:pt x="63567" y="562704"/>
                  </a:lnTo>
                  <a:lnTo>
                    <a:pt x="56925" y="551319"/>
                  </a:lnTo>
                </a:path>
                <a:path w="716915" h="715644">
                  <a:moveTo>
                    <a:pt x="27514" y="496291"/>
                  </a:moveTo>
                  <a:lnTo>
                    <a:pt x="23718" y="487749"/>
                  </a:lnTo>
                  <a:lnTo>
                    <a:pt x="22770" y="483945"/>
                  </a:lnTo>
                </a:path>
                <a:path w="716915" h="715644">
                  <a:moveTo>
                    <a:pt x="5693" y="423218"/>
                  </a:moveTo>
                  <a:lnTo>
                    <a:pt x="5693" y="423218"/>
                  </a:lnTo>
                  <a:lnTo>
                    <a:pt x="3795" y="410886"/>
                  </a:lnTo>
                </a:path>
                <a:path w="716915" h="715644">
                  <a:moveTo>
                    <a:pt x="0" y="348251"/>
                  </a:moveTo>
                  <a:lnTo>
                    <a:pt x="0" y="348251"/>
                  </a:lnTo>
                  <a:lnTo>
                    <a:pt x="948" y="335919"/>
                  </a:lnTo>
                </a:path>
                <a:path w="716915" h="715644">
                  <a:moveTo>
                    <a:pt x="9488" y="273296"/>
                  </a:moveTo>
                  <a:lnTo>
                    <a:pt x="10437" y="270440"/>
                  </a:lnTo>
                  <a:lnTo>
                    <a:pt x="13282" y="260951"/>
                  </a:lnTo>
                </a:path>
                <a:path w="716915" h="715644">
                  <a:moveTo>
                    <a:pt x="36053" y="202119"/>
                  </a:moveTo>
                  <a:lnTo>
                    <a:pt x="36053" y="202119"/>
                  </a:lnTo>
                  <a:lnTo>
                    <a:pt x="40797" y="190735"/>
                  </a:lnTo>
                </a:path>
                <a:path w="716915" h="715644">
                  <a:moveTo>
                    <a:pt x="75901" y="138549"/>
                  </a:moveTo>
                  <a:lnTo>
                    <a:pt x="75901" y="138549"/>
                  </a:lnTo>
                  <a:lnTo>
                    <a:pt x="83491" y="128112"/>
                  </a:lnTo>
                </a:path>
                <a:path w="716915" h="715644">
                  <a:moveTo>
                    <a:pt x="128081" y="83508"/>
                  </a:moveTo>
                  <a:lnTo>
                    <a:pt x="128081" y="83508"/>
                  </a:lnTo>
                  <a:lnTo>
                    <a:pt x="138517" y="75914"/>
                  </a:lnTo>
                </a:path>
                <a:path w="716915" h="715644">
                  <a:moveTo>
                    <a:pt x="190707" y="40813"/>
                  </a:moveTo>
                  <a:lnTo>
                    <a:pt x="190707" y="40813"/>
                  </a:lnTo>
                  <a:lnTo>
                    <a:pt x="202090" y="36062"/>
                  </a:lnTo>
                </a:path>
                <a:path w="716915" h="715644">
                  <a:moveTo>
                    <a:pt x="260913" y="13292"/>
                  </a:moveTo>
                  <a:lnTo>
                    <a:pt x="269453" y="10449"/>
                  </a:lnTo>
                  <a:lnTo>
                    <a:pt x="273243" y="10449"/>
                  </a:lnTo>
                </a:path>
                <a:path w="716915" h="715644">
                  <a:moveTo>
                    <a:pt x="335869" y="960"/>
                  </a:moveTo>
                  <a:lnTo>
                    <a:pt x="335869" y="960"/>
                  </a:lnTo>
                  <a:lnTo>
                    <a:pt x="348199" y="0"/>
                  </a:lnTo>
                </a:path>
                <a:path w="716915" h="715644">
                  <a:moveTo>
                    <a:pt x="410812" y="3803"/>
                  </a:moveTo>
                  <a:lnTo>
                    <a:pt x="410812" y="3803"/>
                  </a:lnTo>
                  <a:lnTo>
                    <a:pt x="423156" y="6646"/>
                  </a:lnTo>
                </a:path>
                <a:path w="716915" h="715644">
                  <a:moveTo>
                    <a:pt x="483874" y="22782"/>
                  </a:moveTo>
                  <a:lnTo>
                    <a:pt x="487664" y="23729"/>
                  </a:lnTo>
                  <a:lnTo>
                    <a:pt x="496204" y="27520"/>
                  </a:lnTo>
                </a:path>
                <a:path w="716915" h="715644">
                  <a:moveTo>
                    <a:pt x="551237" y="56936"/>
                  </a:moveTo>
                  <a:lnTo>
                    <a:pt x="551237" y="56936"/>
                  </a:lnTo>
                  <a:lnTo>
                    <a:pt x="562620" y="63582"/>
                  </a:lnTo>
                </a:path>
                <a:path w="716915" h="715644">
                  <a:moveTo>
                    <a:pt x="610060" y="104383"/>
                  </a:moveTo>
                  <a:lnTo>
                    <a:pt x="610060" y="104383"/>
                  </a:lnTo>
                  <a:lnTo>
                    <a:pt x="619548" y="112925"/>
                  </a:lnTo>
                </a:path>
                <a:path w="716915" h="715644">
                  <a:moveTo>
                    <a:pt x="658447" y="163215"/>
                  </a:moveTo>
                  <a:lnTo>
                    <a:pt x="658447" y="163215"/>
                  </a:lnTo>
                  <a:lnTo>
                    <a:pt x="665093" y="173652"/>
                  </a:lnTo>
                </a:path>
                <a:path w="716915" h="715644">
                  <a:moveTo>
                    <a:pt x="692596" y="229641"/>
                  </a:moveTo>
                  <a:lnTo>
                    <a:pt x="692596" y="229641"/>
                  </a:lnTo>
                  <a:lnTo>
                    <a:pt x="696399" y="241973"/>
                  </a:lnTo>
                </a:path>
                <a:path w="716915" h="715644">
                  <a:moveTo>
                    <a:pt x="711572" y="303660"/>
                  </a:moveTo>
                  <a:lnTo>
                    <a:pt x="713480" y="313150"/>
                  </a:lnTo>
                  <a:lnTo>
                    <a:pt x="714428" y="315993"/>
                  </a:lnTo>
                </a:path>
              </a:pathLst>
            </a:custGeom>
            <a:ln w="18028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6633" y="852551"/>
              <a:ext cx="0" cy="6005830"/>
            </a:xfrm>
            <a:custGeom>
              <a:avLst/>
              <a:gdLst/>
              <a:ahLst/>
              <a:cxnLst/>
              <a:rect l="l" t="t" r="r" b="b"/>
              <a:pathLst>
                <a:path h="6005830">
                  <a:moveTo>
                    <a:pt x="0" y="0"/>
                  </a:moveTo>
                  <a:lnTo>
                    <a:pt x="0" y="600544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1057655" y="276605"/>
            <a:ext cx="80200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FFFFFF"/>
                </a:solidFill>
              </a:rPr>
              <a:t>Оці</a:t>
            </a:r>
            <a:r>
              <a:rPr sz="3000" dirty="0">
                <a:solidFill>
                  <a:srgbClr val="FFFFFF"/>
                </a:solidFill>
              </a:rPr>
              <a:t>нка профілю </a:t>
            </a:r>
            <a:r>
              <a:rPr sz="3000" dirty="0" err="1">
                <a:solidFill>
                  <a:srgbClr val="FFFFFF"/>
                </a:solidFill>
              </a:rPr>
              <a:t>безпеки</a:t>
            </a:r>
            <a:r>
              <a:rPr sz="3000" dirty="0">
                <a:solidFill>
                  <a:srgbClr val="FFFFFF"/>
                </a:solidFill>
              </a:rPr>
              <a:t> </a:t>
            </a:r>
            <a:r>
              <a:rPr sz="3000" spc="-10" dirty="0" err="1">
                <a:solidFill>
                  <a:srgbClr val="FFFFFF"/>
                </a:solidFill>
              </a:rPr>
              <a:t>KioMedine</a:t>
            </a:r>
            <a:r>
              <a:rPr sz="3000" spc="-15" baseline="25000" dirty="0" err="1">
                <a:solidFill>
                  <a:srgbClr val="FFFFFF"/>
                </a:solidFill>
              </a:rPr>
              <a:t>vs</a:t>
            </a:r>
            <a:r>
              <a:rPr sz="3000" spc="-10" dirty="0" err="1">
                <a:solidFill>
                  <a:srgbClr val="FFFFFF"/>
                </a:solidFill>
              </a:rPr>
              <a:t>One</a:t>
            </a:r>
            <a:endParaRPr sz="3000" dirty="0"/>
          </a:p>
        </p:txBody>
      </p:sp>
      <p:sp>
        <p:nvSpPr>
          <p:cNvPr id="23" name="object 23"/>
          <p:cNvSpPr txBox="1"/>
          <p:nvPr/>
        </p:nvSpPr>
        <p:spPr>
          <a:xfrm>
            <a:off x="6247833" y="994502"/>
            <a:ext cx="5730484" cy="2012730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731520">
              <a:lnSpc>
                <a:spcPct val="100000"/>
              </a:lnSpc>
              <a:spcBef>
                <a:spcPts val="111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Ін'єкції в реальних умовах – Бельгія (112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пацієнтів)</a:t>
            </a:r>
            <a:r>
              <a:rPr sz="1575" b="1" spc="-15" baseline="26455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575" baseline="26455" dirty="0">
              <a:latin typeface="Calibri"/>
              <a:cs typeface="Calibri"/>
            </a:endParaRPr>
          </a:p>
          <a:p>
            <a:pPr marL="170815" marR="80010" indent="-133350">
              <a:lnSpc>
                <a:spcPct val="100000"/>
              </a:lnSpc>
              <a:spcBef>
                <a:spcPts val="905"/>
              </a:spcBef>
              <a:buFont typeface="Arial"/>
              <a:buChar char="•"/>
              <a:tabLst>
                <a:tab pos="172085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У цьому клінічному дослідженні ТРАЕ були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зареєстровані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після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клінічного 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обстеження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коліна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що лікувалося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,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яке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зазвичай 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проводилося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через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2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тижні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після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ін'єкції та збору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інформації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про безпеку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та переносимість.</a:t>
            </a:r>
            <a:endParaRPr sz="1400" dirty="0">
              <a:latin typeface="Calibri"/>
              <a:cs typeface="Calibri"/>
            </a:endParaRPr>
          </a:p>
          <a:p>
            <a:pPr marL="170815" marR="30480" indent="-133350">
              <a:lnSpc>
                <a:spcPct val="100000"/>
              </a:lnSpc>
              <a:buFont typeface="Arial"/>
              <a:buChar char="•"/>
              <a:tabLst>
                <a:tab pos="172085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Всього 70,7%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ін'єкцій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(n=94) було зроблено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після 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ін'єкції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кортикостероїдів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за 1-2 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тижні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до </a:t>
            </a:r>
            <a:r>
              <a:rPr sz="1400" spc="-35" dirty="0" err="1">
                <a:solidFill>
                  <a:srgbClr val="FFFFFF"/>
                </a:solidFill>
                <a:latin typeface="Calibri"/>
                <a:cs typeface="Calibri"/>
              </a:rPr>
              <a:t>застосування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Calibri"/>
                <a:cs typeface="Calibri"/>
              </a:rPr>
              <a:t>KioMedine</a:t>
            </a:r>
            <a:r>
              <a:rPr sz="1350" baseline="24691" dirty="0" err="1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lang="en-US" sz="1400" dirty="0" err="1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,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перший,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для лікування виявленого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або прихованого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запалення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або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випоту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в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коліні.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27595" y="6404559"/>
            <a:ext cx="4850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5. Van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Overschelde,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SFR 2022,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CM-хітозан при прогресуючому артрозі колінного суглоба: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багатообіцяючі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довгострокові переваги після одноразової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внутрішньосуглобової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ін'єкції.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18931" y="3428905"/>
              <a:ext cx="2521585" cy="3429635"/>
            </a:xfrm>
            <a:custGeom>
              <a:avLst/>
              <a:gdLst/>
              <a:ahLst/>
              <a:cxnLst/>
              <a:rect l="l" t="t" r="r" b="b"/>
              <a:pathLst>
                <a:path w="2521584" h="3429634">
                  <a:moveTo>
                    <a:pt x="1271275" y="0"/>
                  </a:moveTo>
                  <a:lnTo>
                    <a:pt x="1021577" y="0"/>
                  </a:lnTo>
                  <a:lnTo>
                    <a:pt x="972834" y="4450"/>
                  </a:lnTo>
                  <a:lnTo>
                    <a:pt x="925995" y="10440"/>
                  </a:lnTo>
                  <a:lnTo>
                    <a:pt x="879734" y="17873"/>
                  </a:lnTo>
                  <a:lnTo>
                    <a:pt x="834035" y="26762"/>
                  </a:lnTo>
                  <a:lnTo>
                    <a:pt x="788884" y="37121"/>
                  </a:lnTo>
                  <a:lnTo>
                    <a:pt x="744267" y="48963"/>
                  </a:lnTo>
                  <a:lnTo>
                    <a:pt x="700169" y="62302"/>
                  </a:lnTo>
                  <a:lnTo>
                    <a:pt x="648701" y="80106"/>
                  </a:lnTo>
                  <a:lnTo>
                    <a:pt x="598895" y="100131"/>
                  </a:lnTo>
                  <a:lnTo>
                    <a:pt x="550762" y="122353"/>
                  </a:lnTo>
                  <a:lnTo>
                    <a:pt x="504311" y="146752"/>
                  </a:lnTo>
                  <a:lnTo>
                    <a:pt x="459552" y="173306"/>
                  </a:lnTo>
                  <a:lnTo>
                    <a:pt x="416493" y="201995"/>
                  </a:lnTo>
                  <a:lnTo>
                    <a:pt x="375146" y="232797"/>
                  </a:lnTo>
                  <a:lnTo>
                    <a:pt x="335519" y="265690"/>
                  </a:lnTo>
                  <a:lnTo>
                    <a:pt x="302017" y="296772"/>
                  </a:lnTo>
                  <a:lnTo>
                    <a:pt x="270137" y="329795"/>
                  </a:lnTo>
                  <a:lnTo>
                    <a:pt x="239857" y="364747"/>
                  </a:lnTo>
                  <a:lnTo>
                    <a:pt x="211158" y="401616"/>
                  </a:lnTo>
                  <a:lnTo>
                    <a:pt x="184018" y="440390"/>
                  </a:lnTo>
                  <a:lnTo>
                    <a:pt x="158418" y="481056"/>
                  </a:lnTo>
                  <a:lnTo>
                    <a:pt x="134336" y="523602"/>
                  </a:lnTo>
                  <a:lnTo>
                    <a:pt x="111754" y="568016"/>
                  </a:lnTo>
                  <a:lnTo>
                    <a:pt x="90649" y="614286"/>
                  </a:lnTo>
                  <a:lnTo>
                    <a:pt x="73359" y="657651"/>
                  </a:lnTo>
                  <a:lnTo>
                    <a:pt x="57910" y="702402"/>
                  </a:lnTo>
                  <a:lnTo>
                    <a:pt x="44297" y="748541"/>
                  </a:lnTo>
                  <a:lnTo>
                    <a:pt x="32515" y="796071"/>
                  </a:lnTo>
                  <a:lnTo>
                    <a:pt x="22559" y="844994"/>
                  </a:lnTo>
                  <a:lnTo>
                    <a:pt x="14425" y="895310"/>
                  </a:lnTo>
                  <a:lnTo>
                    <a:pt x="8106" y="947023"/>
                  </a:lnTo>
                  <a:lnTo>
                    <a:pt x="3599" y="1000135"/>
                  </a:lnTo>
                  <a:lnTo>
                    <a:pt x="899" y="1054647"/>
                  </a:lnTo>
                  <a:lnTo>
                    <a:pt x="0" y="1110561"/>
                  </a:lnTo>
                  <a:lnTo>
                    <a:pt x="0" y="3429091"/>
                  </a:lnTo>
                  <a:lnTo>
                    <a:pt x="830620" y="3429091"/>
                  </a:lnTo>
                  <a:lnTo>
                    <a:pt x="830619" y="992714"/>
                  </a:lnTo>
                  <a:lnTo>
                    <a:pt x="834336" y="942200"/>
                  </a:lnTo>
                  <a:lnTo>
                    <a:pt x="845371" y="895310"/>
                  </a:lnTo>
                  <a:lnTo>
                    <a:pt x="863661" y="851614"/>
                  </a:lnTo>
                  <a:lnTo>
                    <a:pt x="888996" y="811306"/>
                  </a:lnTo>
                  <a:lnTo>
                    <a:pt x="921265" y="774162"/>
                  </a:lnTo>
                  <a:lnTo>
                    <a:pt x="959688" y="741977"/>
                  </a:lnTo>
                  <a:lnTo>
                    <a:pt x="1001534" y="716999"/>
                  </a:lnTo>
                  <a:lnTo>
                    <a:pt x="1046687" y="699197"/>
                  </a:lnTo>
                  <a:lnTo>
                    <a:pt x="1095029" y="688540"/>
                  </a:lnTo>
                  <a:lnTo>
                    <a:pt x="1146443" y="684994"/>
                  </a:lnTo>
                  <a:lnTo>
                    <a:pt x="2229553" y="684994"/>
                  </a:lnTo>
                  <a:lnTo>
                    <a:pt x="2220158" y="657651"/>
                  </a:lnTo>
                  <a:lnTo>
                    <a:pt x="2203033" y="614286"/>
                  </a:lnTo>
                  <a:lnTo>
                    <a:pt x="2181982" y="568016"/>
                  </a:lnTo>
                  <a:lnTo>
                    <a:pt x="2159253" y="523602"/>
                  </a:lnTo>
                  <a:lnTo>
                    <a:pt x="2134848" y="481056"/>
                  </a:lnTo>
                  <a:lnTo>
                    <a:pt x="2108766" y="440390"/>
                  </a:lnTo>
                  <a:lnTo>
                    <a:pt x="2081007" y="401616"/>
                  </a:lnTo>
                  <a:lnTo>
                    <a:pt x="2051571" y="364747"/>
                  </a:lnTo>
                  <a:lnTo>
                    <a:pt x="2020458" y="329795"/>
                  </a:lnTo>
                  <a:lnTo>
                    <a:pt x="1987669" y="296772"/>
                  </a:lnTo>
                  <a:lnTo>
                    <a:pt x="1953203" y="265690"/>
                  </a:lnTo>
                  <a:lnTo>
                    <a:pt x="1913323" y="232797"/>
                  </a:lnTo>
                  <a:lnTo>
                    <a:pt x="1871784" y="201995"/>
                  </a:lnTo>
                  <a:lnTo>
                    <a:pt x="1828632" y="173306"/>
                  </a:lnTo>
                  <a:lnTo>
                    <a:pt x="1783913" y="146752"/>
                  </a:lnTo>
                  <a:lnTo>
                    <a:pt x="1737672" y="122353"/>
                  </a:lnTo>
                  <a:lnTo>
                    <a:pt x="1689954" y="100131"/>
                  </a:lnTo>
                  <a:lnTo>
                    <a:pt x="1640806" y="80106"/>
                  </a:lnTo>
                  <a:lnTo>
                    <a:pt x="1590272" y="62302"/>
                  </a:lnTo>
                  <a:lnTo>
                    <a:pt x="1538103" y="46475"/>
                  </a:lnTo>
                  <a:lnTo>
                    <a:pt x="1484982" y="32800"/>
                  </a:lnTo>
                  <a:lnTo>
                    <a:pt x="1430912" y="21253"/>
                  </a:lnTo>
                  <a:lnTo>
                    <a:pt x="1375896" y="11811"/>
                  </a:lnTo>
                  <a:lnTo>
                    <a:pt x="1319936" y="4450"/>
                  </a:lnTo>
                  <a:lnTo>
                    <a:pt x="1271275" y="0"/>
                  </a:lnTo>
                  <a:close/>
                </a:path>
                <a:path w="2521584" h="3429634">
                  <a:moveTo>
                    <a:pt x="2229553" y="684994"/>
                  </a:moveTo>
                  <a:lnTo>
                    <a:pt x="1146443" y="684994"/>
                  </a:lnTo>
                  <a:lnTo>
                    <a:pt x="1195938" y="688540"/>
                  </a:lnTo>
                  <a:lnTo>
                    <a:pt x="1242932" y="699197"/>
                  </a:lnTo>
                  <a:lnTo>
                    <a:pt x="1287289" y="716999"/>
                  </a:lnTo>
                  <a:lnTo>
                    <a:pt x="1328870" y="741977"/>
                  </a:lnTo>
                  <a:lnTo>
                    <a:pt x="1367539" y="774162"/>
                  </a:lnTo>
                  <a:lnTo>
                    <a:pt x="1401808" y="811306"/>
                  </a:lnTo>
                  <a:lnTo>
                    <a:pt x="1428356" y="851614"/>
                  </a:lnTo>
                  <a:lnTo>
                    <a:pt x="1447270" y="895310"/>
                  </a:lnTo>
                  <a:lnTo>
                    <a:pt x="1458534" y="942200"/>
                  </a:lnTo>
                  <a:lnTo>
                    <a:pt x="1462283" y="992714"/>
                  </a:lnTo>
                  <a:lnTo>
                    <a:pt x="1462284" y="2031957"/>
                  </a:lnTo>
                  <a:lnTo>
                    <a:pt x="1463260" y="2090343"/>
                  </a:lnTo>
                  <a:lnTo>
                    <a:pt x="1466187" y="2147259"/>
                  </a:lnTo>
                  <a:lnTo>
                    <a:pt x="1470957" y="2201464"/>
                  </a:lnTo>
                  <a:lnTo>
                    <a:pt x="1471066" y="2202702"/>
                  </a:lnTo>
                  <a:lnTo>
                    <a:pt x="1477896" y="2256671"/>
                  </a:lnTo>
                  <a:lnTo>
                    <a:pt x="1486676" y="2309166"/>
                  </a:lnTo>
                  <a:lnTo>
                    <a:pt x="1497405" y="2360185"/>
                  </a:lnTo>
                  <a:lnTo>
                    <a:pt x="1510084" y="2409726"/>
                  </a:lnTo>
                  <a:lnTo>
                    <a:pt x="1524711" y="2457789"/>
                  </a:lnTo>
                  <a:lnTo>
                    <a:pt x="1541287" y="2504372"/>
                  </a:lnTo>
                  <a:lnTo>
                    <a:pt x="1559811" y="2549474"/>
                  </a:lnTo>
                  <a:lnTo>
                    <a:pt x="1580281" y="2593094"/>
                  </a:lnTo>
                  <a:lnTo>
                    <a:pt x="1602699" y="2635230"/>
                  </a:lnTo>
                  <a:lnTo>
                    <a:pt x="1627062" y="2675881"/>
                  </a:lnTo>
                  <a:lnTo>
                    <a:pt x="1653372" y="2715046"/>
                  </a:lnTo>
                  <a:lnTo>
                    <a:pt x="1681627" y="2752724"/>
                  </a:lnTo>
                  <a:lnTo>
                    <a:pt x="1711826" y="2788912"/>
                  </a:lnTo>
                  <a:lnTo>
                    <a:pt x="1743970" y="2823611"/>
                  </a:lnTo>
                  <a:lnTo>
                    <a:pt x="1778058" y="2856818"/>
                  </a:lnTo>
                  <a:lnTo>
                    <a:pt x="1813684" y="2888383"/>
                  </a:lnTo>
                  <a:lnTo>
                    <a:pt x="1850557" y="2918158"/>
                  </a:lnTo>
                  <a:lnTo>
                    <a:pt x="1888679" y="2946141"/>
                  </a:lnTo>
                  <a:lnTo>
                    <a:pt x="1928048" y="2972331"/>
                  </a:lnTo>
                  <a:lnTo>
                    <a:pt x="1968664" y="2996727"/>
                  </a:lnTo>
                  <a:lnTo>
                    <a:pt x="2010527" y="3019325"/>
                  </a:lnTo>
                  <a:lnTo>
                    <a:pt x="2053636" y="3040126"/>
                  </a:lnTo>
                  <a:lnTo>
                    <a:pt x="2097991" y="3059127"/>
                  </a:lnTo>
                  <a:lnTo>
                    <a:pt x="2143592" y="3076327"/>
                  </a:lnTo>
                  <a:lnTo>
                    <a:pt x="2190438" y="3091723"/>
                  </a:lnTo>
                  <a:lnTo>
                    <a:pt x="2238529" y="3105314"/>
                  </a:lnTo>
                  <a:lnTo>
                    <a:pt x="2287865" y="3117098"/>
                  </a:lnTo>
                  <a:lnTo>
                    <a:pt x="2338445" y="3127074"/>
                  </a:lnTo>
                  <a:lnTo>
                    <a:pt x="2390269" y="3135241"/>
                  </a:lnTo>
                  <a:lnTo>
                    <a:pt x="2443337" y="3141595"/>
                  </a:lnTo>
                  <a:lnTo>
                    <a:pt x="2497649" y="3146136"/>
                  </a:lnTo>
                  <a:lnTo>
                    <a:pt x="2521435" y="3147303"/>
                  </a:lnTo>
                  <a:lnTo>
                    <a:pt x="2521435" y="2445475"/>
                  </a:lnTo>
                  <a:lnTo>
                    <a:pt x="2512946" y="2443595"/>
                  </a:lnTo>
                  <a:lnTo>
                    <a:pt x="2468702" y="2426099"/>
                  </a:lnTo>
                  <a:lnTo>
                    <a:pt x="2427219" y="2401437"/>
                  </a:lnTo>
                  <a:lnTo>
                    <a:pt x="2388424" y="2369510"/>
                  </a:lnTo>
                  <a:lnTo>
                    <a:pt x="2354374" y="2332210"/>
                  </a:lnTo>
                  <a:lnTo>
                    <a:pt x="2327946" y="2291887"/>
                  </a:lnTo>
                  <a:lnTo>
                    <a:pt x="2309108" y="2248365"/>
                  </a:lnTo>
                  <a:lnTo>
                    <a:pt x="2297829" y="2201464"/>
                  </a:lnTo>
                  <a:lnTo>
                    <a:pt x="2294076" y="2151007"/>
                  </a:lnTo>
                  <a:lnTo>
                    <a:pt x="2294076" y="1110561"/>
                  </a:lnTo>
                  <a:lnTo>
                    <a:pt x="2293146" y="1054647"/>
                  </a:lnTo>
                  <a:lnTo>
                    <a:pt x="2290366" y="1000135"/>
                  </a:lnTo>
                  <a:lnTo>
                    <a:pt x="2285747" y="947023"/>
                  </a:lnTo>
                  <a:lnTo>
                    <a:pt x="2279303" y="895310"/>
                  </a:lnTo>
                  <a:lnTo>
                    <a:pt x="2271047" y="844994"/>
                  </a:lnTo>
                  <a:lnTo>
                    <a:pt x="2260991" y="796071"/>
                  </a:lnTo>
                  <a:lnTo>
                    <a:pt x="2249149" y="748541"/>
                  </a:lnTo>
                  <a:lnTo>
                    <a:pt x="2235534" y="702402"/>
                  </a:lnTo>
                  <a:lnTo>
                    <a:pt x="2229553" y="684994"/>
                  </a:lnTo>
                  <a:close/>
                </a:path>
              </a:pathLst>
            </a:custGeom>
            <a:solidFill>
              <a:srgbClr val="2841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58422" y="1257893"/>
              <a:ext cx="4896485" cy="4895850"/>
            </a:xfrm>
            <a:custGeom>
              <a:avLst/>
              <a:gdLst/>
              <a:ahLst/>
              <a:cxnLst/>
              <a:rect l="l" t="t" r="r" b="b"/>
              <a:pathLst>
                <a:path w="4896484" h="4895850">
                  <a:moveTo>
                    <a:pt x="4896480" y="2447288"/>
                  </a:moveTo>
                  <a:lnTo>
                    <a:pt x="4896480" y="2447288"/>
                  </a:lnTo>
                  <a:lnTo>
                    <a:pt x="4896480" y="2460636"/>
                  </a:lnTo>
                </a:path>
                <a:path w="4896484" h="4895850">
                  <a:moveTo>
                    <a:pt x="4894573" y="2523563"/>
                  </a:moveTo>
                  <a:lnTo>
                    <a:pt x="4894573" y="2523563"/>
                  </a:lnTo>
                  <a:lnTo>
                    <a:pt x="4894573" y="2536911"/>
                  </a:lnTo>
                </a:path>
                <a:path w="4896484" h="4895850">
                  <a:moveTo>
                    <a:pt x="4890759" y="2599838"/>
                  </a:moveTo>
                  <a:lnTo>
                    <a:pt x="4890759" y="2599838"/>
                  </a:lnTo>
                  <a:lnTo>
                    <a:pt x="4889742" y="2613186"/>
                  </a:lnTo>
                </a:path>
                <a:path w="4896484" h="4895850">
                  <a:moveTo>
                    <a:pt x="4885928" y="2676240"/>
                  </a:moveTo>
                  <a:lnTo>
                    <a:pt x="4885928" y="2677130"/>
                  </a:lnTo>
                  <a:lnTo>
                    <a:pt x="4884022" y="2688571"/>
                  </a:lnTo>
                </a:path>
                <a:path w="4896484" h="4895850">
                  <a:moveTo>
                    <a:pt x="4877411" y="2752515"/>
                  </a:moveTo>
                  <a:lnTo>
                    <a:pt x="4877411" y="2752515"/>
                  </a:lnTo>
                  <a:lnTo>
                    <a:pt x="4875504" y="2764847"/>
                  </a:lnTo>
                </a:path>
                <a:path w="4896484" h="4895850">
                  <a:moveTo>
                    <a:pt x="4866860" y="2827901"/>
                  </a:moveTo>
                  <a:lnTo>
                    <a:pt x="4866860" y="2827901"/>
                  </a:lnTo>
                  <a:lnTo>
                    <a:pt x="4864063" y="2840232"/>
                  </a:lnTo>
                </a:path>
                <a:path w="4896484" h="4895850">
                  <a:moveTo>
                    <a:pt x="4853512" y="2903159"/>
                  </a:moveTo>
                  <a:lnTo>
                    <a:pt x="4853512" y="2903159"/>
                  </a:lnTo>
                  <a:lnTo>
                    <a:pt x="4851605" y="2915617"/>
                  </a:lnTo>
                </a:path>
                <a:path w="4896484" h="4895850">
                  <a:moveTo>
                    <a:pt x="4838256" y="2977527"/>
                  </a:moveTo>
                  <a:lnTo>
                    <a:pt x="4838256" y="2977527"/>
                  </a:lnTo>
                  <a:lnTo>
                    <a:pt x="4835460" y="2989985"/>
                  </a:lnTo>
                </a:path>
                <a:path w="4896484" h="4895850">
                  <a:moveTo>
                    <a:pt x="4820205" y="3052022"/>
                  </a:moveTo>
                  <a:lnTo>
                    <a:pt x="4820205" y="3052022"/>
                  </a:lnTo>
                  <a:lnTo>
                    <a:pt x="4817281" y="3064354"/>
                  </a:lnTo>
                </a:path>
                <a:path w="4896484" h="4895850">
                  <a:moveTo>
                    <a:pt x="4801136" y="3126391"/>
                  </a:moveTo>
                  <a:lnTo>
                    <a:pt x="4801136" y="3126391"/>
                  </a:lnTo>
                  <a:lnTo>
                    <a:pt x="4797322" y="3137832"/>
                  </a:lnTo>
                </a:path>
                <a:path w="4896484" h="4895850">
                  <a:moveTo>
                    <a:pt x="4778253" y="3198852"/>
                  </a:moveTo>
                  <a:lnTo>
                    <a:pt x="4778253" y="3198852"/>
                  </a:lnTo>
                  <a:lnTo>
                    <a:pt x="4774440" y="3211183"/>
                  </a:lnTo>
                </a:path>
                <a:path w="4896484" h="4895850">
                  <a:moveTo>
                    <a:pt x="4753464" y="3271314"/>
                  </a:moveTo>
                  <a:lnTo>
                    <a:pt x="4753464" y="3271314"/>
                  </a:lnTo>
                  <a:lnTo>
                    <a:pt x="4749650" y="3282755"/>
                  </a:lnTo>
                </a:path>
                <a:path w="4896484" h="4895850">
                  <a:moveTo>
                    <a:pt x="4727658" y="3342885"/>
                  </a:moveTo>
                  <a:lnTo>
                    <a:pt x="4727658" y="3342885"/>
                  </a:lnTo>
                  <a:lnTo>
                    <a:pt x="4721937" y="3354326"/>
                  </a:lnTo>
                </a:path>
                <a:path w="4896484" h="4895850">
                  <a:moveTo>
                    <a:pt x="4698165" y="3413440"/>
                  </a:moveTo>
                  <a:lnTo>
                    <a:pt x="4698165" y="3413440"/>
                  </a:lnTo>
                  <a:lnTo>
                    <a:pt x="4693334" y="3424881"/>
                  </a:lnTo>
                </a:path>
                <a:path w="4896484" h="4895850">
                  <a:moveTo>
                    <a:pt x="4666637" y="3483104"/>
                  </a:moveTo>
                  <a:lnTo>
                    <a:pt x="4666637" y="3483104"/>
                  </a:lnTo>
                  <a:lnTo>
                    <a:pt x="4661807" y="3494545"/>
                  </a:lnTo>
                </a:path>
                <a:path w="4896484" h="4895850">
                  <a:moveTo>
                    <a:pt x="4633204" y="3551752"/>
                  </a:moveTo>
                  <a:lnTo>
                    <a:pt x="4633204" y="3551752"/>
                  </a:lnTo>
                  <a:lnTo>
                    <a:pt x="4627483" y="3563193"/>
                  </a:lnTo>
                </a:path>
                <a:path w="4896484" h="4895850">
                  <a:moveTo>
                    <a:pt x="4597990" y="3619382"/>
                  </a:moveTo>
                  <a:lnTo>
                    <a:pt x="4597990" y="3620399"/>
                  </a:lnTo>
                  <a:lnTo>
                    <a:pt x="4592269" y="3630824"/>
                  </a:lnTo>
                </a:path>
                <a:path w="4896484" h="4895850">
                  <a:moveTo>
                    <a:pt x="4559852" y="3685246"/>
                  </a:moveTo>
                  <a:lnTo>
                    <a:pt x="4559852" y="3685246"/>
                  </a:lnTo>
                  <a:lnTo>
                    <a:pt x="4554132" y="3696687"/>
                  </a:lnTo>
                </a:path>
                <a:path w="4896484" h="4895850">
                  <a:moveTo>
                    <a:pt x="4520698" y="3751059"/>
                  </a:moveTo>
                  <a:lnTo>
                    <a:pt x="4520698" y="3751059"/>
                  </a:lnTo>
                  <a:lnTo>
                    <a:pt x="4514087" y="3761547"/>
                  </a:lnTo>
                </a:path>
                <a:path w="4896484" h="4895850">
                  <a:moveTo>
                    <a:pt x="4478746" y="3814952"/>
                  </a:moveTo>
                  <a:lnTo>
                    <a:pt x="4478746" y="3814952"/>
                  </a:lnTo>
                  <a:lnTo>
                    <a:pt x="4472009" y="3825453"/>
                  </a:lnTo>
                </a:path>
                <a:path w="4896484" h="4895850">
                  <a:moveTo>
                    <a:pt x="4434888" y="3877904"/>
                  </a:moveTo>
                  <a:lnTo>
                    <a:pt x="4434888" y="3877904"/>
                  </a:lnTo>
                  <a:lnTo>
                    <a:pt x="4428151" y="3887439"/>
                  </a:lnTo>
                </a:path>
                <a:path w="4896484" h="4895850">
                  <a:moveTo>
                    <a:pt x="4389123" y="3938937"/>
                  </a:moveTo>
                  <a:lnTo>
                    <a:pt x="4389123" y="3938937"/>
                  </a:lnTo>
                  <a:lnTo>
                    <a:pt x="4381496" y="3948484"/>
                  </a:lnTo>
                </a:path>
                <a:path w="4896484" h="4895850">
                  <a:moveTo>
                    <a:pt x="4342341" y="3998076"/>
                  </a:moveTo>
                  <a:lnTo>
                    <a:pt x="4342341" y="3998076"/>
                  </a:lnTo>
                  <a:lnTo>
                    <a:pt x="4333824" y="4008564"/>
                  </a:lnTo>
                </a:path>
                <a:path w="4896484" h="4895850">
                  <a:moveTo>
                    <a:pt x="4292762" y="4057202"/>
                  </a:moveTo>
                  <a:lnTo>
                    <a:pt x="4288948" y="4061016"/>
                  </a:lnTo>
                  <a:lnTo>
                    <a:pt x="4284245" y="4066736"/>
                  </a:lnTo>
                </a:path>
                <a:path w="4896484" h="4895850">
                  <a:moveTo>
                    <a:pt x="4241276" y="4113480"/>
                  </a:moveTo>
                  <a:lnTo>
                    <a:pt x="4241276" y="4113480"/>
                  </a:lnTo>
                  <a:lnTo>
                    <a:pt x="4232632" y="4123015"/>
                  </a:lnTo>
                </a:path>
                <a:path w="4896484" h="4895850">
                  <a:moveTo>
                    <a:pt x="4188774" y="4168792"/>
                  </a:moveTo>
                  <a:lnTo>
                    <a:pt x="4188774" y="4168792"/>
                  </a:lnTo>
                  <a:lnTo>
                    <a:pt x="4180256" y="4177373"/>
                  </a:lnTo>
                </a:path>
                <a:path w="4896484" h="4895850">
                  <a:moveTo>
                    <a:pt x="4134491" y="4222198"/>
                  </a:moveTo>
                  <a:lnTo>
                    <a:pt x="4134491" y="4222198"/>
                  </a:lnTo>
                  <a:lnTo>
                    <a:pt x="4124957" y="4230779"/>
                  </a:lnTo>
                </a:path>
                <a:path w="4896484" h="4895850">
                  <a:moveTo>
                    <a:pt x="4078175" y="4273696"/>
                  </a:moveTo>
                  <a:lnTo>
                    <a:pt x="4078175" y="4273696"/>
                  </a:lnTo>
                  <a:lnTo>
                    <a:pt x="4068640" y="4282290"/>
                  </a:lnTo>
                </a:path>
                <a:path w="4896484" h="4895850">
                  <a:moveTo>
                    <a:pt x="4019951" y="4323300"/>
                  </a:moveTo>
                  <a:lnTo>
                    <a:pt x="4019951" y="4323300"/>
                  </a:lnTo>
                  <a:lnTo>
                    <a:pt x="4010417" y="4331881"/>
                  </a:lnTo>
                </a:path>
                <a:path w="4896484" h="4895850">
                  <a:moveTo>
                    <a:pt x="3960838" y="4371939"/>
                  </a:moveTo>
                  <a:lnTo>
                    <a:pt x="3960838" y="4371939"/>
                  </a:lnTo>
                  <a:lnTo>
                    <a:pt x="3951304" y="4379566"/>
                  </a:lnTo>
                </a:path>
                <a:path w="4896484" h="4895850">
                  <a:moveTo>
                    <a:pt x="3900835" y="4418670"/>
                  </a:moveTo>
                  <a:lnTo>
                    <a:pt x="3894097" y="4423437"/>
                  </a:lnTo>
                  <a:lnTo>
                    <a:pt x="3890284" y="4426297"/>
                  </a:lnTo>
                </a:path>
                <a:path w="4896484" h="4895850">
                  <a:moveTo>
                    <a:pt x="3838798" y="4462541"/>
                  </a:moveTo>
                  <a:lnTo>
                    <a:pt x="3838798" y="4462541"/>
                  </a:lnTo>
                  <a:lnTo>
                    <a:pt x="3828246" y="4470168"/>
                  </a:lnTo>
                </a:path>
                <a:path w="4896484" h="4895850">
                  <a:moveTo>
                    <a:pt x="3774854" y="4505458"/>
                  </a:moveTo>
                  <a:lnTo>
                    <a:pt x="3774854" y="4505458"/>
                  </a:lnTo>
                  <a:lnTo>
                    <a:pt x="3764430" y="4512132"/>
                  </a:lnTo>
                </a:path>
                <a:path w="4896484" h="4895850">
                  <a:moveTo>
                    <a:pt x="3710020" y="4545515"/>
                  </a:moveTo>
                  <a:lnTo>
                    <a:pt x="3710020" y="4545515"/>
                  </a:lnTo>
                  <a:lnTo>
                    <a:pt x="3699596" y="4552189"/>
                  </a:lnTo>
                </a:path>
                <a:path w="4896484" h="4895850">
                  <a:moveTo>
                    <a:pt x="3644169" y="4583666"/>
                  </a:moveTo>
                  <a:lnTo>
                    <a:pt x="3644169" y="4583666"/>
                  </a:lnTo>
                  <a:lnTo>
                    <a:pt x="3632728" y="4590340"/>
                  </a:lnTo>
                </a:path>
                <a:path w="4896484" h="4895850">
                  <a:moveTo>
                    <a:pt x="3576539" y="4619909"/>
                  </a:moveTo>
                  <a:lnTo>
                    <a:pt x="3576539" y="4619909"/>
                  </a:lnTo>
                  <a:lnTo>
                    <a:pt x="3565987" y="4625630"/>
                  </a:lnTo>
                </a:path>
                <a:path w="4896484" h="4895850">
                  <a:moveTo>
                    <a:pt x="3508781" y="4654246"/>
                  </a:moveTo>
                  <a:lnTo>
                    <a:pt x="3508781" y="4654246"/>
                  </a:lnTo>
                  <a:lnTo>
                    <a:pt x="3497339" y="4659966"/>
                  </a:lnTo>
                </a:path>
                <a:path w="4896484" h="4895850">
                  <a:moveTo>
                    <a:pt x="3439116" y="4686675"/>
                  </a:moveTo>
                  <a:lnTo>
                    <a:pt x="3439116" y="4686675"/>
                  </a:lnTo>
                  <a:lnTo>
                    <a:pt x="3427675" y="4692396"/>
                  </a:lnTo>
                </a:path>
                <a:path w="4896484" h="4895850">
                  <a:moveTo>
                    <a:pt x="3369579" y="4716232"/>
                  </a:moveTo>
                  <a:lnTo>
                    <a:pt x="3369579" y="4716232"/>
                  </a:lnTo>
                  <a:lnTo>
                    <a:pt x="3357120" y="4720999"/>
                  </a:lnTo>
                </a:path>
                <a:path w="4896484" h="4895850">
                  <a:moveTo>
                    <a:pt x="3298007" y="4743894"/>
                  </a:moveTo>
                  <a:lnTo>
                    <a:pt x="3298007" y="4743894"/>
                  </a:lnTo>
                  <a:lnTo>
                    <a:pt x="3285676" y="4748662"/>
                  </a:lnTo>
                </a:path>
                <a:path w="4896484" h="4895850">
                  <a:moveTo>
                    <a:pt x="3226436" y="4769650"/>
                  </a:moveTo>
                  <a:lnTo>
                    <a:pt x="3221732" y="4771557"/>
                  </a:lnTo>
                  <a:lnTo>
                    <a:pt x="3214104" y="4773464"/>
                  </a:lnTo>
                </a:path>
                <a:path w="4896484" h="4895850">
                  <a:moveTo>
                    <a:pt x="3153084" y="4792534"/>
                  </a:moveTo>
                  <a:lnTo>
                    <a:pt x="3153084" y="4792534"/>
                  </a:lnTo>
                  <a:lnTo>
                    <a:pt x="3140626" y="4796350"/>
                  </a:lnTo>
                </a:path>
                <a:path w="4896484" h="4895850">
                  <a:moveTo>
                    <a:pt x="3079606" y="4813517"/>
                  </a:moveTo>
                  <a:lnTo>
                    <a:pt x="3079606" y="4813517"/>
                  </a:lnTo>
                  <a:lnTo>
                    <a:pt x="3067275" y="4816377"/>
                  </a:lnTo>
                </a:path>
                <a:path w="4896484" h="4895850">
                  <a:moveTo>
                    <a:pt x="3006128" y="4831637"/>
                  </a:moveTo>
                  <a:lnTo>
                    <a:pt x="3006128" y="4831637"/>
                  </a:lnTo>
                  <a:lnTo>
                    <a:pt x="2993796" y="4834499"/>
                  </a:lnTo>
                </a:path>
                <a:path w="4896484" h="4895850">
                  <a:moveTo>
                    <a:pt x="2930869" y="4847851"/>
                  </a:moveTo>
                  <a:lnTo>
                    <a:pt x="2930869" y="4847851"/>
                  </a:lnTo>
                  <a:lnTo>
                    <a:pt x="2918411" y="4850713"/>
                  </a:lnTo>
                </a:path>
                <a:path w="4896484" h="4895850">
                  <a:moveTo>
                    <a:pt x="2855484" y="4861203"/>
                  </a:moveTo>
                  <a:lnTo>
                    <a:pt x="2855484" y="4861203"/>
                  </a:lnTo>
                  <a:lnTo>
                    <a:pt x="2843026" y="4864065"/>
                  </a:lnTo>
                </a:path>
                <a:path w="4896484" h="4895850">
                  <a:moveTo>
                    <a:pt x="2780099" y="4873603"/>
                  </a:moveTo>
                  <a:lnTo>
                    <a:pt x="2780099" y="4873603"/>
                  </a:lnTo>
                  <a:lnTo>
                    <a:pt x="2767768" y="4874556"/>
                  </a:lnTo>
                </a:path>
                <a:path w="4896484" h="4895850">
                  <a:moveTo>
                    <a:pt x="2704841" y="4882186"/>
                  </a:moveTo>
                  <a:lnTo>
                    <a:pt x="2704841" y="4882186"/>
                  </a:lnTo>
                  <a:lnTo>
                    <a:pt x="2692382" y="4884093"/>
                  </a:lnTo>
                </a:path>
                <a:path w="4896484" h="4895850">
                  <a:moveTo>
                    <a:pt x="2628438" y="4888862"/>
                  </a:moveTo>
                  <a:lnTo>
                    <a:pt x="2628438" y="4888862"/>
                  </a:lnTo>
                  <a:lnTo>
                    <a:pt x="2616107" y="4889815"/>
                  </a:lnTo>
                </a:path>
                <a:path w="4896484" h="4895850">
                  <a:moveTo>
                    <a:pt x="2552163" y="4893630"/>
                  </a:moveTo>
                  <a:lnTo>
                    <a:pt x="2552163" y="4893630"/>
                  </a:lnTo>
                  <a:lnTo>
                    <a:pt x="2539832" y="4893630"/>
                  </a:lnTo>
                </a:path>
                <a:path w="4896484" h="4895850">
                  <a:moveTo>
                    <a:pt x="2475888" y="4895538"/>
                  </a:moveTo>
                  <a:lnTo>
                    <a:pt x="2475888" y="4895538"/>
                  </a:lnTo>
                  <a:lnTo>
                    <a:pt x="2463557" y="4895538"/>
                  </a:lnTo>
                </a:path>
                <a:path w="4896484" h="4895850">
                  <a:moveTo>
                    <a:pt x="2399613" y="4894583"/>
                  </a:moveTo>
                  <a:lnTo>
                    <a:pt x="2399613" y="4894583"/>
                  </a:lnTo>
                  <a:lnTo>
                    <a:pt x="2387155" y="4894583"/>
                  </a:lnTo>
                </a:path>
                <a:path w="4896484" h="4895850">
                  <a:moveTo>
                    <a:pt x="2323338" y="4892677"/>
                  </a:moveTo>
                  <a:lnTo>
                    <a:pt x="2323338" y="4892677"/>
                  </a:lnTo>
                  <a:lnTo>
                    <a:pt x="2310880" y="4891723"/>
                  </a:lnTo>
                </a:path>
                <a:path w="4896484" h="4895850">
                  <a:moveTo>
                    <a:pt x="2247063" y="4886955"/>
                  </a:moveTo>
                  <a:lnTo>
                    <a:pt x="2247063" y="4886955"/>
                  </a:lnTo>
                  <a:lnTo>
                    <a:pt x="2234604" y="4886955"/>
                  </a:lnTo>
                </a:path>
                <a:path w="4896484" h="4895850">
                  <a:moveTo>
                    <a:pt x="2171677" y="4880278"/>
                  </a:moveTo>
                  <a:lnTo>
                    <a:pt x="2171677" y="4880278"/>
                  </a:lnTo>
                  <a:lnTo>
                    <a:pt x="2158329" y="4878371"/>
                  </a:lnTo>
                </a:path>
                <a:path w="4896484" h="4895850">
                  <a:moveTo>
                    <a:pt x="2095402" y="4870741"/>
                  </a:moveTo>
                  <a:lnTo>
                    <a:pt x="2095402" y="4870741"/>
                  </a:lnTo>
                  <a:lnTo>
                    <a:pt x="2082944" y="4868834"/>
                  </a:lnTo>
                </a:path>
                <a:path w="4896484" h="4895850">
                  <a:moveTo>
                    <a:pt x="2020017" y="4858343"/>
                  </a:moveTo>
                  <a:lnTo>
                    <a:pt x="2020017" y="4858343"/>
                  </a:lnTo>
                  <a:lnTo>
                    <a:pt x="2007559" y="4856434"/>
                  </a:lnTo>
                </a:path>
                <a:path w="4896484" h="4895850">
                  <a:moveTo>
                    <a:pt x="1945649" y="4844036"/>
                  </a:moveTo>
                  <a:lnTo>
                    <a:pt x="1945649" y="4844036"/>
                  </a:lnTo>
                  <a:lnTo>
                    <a:pt x="1932301" y="4841174"/>
                  </a:lnTo>
                </a:path>
                <a:path w="4896484" h="4895850">
                  <a:moveTo>
                    <a:pt x="1870263" y="4826869"/>
                  </a:moveTo>
                  <a:lnTo>
                    <a:pt x="1870263" y="4826869"/>
                  </a:lnTo>
                  <a:lnTo>
                    <a:pt x="1857932" y="4824007"/>
                  </a:lnTo>
                </a:path>
                <a:path w="4896484" h="4895850">
                  <a:moveTo>
                    <a:pt x="1796785" y="4807794"/>
                  </a:moveTo>
                  <a:lnTo>
                    <a:pt x="1796785" y="4807794"/>
                  </a:lnTo>
                  <a:lnTo>
                    <a:pt x="1784454" y="4804933"/>
                  </a:lnTo>
                </a:path>
                <a:path w="4896484" h="4895850">
                  <a:moveTo>
                    <a:pt x="1723434" y="4786812"/>
                  </a:moveTo>
                  <a:lnTo>
                    <a:pt x="1723434" y="4786812"/>
                  </a:lnTo>
                  <a:lnTo>
                    <a:pt x="1710975" y="4782998"/>
                  </a:lnTo>
                </a:path>
                <a:path w="4896484" h="4895850">
                  <a:moveTo>
                    <a:pt x="1650972" y="4762963"/>
                  </a:moveTo>
                  <a:lnTo>
                    <a:pt x="1650972" y="4762963"/>
                  </a:lnTo>
                  <a:lnTo>
                    <a:pt x="1638514" y="4758196"/>
                  </a:lnTo>
                </a:path>
                <a:path w="4896484" h="4895850">
                  <a:moveTo>
                    <a:pt x="1579401" y="4737220"/>
                  </a:moveTo>
                  <a:lnTo>
                    <a:pt x="1570756" y="4734360"/>
                  </a:lnTo>
                  <a:lnTo>
                    <a:pt x="1566943" y="4732453"/>
                  </a:lnTo>
                </a:path>
                <a:path w="4896484" h="4895850">
                  <a:moveTo>
                    <a:pt x="1507829" y="4708604"/>
                  </a:moveTo>
                  <a:lnTo>
                    <a:pt x="1507829" y="4708604"/>
                  </a:lnTo>
                  <a:lnTo>
                    <a:pt x="1496388" y="4703837"/>
                  </a:lnTo>
                </a:path>
                <a:path w="4896484" h="4895850">
                  <a:moveTo>
                    <a:pt x="1438292" y="4678082"/>
                  </a:moveTo>
                  <a:lnTo>
                    <a:pt x="1438292" y="4678082"/>
                  </a:lnTo>
                  <a:lnTo>
                    <a:pt x="1426851" y="4672361"/>
                  </a:lnTo>
                </a:path>
                <a:path w="4896484" h="4895850">
                  <a:moveTo>
                    <a:pt x="1368627" y="4645665"/>
                  </a:moveTo>
                  <a:lnTo>
                    <a:pt x="1368627" y="4645665"/>
                  </a:lnTo>
                  <a:lnTo>
                    <a:pt x="1357186" y="4639931"/>
                  </a:lnTo>
                </a:path>
                <a:path w="4896484" h="4895850">
                  <a:moveTo>
                    <a:pt x="1300869" y="4610375"/>
                  </a:moveTo>
                  <a:lnTo>
                    <a:pt x="1300869" y="4610375"/>
                  </a:lnTo>
                  <a:lnTo>
                    <a:pt x="1289428" y="4604654"/>
                  </a:lnTo>
                </a:path>
                <a:path w="4896484" h="4895850">
                  <a:moveTo>
                    <a:pt x="1234129" y="4574131"/>
                  </a:moveTo>
                  <a:lnTo>
                    <a:pt x="1234129" y="4574131"/>
                  </a:lnTo>
                  <a:lnTo>
                    <a:pt x="1223641" y="4567457"/>
                  </a:lnTo>
                </a:path>
                <a:path w="4896484" h="4895850">
                  <a:moveTo>
                    <a:pt x="1168329" y="4535028"/>
                  </a:moveTo>
                  <a:lnTo>
                    <a:pt x="1168329" y="4535028"/>
                  </a:lnTo>
                  <a:lnTo>
                    <a:pt x="1157841" y="4528353"/>
                  </a:lnTo>
                </a:path>
                <a:path w="4896484" h="4895850">
                  <a:moveTo>
                    <a:pt x="1104423" y="4494017"/>
                  </a:moveTo>
                  <a:lnTo>
                    <a:pt x="1104423" y="4494017"/>
                  </a:lnTo>
                  <a:lnTo>
                    <a:pt x="1092981" y="4487343"/>
                  </a:lnTo>
                </a:path>
                <a:path w="4896484" h="4895850">
                  <a:moveTo>
                    <a:pt x="1041483" y="4451099"/>
                  </a:moveTo>
                  <a:lnTo>
                    <a:pt x="1041483" y="4451099"/>
                  </a:lnTo>
                  <a:lnTo>
                    <a:pt x="1030982" y="4443472"/>
                  </a:lnTo>
                </a:path>
                <a:path w="4896484" h="4895850">
                  <a:moveTo>
                    <a:pt x="979484" y="4406275"/>
                  </a:moveTo>
                  <a:lnTo>
                    <a:pt x="979484" y="4406275"/>
                  </a:lnTo>
                  <a:lnTo>
                    <a:pt x="968996" y="4398648"/>
                  </a:lnTo>
                </a:path>
                <a:path w="4896484" h="4895850">
                  <a:moveTo>
                    <a:pt x="918451" y="4359544"/>
                  </a:moveTo>
                  <a:lnTo>
                    <a:pt x="916544" y="4358590"/>
                  </a:lnTo>
                  <a:lnTo>
                    <a:pt x="908904" y="4351904"/>
                  </a:lnTo>
                </a:path>
                <a:path w="4896484" h="4895850">
                  <a:moveTo>
                    <a:pt x="860266" y="4310893"/>
                  </a:moveTo>
                  <a:lnTo>
                    <a:pt x="860266" y="4310893"/>
                  </a:lnTo>
                  <a:lnTo>
                    <a:pt x="850732" y="4302312"/>
                  </a:lnTo>
                </a:path>
                <a:path w="4896484" h="4895850">
                  <a:moveTo>
                    <a:pt x="803047" y="4260348"/>
                  </a:moveTo>
                  <a:lnTo>
                    <a:pt x="803047" y="4260348"/>
                  </a:lnTo>
                  <a:lnTo>
                    <a:pt x="793513" y="4251767"/>
                  </a:lnTo>
                </a:path>
                <a:path w="4896484" h="4895850">
                  <a:moveTo>
                    <a:pt x="746769" y="4207896"/>
                  </a:moveTo>
                  <a:lnTo>
                    <a:pt x="746769" y="4207896"/>
                  </a:lnTo>
                  <a:lnTo>
                    <a:pt x="738188" y="4199315"/>
                  </a:lnTo>
                </a:path>
                <a:path w="4896484" h="4895850">
                  <a:moveTo>
                    <a:pt x="692410" y="4154491"/>
                  </a:moveTo>
                  <a:lnTo>
                    <a:pt x="692410" y="4154491"/>
                  </a:lnTo>
                  <a:lnTo>
                    <a:pt x="683829" y="4144944"/>
                  </a:lnTo>
                </a:path>
                <a:path w="4896484" h="4895850">
                  <a:moveTo>
                    <a:pt x="640911" y="4098212"/>
                  </a:moveTo>
                  <a:lnTo>
                    <a:pt x="640911" y="4098212"/>
                  </a:lnTo>
                  <a:lnTo>
                    <a:pt x="632330" y="4089631"/>
                  </a:lnTo>
                </a:path>
                <a:path w="4896484" h="4895850">
                  <a:moveTo>
                    <a:pt x="590366" y="4041947"/>
                  </a:moveTo>
                  <a:lnTo>
                    <a:pt x="590366" y="4041947"/>
                  </a:lnTo>
                  <a:lnTo>
                    <a:pt x="581773" y="4031459"/>
                  </a:lnTo>
                </a:path>
                <a:path w="4896484" h="4895850">
                  <a:moveTo>
                    <a:pt x="540762" y="3982808"/>
                  </a:moveTo>
                  <a:lnTo>
                    <a:pt x="536948" y="3978994"/>
                  </a:lnTo>
                  <a:lnTo>
                    <a:pt x="533135" y="3973274"/>
                  </a:lnTo>
                </a:path>
                <a:path w="4896484" h="4895850">
                  <a:moveTo>
                    <a:pt x="494031" y="3922729"/>
                  </a:moveTo>
                  <a:lnTo>
                    <a:pt x="494031" y="3922729"/>
                  </a:lnTo>
                  <a:lnTo>
                    <a:pt x="486403" y="3912241"/>
                  </a:lnTo>
                </a:path>
                <a:path w="4896484" h="4895850">
                  <a:moveTo>
                    <a:pt x="449206" y="3860730"/>
                  </a:moveTo>
                  <a:lnTo>
                    <a:pt x="449206" y="3860730"/>
                  </a:lnTo>
                  <a:lnTo>
                    <a:pt x="441579" y="3850242"/>
                  </a:lnTo>
                </a:path>
                <a:path w="4896484" h="4895850">
                  <a:moveTo>
                    <a:pt x="405336" y="3797790"/>
                  </a:moveTo>
                  <a:lnTo>
                    <a:pt x="405336" y="3797790"/>
                  </a:lnTo>
                  <a:lnTo>
                    <a:pt x="398661" y="3787302"/>
                  </a:lnTo>
                </a:path>
                <a:path w="4896484" h="4895850">
                  <a:moveTo>
                    <a:pt x="364325" y="3733884"/>
                  </a:moveTo>
                  <a:lnTo>
                    <a:pt x="364325" y="3733884"/>
                  </a:lnTo>
                  <a:lnTo>
                    <a:pt x="357651" y="3723396"/>
                  </a:lnTo>
                </a:path>
                <a:path w="4896484" h="4895850">
                  <a:moveTo>
                    <a:pt x="325221" y="3668084"/>
                  </a:moveTo>
                  <a:lnTo>
                    <a:pt x="325221" y="3668084"/>
                  </a:lnTo>
                  <a:lnTo>
                    <a:pt x="319501" y="3656630"/>
                  </a:lnTo>
                </a:path>
                <a:path w="4896484" h="4895850">
                  <a:moveTo>
                    <a:pt x="288024" y="3601331"/>
                  </a:moveTo>
                  <a:lnTo>
                    <a:pt x="288024" y="3601331"/>
                  </a:lnTo>
                  <a:lnTo>
                    <a:pt x="282304" y="3589889"/>
                  </a:lnTo>
                </a:path>
                <a:path w="4896484" h="4895850">
                  <a:moveTo>
                    <a:pt x="253688" y="3533573"/>
                  </a:moveTo>
                  <a:lnTo>
                    <a:pt x="247967" y="3524039"/>
                  </a:lnTo>
                  <a:lnTo>
                    <a:pt x="247014" y="3522132"/>
                  </a:lnTo>
                </a:path>
                <a:path w="4896484" h="4895850">
                  <a:moveTo>
                    <a:pt x="220317" y="3464925"/>
                  </a:moveTo>
                  <a:lnTo>
                    <a:pt x="220317" y="3464925"/>
                  </a:lnTo>
                  <a:lnTo>
                    <a:pt x="215550" y="3453484"/>
                  </a:lnTo>
                </a:path>
                <a:path w="4896484" h="4895850">
                  <a:moveTo>
                    <a:pt x="189795" y="3394371"/>
                  </a:moveTo>
                  <a:lnTo>
                    <a:pt x="189795" y="3394371"/>
                  </a:lnTo>
                  <a:lnTo>
                    <a:pt x="185027" y="3382930"/>
                  </a:lnTo>
                </a:path>
                <a:path w="4896484" h="4895850">
                  <a:moveTo>
                    <a:pt x="161179" y="3323816"/>
                  </a:moveTo>
                  <a:lnTo>
                    <a:pt x="161179" y="3323816"/>
                  </a:lnTo>
                  <a:lnTo>
                    <a:pt x="156412" y="3312375"/>
                  </a:lnTo>
                </a:path>
                <a:path w="4896484" h="4895850">
                  <a:moveTo>
                    <a:pt x="135436" y="3252245"/>
                  </a:moveTo>
                  <a:lnTo>
                    <a:pt x="135436" y="3252245"/>
                  </a:lnTo>
                  <a:lnTo>
                    <a:pt x="130656" y="3239914"/>
                  </a:lnTo>
                </a:path>
                <a:path w="4896484" h="4895850">
                  <a:moveTo>
                    <a:pt x="111587" y="3179783"/>
                  </a:moveTo>
                  <a:lnTo>
                    <a:pt x="111587" y="3179783"/>
                  </a:lnTo>
                  <a:lnTo>
                    <a:pt x="107772" y="3167325"/>
                  </a:lnTo>
                </a:path>
                <a:path w="4896484" h="4895850">
                  <a:moveTo>
                    <a:pt x="89650" y="3106305"/>
                  </a:moveTo>
                  <a:lnTo>
                    <a:pt x="89650" y="3106305"/>
                  </a:lnTo>
                  <a:lnTo>
                    <a:pt x="85835" y="3093974"/>
                  </a:lnTo>
                </a:path>
                <a:path w="4896484" h="4895850">
                  <a:moveTo>
                    <a:pt x="70577" y="3032954"/>
                  </a:moveTo>
                  <a:lnTo>
                    <a:pt x="70577" y="3032954"/>
                  </a:lnTo>
                  <a:lnTo>
                    <a:pt x="66762" y="3020495"/>
                  </a:lnTo>
                </a:path>
                <a:path w="4896484" h="4895850">
                  <a:moveTo>
                    <a:pt x="53408" y="2958458"/>
                  </a:moveTo>
                  <a:lnTo>
                    <a:pt x="53408" y="2958458"/>
                  </a:lnTo>
                  <a:lnTo>
                    <a:pt x="50548" y="2946127"/>
                  </a:lnTo>
                </a:path>
                <a:path w="4896484" h="4895850">
                  <a:moveTo>
                    <a:pt x="38149" y="2883200"/>
                  </a:moveTo>
                  <a:lnTo>
                    <a:pt x="38149" y="2883200"/>
                  </a:lnTo>
                  <a:lnTo>
                    <a:pt x="36241" y="2870742"/>
                  </a:lnTo>
                </a:path>
                <a:path w="4896484" h="4895850">
                  <a:moveTo>
                    <a:pt x="25751" y="2807815"/>
                  </a:moveTo>
                  <a:lnTo>
                    <a:pt x="25751" y="2807815"/>
                  </a:lnTo>
                  <a:lnTo>
                    <a:pt x="23843" y="2795357"/>
                  </a:lnTo>
                </a:path>
                <a:path w="4896484" h="4895850">
                  <a:moveTo>
                    <a:pt x="16213" y="2732430"/>
                  </a:moveTo>
                  <a:lnTo>
                    <a:pt x="16213" y="2732430"/>
                  </a:lnTo>
                  <a:lnTo>
                    <a:pt x="15259" y="2719081"/>
                  </a:lnTo>
                </a:path>
                <a:path w="4896484" h="4895850">
                  <a:moveTo>
                    <a:pt x="8583" y="2656154"/>
                  </a:moveTo>
                  <a:lnTo>
                    <a:pt x="8583" y="2656154"/>
                  </a:lnTo>
                  <a:lnTo>
                    <a:pt x="7629" y="2643823"/>
                  </a:lnTo>
                </a:path>
                <a:path w="4896484" h="4895850">
                  <a:moveTo>
                    <a:pt x="3814" y="2579879"/>
                  </a:moveTo>
                  <a:lnTo>
                    <a:pt x="3814" y="2579879"/>
                  </a:lnTo>
                  <a:lnTo>
                    <a:pt x="2861" y="2567421"/>
                  </a:lnTo>
                </a:path>
                <a:path w="4896484" h="4895850">
                  <a:moveTo>
                    <a:pt x="953" y="2503604"/>
                  </a:moveTo>
                  <a:lnTo>
                    <a:pt x="953" y="2503604"/>
                  </a:lnTo>
                  <a:lnTo>
                    <a:pt x="953" y="2491146"/>
                  </a:lnTo>
                </a:path>
                <a:path w="4896484" h="4895850">
                  <a:moveTo>
                    <a:pt x="0" y="2427329"/>
                  </a:moveTo>
                  <a:lnTo>
                    <a:pt x="0" y="2427329"/>
                  </a:lnTo>
                  <a:lnTo>
                    <a:pt x="0" y="2414871"/>
                  </a:lnTo>
                </a:path>
                <a:path w="4896484" h="4895850">
                  <a:moveTo>
                    <a:pt x="1907" y="2350927"/>
                  </a:moveTo>
                  <a:lnTo>
                    <a:pt x="1907" y="2350927"/>
                  </a:lnTo>
                  <a:lnTo>
                    <a:pt x="1907" y="2338596"/>
                  </a:lnTo>
                </a:path>
                <a:path w="4896484" h="4895850">
                  <a:moveTo>
                    <a:pt x="5722" y="2274652"/>
                  </a:moveTo>
                  <a:lnTo>
                    <a:pt x="5722" y="2274652"/>
                  </a:lnTo>
                  <a:lnTo>
                    <a:pt x="6676" y="2262320"/>
                  </a:lnTo>
                </a:path>
                <a:path w="4896484" h="4895850">
                  <a:moveTo>
                    <a:pt x="12398" y="2198376"/>
                  </a:moveTo>
                  <a:lnTo>
                    <a:pt x="12398" y="2198376"/>
                  </a:lnTo>
                  <a:lnTo>
                    <a:pt x="14306" y="2185918"/>
                  </a:lnTo>
                </a:path>
                <a:path w="4896484" h="4895850">
                  <a:moveTo>
                    <a:pt x="20981" y="2122991"/>
                  </a:moveTo>
                  <a:lnTo>
                    <a:pt x="20981" y="2122991"/>
                  </a:lnTo>
                  <a:lnTo>
                    <a:pt x="22889" y="2110660"/>
                  </a:lnTo>
                </a:path>
                <a:path w="4896484" h="4895850">
                  <a:moveTo>
                    <a:pt x="32426" y="2047733"/>
                  </a:moveTo>
                  <a:lnTo>
                    <a:pt x="32426" y="2047733"/>
                  </a:lnTo>
                  <a:lnTo>
                    <a:pt x="34334" y="2035275"/>
                  </a:lnTo>
                </a:path>
                <a:path w="4896484" h="4895850">
                  <a:moveTo>
                    <a:pt x="45779" y="1972348"/>
                  </a:moveTo>
                  <a:lnTo>
                    <a:pt x="45779" y="1972348"/>
                  </a:lnTo>
                  <a:lnTo>
                    <a:pt x="48640" y="1959889"/>
                  </a:lnTo>
                </a:path>
                <a:path w="4896484" h="4895850">
                  <a:moveTo>
                    <a:pt x="61992" y="1897979"/>
                  </a:moveTo>
                  <a:lnTo>
                    <a:pt x="63900" y="1886538"/>
                  </a:lnTo>
                  <a:lnTo>
                    <a:pt x="64853" y="1885521"/>
                  </a:lnTo>
                </a:path>
                <a:path w="4896484" h="4895850">
                  <a:moveTo>
                    <a:pt x="80113" y="1823611"/>
                  </a:moveTo>
                  <a:lnTo>
                    <a:pt x="80113" y="1823611"/>
                  </a:lnTo>
                  <a:lnTo>
                    <a:pt x="83928" y="1811153"/>
                  </a:lnTo>
                </a:path>
                <a:path w="4896484" h="4895850">
                  <a:moveTo>
                    <a:pt x="101095" y="1750133"/>
                  </a:moveTo>
                  <a:lnTo>
                    <a:pt x="101095" y="1750133"/>
                  </a:lnTo>
                  <a:lnTo>
                    <a:pt x="104910" y="1737675"/>
                  </a:lnTo>
                </a:path>
                <a:path w="4896484" h="4895850">
                  <a:moveTo>
                    <a:pt x="123028" y="1676654"/>
                  </a:moveTo>
                  <a:lnTo>
                    <a:pt x="123982" y="1673858"/>
                  </a:lnTo>
                  <a:lnTo>
                    <a:pt x="127796" y="1665213"/>
                  </a:lnTo>
                </a:path>
                <a:path w="4896484" h="4895850">
                  <a:moveTo>
                    <a:pt x="148784" y="1605210"/>
                  </a:moveTo>
                  <a:lnTo>
                    <a:pt x="148784" y="1605210"/>
                  </a:lnTo>
                  <a:lnTo>
                    <a:pt x="153551" y="1592752"/>
                  </a:lnTo>
                </a:path>
                <a:path w="4896484" h="4895850">
                  <a:moveTo>
                    <a:pt x="176446" y="1533639"/>
                  </a:moveTo>
                  <a:lnTo>
                    <a:pt x="176446" y="1533639"/>
                  </a:lnTo>
                  <a:lnTo>
                    <a:pt x="181214" y="1522197"/>
                  </a:lnTo>
                </a:path>
                <a:path w="4896484" h="4895850">
                  <a:moveTo>
                    <a:pt x="206003" y="1463084"/>
                  </a:moveTo>
                  <a:lnTo>
                    <a:pt x="206003" y="1463084"/>
                  </a:lnTo>
                  <a:lnTo>
                    <a:pt x="210770" y="1451643"/>
                  </a:lnTo>
                </a:path>
                <a:path w="4896484" h="4895850">
                  <a:moveTo>
                    <a:pt x="237479" y="1394436"/>
                  </a:moveTo>
                  <a:lnTo>
                    <a:pt x="237479" y="1394436"/>
                  </a:lnTo>
                  <a:lnTo>
                    <a:pt x="243200" y="1381978"/>
                  </a:lnTo>
                </a:path>
                <a:path w="4896484" h="4895850">
                  <a:moveTo>
                    <a:pt x="271816" y="1325662"/>
                  </a:moveTo>
                  <a:lnTo>
                    <a:pt x="271816" y="1325662"/>
                  </a:lnTo>
                  <a:lnTo>
                    <a:pt x="277536" y="1314220"/>
                  </a:lnTo>
                </a:path>
                <a:path w="4896484" h="4895850">
                  <a:moveTo>
                    <a:pt x="308059" y="1258031"/>
                  </a:moveTo>
                  <a:lnTo>
                    <a:pt x="308059" y="1258031"/>
                  </a:lnTo>
                  <a:lnTo>
                    <a:pt x="313780" y="1247480"/>
                  </a:lnTo>
                </a:path>
                <a:path w="4896484" h="4895850">
                  <a:moveTo>
                    <a:pt x="346209" y="1192180"/>
                  </a:moveTo>
                  <a:lnTo>
                    <a:pt x="346209" y="1192180"/>
                  </a:lnTo>
                  <a:lnTo>
                    <a:pt x="351930" y="1180739"/>
                  </a:lnTo>
                </a:path>
                <a:path w="4896484" h="4895850">
                  <a:moveTo>
                    <a:pt x="386267" y="1127346"/>
                  </a:moveTo>
                  <a:lnTo>
                    <a:pt x="386267" y="1127346"/>
                  </a:lnTo>
                  <a:lnTo>
                    <a:pt x="392941" y="1116795"/>
                  </a:lnTo>
                </a:path>
                <a:path w="4896484" h="4895850">
                  <a:moveTo>
                    <a:pt x="428231" y="1063402"/>
                  </a:moveTo>
                  <a:lnTo>
                    <a:pt x="428231" y="1063402"/>
                  </a:lnTo>
                  <a:lnTo>
                    <a:pt x="435858" y="1052978"/>
                  </a:lnTo>
                </a:path>
                <a:path w="4896484" h="4895850">
                  <a:moveTo>
                    <a:pt x="472102" y="1001492"/>
                  </a:moveTo>
                  <a:lnTo>
                    <a:pt x="472102" y="1001492"/>
                  </a:lnTo>
                  <a:lnTo>
                    <a:pt x="479729" y="990941"/>
                  </a:lnTo>
                </a:path>
                <a:path w="4896484" h="4895850">
                  <a:moveTo>
                    <a:pt x="518833" y="940345"/>
                  </a:moveTo>
                  <a:lnTo>
                    <a:pt x="518833" y="940345"/>
                  </a:lnTo>
                  <a:lnTo>
                    <a:pt x="526460" y="930811"/>
                  </a:lnTo>
                </a:path>
                <a:path w="4896484" h="4895850">
                  <a:moveTo>
                    <a:pt x="566517" y="881232"/>
                  </a:moveTo>
                  <a:lnTo>
                    <a:pt x="566517" y="881232"/>
                  </a:lnTo>
                  <a:lnTo>
                    <a:pt x="575098" y="871697"/>
                  </a:lnTo>
                </a:path>
                <a:path w="4896484" h="4895850">
                  <a:moveTo>
                    <a:pt x="616109" y="823135"/>
                  </a:moveTo>
                  <a:lnTo>
                    <a:pt x="616109" y="823135"/>
                  </a:lnTo>
                  <a:lnTo>
                    <a:pt x="624703" y="813601"/>
                  </a:lnTo>
                </a:path>
                <a:path w="4896484" h="4895850">
                  <a:moveTo>
                    <a:pt x="667620" y="766819"/>
                  </a:moveTo>
                  <a:lnTo>
                    <a:pt x="667620" y="766819"/>
                  </a:lnTo>
                  <a:lnTo>
                    <a:pt x="676201" y="757285"/>
                  </a:lnTo>
                </a:path>
                <a:path w="4896484" h="4895850">
                  <a:moveTo>
                    <a:pt x="721025" y="712409"/>
                  </a:moveTo>
                  <a:lnTo>
                    <a:pt x="721025" y="712409"/>
                  </a:lnTo>
                  <a:lnTo>
                    <a:pt x="730560" y="702875"/>
                  </a:lnTo>
                </a:path>
                <a:path w="4896484" h="4895850">
                  <a:moveTo>
                    <a:pt x="776338" y="659017"/>
                  </a:moveTo>
                  <a:lnTo>
                    <a:pt x="776338" y="659017"/>
                  </a:lnTo>
                  <a:lnTo>
                    <a:pt x="785872" y="650499"/>
                  </a:lnTo>
                </a:path>
                <a:path w="4896484" h="4895850">
                  <a:moveTo>
                    <a:pt x="832616" y="607531"/>
                  </a:moveTo>
                  <a:lnTo>
                    <a:pt x="834523" y="606641"/>
                  </a:lnTo>
                  <a:lnTo>
                    <a:pt x="842150" y="599014"/>
                  </a:lnTo>
                </a:path>
                <a:path w="4896484" h="4895850">
                  <a:moveTo>
                    <a:pt x="890788" y="558842"/>
                  </a:moveTo>
                  <a:lnTo>
                    <a:pt x="890788" y="558842"/>
                  </a:lnTo>
                  <a:lnTo>
                    <a:pt x="900323" y="550325"/>
                  </a:lnTo>
                </a:path>
                <a:path w="4896484" h="4895850">
                  <a:moveTo>
                    <a:pt x="950868" y="511170"/>
                  </a:moveTo>
                  <a:lnTo>
                    <a:pt x="950868" y="511170"/>
                  </a:lnTo>
                  <a:lnTo>
                    <a:pt x="960415" y="503543"/>
                  </a:lnTo>
                </a:path>
                <a:path w="4896484" h="4895850">
                  <a:moveTo>
                    <a:pt x="1011913" y="464515"/>
                  </a:moveTo>
                  <a:lnTo>
                    <a:pt x="1011913" y="464515"/>
                  </a:lnTo>
                  <a:lnTo>
                    <a:pt x="1022401" y="457778"/>
                  </a:lnTo>
                </a:path>
                <a:path w="4896484" h="4895850">
                  <a:moveTo>
                    <a:pt x="1073900" y="420657"/>
                  </a:moveTo>
                  <a:lnTo>
                    <a:pt x="1073900" y="420657"/>
                  </a:lnTo>
                  <a:lnTo>
                    <a:pt x="1084400" y="413919"/>
                  </a:lnTo>
                </a:path>
                <a:path w="4896484" h="4895850">
                  <a:moveTo>
                    <a:pt x="1137806" y="379595"/>
                  </a:moveTo>
                  <a:lnTo>
                    <a:pt x="1137806" y="379595"/>
                  </a:lnTo>
                  <a:lnTo>
                    <a:pt x="1149247" y="372985"/>
                  </a:lnTo>
                </a:path>
                <a:path w="4896484" h="4895850">
                  <a:moveTo>
                    <a:pt x="1202665" y="339551"/>
                  </a:moveTo>
                  <a:lnTo>
                    <a:pt x="1202665" y="339551"/>
                  </a:lnTo>
                  <a:lnTo>
                    <a:pt x="1214106" y="332813"/>
                  </a:lnTo>
                </a:path>
                <a:path w="4896484" h="4895850">
                  <a:moveTo>
                    <a:pt x="1269469" y="301413"/>
                  </a:moveTo>
                  <a:lnTo>
                    <a:pt x="1275190" y="297600"/>
                  </a:lnTo>
                  <a:lnTo>
                    <a:pt x="1279893" y="294676"/>
                  </a:lnTo>
                </a:path>
                <a:path w="4896484" h="4895850">
                  <a:moveTo>
                    <a:pt x="1337100" y="266073"/>
                  </a:moveTo>
                  <a:lnTo>
                    <a:pt x="1337100" y="266073"/>
                  </a:lnTo>
                  <a:lnTo>
                    <a:pt x="1348541" y="260352"/>
                  </a:lnTo>
                </a:path>
                <a:path w="4896484" h="4895850">
                  <a:moveTo>
                    <a:pt x="1405747" y="231749"/>
                  </a:moveTo>
                  <a:lnTo>
                    <a:pt x="1405747" y="231749"/>
                  </a:lnTo>
                  <a:lnTo>
                    <a:pt x="1417189" y="227045"/>
                  </a:lnTo>
                </a:path>
                <a:path w="4896484" h="4895850">
                  <a:moveTo>
                    <a:pt x="1474522" y="200349"/>
                  </a:moveTo>
                  <a:lnTo>
                    <a:pt x="1474522" y="200349"/>
                  </a:lnTo>
                  <a:lnTo>
                    <a:pt x="1486853" y="195518"/>
                  </a:lnTo>
                </a:path>
                <a:path w="4896484" h="4895850">
                  <a:moveTo>
                    <a:pt x="1545077" y="171746"/>
                  </a:moveTo>
                  <a:lnTo>
                    <a:pt x="1545077" y="171746"/>
                  </a:lnTo>
                  <a:lnTo>
                    <a:pt x="1557408" y="166915"/>
                  </a:lnTo>
                </a:path>
                <a:path w="4896484" h="4895850">
                  <a:moveTo>
                    <a:pt x="1616521" y="144032"/>
                  </a:moveTo>
                  <a:lnTo>
                    <a:pt x="1616521" y="144032"/>
                  </a:lnTo>
                  <a:lnTo>
                    <a:pt x="1628979" y="140219"/>
                  </a:lnTo>
                </a:path>
                <a:path w="4896484" h="4895850">
                  <a:moveTo>
                    <a:pt x="1689110" y="119243"/>
                  </a:moveTo>
                  <a:lnTo>
                    <a:pt x="1689110" y="119243"/>
                  </a:lnTo>
                  <a:lnTo>
                    <a:pt x="1701441" y="115429"/>
                  </a:lnTo>
                </a:path>
                <a:path w="4896484" h="4895850">
                  <a:moveTo>
                    <a:pt x="1761571" y="97250"/>
                  </a:moveTo>
                  <a:lnTo>
                    <a:pt x="1761571" y="97250"/>
                  </a:lnTo>
                  <a:lnTo>
                    <a:pt x="1773902" y="93437"/>
                  </a:lnTo>
                </a:path>
                <a:path w="4896484" h="4895850">
                  <a:moveTo>
                    <a:pt x="1835939" y="77292"/>
                  </a:moveTo>
                  <a:lnTo>
                    <a:pt x="1835939" y="77292"/>
                  </a:lnTo>
                  <a:lnTo>
                    <a:pt x="1848398" y="73478"/>
                  </a:lnTo>
                </a:path>
                <a:path w="4896484" h="4895850">
                  <a:moveTo>
                    <a:pt x="1910308" y="59113"/>
                  </a:moveTo>
                  <a:lnTo>
                    <a:pt x="1910308" y="59113"/>
                  </a:lnTo>
                  <a:lnTo>
                    <a:pt x="1922766" y="56316"/>
                  </a:lnTo>
                </a:path>
                <a:path w="4896484" h="4895850">
                  <a:moveTo>
                    <a:pt x="1984676" y="42968"/>
                  </a:moveTo>
                  <a:lnTo>
                    <a:pt x="1995227" y="41061"/>
                  </a:lnTo>
                  <a:lnTo>
                    <a:pt x="1997134" y="41061"/>
                  </a:lnTo>
                </a:path>
                <a:path w="4896484" h="4895850">
                  <a:moveTo>
                    <a:pt x="2060061" y="30510"/>
                  </a:moveTo>
                  <a:lnTo>
                    <a:pt x="2060061" y="30510"/>
                  </a:lnTo>
                  <a:lnTo>
                    <a:pt x="2072519" y="28603"/>
                  </a:lnTo>
                </a:path>
                <a:path w="4896484" h="4895850">
                  <a:moveTo>
                    <a:pt x="2135446" y="19068"/>
                  </a:moveTo>
                  <a:lnTo>
                    <a:pt x="2135446" y="19068"/>
                  </a:lnTo>
                  <a:lnTo>
                    <a:pt x="2147778" y="18178"/>
                  </a:lnTo>
                </a:path>
                <a:path w="4896484" h="4895850">
                  <a:moveTo>
                    <a:pt x="2211722" y="10551"/>
                  </a:moveTo>
                  <a:lnTo>
                    <a:pt x="2218332" y="9534"/>
                  </a:lnTo>
                  <a:lnTo>
                    <a:pt x="2224053" y="9534"/>
                  </a:lnTo>
                </a:path>
                <a:path w="4896484" h="4895850">
                  <a:moveTo>
                    <a:pt x="2287107" y="4830"/>
                  </a:moveTo>
                  <a:lnTo>
                    <a:pt x="2287107" y="4830"/>
                  </a:lnTo>
                  <a:lnTo>
                    <a:pt x="2300455" y="3813"/>
                  </a:lnTo>
                </a:path>
                <a:path w="4896484" h="4895850">
                  <a:moveTo>
                    <a:pt x="2363382" y="1017"/>
                  </a:moveTo>
                  <a:lnTo>
                    <a:pt x="2363382" y="1017"/>
                  </a:lnTo>
                  <a:lnTo>
                    <a:pt x="2376730" y="1017"/>
                  </a:lnTo>
                </a:path>
                <a:path w="4896484" h="4895850">
                  <a:moveTo>
                    <a:pt x="2439657" y="0"/>
                  </a:moveTo>
                  <a:lnTo>
                    <a:pt x="2448302" y="0"/>
                  </a:lnTo>
                  <a:lnTo>
                    <a:pt x="2453005" y="0"/>
                  </a:lnTo>
                </a:path>
                <a:path w="4896484" h="4895850">
                  <a:moveTo>
                    <a:pt x="2515932" y="1017"/>
                  </a:moveTo>
                  <a:lnTo>
                    <a:pt x="2515932" y="1017"/>
                  </a:lnTo>
                  <a:lnTo>
                    <a:pt x="2529280" y="1017"/>
                  </a:lnTo>
                </a:path>
                <a:path w="4896484" h="4895850">
                  <a:moveTo>
                    <a:pt x="2592207" y="3813"/>
                  </a:moveTo>
                  <a:lnTo>
                    <a:pt x="2592207" y="3813"/>
                  </a:lnTo>
                  <a:lnTo>
                    <a:pt x="2605556" y="4830"/>
                  </a:lnTo>
                </a:path>
                <a:path w="4896484" h="4895850">
                  <a:moveTo>
                    <a:pt x="2668610" y="9534"/>
                  </a:moveTo>
                  <a:lnTo>
                    <a:pt x="2677127" y="9534"/>
                  </a:lnTo>
                  <a:lnTo>
                    <a:pt x="2681958" y="10551"/>
                  </a:lnTo>
                </a:path>
                <a:path w="4896484" h="4895850">
                  <a:moveTo>
                    <a:pt x="2744885" y="17161"/>
                  </a:moveTo>
                  <a:lnTo>
                    <a:pt x="2744885" y="17161"/>
                  </a:lnTo>
                  <a:lnTo>
                    <a:pt x="2757216" y="19068"/>
                  </a:lnTo>
                </a:path>
                <a:path w="4896484" h="4895850">
                  <a:moveTo>
                    <a:pt x="2820143" y="27713"/>
                  </a:moveTo>
                  <a:lnTo>
                    <a:pt x="2820143" y="27713"/>
                  </a:lnTo>
                  <a:lnTo>
                    <a:pt x="2832601" y="29620"/>
                  </a:lnTo>
                </a:path>
                <a:path w="4896484" h="4895850">
                  <a:moveTo>
                    <a:pt x="2895528" y="40044"/>
                  </a:moveTo>
                  <a:lnTo>
                    <a:pt x="2900359" y="41061"/>
                  </a:lnTo>
                  <a:lnTo>
                    <a:pt x="2907986" y="42968"/>
                  </a:lnTo>
                </a:path>
                <a:path w="4896484" h="4895850">
                  <a:moveTo>
                    <a:pt x="2970913" y="55299"/>
                  </a:moveTo>
                  <a:lnTo>
                    <a:pt x="2970913" y="55299"/>
                  </a:lnTo>
                  <a:lnTo>
                    <a:pt x="2983245" y="58223"/>
                  </a:lnTo>
                </a:path>
                <a:path w="4896484" h="4895850">
                  <a:moveTo>
                    <a:pt x="3045282" y="72461"/>
                  </a:moveTo>
                  <a:lnTo>
                    <a:pt x="3045282" y="72461"/>
                  </a:lnTo>
                  <a:lnTo>
                    <a:pt x="3056723" y="76275"/>
                  </a:lnTo>
                </a:path>
                <a:path w="4896484" h="4895850">
                  <a:moveTo>
                    <a:pt x="3118760" y="92547"/>
                  </a:moveTo>
                  <a:lnTo>
                    <a:pt x="3118760" y="92547"/>
                  </a:lnTo>
                  <a:lnTo>
                    <a:pt x="3131091" y="96360"/>
                  </a:lnTo>
                </a:path>
                <a:path w="4896484" h="4895850">
                  <a:moveTo>
                    <a:pt x="3192111" y="114412"/>
                  </a:moveTo>
                  <a:lnTo>
                    <a:pt x="3192111" y="114412"/>
                  </a:lnTo>
                  <a:lnTo>
                    <a:pt x="3203553" y="118226"/>
                  </a:lnTo>
                </a:path>
                <a:path w="4896484" h="4895850">
                  <a:moveTo>
                    <a:pt x="3263683" y="139202"/>
                  </a:moveTo>
                  <a:lnTo>
                    <a:pt x="3263683" y="139202"/>
                  </a:lnTo>
                  <a:lnTo>
                    <a:pt x="3276141" y="143015"/>
                  </a:lnTo>
                </a:path>
                <a:path w="4896484" h="4895850">
                  <a:moveTo>
                    <a:pt x="3336144" y="165008"/>
                  </a:moveTo>
                  <a:lnTo>
                    <a:pt x="3336144" y="165008"/>
                  </a:lnTo>
                  <a:lnTo>
                    <a:pt x="3347586" y="169839"/>
                  </a:lnTo>
                </a:path>
                <a:path w="4896484" h="4895850">
                  <a:moveTo>
                    <a:pt x="3406699" y="194628"/>
                  </a:moveTo>
                  <a:lnTo>
                    <a:pt x="3406699" y="194628"/>
                  </a:lnTo>
                  <a:lnTo>
                    <a:pt x="3418140" y="199332"/>
                  </a:lnTo>
                </a:path>
                <a:path w="4896484" h="4895850">
                  <a:moveTo>
                    <a:pt x="3476364" y="225138"/>
                  </a:moveTo>
                  <a:lnTo>
                    <a:pt x="3476364" y="225138"/>
                  </a:lnTo>
                  <a:lnTo>
                    <a:pt x="3487805" y="230859"/>
                  </a:lnTo>
                </a:path>
                <a:path w="4896484" h="4895850">
                  <a:moveTo>
                    <a:pt x="3545011" y="258445"/>
                  </a:moveTo>
                  <a:lnTo>
                    <a:pt x="3545011" y="258445"/>
                  </a:lnTo>
                  <a:lnTo>
                    <a:pt x="3556452" y="264166"/>
                  </a:lnTo>
                </a:path>
                <a:path w="4896484" h="4895850">
                  <a:moveTo>
                    <a:pt x="3612769" y="293786"/>
                  </a:moveTo>
                  <a:lnTo>
                    <a:pt x="3621286" y="297600"/>
                  </a:lnTo>
                  <a:lnTo>
                    <a:pt x="3624210" y="299507"/>
                  </a:lnTo>
                </a:path>
                <a:path w="4896484" h="4895850">
                  <a:moveTo>
                    <a:pt x="3679510" y="330907"/>
                  </a:moveTo>
                  <a:lnTo>
                    <a:pt x="3679510" y="330907"/>
                  </a:lnTo>
                  <a:lnTo>
                    <a:pt x="3690061" y="337644"/>
                  </a:lnTo>
                </a:path>
                <a:path w="4896484" h="4895850">
                  <a:moveTo>
                    <a:pt x="3744344" y="371078"/>
                  </a:moveTo>
                  <a:lnTo>
                    <a:pt x="3744344" y="371078"/>
                  </a:lnTo>
                  <a:lnTo>
                    <a:pt x="3754895" y="377689"/>
                  </a:lnTo>
                </a:path>
                <a:path w="4896484" h="4895850">
                  <a:moveTo>
                    <a:pt x="3809177" y="412012"/>
                  </a:moveTo>
                  <a:lnTo>
                    <a:pt x="3809177" y="412012"/>
                  </a:lnTo>
                  <a:lnTo>
                    <a:pt x="3819729" y="419640"/>
                  </a:lnTo>
                </a:path>
                <a:path w="4896484" h="4895850">
                  <a:moveTo>
                    <a:pt x="3871215" y="455871"/>
                  </a:moveTo>
                  <a:lnTo>
                    <a:pt x="3871215" y="455871"/>
                  </a:lnTo>
                  <a:lnTo>
                    <a:pt x="3881766" y="462608"/>
                  </a:lnTo>
                </a:path>
                <a:path w="4896484" h="4895850">
                  <a:moveTo>
                    <a:pt x="3932235" y="501636"/>
                  </a:moveTo>
                  <a:lnTo>
                    <a:pt x="3932235" y="501636"/>
                  </a:lnTo>
                  <a:lnTo>
                    <a:pt x="3942786" y="509263"/>
                  </a:lnTo>
                </a:path>
                <a:path w="4896484" h="4895850">
                  <a:moveTo>
                    <a:pt x="3992365" y="548418"/>
                  </a:moveTo>
                  <a:lnTo>
                    <a:pt x="3992365" y="548418"/>
                  </a:lnTo>
                  <a:lnTo>
                    <a:pt x="4002789" y="556045"/>
                  </a:lnTo>
                </a:path>
                <a:path w="4896484" h="4895850">
                  <a:moveTo>
                    <a:pt x="4051478" y="597107"/>
                  </a:moveTo>
                  <a:lnTo>
                    <a:pt x="4051478" y="597107"/>
                  </a:lnTo>
                  <a:lnTo>
                    <a:pt x="4061013" y="605624"/>
                  </a:lnTo>
                </a:path>
                <a:path w="4896484" h="4895850">
                  <a:moveTo>
                    <a:pt x="4107795" y="648593"/>
                  </a:moveTo>
                  <a:lnTo>
                    <a:pt x="4107795" y="648593"/>
                  </a:lnTo>
                  <a:lnTo>
                    <a:pt x="4117329" y="657110"/>
                  </a:lnTo>
                </a:path>
                <a:path w="4896484" h="4895850">
                  <a:moveTo>
                    <a:pt x="4163094" y="700968"/>
                  </a:moveTo>
                  <a:lnTo>
                    <a:pt x="4163094" y="700968"/>
                  </a:lnTo>
                  <a:lnTo>
                    <a:pt x="4172629" y="710503"/>
                  </a:lnTo>
                </a:path>
                <a:path w="4896484" h="4895850">
                  <a:moveTo>
                    <a:pt x="4217377" y="755378"/>
                  </a:moveTo>
                  <a:lnTo>
                    <a:pt x="4217377" y="755378"/>
                  </a:lnTo>
                  <a:lnTo>
                    <a:pt x="4226021" y="764912"/>
                  </a:lnTo>
                </a:path>
                <a:path w="4896484" h="4895850">
                  <a:moveTo>
                    <a:pt x="4268862" y="811694"/>
                  </a:moveTo>
                  <a:lnTo>
                    <a:pt x="4268862" y="811694"/>
                  </a:lnTo>
                  <a:lnTo>
                    <a:pt x="4277507" y="821229"/>
                  </a:lnTo>
                </a:path>
                <a:path w="4896484" h="4895850">
                  <a:moveTo>
                    <a:pt x="4318568" y="868901"/>
                  </a:moveTo>
                  <a:lnTo>
                    <a:pt x="4318568" y="868901"/>
                  </a:lnTo>
                  <a:lnTo>
                    <a:pt x="4327086" y="878435"/>
                  </a:lnTo>
                </a:path>
                <a:path w="4896484" h="4895850">
                  <a:moveTo>
                    <a:pt x="4367130" y="928014"/>
                  </a:moveTo>
                  <a:lnTo>
                    <a:pt x="4367130" y="928014"/>
                  </a:lnTo>
                  <a:lnTo>
                    <a:pt x="4375775" y="938438"/>
                  </a:lnTo>
                </a:path>
                <a:path w="4896484" h="4895850">
                  <a:moveTo>
                    <a:pt x="4413912" y="988144"/>
                  </a:moveTo>
                  <a:lnTo>
                    <a:pt x="4413912" y="988144"/>
                  </a:lnTo>
                  <a:lnTo>
                    <a:pt x="4421540" y="998568"/>
                  </a:lnTo>
                </a:path>
                <a:path w="4896484" h="4895850">
                  <a:moveTo>
                    <a:pt x="4458660" y="1051071"/>
                  </a:moveTo>
                  <a:lnTo>
                    <a:pt x="4458660" y="1051071"/>
                  </a:lnTo>
                  <a:lnTo>
                    <a:pt x="4465398" y="1061495"/>
                  </a:lnTo>
                </a:path>
                <a:path w="4896484" h="4895850">
                  <a:moveTo>
                    <a:pt x="4500739" y="1113998"/>
                  </a:moveTo>
                  <a:lnTo>
                    <a:pt x="4500739" y="1113998"/>
                  </a:lnTo>
                  <a:lnTo>
                    <a:pt x="4508366" y="1124422"/>
                  </a:lnTo>
                </a:path>
                <a:path w="4896484" h="4895850">
                  <a:moveTo>
                    <a:pt x="4541673" y="1178832"/>
                  </a:moveTo>
                  <a:lnTo>
                    <a:pt x="4543580" y="1180739"/>
                  </a:lnTo>
                  <a:lnTo>
                    <a:pt x="4548411" y="1189383"/>
                  </a:lnTo>
                </a:path>
                <a:path w="4896484" h="4895850">
                  <a:moveTo>
                    <a:pt x="4580828" y="1244683"/>
                  </a:moveTo>
                  <a:lnTo>
                    <a:pt x="4580828" y="1244683"/>
                  </a:lnTo>
                  <a:lnTo>
                    <a:pt x="4586548" y="1255107"/>
                  </a:lnTo>
                </a:path>
                <a:path w="4896484" h="4895850">
                  <a:moveTo>
                    <a:pt x="4617058" y="1311424"/>
                  </a:moveTo>
                  <a:lnTo>
                    <a:pt x="4617058" y="1311424"/>
                  </a:lnTo>
                  <a:lnTo>
                    <a:pt x="4622779" y="1322865"/>
                  </a:lnTo>
                </a:path>
                <a:path w="4896484" h="4895850">
                  <a:moveTo>
                    <a:pt x="4651382" y="1379054"/>
                  </a:moveTo>
                  <a:lnTo>
                    <a:pt x="4651382" y="1379054"/>
                  </a:lnTo>
                  <a:lnTo>
                    <a:pt x="4657103" y="1391512"/>
                  </a:lnTo>
                </a:path>
                <a:path w="4896484" h="4895850">
                  <a:moveTo>
                    <a:pt x="4683799" y="1448719"/>
                  </a:moveTo>
                  <a:lnTo>
                    <a:pt x="4683799" y="1448719"/>
                  </a:lnTo>
                  <a:lnTo>
                    <a:pt x="4688503" y="1460160"/>
                  </a:lnTo>
                </a:path>
                <a:path w="4896484" h="4895850">
                  <a:moveTo>
                    <a:pt x="4713419" y="1519273"/>
                  </a:moveTo>
                  <a:lnTo>
                    <a:pt x="4713419" y="1519273"/>
                  </a:lnTo>
                  <a:lnTo>
                    <a:pt x="4718123" y="1530715"/>
                  </a:lnTo>
                </a:path>
                <a:path w="4896484" h="4895850">
                  <a:moveTo>
                    <a:pt x="4742023" y="1589828"/>
                  </a:moveTo>
                  <a:lnTo>
                    <a:pt x="4742023" y="1589828"/>
                  </a:lnTo>
                  <a:lnTo>
                    <a:pt x="4745836" y="1602286"/>
                  </a:lnTo>
                </a:path>
                <a:path w="4896484" h="4895850">
                  <a:moveTo>
                    <a:pt x="4767702" y="1662416"/>
                  </a:moveTo>
                  <a:lnTo>
                    <a:pt x="4771516" y="1673858"/>
                  </a:lnTo>
                </a:path>
                <a:path w="4896484" h="4895850">
                  <a:moveTo>
                    <a:pt x="4790584" y="1734878"/>
                  </a:moveTo>
                  <a:lnTo>
                    <a:pt x="4790584" y="1734878"/>
                  </a:lnTo>
                  <a:lnTo>
                    <a:pt x="4794398" y="1747209"/>
                  </a:lnTo>
                </a:path>
                <a:path w="4896484" h="4895850">
                  <a:moveTo>
                    <a:pt x="4811560" y="1808356"/>
                  </a:moveTo>
                  <a:lnTo>
                    <a:pt x="4811560" y="1808356"/>
                  </a:lnTo>
                  <a:lnTo>
                    <a:pt x="4814484" y="1820687"/>
                  </a:lnTo>
                </a:path>
                <a:path w="4896484" h="4895850">
                  <a:moveTo>
                    <a:pt x="4830629" y="1881707"/>
                  </a:moveTo>
                  <a:lnTo>
                    <a:pt x="4831646" y="1886538"/>
                  </a:lnTo>
                  <a:lnTo>
                    <a:pt x="4833553" y="1894166"/>
                  </a:lnTo>
                </a:path>
                <a:path w="4896484" h="4895850">
                  <a:moveTo>
                    <a:pt x="4846901" y="1957093"/>
                  </a:moveTo>
                  <a:lnTo>
                    <a:pt x="4846901" y="1957093"/>
                  </a:lnTo>
                  <a:lnTo>
                    <a:pt x="4848808" y="1969424"/>
                  </a:lnTo>
                </a:path>
                <a:path w="4896484" h="4895850">
                  <a:moveTo>
                    <a:pt x="4860249" y="2031461"/>
                  </a:moveTo>
                  <a:lnTo>
                    <a:pt x="4860249" y="2031461"/>
                  </a:lnTo>
                  <a:lnTo>
                    <a:pt x="4863046" y="2043919"/>
                  </a:lnTo>
                </a:path>
                <a:path w="4896484" h="4895850">
                  <a:moveTo>
                    <a:pt x="4872580" y="2106846"/>
                  </a:moveTo>
                  <a:lnTo>
                    <a:pt x="4872580" y="2106846"/>
                  </a:lnTo>
                  <a:lnTo>
                    <a:pt x="4874487" y="2120194"/>
                  </a:lnTo>
                </a:path>
                <a:path w="4896484" h="4895850">
                  <a:moveTo>
                    <a:pt x="4882115" y="2183121"/>
                  </a:moveTo>
                  <a:lnTo>
                    <a:pt x="4882115" y="2183121"/>
                  </a:lnTo>
                  <a:lnTo>
                    <a:pt x="4883132" y="2195453"/>
                  </a:lnTo>
                </a:path>
                <a:path w="4896484" h="4895850">
                  <a:moveTo>
                    <a:pt x="4888852" y="2259397"/>
                  </a:moveTo>
                  <a:lnTo>
                    <a:pt x="4888852" y="2259397"/>
                  </a:lnTo>
                  <a:lnTo>
                    <a:pt x="4889742" y="2271855"/>
                  </a:lnTo>
                </a:path>
                <a:path w="4896484" h="4895850">
                  <a:moveTo>
                    <a:pt x="4893556" y="2334782"/>
                  </a:moveTo>
                  <a:lnTo>
                    <a:pt x="4893556" y="2334782"/>
                  </a:lnTo>
                  <a:lnTo>
                    <a:pt x="4894573" y="2348130"/>
                  </a:lnTo>
                </a:path>
                <a:path w="4896484" h="4895850">
                  <a:moveTo>
                    <a:pt x="4895463" y="2411947"/>
                  </a:moveTo>
                  <a:lnTo>
                    <a:pt x="4895463" y="2411947"/>
                  </a:lnTo>
                  <a:lnTo>
                    <a:pt x="4895463" y="2424405"/>
                  </a:lnTo>
                </a:path>
              </a:pathLst>
            </a:custGeom>
            <a:ln w="19075">
              <a:solidFill>
                <a:srgbClr val="81D3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291201" y="2187530"/>
            <a:ext cx="5262629" cy="158184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61670">
              <a:lnSpc>
                <a:spcPct val="100000"/>
              </a:lnSpc>
              <a:spcBef>
                <a:spcPts val="95"/>
              </a:spcBef>
            </a:pPr>
            <a:r>
              <a:rPr sz="3400" spc="-10" dirty="0" err="1">
                <a:solidFill>
                  <a:srgbClr val="FFFFFF"/>
                </a:solidFill>
              </a:rPr>
              <a:t>Унікальн</a:t>
            </a:r>
            <a:r>
              <a:rPr lang="uk-UA" sz="3400" spc="-10" dirty="0">
                <a:solidFill>
                  <a:srgbClr val="FFFFFF"/>
                </a:solidFill>
              </a:rPr>
              <a:t>и</a:t>
            </a:r>
            <a:r>
              <a:rPr sz="3400" spc="-10" dirty="0">
                <a:solidFill>
                  <a:srgbClr val="FFFFFF"/>
                </a:solidFill>
              </a:rPr>
              <a:t>й, </a:t>
            </a:r>
            <a:r>
              <a:rPr lang="uk-UA" sz="3400" spc="-10" dirty="0">
                <a:solidFill>
                  <a:srgbClr val="FFFFFF"/>
                </a:solidFill>
              </a:rPr>
              <a:t>рідкий</a:t>
            </a:r>
            <a:r>
              <a:rPr lang="uk-UA" sz="3400" dirty="0"/>
              <a:t> </a:t>
            </a:r>
            <a:r>
              <a:rPr sz="3400" spc="-10" dirty="0" err="1">
                <a:solidFill>
                  <a:srgbClr val="FFFFFF"/>
                </a:solidFill>
              </a:rPr>
              <a:t>імплантат</a:t>
            </a:r>
            <a:r>
              <a:rPr lang="uk-UA" sz="3400" spc="-10" dirty="0">
                <a:solidFill>
                  <a:srgbClr val="FFFFFF"/>
                </a:solidFill>
              </a:rPr>
              <a:t> з доведеною ефективністю</a:t>
            </a:r>
            <a:endParaRPr sz="3400" dirty="0"/>
          </a:p>
        </p:txBody>
      </p:sp>
      <p:grpSp>
        <p:nvGrpSpPr>
          <p:cNvPr id="7" name="object 7"/>
          <p:cNvGrpSpPr/>
          <p:nvPr/>
        </p:nvGrpSpPr>
        <p:grpSpPr>
          <a:xfrm>
            <a:off x="5190490" y="315544"/>
            <a:ext cx="4631690" cy="5418455"/>
            <a:chOff x="5190490" y="315544"/>
            <a:chExt cx="4631690" cy="541845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91201" y="315544"/>
              <a:ext cx="4430268" cy="7023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1360" y="3929494"/>
              <a:ext cx="3410076" cy="180416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190490" y="3711448"/>
              <a:ext cx="4631690" cy="0"/>
            </a:xfrm>
            <a:custGeom>
              <a:avLst/>
              <a:gdLst/>
              <a:ahLst/>
              <a:cxnLst/>
              <a:rect l="l" t="t" r="r" b="b"/>
              <a:pathLst>
                <a:path w="4631690">
                  <a:moveTo>
                    <a:pt x="0" y="0"/>
                  </a:moveTo>
                  <a:lnTo>
                    <a:pt x="4631690" y="0"/>
                  </a:lnTo>
                </a:path>
              </a:pathLst>
            </a:custGeom>
            <a:ln w="9525">
              <a:solidFill>
                <a:srgbClr val="9ECC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25944</TotalTime>
  <Words>6908</Words>
  <Application>Microsoft Office PowerPoint</Application>
  <PresentationFormat>Широкий екран</PresentationFormat>
  <Paragraphs>783</Paragraphs>
  <Slides>31</Slides>
  <Notes>29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31</vt:i4>
      </vt:variant>
    </vt:vector>
  </HeadingPairs>
  <TitlesOfParts>
    <vt:vector size="40" baseType="lpstr">
      <vt:lpstr>MS Gothic</vt:lpstr>
      <vt:lpstr>Aptos</vt:lpstr>
      <vt:lpstr>Aptos Display</vt:lpstr>
      <vt:lpstr>Arial</vt:lpstr>
      <vt:lpstr>Calibri</vt:lpstr>
      <vt:lpstr>Century Gothic</vt:lpstr>
      <vt:lpstr>Times New Roman</vt:lpstr>
      <vt:lpstr>Wingdings</vt:lpstr>
      <vt:lpstr>Тема Office</vt:lpstr>
      <vt:lpstr>ПЕРЕВОРОТ У ЯКОСТІ ЖИТТЯ ПАЦІЄНТІВ, ЯКІ СТРАЖДАЮТЬ НА РЕФРАКТЕРНИЙ ОСТЕОАРТРИТ КОЛІННОГО СУГЛОБА</vt:lpstr>
      <vt:lpstr>ОСТЕОАРТРИТ: ХРОНІЧНЕ ЗАХВОРЮВАННЯ</vt:lpstr>
      <vt:lpstr>Остеоартрит колінного суглоба – фактори ризику</vt:lpstr>
      <vt:lpstr>ВЕГАНСЬКИЙ ХІТОЗАН, ОТРИМАНИЙ З ГРИБІВ – KIOMEDINE®</vt:lpstr>
      <vt:lpstr>Презентація PowerPoint</vt:lpstr>
      <vt:lpstr>Як працює            KioMedinevsone?</vt:lpstr>
      <vt:lpstr>Презентація PowerPoint</vt:lpstr>
      <vt:lpstr>МЕХАНІЗМ ДІЇ – КM-хітозан при рефрактерному остеоартриті</vt:lpstr>
      <vt:lpstr>ОКСИДАТИВНИЙ СТРЕС ПРИ ОСТЕОАРТРИТІ НЕОБХІДНІСТЬ ЗАХИСТУ КОМПОНЕНТІВ СИНОВІАЛЬНОЇ МЕМБРАНИ</vt:lpstr>
      <vt:lpstr>KioMedinevsone - Новий подвійний механізм дії</vt:lpstr>
      <vt:lpstr>Що відбувається після ін'єкції КM-хітозану в суглоб?</vt:lpstr>
      <vt:lpstr>БІОДЕГРАДАЦІЯ</vt:lpstr>
      <vt:lpstr>Ключові клінічні дослідження</vt:lpstr>
      <vt:lpstr>4</vt:lpstr>
      <vt:lpstr>1</vt:lpstr>
      <vt:lpstr>Ефективність при рефрактерному остеоартриті колінного суглоба</vt:lpstr>
      <vt:lpstr>Постмаркетингове дослідження – Німеччина4</vt:lpstr>
      <vt:lpstr>Ін'єкції в реальних умовах – Бельгія5</vt:lpstr>
      <vt:lpstr>У пацієнтів з рефрактерним остеоартритом</vt:lpstr>
      <vt:lpstr>Дослідження PIONEER — перше в світі дослідницьке дослідження рефрактерного ОА</vt:lpstr>
      <vt:lpstr>4</vt:lpstr>
      <vt:lpstr>4</vt:lpstr>
      <vt:lpstr>Клінічно важливі відмінності - Загальна популяція</vt:lpstr>
      <vt:lpstr>Клінічно важливі відмінності у всіх фенотипах пацієнтів з ОА</vt:lpstr>
      <vt:lpstr>Клінічно значущі відмінності навіть у пацієнтів з ОА IV ступеня за ренгенографічною шкалою КL (OA)</vt:lpstr>
      <vt:lpstr>4</vt:lpstr>
      <vt:lpstr>4</vt:lpstr>
      <vt:lpstr>Обговорення та обмеження дизайну</vt:lpstr>
      <vt:lpstr>Висновки</vt:lpstr>
      <vt:lpstr>Оцінка профілю безпеки KioMedinevsOne</vt:lpstr>
      <vt:lpstr>Унікальний, рідкий імплантат з доведеною ефективністю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Disk525</dc:creator>
  <cp:lastModifiedBy>Disk525</cp:lastModifiedBy>
  <cp:revision>2</cp:revision>
  <dcterms:created xsi:type="dcterms:W3CDTF">2025-10-14T12:05:47Z</dcterms:created>
  <dcterms:modified xsi:type="dcterms:W3CDTF">2025-11-10T07:22:29Z</dcterms:modified>
</cp:coreProperties>
</file>